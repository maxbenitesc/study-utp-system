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Playfair Display"/>
      <p:regular r:id="rId43"/>
      <p:bold r:id="rId44"/>
      <p:italic r:id="rId45"/>
      <p:boldItalic r:id="rId46"/>
    </p:embeddedFont>
    <p:embeddedFont>
      <p:font typeface="Roboto Mono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hL5CrN67XhEdBqRHxZAzpar+iA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PlayfairDisplay-bold.fntdata"/><Relationship Id="rId43" Type="http://schemas.openxmlformats.org/officeDocument/2006/relationships/font" Target="fonts/PlayfairDisplay-regular.fntdata"/><Relationship Id="rId46" Type="http://schemas.openxmlformats.org/officeDocument/2006/relationships/font" Target="fonts/PlayfairDisplay-boldItalic.fntdata"/><Relationship Id="rId45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Economica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RobotoMono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0f51dfe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a0f51dfe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bba2b1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dbba2b1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bba2b1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bba2b1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dbba2b19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dbba2b1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dbba2b19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dbba2b19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dbba2b1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dbba2b1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0f51dfeb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a0f51dfeb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0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0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" name="Google Shape;27;p3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8" name="Google Shape;28;p3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6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" name="Google Shape;52;p3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C31046@utp.edu.p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hyperlink" Target="mailto:C31046@utp.edu.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f51dfebc_0_0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pic>
        <p:nvPicPr>
          <p:cNvPr id="63" name="Google Shape;63;g3a0f51dfeb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a0f51dfebc_0_0"/>
          <p:cNvSpPr txBox="1"/>
          <p:nvPr/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M.Sc. Jesamin Zevallos Quispe</a:t>
            </a:r>
            <a:endParaRPr sz="23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75" u="sng">
                <a:solidFill>
                  <a:srgbClr val="3D85C6"/>
                </a:solidFill>
                <a:latin typeface="Economica"/>
                <a:ea typeface="Economica"/>
                <a:cs typeface="Economica"/>
                <a:sym typeface="Economic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Estructuras de Control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2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Arreglos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Introducción a Javascript II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Introducción y Manipulación del DOM</a:t>
            </a:r>
            <a:endParaRPr b="1" sz="5000"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13 - Sesión 13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99" y="1236399"/>
            <a:ext cx="3044949" cy="15358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1952" y="2861450"/>
            <a:ext cx="1957251" cy="195725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5">
            <a:alphaModFix/>
          </a:blip>
          <a:srcRect b="0" l="15085" r="14713" t="14266"/>
          <a:stretch/>
        </p:blipFill>
        <p:spPr>
          <a:xfrm>
            <a:off x="5291500" y="1502375"/>
            <a:ext cx="3182776" cy="20351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pic>
        <p:nvPicPr>
          <p:cNvPr id="94" name="Google Shape;94;p5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10565" l="6173" r="1965" t="10526"/>
          <a:stretch/>
        </p:blipFill>
        <p:spPr>
          <a:xfrm>
            <a:off x="5987300" y="1776325"/>
            <a:ext cx="2289250" cy="1966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81250" y="1687925"/>
            <a:ext cx="50619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600"/>
              <a:t>Al finalizar la sesión, el estudiante: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Comprende qué es </a:t>
            </a:r>
            <a:r>
              <a:rPr b="1" lang="es-419" sz="1600"/>
              <a:t>DOM</a:t>
            </a:r>
            <a:r>
              <a:rPr lang="es-419" sz="1600"/>
              <a:t> y cómo interactuar con los elementos HTML desde JavaScript mediante el objeto document. Será capaz de </a:t>
            </a:r>
            <a:r>
              <a:rPr b="1" lang="es-419" sz="1600"/>
              <a:t>acceder</a:t>
            </a:r>
            <a:r>
              <a:rPr lang="es-419" sz="1600"/>
              <a:t>, modificar y </a:t>
            </a:r>
            <a:r>
              <a:rPr b="1" lang="es-419" sz="1600"/>
              <a:t>crear contenido dinámico</a:t>
            </a:r>
            <a:r>
              <a:rPr lang="es-419" sz="1600"/>
              <a:t> en una página web.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464100" y="1840500"/>
            <a:ext cx="5193900" cy="25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Actualizar el contenido de una página </a:t>
            </a:r>
            <a:r>
              <a:rPr b="1" lang="es-419" sz="1600"/>
              <a:t>sin recargar</a:t>
            </a:r>
            <a:r>
              <a:rPr lang="es-419" sz="1600"/>
              <a:t>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Mostrar mensajes o resultados personalizados en tiempo real.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Crear experiencias </a:t>
            </a:r>
            <a:r>
              <a:rPr b="1" lang="es-419" sz="1600"/>
              <a:t>dinámicas y reactivas</a:t>
            </a:r>
            <a:r>
              <a:rPr lang="es-419" sz="1600"/>
              <a:t>, como lo hacen aplicaciones web modernas (e-commerce, formularios interactivos, SPAs).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Es la base de frameworks modernos como </a:t>
            </a:r>
            <a:r>
              <a:rPr b="1" lang="es-419" sz="1600"/>
              <a:t>React</a:t>
            </a:r>
            <a:r>
              <a:rPr lang="es-419" sz="1600"/>
              <a:t>, </a:t>
            </a:r>
            <a:r>
              <a:rPr b="1" lang="es-419" sz="1600"/>
              <a:t>Vue</a:t>
            </a:r>
            <a:r>
              <a:rPr lang="es-419" sz="1600"/>
              <a:t> y </a:t>
            </a:r>
            <a:r>
              <a:rPr b="1" lang="es-419" sz="1600"/>
              <a:t>Angular</a:t>
            </a:r>
            <a:r>
              <a:rPr lang="es-419" sz="1600"/>
              <a:t>.</a:t>
            </a:r>
            <a:endParaRPr sz="1600"/>
          </a:p>
        </p:txBody>
      </p:sp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64100" y="1242013"/>
            <a:ext cx="5193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600"/>
              <a:t>Manipular el DOM permite:</a:t>
            </a:r>
            <a:endParaRPr sz="1600"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25" y="1556202"/>
            <a:ext cx="2713225" cy="26334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DOM, Modelo de Objetos del Documento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Propiedades de navegación en Nodos de tipo </a:t>
            </a:r>
            <a:r>
              <a:rPr i="1" lang="es-419"/>
              <a:t>elemento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DOM, Modelo de Objetos del Documento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¿Qué es el DOM?</a:t>
            </a:r>
            <a:endParaRPr/>
          </a:p>
        </p:txBody>
      </p:sp>
      <p:sp>
        <p:nvSpPr>
          <p:cNvPr id="120" name="Google Shape;120;p9"/>
          <p:cNvSpPr txBox="1"/>
          <p:nvPr>
            <p:ph idx="4294967295" type="body"/>
          </p:nvPr>
        </p:nvSpPr>
        <p:spPr>
          <a:xfrm>
            <a:off x="311700" y="1210825"/>
            <a:ext cx="5468400" cy="3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600"/>
              <a:t>Es la </a:t>
            </a:r>
            <a:r>
              <a:rPr b="1" lang="es-419" sz="1600"/>
              <a:t>representación</a:t>
            </a:r>
            <a:r>
              <a:rPr lang="es-419" sz="1600"/>
              <a:t> </a:t>
            </a:r>
            <a:r>
              <a:rPr b="1" lang="es-419" sz="1600"/>
              <a:t>estructurada</a:t>
            </a:r>
            <a:r>
              <a:rPr lang="es-419" sz="1600"/>
              <a:t> del HTML como un árbol de nodos.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-419" sz="1600"/>
              <a:t>Cada </a:t>
            </a:r>
            <a:r>
              <a:rPr b="1" lang="es-419" sz="1600"/>
              <a:t>elemento</a:t>
            </a:r>
            <a:r>
              <a:rPr lang="es-419" sz="1600"/>
              <a:t> del HTML es un </a:t>
            </a:r>
            <a:r>
              <a:rPr b="1" lang="es-419" sz="1600"/>
              <a:t>nodo</a:t>
            </a:r>
            <a:r>
              <a:rPr lang="es-419" sz="1600"/>
              <a:t> al que JS puede acceder y modificar.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 sz="1600"/>
              <a:t>El navegador crea </a:t>
            </a:r>
            <a:r>
              <a:rPr b="1" lang="es-419" sz="1600"/>
              <a:t>automáticamente</a:t>
            </a:r>
            <a:r>
              <a:rPr lang="es-419" sz="1600"/>
              <a:t> este árbol cuando se carga una página.</a:t>
            </a:r>
            <a:endParaRPr sz="1600"/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6135" l="27907" r="30043" t="13979"/>
          <a:stretch/>
        </p:blipFill>
        <p:spPr>
          <a:xfrm>
            <a:off x="6214750" y="1628613"/>
            <a:ext cx="2206373" cy="235792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edbba2b19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00" y="208675"/>
            <a:ext cx="4566100" cy="472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edbba2b19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2150" y="1202450"/>
            <a:ext cx="4665526" cy="22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38" name="Google Shape;138;p11"/>
          <p:cNvSpPr/>
          <p:nvPr/>
        </p:nvSpPr>
        <p:spPr>
          <a:xfrm>
            <a:off x="311700" y="1702275"/>
            <a:ext cx="4194300" cy="2663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&gt;Web Programming&lt;/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&gt;Web programming, also known as web development, involves creating websites and web applications using programming languages. It encompasses both the frontend (what users see) and backend (server-side logic and databases).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Popular languages include HTML, CSS, JavaScript, Python, PHP, and Java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470325"/>
            <a:ext cx="4492926" cy="3127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1450" y="938375"/>
            <a:ext cx="5003798" cy="3482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311700" y="1983625"/>
            <a:ext cx="3526500" cy="210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&gt;Web Programming&lt;/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&gt;Web programming, also known as web development, involves creating websites and web applications using programming languages…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311700" y="4263975"/>
            <a:ext cx="5115000" cy="75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'skyblue'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0" y="4312200"/>
            <a:ext cx="5115000" cy="831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'skyblue'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'tomato'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8425" y="776450"/>
            <a:ext cx="5945575" cy="413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1575000" y="1951350"/>
            <a:ext cx="5994000" cy="1854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'skyblue'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'tomato'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fontFamily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'Courier'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margin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'40px'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'1px solid tomato'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'20px'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13" y="152400"/>
            <a:ext cx="727657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311700" y="1983625"/>
            <a:ext cx="3526500" cy="210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&gt;Web Programming&lt;/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&gt;Web programming, also known as web development, involves creating websites and web applications using programming languages…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311700" y="4263975"/>
            <a:ext cx="5115000" cy="75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visibility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29"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hidden</a:t>
            </a:r>
            <a:r>
              <a:rPr lang="es-419" sz="12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600" y="1025450"/>
            <a:ext cx="4969598" cy="330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1321050" y="1298225"/>
            <a:ext cx="6501900" cy="3491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'skyblue'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'tomato'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fontFamily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'Courier'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margin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'40px'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'1px solid tomato'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'20px'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setInterval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visibility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'visible'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visibility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'hidden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visibility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'visible'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},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1000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Propiedades de navegación en Nodos de tipo </a:t>
            </a:r>
            <a:r>
              <a:rPr i="1" lang="es-419"/>
              <a:t>elemento</a:t>
            </a:r>
            <a:endParaRPr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idx="4294967295" type="body"/>
          </p:nvPr>
        </p:nvSpPr>
        <p:spPr>
          <a:xfrm>
            <a:off x="345300" y="1275325"/>
            <a:ext cx="8453400" cy="3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600"/>
              <a:t>Cualquier nodo de tipo elemento dispone de las siguientes propiedades para obtener la referencia de: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i="1" lang="es-419" sz="1600"/>
              <a:t>firstElementChild</a:t>
            </a:r>
            <a:r>
              <a:rPr lang="es-419" sz="1600"/>
              <a:t>: Almacena la referencia del primer nodo de tipo elemento hijo.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i="1" lang="es-419" sz="1600"/>
              <a:t>parentElement</a:t>
            </a:r>
            <a:r>
              <a:rPr lang="es-419" sz="1600"/>
              <a:t>: Almacena la referencia del nodo elemento padre.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i="1" lang="es-419" sz="1600"/>
              <a:t>lastElementChild</a:t>
            </a:r>
            <a:r>
              <a:rPr lang="es-419" sz="1600"/>
              <a:t>: Almacena la referencia del último nodo hijo.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i="1" lang="es-419" sz="1600"/>
              <a:t>nextElementSibling</a:t>
            </a:r>
            <a:r>
              <a:rPr lang="es-419" sz="1600"/>
              <a:t>: Almacena la referencia del siguiente nodo de tipo elemento.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i="1" lang="es-419" sz="1600"/>
              <a:t>previousElementSibling</a:t>
            </a:r>
            <a:r>
              <a:rPr lang="es-419" sz="1600"/>
              <a:t>: Almacena la referencia del nodo de tipo elemento previo.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i="1" lang="es-419" sz="1600"/>
              <a:t>children</a:t>
            </a:r>
            <a:r>
              <a:rPr lang="es-419" sz="1600"/>
              <a:t>: Almacena una colección con todos los elementos tipo nodo hijo.</a:t>
            </a:r>
            <a:endParaRPr sz="1600"/>
          </a:p>
        </p:txBody>
      </p:sp>
      <p:sp>
        <p:nvSpPr>
          <p:cNvPr id="190" name="Google Shape;19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Acceso a elementos con </a:t>
            </a:r>
            <a:r>
              <a:rPr i="1" lang="es-419"/>
              <a:t>document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dbba2b19a_0_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Acceso a elementos con </a:t>
            </a:r>
            <a:r>
              <a:rPr i="1" lang="es-419"/>
              <a:t>document</a:t>
            </a:r>
            <a:endParaRPr/>
          </a:p>
        </p:txBody>
      </p:sp>
      <p:sp>
        <p:nvSpPr>
          <p:cNvPr id="196" name="Google Shape;196;g3edbba2b19a_0_6"/>
          <p:cNvSpPr txBox="1"/>
          <p:nvPr>
            <p:ph idx="1" type="body"/>
          </p:nvPr>
        </p:nvSpPr>
        <p:spPr>
          <a:xfrm>
            <a:off x="311700" y="1225225"/>
            <a:ext cx="370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&lt;html&gt;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</a:t>
            </a:r>
            <a:r>
              <a:rPr lang="es-419"/>
              <a:t>&lt;body&gt;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&lt;div id="contenedor"&gt;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&lt;h1&gt;Título&lt;/h1&gt;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&lt;p&gt;Párrafo 1&lt;/p&gt;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&lt;p&gt;Párrafo 2&lt;/p&gt;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&lt;button&gt;Enviar&lt;/button&gt;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&lt;/div&gt;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&lt;/body&gt;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&lt;/html&gt;</a:t>
            </a:r>
            <a:endParaRPr/>
          </a:p>
        </p:txBody>
      </p:sp>
      <p:sp>
        <p:nvSpPr>
          <p:cNvPr id="197" name="Google Shape;197;g3edbba2b19a_0_6"/>
          <p:cNvSpPr txBox="1"/>
          <p:nvPr>
            <p:ph idx="1" type="body"/>
          </p:nvPr>
        </p:nvSpPr>
        <p:spPr>
          <a:xfrm>
            <a:off x="4782700" y="1225225"/>
            <a:ext cx="370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document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└── body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└── div #contenedor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├── h1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        └── "Título"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├── 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        └── "Párrafo 1"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├── 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        └── "Párrafo 2"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└── button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     └── "Enviar"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dbba2b19a_0_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Acceso a elementos con document</a:t>
            </a:r>
            <a:endParaRPr/>
          </a:p>
        </p:txBody>
      </p:sp>
      <p:sp>
        <p:nvSpPr>
          <p:cNvPr id="203" name="Google Shape;203;g3edbba2b19a_0_12"/>
          <p:cNvSpPr txBox="1"/>
          <p:nvPr>
            <p:ph idx="1" type="body"/>
          </p:nvPr>
        </p:nvSpPr>
        <p:spPr>
          <a:xfrm>
            <a:off x="506300" y="1351350"/>
            <a:ext cx="62487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firstElementChild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00"/>
          </a:p>
        </p:txBody>
      </p:sp>
      <p:sp>
        <p:nvSpPr>
          <p:cNvPr id="204" name="Google Shape;204;g3edbba2b19a_0_12"/>
          <p:cNvSpPr txBox="1"/>
          <p:nvPr/>
        </p:nvSpPr>
        <p:spPr>
          <a:xfrm>
            <a:off x="6463325" y="1630375"/>
            <a:ext cx="21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firstElementChild</a:t>
            </a:r>
            <a:endParaRPr b="1"/>
          </a:p>
        </p:txBody>
      </p:sp>
      <p:sp>
        <p:nvSpPr>
          <p:cNvPr id="205" name="Google Shape;205;g3edbba2b19a_0_12"/>
          <p:cNvSpPr txBox="1"/>
          <p:nvPr>
            <p:ph idx="1" type="body"/>
          </p:nvPr>
        </p:nvSpPr>
        <p:spPr>
          <a:xfrm>
            <a:off x="539888" y="2901225"/>
            <a:ext cx="62487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lastElementChild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/>
          </a:p>
        </p:txBody>
      </p:sp>
      <p:sp>
        <p:nvSpPr>
          <p:cNvPr id="206" name="Google Shape;206;g3edbba2b19a_0_12"/>
          <p:cNvSpPr txBox="1"/>
          <p:nvPr/>
        </p:nvSpPr>
        <p:spPr>
          <a:xfrm>
            <a:off x="6496913" y="3180250"/>
            <a:ext cx="21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las</a:t>
            </a:r>
            <a:r>
              <a:rPr b="1" lang="es-419"/>
              <a:t>tElementChild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dbba2b19a_0_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Acceso a elementos con document</a:t>
            </a:r>
            <a:endParaRPr/>
          </a:p>
        </p:txBody>
      </p:sp>
      <p:sp>
        <p:nvSpPr>
          <p:cNvPr id="212" name="Google Shape;212;g3edbba2b19a_0_27"/>
          <p:cNvSpPr txBox="1"/>
          <p:nvPr>
            <p:ph idx="1" type="body"/>
          </p:nvPr>
        </p:nvSpPr>
        <p:spPr>
          <a:xfrm>
            <a:off x="506300" y="1351350"/>
            <a:ext cx="62487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parentElement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/>
          </a:p>
        </p:txBody>
      </p:sp>
      <p:sp>
        <p:nvSpPr>
          <p:cNvPr id="213" name="Google Shape;213;g3edbba2b19a_0_27"/>
          <p:cNvSpPr txBox="1"/>
          <p:nvPr/>
        </p:nvSpPr>
        <p:spPr>
          <a:xfrm>
            <a:off x="6463325" y="1630375"/>
            <a:ext cx="21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parentElement</a:t>
            </a:r>
            <a:endParaRPr b="1"/>
          </a:p>
        </p:txBody>
      </p:sp>
      <p:sp>
        <p:nvSpPr>
          <p:cNvPr id="214" name="Google Shape;214;g3edbba2b19a_0_27"/>
          <p:cNvSpPr txBox="1"/>
          <p:nvPr>
            <p:ph idx="1" type="body"/>
          </p:nvPr>
        </p:nvSpPr>
        <p:spPr>
          <a:xfrm>
            <a:off x="539888" y="2901225"/>
            <a:ext cx="62487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nextElementSibling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/>
          </a:p>
        </p:txBody>
      </p:sp>
      <p:sp>
        <p:nvSpPr>
          <p:cNvPr id="215" name="Google Shape;215;g3edbba2b19a_0_27"/>
          <p:cNvSpPr txBox="1"/>
          <p:nvPr/>
        </p:nvSpPr>
        <p:spPr>
          <a:xfrm>
            <a:off x="6496913" y="3180250"/>
            <a:ext cx="21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nextElementSibling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bba2b19a_0_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Acceso a elementos con document</a:t>
            </a:r>
            <a:endParaRPr/>
          </a:p>
        </p:txBody>
      </p:sp>
      <p:sp>
        <p:nvSpPr>
          <p:cNvPr id="221" name="Google Shape;221;g3edbba2b19a_0_37"/>
          <p:cNvSpPr txBox="1"/>
          <p:nvPr>
            <p:ph idx="1" type="body"/>
          </p:nvPr>
        </p:nvSpPr>
        <p:spPr>
          <a:xfrm>
            <a:off x="506300" y="1351350"/>
            <a:ext cx="62487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boton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boton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previousElementSibling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g3edbba2b19a_0_37"/>
          <p:cNvSpPr txBox="1"/>
          <p:nvPr/>
        </p:nvSpPr>
        <p:spPr>
          <a:xfrm>
            <a:off x="6240125" y="1630375"/>
            <a:ext cx="23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previousElementSibling</a:t>
            </a:r>
            <a:endParaRPr b="1"/>
          </a:p>
        </p:txBody>
      </p:sp>
      <p:sp>
        <p:nvSpPr>
          <p:cNvPr id="223" name="Google Shape;223;g3edbba2b19a_0_37"/>
          <p:cNvSpPr txBox="1"/>
          <p:nvPr>
            <p:ph idx="1" type="body"/>
          </p:nvPr>
        </p:nvSpPr>
        <p:spPr>
          <a:xfrm>
            <a:off x="539888" y="2901225"/>
            <a:ext cx="62487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s-419" sz="120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contenedor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-419" sz="120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91B3E0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g3edbba2b19a_0_37"/>
          <p:cNvSpPr txBox="1"/>
          <p:nvPr/>
        </p:nvSpPr>
        <p:spPr>
          <a:xfrm>
            <a:off x="5303238" y="3170525"/>
            <a:ext cx="21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children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Propiedades de navegación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840025" y="1142625"/>
            <a:ext cx="3436500" cy="3691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&gt;First paragraph&lt;/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&gt;Second paragraph&lt;/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&gt;Third paragraph&lt;/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1&lt;/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2&lt;/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3&lt;/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4&lt;/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5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5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1&lt;/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5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5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2&lt;/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5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5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3&lt;/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5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5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5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6675" y="872975"/>
            <a:ext cx="3965176" cy="42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Propiedades de navegación: </a:t>
            </a:r>
            <a:r>
              <a:rPr i="1" lang="es-419"/>
              <a:t>firstElementChild</a:t>
            </a:r>
            <a:endParaRPr i="1"/>
          </a:p>
        </p:txBody>
      </p:sp>
      <p:sp>
        <p:nvSpPr>
          <p:cNvPr id="237" name="Google Shape;237;p21"/>
          <p:cNvSpPr/>
          <p:nvPr/>
        </p:nvSpPr>
        <p:spPr>
          <a:xfrm>
            <a:off x="311700" y="1142625"/>
            <a:ext cx="3066900" cy="3691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&gt;First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&gt;Second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&gt;Third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1&lt;/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2&lt;/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3&lt;/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4&lt;/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1&lt;/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2&lt;/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3&lt;/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4&lt;/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328725" y="4036000"/>
            <a:ext cx="5754900" cy="971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div1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firstElementChild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div1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'tomato'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latin typeface="Roboto Mono"/>
                <a:ea typeface="Roboto Mono"/>
                <a:cs typeface="Roboto Mono"/>
                <a:sym typeface="Roboto Mono"/>
              </a:rPr>
              <a:t>    div1.lastElementChild.style.backgroundColor =’skyblue’;</a:t>
            </a:r>
            <a:endParaRPr sz="12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7300" y="922475"/>
            <a:ext cx="5056626" cy="32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3467300" y="4029275"/>
            <a:ext cx="5364900" cy="945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div1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nextElementSibling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'darkseagreen'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5" name="Google Shape;24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Propiedades de navegación: </a:t>
            </a:r>
            <a:r>
              <a:rPr i="1" lang="es-419"/>
              <a:t>nextElementSibling</a:t>
            </a:r>
            <a:endParaRPr i="1"/>
          </a:p>
        </p:txBody>
      </p:sp>
      <p:sp>
        <p:nvSpPr>
          <p:cNvPr id="246" name="Google Shape;246;p22"/>
          <p:cNvSpPr/>
          <p:nvPr/>
        </p:nvSpPr>
        <p:spPr>
          <a:xfrm>
            <a:off x="311700" y="1142625"/>
            <a:ext cx="3066900" cy="383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&gt;First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&gt;Second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&gt;Third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1&lt;/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2&lt;/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3&lt;/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4&lt;/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1&lt;/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2&lt;/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3&lt;/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4&lt;/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4450" y="886362"/>
            <a:ext cx="5210599" cy="337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3467300" y="4029275"/>
            <a:ext cx="5364900" cy="945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li4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lastElementChild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li3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li4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previousElementSibling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li3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2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'gold'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3">
            <a:alphaModFix/>
          </a:blip>
          <a:srcRect b="8029" l="0" r="0" t="0"/>
          <a:stretch/>
        </p:blipFill>
        <p:spPr>
          <a:xfrm>
            <a:off x="3307575" y="952475"/>
            <a:ext cx="5684349" cy="307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Propiedades de navegación: </a:t>
            </a:r>
            <a:r>
              <a:rPr i="1" lang="es-419"/>
              <a:t>lastElementChild</a:t>
            </a:r>
            <a:endParaRPr i="1"/>
          </a:p>
        </p:txBody>
      </p:sp>
      <p:sp>
        <p:nvSpPr>
          <p:cNvPr id="255" name="Google Shape;255;p23"/>
          <p:cNvSpPr/>
          <p:nvPr/>
        </p:nvSpPr>
        <p:spPr>
          <a:xfrm>
            <a:off x="311700" y="1142625"/>
            <a:ext cx="3066900" cy="383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&gt;First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&gt;Second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&gt;Third paragraph&lt;/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1&lt;/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2&lt;/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3&lt;/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&gt;Item 4&lt;/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1&lt;/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2&lt;/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3&lt;/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&gt;Link 4&lt;/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idx="1" type="body"/>
          </p:nvPr>
        </p:nvSpPr>
        <p:spPr>
          <a:xfrm>
            <a:off x="311700" y="1225225"/>
            <a:ext cx="8334600" cy="31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s-419"/>
              <a:t>Objetivo</a:t>
            </a:r>
            <a:r>
              <a:rPr lang="es-419"/>
              <a:t>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Crear una página que permita ingresar nombre y edad, y al hacer clic en un botón, mostrar los datos en un </a:t>
            </a:r>
            <a:r>
              <a:rPr lang="es-41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/>
              <a:t> debajo del formulario sin recargar la página.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s-419"/>
              <a:t>Requisitos</a:t>
            </a:r>
            <a:r>
              <a:rPr lang="es-419"/>
              <a:t>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Capturar valores de inputs (nombre, edad).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Insertarlos en el HTML dinámicamente.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Estilizar el resultado (color, tamaño).</a:t>
            </a:r>
            <a:endParaRPr/>
          </a:p>
        </p:txBody>
      </p:sp>
      <p:sp>
        <p:nvSpPr>
          <p:cNvPr id="267" name="Google Shape;26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657750" y="1478625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1364700" y="1921950"/>
            <a:ext cx="229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3993625" y="2531825"/>
            <a:ext cx="4125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¿Para qué sirve Javascript?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0f51dfebc_0_59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pic>
        <p:nvPicPr>
          <p:cNvPr id="286" name="Google Shape;286;g3a0f51dfebc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a0f51dfebc_0_59"/>
          <p:cNvSpPr txBox="1"/>
          <p:nvPr/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M.Sc. Jesamin Zevallos Quispe</a:t>
            </a:r>
            <a:endParaRPr sz="23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75" u="sng">
                <a:solidFill>
                  <a:srgbClr val="3D85C6"/>
                </a:solidFill>
                <a:latin typeface="Economica"/>
                <a:ea typeface="Economica"/>
                <a:cs typeface="Economica"/>
                <a:sym typeface="Economic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