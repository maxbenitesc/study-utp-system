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12192000" cy="6858000"/>
  <p:embeddedFontLst>
    <p:embeddedFont>
      <p:font typeface="Poppins" panose="00000500000000000000" pitchFamily="2" charset="0"/>
      <p:regular r:id="rId34"/>
      <p:bold r:id="rId35"/>
      <p:italic r:id="rId36"/>
      <p:boldItalic r:id="rId37"/>
    </p:embeddedFont>
    <p:embeddedFont>
      <p:font typeface="Rubik" panose="020B0604020202020204" charset="-79"/>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j5VeMxSWqTLQVLttQtulaB7MAA7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61" d="100"/>
          <a:sy n="161" d="100"/>
        </p:scale>
        <p:origin x="174" y="2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283200" cy="3444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6905625" y="0"/>
            <a:ext cx="5283200" cy="3444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5283200" cy="3444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 name="Google Shape;45;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 name="Google Shape;50;p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 name="Google Shape;64;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1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1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1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2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2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2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2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2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2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2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3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obj">
  <p:cSld name="OBJECT">
    <p:spTree>
      <p:nvGrpSpPr>
        <p:cNvPr id="1" name="Shape 15"/>
        <p:cNvGrpSpPr/>
        <p:nvPr/>
      </p:nvGrpSpPr>
      <p:grpSpPr>
        <a:xfrm>
          <a:off x="0" y="0"/>
          <a:ext cx="0" cy="0"/>
          <a:chOff x="0" y="0"/>
          <a:chExt cx="0" cy="0"/>
        </a:xfrm>
      </p:grpSpPr>
      <p:sp>
        <p:nvSpPr>
          <p:cNvPr id="16" name="Google Shape;16;p33"/>
          <p:cNvSpPr txBox="1">
            <a:spLocks noGrp="1"/>
          </p:cNvSpPr>
          <p:nvPr>
            <p:ph type="ctrTitle"/>
          </p:nvPr>
        </p:nvSpPr>
        <p:spPr>
          <a:xfrm>
            <a:off x="1734820" y="1015746"/>
            <a:ext cx="8722359" cy="176339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3"/>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ES"/>
              <a:t>‹Nº›</a:t>
            </a:fld>
            <a:endParaRPr sz="1800" b="0" i="0" u="none" strike="noStrike" cap="non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sp>
        <p:nvSpPr>
          <p:cNvPr id="22" name="Google Shape;22;p34"/>
          <p:cNvSpPr txBox="1">
            <a:spLocks noGrp="1"/>
          </p:cNvSpPr>
          <p:nvPr>
            <p:ph type="title"/>
          </p:nvPr>
        </p:nvSpPr>
        <p:spPr>
          <a:xfrm>
            <a:off x="916939" y="609676"/>
            <a:ext cx="10358120" cy="6972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4"/>
          <p:cNvSpPr txBox="1">
            <a:spLocks noGrp="1"/>
          </p:cNvSpPr>
          <p:nvPr>
            <p:ph type="body" idx="1"/>
          </p:nvPr>
        </p:nvSpPr>
        <p:spPr>
          <a:xfrm>
            <a:off x="916939" y="1793493"/>
            <a:ext cx="10358120" cy="185864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 name="Google Shape;24;p3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ES"/>
              <a:t>‹Nº›</a:t>
            </a:fld>
            <a:endParaRPr sz="1800" b="0" i="0" u="none" strike="noStrike" cap="non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7"/>
        <p:cNvGrpSpPr/>
        <p:nvPr/>
      </p:nvGrpSpPr>
      <p:grpSpPr>
        <a:xfrm>
          <a:off x="0" y="0"/>
          <a:ext cx="0" cy="0"/>
          <a:chOff x="0" y="0"/>
          <a:chExt cx="0" cy="0"/>
        </a:xfrm>
      </p:grpSpPr>
      <p:sp>
        <p:nvSpPr>
          <p:cNvPr id="28" name="Google Shape;28;p3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ES"/>
              <a:t>‹Nº›</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1"/>
        <p:cNvGrpSpPr/>
        <p:nvPr/>
      </p:nvGrpSpPr>
      <p:grpSpPr>
        <a:xfrm>
          <a:off x="0" y="0"/>
          <a:ext cx="0" cy="0"/>
          <a:chOff x="0" y="0"/>
          <a:chExt cx="0" cy="0"/>
        </a:xfrm>
      </p:grpSpPr>
      <p:sp>
        <p:nvSpPr>
          <p:cNvPr id="32" name="Google Shape;32;p36"/>
          <p:cNvSpPr txBox="1">
            <a:spLocks noGrp="1"/>
          </p:cNvSpPr>
          <p:nvPr>
            <p:ph type="title"/>
          </p:nvPr>
        </p:nvSpPr>
        <p:spPr>
          <a:xfrm>
            <a:off x="916939" y="609676"/>
            <a:ext cx="10358120" cy="6972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6"/>
          <p:cNvSpPr txBox="1">
            <a:spLocks noGrp="1"/>
          </p:cNvSpPr>
          <p:nvPr>
            <p:ph type="body" idx="1"/>
          </p:nvPr>
        </p:nvSpPr>
        <p:spPr>
          <a:xfrm>
            <a:off x="916939" y="1784350"/>
            <a:ext cx="4892675" cy="402653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3200" b="0" i="0">
                <a:solidFill>
                  <a:schemeClr val="dk1"/>
                </a:solidFill>
                <a:latin typeface="Calibri"/>
                <a:ea typeface="Calibri"/>
                <a:cs typeface="Calibri"/>
                <a:sym typeface="Calibri"/>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36"/>
          <p:cNvSpPr txBox="1">
            <a:spLocks noGrp="1"/>
          </p:cNvSpPr>
          <p:nvPr>
            <p:ph type="body" idx="2"/>
          </p:nvPr>
        </p:nvSpPr>
        <p:spPr>
          <a:xfrm>
            <a:off x="7660005" y="1784350"/>
            <a:ext cx="3527425" cy="402653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3200" b="0" i="0">
                <a:solidFill>
                  <a:schemeClr val="dk1"/>
                </a:solidFill>
                <a:latin typeface="Calibri"/>
                <a:ea typeface="Calibri"/>
                <a:cs typeface="Calibri"/>
                <a:sym typeface="Calibri"/>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 name="Google Shape;35;p3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ES"/>
              <a:t>‹Nº›</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8"/>
        <p:cNvGrpSpPr/>
        <p:nvPr/>
      </p:nvGrpSpPr>
      <p:grpSpPr>
        <a:xfrm>
          <a:off x="0" y="0"/>
          <a:ext cx="0" cy="0"/>
          <a:chOff x="0" y="0"/>
          <a:chExt cx="0" cy="0"/>
        </a:xfrm>
      </p:grpSpPr>
      <p:sp>
        <p:nvSpPr>
          <p:cNvPr id="39" name="Google Shape;39;p37"/>
          <p:cNvSpPr txBox="1">
            <a:spLocks noGrp="1"/>
          </p:cNvSpPr>
          <p:nvPr>
            <p:ph type="title"/>
          </p:nvPr>
        </p:nvSpPr>
        <p:spPr>
          <a:xfrm>
            <a:off x="916939" y="609676"/>
            <a:ext cx="10358120" cy="6972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ES"/>
              <a:t>‹Nº›</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7">
            <a:alphaModFix/>
          </a:blip>
          <a:stretch>
            <a:fillRect/>
          </a:stretch>
        </a:blip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916939" y="609676"/>
            <a:ext cx="10358120" cy="69723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2"/>
          <p:cNvSpPr txBox="1">
            <a:spLocks noGrp="1"/>
          </p:cNvSpPr>
          <p:nvPr>
            <p:ph type="body" idx="1"/>
          </p:nvPr>
        </p:nvSpPr>
        <p:spPr>
          <a:xfrm>
            <a:off x="916939" y="1793493"/>
            <a:ext cx="10358120" cy="185864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3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7jamzK0C4Eg&amp;pp=ygUpUkVGTEVYSU9OIFBBUkEgRVNUVURJU05URVMgVU5JVkVSU0lUQVJJT1M%3D"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https://www.youtube.com/watch?v=N7qupl0X4Jk"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postgresql.org/download/"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guru99.com/es/mysql-tutorial.ht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jp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hyperlink" Target="https://www.arsys.es/blog/postgresql-servidores" TargetMode="External"/><Relationship Id="rId3" Type="http://schemas.openxmlformats.org/officeDocument/2006/relationships/image" Target="../media/image18.png"/><Relationship Id="rId7" Type="http://schemas.openxmlformats.org/officeDocument/2006/relationships/hyperlink" Target="https://www.youtube.com/watch?v=40uGNsi7ysc"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www.youtube.com/watch?v=CxHpOl2RMtQ" TargetMode="External"/><Relationship Id="rId5" Type="http://schemas.openxmlformats.org/officeDocument/2006/relationships/hyperlink" Target="https://www.youtube.com/watch?v=y1ply3gtDO8" TargetMode="External"/><Relationship Id="rId10" Type="http://schemas.openxmlformats.org/officeDocument/2006/relationships/hyperlink" Target="http://profesores.elo.utfsm.cl/~agv/elo330/2s02/projects/denzer/informe.pdf" TargetMode="External"/><Relationship Id="rId4" Type="http://schemas.openxmlformats.org/officeDocument/2006/relationships/hyperlink" Target="https://www.youtube.com/watch?v=pOnNxmrKwao" TargetMode="External"/><Relationship Id="rId9" Type="http://schemas.openxmlformats.org/officeDocument/2006/relationships/hyperlink" Target="https://iessanvicente.com/colaboraciones/postgreSQL.pdf"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
          <p:cNvSpPr txBox="1"/>
          <p:nvPr/>
        </p:nvSpPr>
        <p:spPr>
          <a:xfrm>
            <a:off x="2590800" y="1720840"/>
            <a:ext cx="7010400" cy="34163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b="1" i="0" u="none" strike="noStrike" cap="none">
                <a:solidFill>
                  <a:schemeClr val="dk1"/>
                </a:solidFill>
                <a:latin typeface="Arial"/>
                <a:ea typeface="Arial"/>
                <a:cs typeface="Arial"/>
                <a:sym typeface="Arial"/>
              </a:rPr>
              <a:t>SOLO EN LA PRIMERA CLASE:</a:t>
            </a:r>
            <a:endParaRPr/>
          </a:p>
          <a:p>
            <a:pPr marL="571500" marR="0" lvl="0" indent="-571500" algn="ctr" rtl="0">
              <a:spcBef>
                <a:spcPts val="0"/>
              </a:spcBef>
              <a:spcAft>
                <a:spcPts val="0"/>
              </a:spcAft>
              <a:buClr>
                <a:schemeClr val="dk1"/>
              </a:buClr>
              <a:buSzPts val="3600"/>
              <a:buFont typeface="Arial"/>
              <a:buChar char="•"/>
            </a:pPr>
            <a:r>
              <a:rPr lang="es-ES" sz="3600" b="1" i="0" u="none" strike="noStrike" cap="none">
                <a:solidFill>
                  <a:schemeClr val="dk1"/>
                </a:solidFill>
                <a:latin typeface="Arial"/>
                <a:ea typeface="Arial"/>
                <a:cs typeface="Arial"/>
                <a:sym typeface="Arial"/>
              </a:rPr>
              <a:t>Presentación del docente,</a:t>
            </a:r>
            <a:endParaRPr/>
          </a:p>
          <a:p>
            <a:pPr marL="571500" marR="0" lvl="0" indent="-571500" algn="ctr" rtl="0">
              <a:spcBef>
                <a:spcPts val="0"/>
              </a:spcBef>
              <a:spcAft>
                <a:spcPts val="0"/>
              </a:spcAft>
              <a:buClr>
                <a:schemeClr val="dk1"/>
              </a:buClr>
              <a:buSzPts val="3600"/>
              <a:buFont typeface="Arial"/>
              <a:buChar char="•"/>
            </a:pPr>
            <a:r>
              <a:rPr lang="es-ES" sz="3600" b="1" i="0" u="none" strike="noStrike" cap="none">
                <a:solidFill>
                  <a:schemeClr val="dk1"/>
                </a:solidFill>
                <a:latin typeface="Arial"/>
                <a:ea typeface="Arial"/>
                <a:cs typeface="Arial"/>
                <a:sym typeface="Arial"/>
              </a:rPr>
              <a:t>Designación del delegado,</a:t>
            </a:r>
            <a:endParaRPr/>
          </a:p>
          <a:p>
            <a:pPr marL="571500" marR="0" lvl="0" indent="-571500" algn="ctr" rtl="0">
              <a:spcBef>
                <a:spcPts val="0"/>
              </a:spcBef>
              <a:spcAft>
                <a:spcPts val="0"/>
              </a:spcAft>
              <a:buClr>
                <a:schemeClr val="dk1"/>
              </a:buClr>
              <a:buSzPts val="3600"/>
              <a:buFont typeface="Arial"/>
              <a:buChar char="•"/>
            </a:pPr>
            <a:r>
              <a:rPr lang="es-ES" sz="3600" b="1" i="0" u="none" strike="noStrike" cap="none">
                <a:solidFill>
                  <a:schemeClr val="dk1"/>
                </a:solidFill>
                <a:latin typeface="Arial"/>
                <a:ea typeface="Arial"/>
                <a:cs typeface="Arial"/>
                <a:sym typeface="Arial"/>
              </a:rPr>
              <a:t>Presentación del sílabo y</a:t>
            </a:r>
            <a:endParaRPr/>
          </a:p>
          <a:p>
            <a:pPr marL="571500" marR="0" lvl="0" indent="-571500" algn="ctr" rtl="0">
              <a:spcBef>
                <a:spcPts val="0"/>
              </a:spcBef>
              <a:spcAft>
                <a:spcPts val="0"/>
              </a:spcAft>
              <a:buClr>
                <a:schemeClr val="dk1"/>
              </a:buClr>
              <a:buSzPts val="3600"/>
              <a:buFont typeface="Arial"/>
              <a:buChar char="•"/>
            </a:pPr>
            <a:r>
              <a:rPr lang="es-ES" sz="3600" b="1" i="0" u="none" strike="noStrike" cap="none">
                <a:solidFill>
                  <a:schemeClr val="dk1"/>
                </a:solidFill>
                <a:latin typeface="Arial"/>
                <a:ea typeface="Arial"/>
                <a:cs typeface="Arial"/>
                <a:sym typeface="Arial"/>
              </a:rPr>
              <a:t>Reglas de convivencia en clase.</a:t>
            </a:r>
            <a:endParaRPr sz="36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2"/>
          <p:cNvSpPr txBox="1">
            <a:spLocks noGrp="1"/>
          </p:cNvSpPr>
          <p:nvPr>
            <p:ph type="ctrTitle"/>
          </p:nvPr>
        </p:nvSpPr>
        <p:spPr>
          <a:xfrm>
            <a:off x="914400" y="3579469"/>
            <a:ext cx="10363199" cy="1116967"/>
          </a:xfrm>
          <a:prstGeom prst="rect">
            <a:avLst/>
          </a:prstGeom>
          <a:noFill/>
          <a:ln>
            <a:noFill/>
          </a:ln>
        </p:spPr>
        <p:txBody>
          <a:bodyPr spcFirstLastPara="1" wrap="square" lIns="0" tIns="116200" rIns="0" bIns="0" anchor="t" anchorCtr="0">
            <a:spAutoFit/>
          </a:bodyPr>
          <a:lstStyle/>
          <a:p>
            <a:pPr marL="185738" marR="5080" lvl="0" indent="0" algn="ctr" rtl="0">
              <a:lnSpc>
                <a:spcPct val="202500"/>
              </a:lnSpc>
              <a:spcBef>
                <a:spcPts val="0"/>
              </a:spcBef>
              <a:spcAft>
                <a:spcPts val="0"/>
              </a:spcAft>
              <a:buNone/>
            </a:pPr>
            <a:r>
              <a:rPr lang="es-ES" sz="3200" dirty="0">
                <a:latin typeface="Arial"/>
                <a:ea typeface="Arial"/>
                <a:cs typeface="Arial"/>
                <a:sym typeface="Arial"/>
              </a:rPr>
              <a:t>MG. CARLOS IGNACIO FLORES RUJEL</a:t>
            </a:r>
            <a:endParaRPr sz="3200" dirty="0">
              <a:latin typeface="Arial"/>
              <a:ea typeface="Arial"/>
              <a:cs typeface="Arial"/>
              <a:sym typeface="Arial"/>
            </a:endParaRPr>
          </a:p>
        </p:txBody>
      </p:sp>
      <p:sp>
        <p:nvSpPr>
          <p:cNvPr id="53" name="Google Shape;53;p2"/>
          <p:cNvSpPr txBox="1"/>
          <p:nvPr/>
        </p:nvSpPr>
        <p:spPr>
          <a:xfrm>
            <a:off x="2781300" y="3385820"/>
            <a:ext cx="66294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400" b="1" i="0" u="none" strike="noStrike" cap="none">
                <a:solidFill>
                  <a:srgbClr val="D1052D"/>
                </a:solidFill>
                <a:latin typeface="Calibri"/>
                <a:ea typeface="Calibri"/>
                <a:cs typeface="Calibri"/>
                <a:sym typeface="Calibri"/>
              </a:rPr>
              <a:t>DOCENTE:</a:t>
            </a:r>
            <a:endParaRPr sz="2400" b="0" i="0" u="none" strike="noStrike" cap="none">
              <a:solidFill>
                <a:schemeClr val="dk1"/>
              </a:solidFill>
              <a:latin typeface="Calibri"/>
              <a:ea typeface="Calibri"/>
              <a:cs typeface="Calibri"/>
              <a:sym typeface="Calibri"/>
            </a:endParaRPr>
          </a:p>
        </p:txBody>
      </p:sp>
      <p:grpSp>
        <p:nvGrpSpPr>
          <p:cNvPr id="54" name="Google Shape;54;p2"/>
          <p:cNvGrpSpPr/>
          <p:nvPr/>
        </p:nvGrpSpPr>
        <p:grpSpPr>
          <a:xfrm>
            <a:off x="3681788" y="152400"/>
            <a:ext cx="8281612" cy="1295400"/>
            <a:chOff x="3681788" y="152400"/>
            <a:chExt cx="8281612" cy="1295400"/>
          </a:xfrm>
        </p:grpSpPr>
        <p:pic>
          <p:nvPicPr>
            <p:cNvPr id="55" name="Google Shape;55;p2"/>
            <p:cNvPicPr preferRelativeResize="0"/>
            <p:nvPr/>
          </p:nvPicPr>
          <p:blipFill rotWithShape="1">
            <a:blip r:embed="rId3">
              <a:alphaModFix/>
            </a:blip>
            <a:srcRect/>
            <a:stretch/>
          </p:blipFill>
          <p:spPr>
            <a:xfrm>
              <a:off x="3681788" y="370720"/>
              <a:ext cx="4828423" cy="1077080"/>
            </a:xfrm>
            <a:prstGeom prst="rect">
              <a:avLst/>
            </a:prstGeom>
            <a:noFill/>
            <a:ln>
              <a:noFill/>
            </a:ln>
          </p:spPr>
        </p:pic>
        <p:sp>
          <p:nvSpPr>
            <p:cNvPr id="56" name="Google Shape;56;p2"/>
            <p:cNvSpPr/>
            <p:nvPr/>
          </p:nvSpPr>
          <p:spPr>
            <a:xfrm>
              <a:off x="9144000" y="152400"/>
              <a:ext cx="2819400" cy="76272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1" name="Google Shape;61;p3" descr="Carteles de normas de clase para imprimir"/>
          <p:cNvPicPr preferRelativeResize="0"/>
          <p:nvPr/>
        </p:nvPicPr>
        <p:blipFill rotWithShape="1">
          <a:blip r:embed="rId3">
            <a:alphaModFix/>
          </a:blip>
          <a:srcRect l="10056" t="6806" r="9222" b="15416"/>
          <a:stretch/>
        </p:blipFill>
        <p:spPr>
          <a:xfrm>
            <a:off x="2400300" y="914400"/>
            <a:ext cx="7391400" cy="5334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ctrTitle"/>
          </p:nvPr>
        </p:nvSpPr>
        <p:spPr>
          <a:xfrm>
            <a:off x="900112" y="1838144"/>
            <a:ext cx="10363199" cy="905056"/>
          </a:xfrm>
          <a:prstGeom prst="rect">
            <a:avLst/>
          </a:prstGeom>
          <a:noFill/>
          <a:ln>
            <a:noFill/>
          </a:ln>
        </p:spPr>
        <p:txBody>
          <a:bodyPr spcFirstLastPara="1" wrap="square" lIns="0" tIns="116200" rIns="0" bIns="0" anchor="t" anchorCtr="0">
            <a:spAutoFit/>
          </a:bodyPr>
          <a:lstStyle/>
          <a:p>
            <a:pPr marL="3268979" marR="5080" lvl="0" indent="-3253104" algn="ctr" rtl="0">
              <a:lnSpc>
                <a:spcPct val="135000"/>
              </a:lnSpc>
              <a:spcBef>
                <a:spcPts val="0"/>
              </a:spcBef>
              <a:spcAft>
                <a:spcPts val="0"/>
              </a:spcAft>
              <a:buNone/>
            </a:pPr>
            <a:r>
              <a:rPr lang="es-ES" sz="4800">
                <a:latin typeface="Arial"/>
                <a:ea typeface="Arial"/>
                <a:cs typeface="Arial"/>
                <a:sym typeface="Arial"/>
              </a:rPr>
              <a:t>CURSO: BASE DE DATOS II</a:t>
            </a:r>
            <a:endParaRPr sz="4800">
              <a:latin typeface="Arial"/>
              <a:ea typeface="Arial"/>
              <a:cs typeface="Arial"/>
              <a:sym typeface="Arial"/>
            </a:endParaRPr>
          </a:p>
        </p:txBody>
      </p:sp>
      <p:sp>
        <p:nvSpPr>
          <p:cNvPr id="67" name="Google Shape;67;p4"/>
          <p:cNvSpPr txBox="1"/>
          <p:nvPr/>
        </p:nvSpPr>
        <p:spPr>
          <a:xfrm>
            <a:off x="2767012" y="1644495"/>
            <a:ext cx="66294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b="1" i="0" u="none" strike="noStrike" cap="none">
                <a:solidFill>
                  <a:srgbClr val="D1052D"/>
                </a:solidFill>
                <a:latin typeface="Calibri"/>
                <a:ea typeface="Calibri"/>
                <a:cs typeface="Calibri"/>
                <a:sym typeface="Calibri"/>
              </a:rPr>
              <a:t>PRIMERA UNIDAD DE APRENDIZAJE 1: </a:t>
            </a:r>
            <a:r>
              <a:rPr lang="es-ES" sz="1800" b="0" i="0" u="none" strike="noStrike" cap="none">
                <a:solidFill>
                  <a:schemeClr val="dk1"/>
                </a:solidFill>
                <a:latin typeface="Calibri"/>
                <a:ea typeface="Calibri"/>
                <a:cs typeface="Calibri"/>
                <a:sym typeface="Calibri"/>
              </a:rPr>
              <a:t>Bases de Datos Relacionales</a:t>
            </a:r>
            <a:endParaRPr sz="1800" b="0" i="0" u="none" strike="noStrike" cap="none">
              <a:solidFill>
                <a:schemeClr val="dk1"/>
              </a:solidFill>
              <a:latin typeface="Calibri"/>
              <a:ea typeface="Calibri"/>
              <a:cs typeface="Calibri"/>
              <a:sym typeface="Calibri"/>
            </a:endParaRPr>
          </a:p>
        </p:txBody>
      </p:sp>
      <p:sp>
        <p:nvSpPr>
          <p:cNvPr id="68" name="Google Shape;68;p4"/>
          <p:cNvSpPr txBox="1"/>
          <p:nvPr/>
        </p:nvSpPr>
        <p:spPr>
          <a:xfrm>
            <a:off x="1966912" y="3179215"/>
            <a:ext cx="8258176" cy="2087751"/>
          </a:xfrm>
          <a:prstGeom prst="rect">
            <a:avLst/>
          </a:prstGeom>
          <a:solidFill>
            <a:srgbClr val="D1052D"/>
          </a:solidFill>
          <a:ln>
            <a:noFill/>
          </a:ln>
        </p:spPr>
        <p:txBody>
          <a:bodyPr spcFirstLastPara="1" wrap="square" lIns="91425" tIns="45700" rIns="91425" bIns="45700" anchor="t" anchorCtr="0">
            <a:spAutoFit/>
          </a:bodyPr>
          <a:lstStyle/>
          <a:p>
            <a:pPr marL="12700" marR="0" lvl="0" indent="0" algn="ctr" rtl="0">
              <a:lnSpc>
                <a:spcPct val="100000"/>
              </a:lnSpc>
              <a:spcBef>
                <a:spcPts val="0"/>
              </a:spcBef>
              <a:spcAft>
                <a:spcPts val="0"/>
              </a:spcAft>
              <a:buNone/>
            </a:pPr>
            <a:r>
              <a:rPr lang="es-ES" sz="3200" b="1" i="0" u="none" strike="noStrike" cap="none">
                <a:solidFill>
                  <a:schemeClr val="lt1"/>
                </a:solidFill>
                <a:latin typeface="Arial"/>
                <a:ea typeface="Arial"/>
                <a:cs typeface="Arial"/>
                <a:sym typeface="Arial"/>
              </a:rPr>
              <a:t>SESIÓN N° 1:</a:t>
            </a:r>
            <a:endParaRPr sz="3200" b="1" i="0" u="none" strike="noStrike" cap="none">
              <a:solidFill>
                <a:schemeClr val="lt1"/>
              </a:solidFill>
              <a:latin typeface="Arial"/>
              <a:ea typeface="Arial"/>
              <a:cs typeface="Arial"/>
              <a:sym typeface="Arial"/>
            </a:endParaRPr>
          </a:p>
          <a:p>
            <a:pPr marL="12700" marR="0" lvl="0" indent="0" algn="l" rtl="0">
              <a:lnSpc>
                <a:spcPct val="100000"/>
              </a:lnSpc>
              <a:spcBef>
                <a:spcPts val="100"/>
              </a:spcBef>
              <a:spcAft>
                <a:spcPts val="0"/>
              </a:spcAft>
              <a:buNone/>
            </a:pPr>
            <a:r>
              <a:rPr lang="es-ES" sz="3200" b="1" i="0" u="none" strike="noStrike" cap="none">
                <a:solidFill>
                  <a:schemeClr val="lt1"/>
                </a:solidFill>
                <a:latin typeface="Calibri"/>
                <a:ea typeface="Calibri"/>
                <a:cs typeface="Calibri"/>
                <a:sym typeface="Calibri"/>
              </a:rPr>
              <a:t>PostgreSQL: </a:t>
            </a:r>
            <a:endParaRPr/>
          </a:p>
          <a:p>
            <a:pPr marL="12700" marR="0" lvl="0" indent="0" algn="l" rtl="0">
              <a:lnSpc>
                <a:spcPct val="100000"/>
              </a:lnSpc>
              <a:spcBef>
                <a:spcPts val="100"/>
              </a:spcBef>
              <a:spcAft>
                <a:spcPts val="0"/>
              </a:spcAft>
              <a:buNone/>
            </a:pPr>
            <a:r>
              <a:rPr lang="es-ES" sz="3200" b="0" i="0" u="none" strike="noStrike" cap="none">
                <a:solidFill>
                  <a:schemeClr val="lt1"/>
                </a:solidFill>
                <a:latin typeface="Calibri"/>
                <a:ea typeface="Calibri"/>
                <a:cs typeface="Calibri"/>
                <a:sym typeface="Calibri"/>
              </a:rPr>
              <a:t>- Introducción a las características de PostgreSQL - Instalación de la Herramienta</a:t>
            </a:r>
            <a:endParaRPr sz="3200" b="0" i="0" u="none" strike="noStrike" cap="none">
              <a:solidFill>
                <a:schemeClr val="lt1"/>
              </a:solidFill>
              <a:latin typeface="Arial"/>
              <a:ea typeface="Arial"/>
              <a:cs typeface="Arial"/>
              <a:sym typeface="Arial"/>
            </a:endParaRPr>
          </a:p>
        </p:txBody>
      </p:sp>
      <p:sp>
        <p:nvSpPr>
          <p:cNvPr id="69" name="Google Shape;69;p4"/>
          <p:cNvSpPr txBox="1"/>
          <p:nvPr/>
        </p:nvSpPr>
        <p:spPr>
          <a:xfrm>
            <a:off x="3048000" y="5715000"/>
            <a:ext cx="6096000" cy="659155"/>
          </a:xfrm>
          <a:prstGeom prst="rect">
            <a:avLst/>
          </a:prstGeom>
          <a:noFill/>
          <a:ln>
            <a:noFill/>
          </a:ln>
        </p:spPr>
        <p:txBody>
          <a:bodyPr spcFirstLastPara="1" wrap="square" lIns="91425" tIns="45700" rIns="91425" bIns="45700" anchor="t" anchorCtr="0">
            <a:spAutoFit/>
          </a:bodyPr>
          <a:lstStyle/>
          <a:p>
            <a:pPr marL="12700" marR="0" lvl="0" indent="0" algn="ctr" rtl="0">
              <a:lnSpc>
                <a:spcPct val="100000"/>
              </a:lnSpc>
              <a:spcBef>
                <a:spcPts val="0"/>
              </a:spcBef>
              <a:spcAft>
                <a:spcPts val="0"/>
              </a:spcAft>
              <a:buNone/>
            </a:pPr>
            <a:r>
              <a:rPr lang="es-ES" sz="1800" b="1" i="0" u="none" strike="noStrike" cap="none">
                <a:solidFill>
                  <a:srgbClr val="D1052D"/>
                </a:solidFill>
                <a:latin typeface="Arial"/>
                <a:ea typeface="Arial"/>
                <a:cs typeface="Arial"/>
                <a:sym typeface="Arial"/>
              </a:rPr>
              <a:t>DOCENTES DE UTP</a:t>
            </a:r>
            <a:endParaRPr/>
          </a:p>
          <a:p>
            <a:pPr marL="12700" marR="0" lvl="0" indent="0" algn="ctr" rtl="0">
              <a:lnSpc>
                <a:spcPct val="100000"/>
              </a:lnSpc>
              <a:spcBef>
                <a:spcPts val="100"/>
              </a:spcBef>
              <a:spcAft>
                <a:spcPts val="0"/>
              </a:spcAft>
              <a:buNone/>
            </a:pPr>
            <a:r>
              <a:rPr lang="es-ES" sz="1800" b="1" i="0" u="none" strike="noStrike" cap="none">
                <a:solidFill>
                  <a:srgbClr val="D1052D"/>
                </a:solidFill>
                <a:latin typeface="Arial"/>
                <a:ea typeface="Arial"/>
                <a:cs typeface="Arial"/>
                <a:sym typeface="Arial"/>
              </a:rPr>
              <a:t>SISTEMAS</a:t>
            </a:r>
            <a:endParaRPr sz="1800" b="0" i="0" u="none" strike="noStrike" cap="none">
              <a:solidFill>
                <a:schemeClr val="dk1"/>
              </a:solidFill>
              <a:latin typeface="Arial"/>
              <a:ea typeface="Arial"/>
              <a:cs typeface="Arial"/>
              <a:sym typeface="Arial"/>
            </a:endParaRPr>
          </a:p>
        </p:txBody>
      </p:sp>
      <p:grpSp>
        <p:nvGrpSpPr>
          <p:cNvPr id="70" name="Google Shape;70;p4"/>
          <p:cNvGrpSpPr/>
          <p:nvPr/>
        </p:nvGrpSpPr>
        <p:grpSpPr>
          <a:xfrm>
            <a:off x="3681788" y="152400"/>
            <a:ext cx="8281612" cy="1295400"/>
            <a:chOff x="3681788" y="152400"/>
            <a:chExt cx="8281612" cy="1295400"/>
          </a:xfrm>
        </p:grpSpPr>
        <p:pic>
          <p:nvPicPr>
            <p:cNvPr id="71" name="Google Shape;71;p4"/>
            <p:cNvPicPr preferRelativeResize="0"/>
            <p:nvPr/>
          </p:nvPicPr>
          <p:blipFill rotWithShape="1">
            <a:blip r:embed="rId3">
              <a:alphaModFix/>
            </a:blip>
            <a:srcRect/>
            <a:stretch/>
          </p:blipFill>
          <p:spPr>
            <a:xfrm>
              <a:off x="3681788" y="370720"/>
              <a:ext cx="4828423" cy="1077080"/>
            </a:xfrm>
            <a:prstGeom prst="rect">
              <a:avLst/>
            </a:prstGeom>
            <a:noFill/>
            <a:ln>
              <a:noFill/>
            </a:ln>
          </p:spPr>
        </p:pic>
        <p:sp>
          <p:nvSpPr>
            <p:cNvPr id="72" name="Google Shape;72;p4"/>
            <p:cNvSpPr/>
            <p:nvPr/>
          </p:nvSpPr>
          <p:spPr>
            <a:xfrm>
              <a:off x="9144000" y="152400"/>
              <a:ext cx="2819400" cy="76272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5"/>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 name="Google Shape;78;p5"/>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79" name="Google Shape;79;p5"/>
          <p:cNvPicPr preferRelativeResize="0"/>
          <p:nvPr/>
        </p:nvPicPr>
        <p:blipFill rotWithShape="1">
          <a:blip r:embed="rId3">
            <a:alphaModFix/>
          </a:blip>
          <a:srcRect/>
          <a:stretch/>
        </p:blipFill>
        <p:spPr>
          <a:xfrm>
            <a:off x="5723651" y="313451"/>
            <a:ext cx="524749" cy="524749"/>
          </a:xfrm>
          <a:prstGeom prst="rect">
            <a:avLst/>
          </a:prstGeom>
          <a:noFill/>
          <a:ln>
            <a:noFill/>
          </a:ln>
        </p:spPr>
      </p:pic>
      <p:sp>
        <p:nvSpPr>
          <p:cNvPr id="80" name="Google Shape;80;p5"/>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81" name="Google Shape;81;p5"/>
          <p:cNvSpPr txBox="1"/>
          <p:nvPr/>
        </p:nvSpPr>
        <p:spPr>
          <a:xfrm>
            <a:off x="2590800" y="2981235"/>
            <a:ext cx="701040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b="1">
                <a:solidFill>
                  <a:schemeClr val="dk1"/>
                </a:solidFill>
                <a:latin typeface="Arial"/>
                <a:ea typeface="Arial"/>
                <a:cs typeface="Arial"/>
                <a:sym typeface="Arial"/>
              </a:rPr>
              <a:t>Lo que debemos tener en cuenta</a:t>
            </a:r>
            <a:endParaRPr sz="3600">
              <a:solidFill>
                <a:schemeClr val="dk1"/>
              </a:solidFill>
              <a:latin typeface="Arial"/>
              <a:ea typeface="Arial"/>
              <a:cs typeface="Arial"/>
              <a:sym typeface="Arial"/>
            </a:endParaRPr>
          </a:p>
        </p:txBody>
      </p:sp>
      <p:pic>
        <p:nvPicPr>
          <p:cNvPr id="82" name="Google Shape;82;p5"/>
          <p:cNvPicPr preferRelativeResize="0"/>
          <p:nvPr/>
        </p:nvPicPr>
        <p:blipFill rotWithShape="1">
          <a:blip r:embed="rId4">
            <a:alphaModFix/>
          </a:blip>
          <a:srcRect/>
          <a:stretch/>
        </p:blipFill>
        <p:spPr>
          <a:xfrm>
            <a:off x="9753600" y="6184229"/>
            <a:ext cx="445171" cy="445171"/>
          </a:xfrm>
          <a:prstGeom prst="rect">
            <a:avLst/>
          </a:prstGeom>
          <a:noFill/>
          <a:ln>
            <a:noFill/>
          </a:ln>
        </p:spPr>
      </p:pic>
      <p:sp>
        <p:nvSpPr>
          <p:cNvPr id="83" name="Google Shape;83;p5"/>
          <p:cNvSpPr txBox="1"/>
          <p:nvPr/>
        </p:nvSpPr>
        <p:spPr>
          <a:xfrm>
            <a:off x="10198771" y="6222148"/>
            <a:ext cx="1764629" cy="400110"/>
          </a:xfrm>
          <a:prstGeom prst="rect">
            <a:avLst/>
          </a:prstGeom>
          <a:noFill/>
          <a:ln>
            <a:noFill/>
          </a:ln>
        </p:spPr>
        <p:txBody>
          <a:bodyPr spcFirstLastPara="1" wrap="square" lIns="91425" tIns="45700" rIns="91425" bIns="45700" anchor="t" anchorCtr="0">
            <a:spAutoFit/>
          </a:bodyPr>
          <a:lstStyle/>
          <a:p>
            <a:pPr marL="0" marR="114300" lvl="0" indent="0" algn="l" rtl="0">
              <a:lnSpc>
                <a:spcPct val="100000"/>
              </a:lnSpc>
              <a:spcBef>
                <a:spcPts val="0"/>
              </a:spcBef>
              <a:spcAft>
                <a:spcPts val="0"/>
              </a:spcAft>
              <a:buNone/>
            </a:pPr>
            <a:r>
              <a:rPr lang="es-ES" sz="2000" b="1">
                <a:solidFill>
                  <a:schemeClr val="dk1"/>
                </a:solidFill>
                <a:latin typeface="Arial"/>
                <a:ea typeface="Arial"/>
                <a:cs typeface="Arial"/>
                <a:sym typeface="Arial"/>
              </a:rPr>
              <a:t>5 minutos</a:t>
            </a:r>
            <a:endParaRPr sz="20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6"/>
          <p:cNvSpPr txBox="1"/>
          <p:nvPr/>
        </p:nvSpPr>
        <p:spPr>
          <a:xfrm>
            <a:off x="3048000" y="4953000"/>
            <a:ext cx="609600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https://www.youtube.com/watch?v=7jamzK0C4Eg&amp;pp=ygUpUkVGTEVYSU9OIFBBUkEgRVNUVURJU05URVMgVU5JVkVSU0lUQVJJT1M%3D</a:t>
            </a: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89" name="Google Shape;89;p6" descr="Yo Puedo, yo Quiero, yo voy a Lograrlo 6. 14&quot;X9. 21&quot; , 120 Páginas:  Planificador de Comidas Diarias y Saludables, Planea tu Dieta"/>
          <p:cNvPicPr preferRelativeResize="0"/>
          <p:nvPr/>
        </p:nvPicPr>
        <p:blipFill rotWithShape="1">
          <a:blip r:embed="rId4">
            <a:alphaModFix/>
          </a:blip>
          <a:srcRect t="14003" b="32663"/>
          <a:stretch/>
        </p:blipFill>
        <p:spPr>
          <a:xfrm>
            <a:off x="4076700" y="1447800"/>
            <a:ext cx="4038600" cy="323088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7"/>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 name="Google Shape;95;p7"/>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96" name="Google Shape;96;p7"/>
          <p:cNvPicPr preferRelativeResize="0"/>
          <p:nvPr/>
        </p:nvPicPr>
        <p:blipFill rotWithShape="1">
          <a:blip r:embed="rId3">
            <a:alphaModFix/>
          </a:blip>
          <a:srcRect/>
          <a:stretch/>
        </p:blipFill>
        <p:spPr>
          <a:xfrm>
            <a:off x="5723651" y="313451"/>
            <a:ext cx="524749" cy="524749"/>
          </a:xfrm>
          <a:prstGeom prst="rect">
            <a:avLst/>
          </a:prstGeom>
          <a:noFill/>
          <a:ln>
            <a:noFill/>
          </a:ln>
        </p:spPr>
      </p:pic>
      <p:sp>
        <p:nvSpPr>
          <p:cNvPr id="97" name="Google Shape;97;p7"/>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98" name="Google Shape;98;p7"/>
          <p:cNvSpPr txBox="1"/>
          <p:nvPr/>
        </p:nvSpPr>
        <p:spPr>
          <a:xfrm>
            <a:off x="2590800" y="2981235"/>
            <a:ext cx="701040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b="1">
                <a:solidFill>
                  <a:schemeClr val="dk1"/>
                </a:solidFill>
                <a:latin typeface="Arial"/>
                <a:ea typeface="Arial"/>
                <a:cs typeface="Arial"/>
                <a:sym typeface="Arial"/>
              </a:rPr>
              <a:t>¿Qué vimos en la sesión anterior?</a:t>
            </a:r>
            <a:endParaRPr sz="36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8"/>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04;p8"/>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105" name="Google Shape;105;p8"/>
          <p:cNvPicPr preferRelativeResize="0"/>
          <p:nvPr/>
        </p:nvPicPr>
        <p:blipFill rotWithShape="1">
          <a:blip r:embed="rId3">
            <a:alphaModFix/>
          </a:blip>
          <a:srcRect/>
          <a:stretch/>
        </p:blipFill>
        <p:spPr>
          <a:xfrm>
            <a:off x="5723651" y="313451"/>
            <a:ext cx="524749" cy="524749"/>
          </a:xfrm>
          <a:prstGeom prst="rect">
            <a:avLst/>
          </a:prstGeom>
          <a:noFill/>
          <a:ln>
            <a:noFill/>
          </a:ln>
        </p:spPr>
      </p:pic>
      <p:sp>
        <p:nvSpPr>
          <p:cNvPr id="106" name="Google Shape;106;p8"/>
          <p:cNvSpPr txBox="1"/>
          <p:nvPr/>
        </p:nvSpPr>
        <p:spPr>
          <a:xfrm>
            <a:off x="3049191" y="5638800"/>
            <a:ext cx="6093600" cy="646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https://www.youtube.com/watch?v=N7qupl0X4Jk</a:t>
            </a: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07" name="Google Shape;107;p8"/>
          <p:cNvPicPr preferRelativeResize="0"/>
          <p:nvPr/>
        </p:nvPicPr>
        <p:blipFill rotWithShape="1">
          <a:blip r:embed="rId5">
            <a:alphaModFix/>
          </a:blip>
          <a:srcRect/>
          <a:stretch/>
        </p:blipFill>
        <p:spPr>
          <a:xfrm>
            <a:off x="2714625" y="1333207"/>
            <a:ext cx="6725589" cy="419158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9"/>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9"/>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114" name="Google Shape;114;p9"/>
          <p:cNvPicPr preferRelativeResize="0"/>
          <p:nvPr/>
        </p:nvPicPr>
        <p:blipFill rotWithShape="1">
          <a:blip r:embed="rId3">
            <a:alphaModFix/>
          </a:blip>
          <a:srcRect/>
          <a:stretch/>
        </p:blipFill>
        <p:spPr>
          <a:xfrm>
            <a:off x="5723651" y="313451"/>
            <a:ext cx="524749" cy="524749"/>
          </a:xfrm>
          <a:prstGeom prst="rect">
            <a:avLst/>
          </a:prstGeom>
          <a:noFill/>
          <a:ln>
            <a:noFill/>
          </a:ln>
        </p:spPr>
      </p:pic>
      <p:sp>
        <p:nvSpPr>
          <p:cNvPr id="115" name="Google Shape;115;p9"/>
          <p:cNvSpPr txBox="1"/>
          <p:nvPr/>
        </p:nvSpPr>
        <p:spPr>
          <a:xfrm>
            <a:off x="1866900" y="1905000"/>
            <a:ext cx="8458199" cy="378565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400">
                <a:solidFill>
                  <a:schemeClr val="dk1"/>
                </a:solidFill>
                <a:latin typeface="Calibri"/>
                <a:ea typeface="Calibri"/>
                <a:cs typeface="Calibri"/>
                <a:sym typeface="Calibri"/>
              </a:rPr>
              <a:t>¿Qué opinas sobre el tema tratado en el video?</a:t>
            </a:r>
            <a:endParaRPr/>
          </a:p>
          <a:p>
            <a:pPr marL="0" marR="0" lvl="0" indent="0" algn="ctr" rtl="0">
              <a:spcBef>
                <a:spcPts val="0"/>
              </a:spcBef>
              <a:spcAft>
                <a:spcPts val="0"/>
              </a:spcAft>
              <a:buNone/>
            </a:pPr>
            <a:endParaRPr sz="2400">
              <a:solidFill>
                <a:schemeClr val="dk1"/>
              </a:solidFill>
              <a:latin typeface="Calibri"/>
              <a:ea typeface="Calibri"/>
              <a:cs typeface="Calibri"/>
              <a:sym typeface="Calibri"/>
            </a:endParaRPr>
          </a:p>
          <a:p>
            <a:pPr marL="0" marR="0" lvl="0" indent="0" algn="ctr" rtl="0">
              <a:spcBef>
                <a:spcPts val="0"/>
              </a:spcBef>
              <a:spcAft>
                <a:spcPts val="0"/>
              </a:spcAft>
              <a:buNone/>
            </a:pPr>
            <a:r>
              <a:rPr lang="es-ES" sz="2400">
                <a:solidFill>
                  <a:schemeClr val="dk1"/>
                </a:solidFill>
                <a:latin typeface="Calibri"/>
                <a:ea typeface="Calibri"/>
                <a:cs typeface="Calibri"/>
                <a:sym typeface="Calibri"/>
              </a:rPr>
              <a:t>¿Qué implicaciones podría tener la situación presentada en el video en la actualidad?</a:t>
            </a:r>
            <a:endParaRPr/>
          </a:p>
          <a:p>
            <a:pPr marL="0" marR="0" lvl="0" indent="0" algn="ctr" rtl="0">
              <a:spcBef>
                <a:spcPts val="0"/>
              </a:spcBef>
              <a:spcAft>
                <a:spcPts val="0"/>
              </a:spcAft>
              <a:buNone/>
            </a:pPr>
            <a:endParaRPr sz="2400">
              <a:solidFill>
                <a:schemeClr val="dk1"/>
              </a:solidFill>
              <a:latin typeface="Calibri"/>
              <a:ea typeface="Calibri"/>
              <a:cs typeface="Calibri"/>
              <a:sym typeface="Calibri"/>
            </a:endParaRPr>
          </a:p>
          <a:p>
            <a:pPr marL="0" marR="0" lvl="0" indent="0" algn="ctr" rtl="0">
              <a:spcBef>
                <a:spcPts val="0"/>
              </a:spcBef>
              <a:spcAft>
                <a:spcPts val="0"/>
              </a:spcAft>
              <a:buNone/>
            </a:pPr>
            <a:r>
              <a:rPr lang="es-ES" sz="2400">
                <a:solidFill>
                  <a:schemeClr val="dk1"/>
                </a:solidFill>
                <a:latin typeface="Calibri"/>
                <a:ea typeface="Calibri"/>
                <a:cs typeface="Calibri"/>
                <a:sym typeface="Calibri"/>
              </a:rPr>
              <a:t>¿Cómo se relaciona el contenido del video con tu experiencias personales?</a:t>
            </a:r>
            <a:endParaRPr/>
          </a:p>
          <a:p>
            <a:pPr marL="0" marR="0" lvl="0" indent="0" algn="ctr" rtl="0">
              <a:spcBef>
                <a:spcPts val="0"/>
              </a:spcBef>
              <a:spcAft>
                <a:spcPts val="0"/>
              </a:spcAft>
              <a:buNone/>
            </a:pPr>
            <a:endParaRPr sz="2400">
              <a:solidFill>
                <a:schemeClr val="dk1"/>
              </a:solidFill>
              <a:latin typeface="Calibri"/>
              <a:ea typeface="Calibri"/>
              <a:cs typeface="Calibri"/>
              <a:sym typeface="Calibri"/>
            </a:endParaRPr>
          </a:p>
          <a:p>
            <a:pPr marL="0" marR="0" lvl="0" indent="0" algn="ctr" rtl="0">
              <a:spcBef>
                <a:spcPts val="0"/>
              </a:spcBef>
              <a:spcAft>
                <a:spcPts val="0"/>
              </a:spcAft>
              <a:buNone/>
            </a:pPr>
            <a:r>
              <a:rPr lang="es-ES" sz="2400">
                <a:solidFill>
                  <a:schemeClr val="dk1"/>
                </a:solidFill>
                <a:latin typeface="Calibri"/>
                <a:ea typeface="Calibri"/>
                <a:cs typeface="Calibri"/>
                <a:sym typeface="Calibri"/>
              </a:rPr>
              <a:t>¿Cómo aplicarías lo aprendido en el video a una situación práctica en tu comunidad o entorno?</a:t>
            </a:r>
            <a:endParaRPr sz="2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0"/>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1" name="Google Shape;121;p10"/>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Logro de la sesión</a:t>
            </a:r>
            <a:endParaRPr sz="2400">
              <a:solidFill>
                <a:schemeClr val="dk1"/>
              </a:solidFill>
              <a:latin typeface="Arial"/>
              <a:ea typeface="Arial"/>
              <a:cs typeface="Arial"/>
              <a:sym typeface="Arial"/>
            </a:endParaRPr>
          </a:p>
        </p:txBody>
      </p:sp>
      <p:sp>
        <p:nvSpPr>
          <p:cNvPr id="122" name="Google Shape;122;p10"/>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123" name="Google Shape;123;p10"/>
          <p:cNvSpPr txBox="1"/>
          <p:nvPr/>
        </p:nvSpPr>
        <p:spPr>
          <a:xfrm>
            <a:off x="2552700" y="2644170"/>
            <a:ext cx="7086600" cy="15696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200">
                <a:solidFill>
                  <a:schemeClr val="dk1"/>
                </a:solidFill>
                <a:latin typeface="Arial"/>
                <a:ea typeface="Arial"/>
                <a:cs typeface="Arial"/>
                <a:sym typeface="Arial"/>
              </a:rPr>
              <a:t>Al finalizar la unidad el participante comprende los fundamentos y uso de otras bases de datos relacionales.</a:t>
            </a:r>
            <a:endParaRPr sz="3200">
              <a:solidFill>
                <a:schemeClr val="dk1"/>
              </a:solidFill>
              <a:latin typeface="Arial"/>
              <a:ea typeface="Arial"/>
              <a:cs typeface="Arial"/>
              <a:sym typeface="Arial"/>
            </a:endParaRPr>
          </a:p>
        </p:txBody>
      </p:sp>
      <p:pic>
        <p:nvPicPr>
          <p:cNvPr id="124" name="Google Shape;124;p10"/>
          <p:cNvPicPr preferRelativeResize="0"/>
          <p:nvPr/>
        </p:nvPicPr>
        <p:blipFill rotWithShape="1">
          <a:blip r:embed="rId3">
            <a:alphaModFix/>
          </a:blip>
          <a:srcRect/>
          <a:stretch/>
        </p:blipFill>
        <p:spPr>
          <a:xfrm>
            <a:off x="5783622" y="292547"/>
            <a:ext cx="559075" cy="55906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 name="Google Shape;130;p11"/>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Importancia de la sesión</a:t>
            </a:r>
            <a:endParaRPr sz="2400">
              <a:solidFill>
                <a:schemeClr val="dk1"/>
              </a:solidFill>
              <a:latin typeface="Arial"/>
              <a:ea typeface="Arial"/>
              <a:cs typeface="Arial"/>
              <a:sym typeface="Arial"/>
            </a:endParaRPr>
          </a:p>
        </p:txBody>
      </p:sp>
      <p:sp>
        <p:nvSpPr>
          <p:cNvPr id="131" name="Google Shape;131;p11"/>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pic>
        <p:nvPicPr>
          <p:cNvPr id="132" name="Google Shape;132;p11"/>
          <p:cNvPicPr preferRelativeResize="0"/>
          <p:nvPr/>
        </p:nvPicPr>
        <p:blipFill rotWithShape="1">
          <a:blip r:embed="rId3">
            <a:alphaModFix/>
          </a:blip>
          <a:srcRect/>
          <a:stretch/>
        </p:blipFill>
        <p:spPr>
          <a:xfrm>
            <a:off x="5817875" y="304800"/>
            <a:ext cx="506725" cy="561823"/>
          </a:xfrm>
          <a:prstGeom prst="rect">
            <a:avLst/>
          </a:prstGeom>
          <a:noFill/>
          <a:ln>
            <a:noFill/>
          </a:ln>
        </p:spPr>
      </p:pic>
      <p:sp>
        <p:nvSpPr>
          <p:cNvPr id="133" name="Google Shape;133;p11"/>
          <p:cNvSpPr txBox="1"/>
          <p:nvPr/>
        </p:nvSpPr>
        <p:spPr>
          <a:xfrm>
            <a:off x="1308737" y="2174829"/>
            <a:ext cx="9525000" cy="310854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800" b="1">
                <a:solidFill>
                  <a:schemeClr val="dk1"/>
                </a:solidFill>
                <a:latin typeface="Calibri"/>
                <a:ea typeface="Calibri"/>
                <a:cs typeface="Calibri"/>
                <a:sym typeface="Calibri"/>
              </a:rPr>
              <a:t>Desarrollo de Habilidades Técnicas</a:t>
            </a:r>
            <a:r>
              <a:rPr lang="es-ES" sz="2800">
                <a:solidFill>
                  <a:schemeClr val="dk1"/>
                </a:solidFill>
                <a:latin typeface="Calibri"/>
                <a:ea typeface="Calibri"/>
                <a:cs typeface="Calibri"/>
                <a:sym typeface="Calibri"/>
              </a:rPr>
              <a:t>: Conocer PostgreSQL y su instalación fomenta el desarrollo de habilidades técnicas en bases de datos, fundamentales en la era digital.</a:t>
            </a:r>
            <a:endParaRPr/>
          </a:p>
          <a:p>
            <a:pPr marL="0" marR="0" lvl="0" indent="0" algn="just" rtl="0">
              <a:spcBef>
                <a:spcPts val="0"/>
              </a:spcBef>
              <a:spcAft>
                <a:spcPts val="0"/>
              </a:spcAft>
              <a:buNone/>
            </a:pPr>
            <a:endParaRPr sz="2800">
              <a:solidFill>
                <a:schemeClr val="dk1"/>
              </a:solidFill>
              <a:latin typeface="Calibri"/>
              <a:ea typeface="Calibri"/>
              <a:cs typeface="Calibri"/>
              <a:sym typeface="Calibri"/>
            </a:endParaRPr>
          </a:p>
          <a:p>
            <a:pPr marL="0" marR="0" lvl="0" indent="0" algn="just" rtl="0">
              <a:spcBef>
                <a:spcPts val="0"/>
              </a:spcBef>
              <a:spcAft>
                <a:spcPts val="0"/>
              </a:spcAft>
              <a:buNone/>
            </a:pPr>
            <a:r>
              <a:rPr lang="es-ES" sz="2800" b="1">
                <a:solidFill>
                  <a:schemeClr val="dk1"/>
                </a:solidFill>
                <a:latin typeface="Calibri"/>
                <a:ea typeface="Calibri"/>
                <a:cs typeface="Calibri"/>
                <a:sym typeface="Calibri"/>
              </a:rPr>
              <a:t>Demanda Laboral</a:t>
            </a:r>
            <a:r>
              <a:rPr lang="es-ES" sz="2800">
                <a:solidFill>
                  <a:schemeClr val="dk1"/>
                </a:solidFill>
                <a:latin typeface="Calibri"/>
                <a:ea typeface="Calibri"/>
                <a:cs typeface="Calibri"/>
                <a:sym typeface="Calibri"/>
              </a:rPr>
              <a:t>: PostgreSQL es ampliamente utilizado en la industria, y el conocimiento de esta herramienta puede aumentar significativamente las oportunidades de empleo.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2"/>
          <p:cNvSpPr txBox="1"/>
          <p:nvPr/>
        </p:nvSpPr>
        <p:spPr>
          <a:xfrm>
            <a:off x="1966912" y="2890391"/>
            <a:ext cx="8258176" cy="1582484"/>
          </a:xfrm>
          <a:prstGeom prst="rect">
            <a:avLst/>
          </a:prstGeom>
          <a:solidFill>
            <a:srgbClr val="D1052D"/>
          </a:solidFill>
          <a:ln w="9525" cap="flat" cmpd="sng">
            <a:solidFill>
              <a:srgbClr val="7C5F9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12700" marR="0" lvl="0" indent="0" algn="l" rtl="0">
              <a:lnSpc>
                <a:spcPct val="100000"/>
              </a:lnSpc>
              <a:spcBef>
                <a:spcPts val="0"/>
              </a:spcBef>
              <a:spcAft>
                <a:spcPts val="0"/>
              </a:spcAft>
              <a:buNone/>
            </a:pPr>
            <a:r>
              <a:rPr lang="es-ES" sz="3200" b="1">
                <a:solidFill>
                  <a:schemeClr val="lt1"/>
                </a:solidFill>
                <a:latin typeface="Calibri"/>
                <a:ea typeface="Calibri"/>
                <a:cs typeface="Calibri"/>
                <a:sym typeface="Calibri"/>
              </a:rPr>
              <a:t>PostgreSQL: </a:t>
            </a:r>
            <a:endParaRPr/>
          </a:p>
          <a:p>
            <a:pPr marL="12700" marR="0" lvl="0" indent="0" algn="l" rtl="0">
              <a:lnSpc>
                <a:spcPct val="100000"/>
              </a:lnSpc>
              <a:spcBef>
                <a:spcPts val="100"/>
              </a:spcBef>
              <a:spcAft>
                <a:spcPts val="0"/>
              </a:spcAft>
              <a:buNone/>
            </a:pPr>
            <a:r>
              <a:rPr lang="es-ES" sz="3200">
                <a:solidFill>
                  <a:schemeClr val="lt1"/>
                </a:solidFill>
                <a:latin typeface="Calibri"/>
                <a:ea typeface="Calibri"/>
                <a:cs typeface="Calibri"/>
                <a:sym typeface="Calibri"/>
              </a:rPr>
              <a:t>- Introducción a las características de PostgreSQL - Instalación de la Herramienta</a:t>
            </a:r>
            <a:endParaRPr sz="3200">
              <a:solidFill>
                <a:schemeClr val="lt1"/>
              </a:solidFill>
              <a:latin typeface="Arial"/>
              <a:ea typeface="Arial"/>
              <a:cs typeface="Arial"/>
              <a:sym typeface="Arial"/>
            </a:endParaRPr>
          </a:p>
        </p:txBody>
      </p:sp>
      <p:sp>
        <p:nvSpPr>
          <p:cNvPr id="139" name="Google Shape;139;p12"/>
          <p:cNvSpPr txBox="1"/>
          <p:nvPr/>
        </p:nvSpPr>
        <p:spPr>
          <a:xfrm>
            <a:off x="4076700" y="1991427"/>
            <a:ext cx="4038600" cy="646331"/>
          </a:xfrm>
          <a:prstGeom prst="rect">
            <a:avLst/>
          </a:prstGeom>
          <a:noFill/>
          <a:ln>
            <a:noFill/>
          </a:ln>
        </p:spPr>
        <p:txBody>
          <a:bodyPr spcFirstLastPara="1" wrap="square" lIns="91425" tIns="45700" rIns="91425" bIns="45700" anchor="t" anchorCtr="0">
            <a:spAutoFit/>
          </a:bodyPr>
          <a:lstStyle/>
          <a:p>
            <a:pPr marL="12700" marR="0" lvl="0" indent="0" algn="ctr" rtl="0">
              <a:lnSpc>
                <a:spcPct val="100000"/>
              </a:lnSpc>
              <a:spcBef>
                <a:spcPts val="0"/>
              </a:spcBef>
              <a:spcAft>
                <a:spcPts val="0"/>
              </a:spcAft>
              <a:buNone/>
            </a:pPr>
            <a:r>
              <a:rPr lang="es-ES" sz="3600" b="1">
                <a:solidFill>
                  <a:srgbClr val="000000"/>
                </a:solidFill>
                <a:latin typeface="Arial"/>
                <a:ea typeface="Arial"/>
                <a:cs typeface="Arial"/>
                <a:sym typeface="Arial"/>
              </a:rPr>
              <a:t>SESIÓN N° 1:</a:t>
            </a:r>
            <a:endParaRPr sz="3600" b="1">
              <a:solidFill>
                <a:srgbClr val="000000"/>
              </a:solidFill>
              <a:latin typeface="Arial"/>
              <a:ea typeface="Arial"/>
              <a:cs typeface="Arial"/>
              <a:sym typeface="Arial"/>
            </a:endParaRPr>
          </a:p>
        </p:txBody>
      </p:sp>
      <p:sp>
        <p:nvSpPr>
          <p:cNvPr id="140" name="Google Shape;140;p12"/>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1" name="Google Shape;141;p12"/>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Temario</a:t>
            </a:r>
            <a:endParaRPr sz="2400">
              <a:solidFill>
                <a:schemeClr val="dk1"/>
              </a:solidFill>
              <a:latin typeface="Arial"/>
              <a:ea typeface="Arial"/>
              <a:cs typeface="Arial"/>
              <a:sym typeface="Arial"/>
            </a:endParaRPr>
          </a:p>
        </p:txBody>
      </p:sp>
      <p:pic>
        <p:nvPicPr>
          <p:cNvPr id="142" name="Google Shape;142;p12"/>
          <p:cNvPicPr preferRelativeResize="0"/>
          <p:nvPr/>
        </p:nvPicPr>
        <p:blipFill rotWithShape="1">
          <a:blip r:embed="rId3">
            <a:alphaModFix/>
          </a:blip>
          <a:srcRect/>
          <a:stretch/>
        </p:blipFill>
        <p:spPr>
          <a:xfrm>
            <a:off x="5723651" y="313451"/>
            <a:ext cx="524749" cy="524749"/>
          </a:xfrm>
          <a:prstGeom prst="rect">
            <a:avLst/>
          </a:prstGeom>
          <a:noFill/>
          <a:ln>
            <a:noFill/>
          </a:ln>
        </p:spPr>
      </p:pic>
      <p:sp>
        <p:nvSpPr>
          <p:cNvPr id="143" name="Google Shape;143;p12"/>
          <p:cNvSpPr txBox="1"/>
          <p:nvPr/>
        </p:nvSpPr>
        <p:spPr>
          <a:xfrm>
            <a:off x="365760" y="973304"/>
            <a:ext cx="535789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a:solidFill>
                  <a:schemeClr val="dk1"/>
                </a:solidFill>
                <a:latin typeface="Arial"/>
                <a:ea typeface="Arial"/>
                <a:cs typeface="Arial"/>
                <a:sym typeface="Arial"/>
              </a:rPr>
              <a:t>¡Que no se te escape nada de tu clase!:</a:t>
            </a:r>
            <a:endParaRPr sz="20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3"/>
          <p:cNvSpPr txBox="1"/>
          <p:nvPr/>
        </p:nvSpPr>
        <p:spPr>
          <a:xfrm>
            <a:off x="876300" y="1089088"/>
            <a:ext cx="10439400" cy="22467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b="1" i="0">
                <a:solidFill>
                  <a:srgbClr val="020202"/>
                </a:solidFill>
                <a:latin typeface="Poppins"/>
                <a:ea typeface="Poppins"/>
                <a:cs typeface="Poppins"/>
                <a:sym typeface="Poppins"/>
              </a:rPr>
              <a:t>¿Qué es PostgreSQL?</a:t>
            </a:r>
            <a:endParaRPr/>
          </a:p>
          <a:p>
            <a:pPr marL="0" marR="0" lvl="0" indent="0" algn="just" rtl="0">
              <a:spcBef>
                <a:spcPts val="0"/>
              </a:spcBef>
              <a:spcAft>
                <a:spcPts val="0"/>
              </a:spcAft>
              <a:buNone/>
            </a:pPr>
            <a:endParaRPr sz="2000" b="1" i="0">
              <a:solidFill>
                <a:srgbClr val="020202"/>
              </a:solidFill>
              <a:latin typeface="Poppins"/>
              <a:ea typeface="Poppins"/>
              <a:cs typeface="Poppins"/>
              <a:sym typeface="Poppins"/>
            </a:endParaRPr>
          </a:p>
          <a:p>
            <a:pPr marL="0" marR="0" lvl="0" indent="0" algn="just" rtl="0">
              <a:spcBef>
                <a:spcPts val="0"/>
              </a:spcBef>
              <a:spcAft>
                <a:spcPts val="0"/>
              </a:spcAft>
              <a:buNone/>
            </a:pPr>
            <a:r>
              <a:rPr lang="es-ES" sz="2000" b="0" i="0">
                <a:solidFill>
                  <a:srgbClr val="020202"/>
                </a:solidFill>
                <a:latin typeface="Rubik"/>
                <a:ea typeface="Rubik"/>
                <a:cs typeface="Rubik"/>
                <a:sym typeface="Rubik"/>
              </a:rPr>
              <a:t>PostgreSQL es un sistema de gestión de bases de datos de código abierto de clase empresarial. Admite SQL y JSON para consultas relacionales y no relacionales para lograr extensibilidad y cumplimiento de SQL. PostgreSQL admite tipos de datos avanzados y funciones de optimización del rendimiento, que solo están disponibles en costosas bases de datos comerciales, como Oracle y servidor SQL. También se le conoce como Postgres.</a:t>
            </a:r>
            <a:endParaRPr/>
          </a:p>
        </p:txBody>
      </p:sp>
      <p:pic>
        <p:nvPicPr>
          <p:cNvPr id="149" name="Google Shape;149;p13" descr="Introducción a los PostgreSQL"/>
          <p:cNvPicPr preferRelativeResize="0"/>
          <p:nvPr/>
        </p:nvPicPr>
        <p:blipFill rotWithShape="1">
          <a:blip r:embed="rId3">
            <a:alphaModFix/>
          </a:blip>
          <a:srcRect/>
          <a:stretch/>
        </p:blipFill>
        <p:spPr>
          <a:xfrm>
            <a:off x="4643437" y="3409950"/>
            <a:ext cx="2905125" cy="235896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4"/>
          <p:cNvSpPr txBox="1"/>
          <p:nvPr/>
        </p:nvSpPr>
        <p:spPr>
          <a:xfrm>
            <a:off x="723900" y="921544"/>
            <a:ext cx="10744200" cy="22467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b="1" i="0">
                <a:solidFill>
                  <a:schemeClr val="dk1"/>
                </a:solidFill>
                <a:latin typeface="Poppins"/>
                <a:ea typeface="Poppins"/>
                <a:cs typeface="Poppins"/>
                <a:sym typeface="Poppins"/>
              </a:rPr>
              <a:t>¿Cual es el origen de PostgreSQL?</a:t>
            </a:r>
            <a:endParaRPr/>
          </a:p>
          <a:p>
            <a:pPr marL="0" marR="0" lvl="0" indent="0" algn="just" rtl="0">
              <a:spcBef>
                <a:spcPts val="0"/>
              </a:spcBef>
              <a:spcAft>
                <a:spcPts val="0"/>
              </a:spcAft>
              <a:buNone/>
            </a:pPr>
            <a:endParaRPr sz="2000" b="1" i="0">
              <a:solidFill>
                <a:schemeClr val="dk1"/>
              </a:solidFill>
              <a:latin typeface="Poppins"/>
              <a:ea typeface="Poppins"/>
              <a:cs typeface="Poppins"/>
              <a:sym typeface="Poppins"/>
            </a:endParaRPr>
          </a:p>
          <a:p>
            <a:pPr marL="0" marR="0" lvl="0" indent="0" algn="just" rtl="0">
              <a:spcBef>
                <a:spcPts val="0"/>
              </a:spcBef>
              <a:spcAft>
                <a:spcPts val="0"/>
              </a:spcAft>
              <a:buNone/>
            </a:pPr>
            <a:r>
              <a:rPr lang="es-ES" sz="2000" b="0" i="0">
                <a:solidFill>
                  <a:schemeClr val="dk1"/>
                </a:solidFill>
                <a:latin typeface="Rubik"/>
                <a:ea typeface="Rubik"/>
                <a:cs typeface="Rubik"/>
                <a:sym typeface="Rubik"/>
              </a:rPr>
              <a:t>Originalmente llamado postgre, nace como reemplazo del sistema ingres, en la universidad de Berkeley (California).</a:t>
            </a:r>
            <a:endParaRPr/>
          </a:p>
          <a:p>
            <a:pPr marL="0" marR="0" lvl="0" indent="0" algn="just" rtl="0">
              <a:spcBef>
                <a:spcPts val="0"/>
              </a:spcBef>
              <a:spcAft>
                <a:spcPts val="0"/>
              </a:spcAft>
              <a:buNone/>
            </a:pPr>
            <a:r>
              <a:rPr lang="es-ES" sz="2000" b="0" i="0">
                <a:solidFill>
                  <a:schemeClr val="dk1"/>
                </a:solidFill>
                <a:latin typeface="Rubik"/>
                <a:ea typeface="Rubik"/>
                <a:cs typeface="Rubik"/>
                <a:sym typeface="Rubik"/>
              </a:rPr>
              <a:t>Su nombre comenzó a incluir el sufijo SQL en 1996 de cara a evidenciar el soporte SQL de este gestor.</a:t>
            </a:r>
            <a:endParaRPr/>
          </a:p>
          <a:p>
            <a:pPr marL="0" marR="0" lvl="0" indent="0" algn="just" rtl="0">
              <a:spcBef>
                <a:spcPts val="0"/>
              </a:spcBef>
              <a:spcAft>
                <a:spcPts val="0"/>
              </a:spcAft>
              <a:buNone/>
            </a:pPr>
            <a:r>
              <a:rPr lang="es-ES" sz="2000" b="0" i="0">
                <a:solidFill>
                  <a:schemeClr val="dk1"/>
                </a:solidFill>
                <a:latin typeface="Rubik"/>
                <a:ea typeface="Rubik"/>
                <a:cs typeface="Rubik"/>
                <a:sym typeface="Rubik"/>
              </a:rPr>
              <a:t>Postgresql es un gestor que garantiza los principios ACID en la constitución de sus transacciones, algo que lo hace apto para la gestión de bases de datos críticas como las de entidades bancarias.</a:t>
            </a:r>
            <a:endParaRPr/>
          </a:p>
        </p:txBody>
      </p:sp>
      <p:pic>
        <p:nvPicPr>
          <p:cNvPr id="155" name="Google Shape;155;p14" descr="PostgreSQL - Wikipedia, la enciclopedia libre"/>
          <p:cNvPicPr preferRelativeResize="0"/>
          <p:nvPr/>
        </p:nvPicPr>
        <p:blipFill rotWithShape="1">
          <a:blip r:embed="rId3">
            <a:alphaModFix/>
          </a:blip>
          <a:srcRect/>
          <a:stretch/>
        </p:blipFill>
        <p:spPr>
          <a:xfrm>
            <a:off x="4724400" y="3514724"/>
            <a:ext cx="2362200" cy="24360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5"/>
          <p:cNvSpPr txBox="1"/>
          <p:nvPr/>
        </p:nvSpPr>
        <p:spPr>
          <a:xfrm>
            <a:off x="800100" y="1143000"/>
            <a:ext cx="10591800" cy="40934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b="1" i="0">
                <a:solidFill>
                  <a:schemeClr val="dk1"/>
                </a:solidFill>
                <a:latin typeface="Poppins"/>
                <a:ea typeface="Poppins"/>
                <a:cs typeface="Poppins"/>
                <a:sym typeface="Poppins"/>
              </a:rPr>
              <a:t>Características de PostgreSQL</a:t>
            </a:r>
            <a:endParaRPr/>
          </a:p>
          <a:p>
            <a:pPr marL="0" marR="0" lvl="0" indent="0" algn="just" rtl="0">
              <a:spcBef>
                <a:spcPts val="0"/>
              </a:spcBef>
              <a:spcAft>
                <a:spcPts val="0"/>
              </a:spcAft>
              <a:buNone/>
            </a:pPr>
            <a:endParaRPr sz="2000" b="1" i="0">
              <a:solidFill>
                <a:schemeClr val="dk1"/>
              </a:solidFill>
              <a:latin typeface="Poppins"/>
              <a:ea typeface="Poppins"/>
              <a:cs typeface="Poppins"/>
              <a:sym typeface="Poppins"/>
            </a:endParaRPr>
          </a:p>
          <a:p>
            <a:pPr marL="0" marR="0" lvl="0" indent="0" algn="just" rtl="0">
              <a:spcBef>
                <a:spcPts val="0"/>
              </a:spcBef>
              <a:spcAft>
                <a:spcPts val="0"/>
              </a:spcAft>
              <a:buNone/>
            </a:pPr>
            <a:r>
              <a:rPr lang="es-ES" sz="2000" b="0" i="0">
                <a:solidFill>
                  <a:schemeClr val="dk1"/>
                </a:solidFill>
                <a:latin typeface="Rubik"/>
                <a:ea typeface="Rubik"/>
                <a:cs typeface="Rubik"/>
                <a:sym typeface="Rubik"/>
              </a:rPr>
              <a:t>A la ya mencionada compatibilidad con ACID, debemos mencionar las siguientes peculiaridades del sistema:</a:t>
            </a:r>
            <a:endParaRPr/>
          </a:p>
          <a:p>
            <a:pPr marL="285750" marR="0" lvl="0" indent="-285750" algn="just" rtl="0">
              <a:spcBef>
                <a:spcPts val="0"/>
              </a:spcBef>
              <a:spcAft>
                <a:spcPts val="0"/>
              </a:spcAft>
              <a:buClr>
                <a:schemeClr val="dk1"/>
              </a:buClr>
              <a:buSzPts val="2000"/>
              <a:buFont typeface="Arial"/>
              <a:buChar char="•"/>
            </a:pPr>
            <a:r>
              <a:rPr lang="es-ES" sz="2000" b="0" i="0">
                <a:solidFill>
                  <a:schemeClr val="dk1"/>
                </a:solidFill>
                <a:latin typeface="Rubik"/>
                <a:ea typeface="Rubik"/>
                <a:cs typeface="Rubik"/>
                <a:sym typeface="Rubik"/>
              </a:rPr>
              <a:t>Es un sistema de código abierto y tiene una enorme comunidad detrás.</a:t>
            </a:r>
            <a:endParaRPr/>
          </a:p>
          <a:p>
            <a:pPr marL="285750" marR="0" lvl="0" indent="-285750" algn="just" rtl="0">
              <a:spcBef>
                <a:spcPts val="0"/>
              </a:spcBef>
              <a:spcAft>
                <a:spcPts val="0"/>
              </a:spcAft>
              <a:buClr>
                <a:schemeClr val="dk1"/>
              </a:buClr>
              <a:buSzPts val="2000"/>
              <a:buFont typeface="Arial"/>
              <a:buChar char="•"/>
            </a:pPr>
            <a:r>
              <a:rPr lang="es-ES" sz="2000" b="0" i="0">
                <a:solidFill>
                  <a:schemeClr val="dk1"/>
                </a:solidFill>
                <a:latin typeface="Rubik"/>
                <a:ea typeface="Rubik"/>
                <a:cs typeface="Rubik"/>
                <a:sym typeface="Rubik"/>
              </a:rPr>
              <a:t>Permite la creación de entornos tolerantes a fallos.</a:t>
            </a:r>
            <a:endParaRPr/>
          </a:p>
          <a:p>
            <a:pPr marL="285750" marR="0" lvl="0" indent="-285750" algn="just" rtl="0">
              <a:spcBef>
                <a:spcPts val="0"/>
              </a:spcBef>
              <a:spcAft>
                <a:spcPts val="0"/>
              </a:spcAft>
              <a:buClr>
                <a:schemeClr val="dk1"/>
              </a:buClr>
              <a:buSzPts val="2000"/>
              <a:buFont typeface="Arial"/>
              <a:buChar char="•"/>
            </a:pPr>
            <a:r>
              <a:rPr lang="es-ES" sz="2000" b="0" i="0">
                <a:solidFill>
                  <a:schemeClr val="dk1"/>
                </a:solidFill>
                <a:latin typeface="Rubik"/>
                <a:ea typeface="Rubik"/>
                <a:cs typeface="Rubik"/>
                <a:sym typeface="Rubik"/>
              </a:rPr>
              <a:t>Soporta multitud de tipos de datos.</a:t>
            </a:r>
            <a:endParaRPr/>
          </a:p>
          <a:p>
            <a:pPr marL="285750" marR="0" lvl="0" indent="-285750" algn="just" rtl="0">
              <a:spcBef>
                <a:spcPts val="0"/>
              </a:spcBef>
              <a:spcAft>
                <a:spcPts val="0"/>
              </a:spcAft>
              <a:buClr>
                <a:schemeClr val="dk1"/>
              </a:buClr>
              <a:buSzPts val="2000"/>
              <a:buFont typeface="Arial"/>
              <a:buChar char="•"/>
            </a:pPr>
            <a:r>
              <a:rPr lang="es-ES" sz="2000" b="0" i="0">
                <a:solidFill>
                  <a:schemeClr val="dk1"/>
                </a:solidFill>
                <a:latin typeface="Rubik"/>
                <a:ea typeface="Rubik"/>
                <a:cs typeface="Rubik"/>
                <a:sym typeface="Rubik"/>
              </a:rPr>
              <a:t>Multiplataforma.</a:t>
            </a:r>
            <a:endParaRPr/>
          </a:p>
          <a:p>
            <a:pPr marL="285750" marR="0" lvl="0" indent="-285750" algn="just" rtl="0">
              <a:spcBef>
                <a:spcPts val="0"/>
              </a:spcBef>
              <a:spcAft>
                <a:spcPts val="0"/>
              </a:spcAft>
              <a:buClr>
                <a:schemeClr val="dk1"/>
              </a:buClr>
              <a:buSzPts val="2000"/>
              <a:buFont typeface="Arial"/>
              <a:buChar char="•"/>
            </a:pPr>
            <a:r>
              <a:rPr lang="es-ES" sz="2000" b="0" i="0">
                <a:solidFill>
                  <a:schemeClr val="dk1"/>
                </a:solidFill>
                <a:latin typeface="Rubik"/>
                <a:ea typeface="Rubik"/>
                <a:cs typeface="Rubik"/>
                <a:sym typeface="Rubik"/>
              </a:rPr>
              <a:t>Control de concurrencias multiversión.</a:t>
            </a:r>
            <a:endParaRPr/>
          </a:p>
          <a:p>
            <a:pPr marL="285750" marR="0" lvl="0" indent="-285750" algn="just" rtl="0">
              <a:spcBef>
                <a:spcPts val="0"/>
              </a:spcBef>
              <a:spcAft>
                <a:spcPts val="0"/>
              </a:spcAft>
              <a:buClr>
                <a:schemeClr val="dk1"/>
              </a:buClr>
              <a:buSzPts val="2000"/>
              <a:buFont typeface="Arial"/>
              <a:buChar char="•"/>
            </a:pPr>
            <a:r>
              <a:rPr lang="es-ES" sz="2000" b="0" i="0">
                <a:solidFill>
                  <a:schemeClr val="dk1"/>
                </a:solidFill>
                <a:latin typeface="Rubik"/>
                <a:ea typeface="Rubik"/>
                <a:cs typeface="Rubik"/>
                <a:sym typeface="Rubik"/>
              </a:rPr>
              <a:t>Tiene un enfoque empresarial hacia el soporte de consultas complejas, por ello, puede ser un poco lenta para proyectos pequeños.</a:t>
            </a:r>
            <a:endParaRPr/>
          </a:p>
          <a:p>
            <a:pPr marL="285750" marR="0" lvl="0" indent="-285750" algn="just" rtl="0">
              <a:spcBef>
                <a:spcPts val="0"/>
              </a:spcBef>
              <a:spcAft>
                <a:spcPts val="0"/>
              </a:spcAft>
              <a:buClr>
                <a:schemeClr val="dk1"/>
              </a:buClr>
              <a:buSzPts val="2000"/>
              <a:buFont typeface="Arial"/>
              <a:buChar char="•"/>
            </a:pPr>
            <a:r>
              <a:rPr lang="es-ES" sz="2000" b="0" i="0">
                <a:solidFill>
                  <a:schemeClr val="dk1"/>
                </a:solidFill>
                <a:latin typeface="Rubik"/>
                <a:ea typeface="Rubik"/>
                <a:cs typeface="Rubik"/>
                <a:sym typeface="Rubik"/>
              </a:rPr>
              <a:t>Interoperabilidad con multitud de marcos de persistencia actuales: Django, node, PHP, Hibernate…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6"/>
          <p:cNvSpPr txBox="1"/>
          <p:nvPr/>
        </p:nvSpPr>
        <p:spPr>
          <a:xfrm>
            <a:off x="761999" y="762000"/>
            <a:ext cx="10668000" cy="163121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b="1" i="0">
                <a:solidFill>
                  <a:srgbClr val="000000"/>
                </a:solidFill>
                <a:latin typeface="Poppins"/>
                <a:ea typeface="Poppins"/>
                <a:cs typeface="Poppins"/>
                <a:sym typeface="Poppins"/>
              </a:rPr>
              <a:t>Instalación de postgreSQL</a:t>
            </a:r>
            <a:endParaRPr sz="2000" b="1" i="0">
              <a:solidFill>
                <a:srgbClr val="000000"/>
              </a:solidFill>
              <a:latin typeface="Poppins"/>
              <a:ea typeface="Poppins"/>
              <a:cs typeface="Poppins"/>
              <a:sym typeface="Poppins"/>
            </a:endParaRPr>
          </a:p>
          <a:p>
            <a:pPr marL="0" marR="0" lvl="0" indent="0" algn="just" rtl="0">
              <a:spcBef>
                <a:spcPts val="0"/>
              </a:spcBef>
              <a:spcAft>
                <a:spcPts val="0"/>
              </a:spcAft>
              <a:buNone/>
            </a:pPr>
            <a:r>
              <a:rPr lang="es-ES" sz="2000" b="0" i="0">
                <a:solidFill>
                  <a:srgbClr val="000000"/>
                </a:solidFill>
                <a:latin typeface="Rubik"/>
                <a:ea typeface="Rubik"/>
                <a:cs typeface="Rubik"/>
                <a:sym typeface="Rubik"/>
              </a:rPr>
              <a:t>Para realizar la instalación debemos recurrir a la página oficial donde veremos las versiones disponibles, al ser de código abierto, podemos disponer del software libremente.</a:t>
            </a:r>
            <a:endParaRPr/>
          </a:p>
          <a:p>
            <a:pPr marL="0" marR="0" lvl="0" indent="0" algn="just" rtl="0">
              <a:spcBef>
                <a:spcPts val="0"/>
              </a:spcBef>
              <a:spcAft>
                <a:spcPts val="0"/>
              </a:spcAft>
              <a:buNone/>
            </a:pPr>
            <a:endParaRPr sz="2000" b="0" i="0">
              <a:solidFill>
                <a:srgbClr val="000000"/>
              </a:solidFill>
              <a:latin typeface="Rubik"/>
              <a:ea typeface="Rubik"/>
              <a:cs typeface="Rubik"/>
              <a:sym typeface="Rubik"/>
            </a:endParaRPr>
          </a:p>
          <a:p>
            <a:pPr marL="0" marR="0" lvl="0" indent="0" algn="just" rtl="0">
              <a:spcBef>
                <a:spcPts val="0"/>
              </a:spcBef>
              <a:spcAft>
                <a:spcPts val="0"/>
              </a:spcAft>
              <a:buNone/>
            </a:pPr>
            <a:r>
              <a:rPr lang="es-ES" sz="2000" b="1" i="0">
                <a:solidFill>
                  <a:srgbClr val="000000"/>
                </a:solidFill>
                <a:latin typeface="Rubik"/>
                <a:ea typeface="Rubik"/>
                <a:cs typeface="Rubik"/>
                <a:sym typeface="Rubik"/>
              </a:rPr>
              <a:t>Descarga: </a:t>
            </a:r>
            <a:r>
              <a:rPr lang="es-ES" sz="2000" b="0" i="0" u="sng" strike="noStrike">
                <a:solidFill>
                  <a:srgbClr val="FF0000"/>
                </a:solidFill>
                <a:latin typeface="Rubik"/>
                <a:ea typeface="Rubik"/>
                <a:cs typeface="Rubik"/>
                <a:sym typeface="Rubik"/>
                <a:hlinkClick r:id="rId3">
                  <a:extLst>
                    <a:ext uri="{A12FA001-AC4F-418D-AE19-62706E023703}">
                      <ahyp:hlinkClr xmlns:ahyp="http://schemas.microsoft.com/office/drawing/2018/hyperlinkcolor" val="tx"/>
                    </a:ext>
                  </a:extLst>
                </a:hlinkClick>
              </a:rPr>
              <a:t>https://www.postgresql.org/download/</a:t>
            </a:r>
            <a:endParaRPr sz="2000" b="0" i="0">
              <a:solidFill>
                <a:srgbClr val="FF0000"/>
              </a:solidFill>
              <a:latin typeface="Rubik"/>
              <a:ea typeface="Rubik"/>
              <a:cs typeface="Rubik"/>
              <a:sym typeface="Rubik"/>
            </a:endParaRPr>
          </a:p>
        </p:txBody>
      </p:sp>
      <p:pic>
        <p:nvPicPr>
          <p:cNvPr id="166" name="Google Shape;166;p16"/>
          <p:cNvPicPr preferRelativeResize="0"/>
          <p:nvPr/>
        </p:nvPicPr>
        <p:blipFill rotWithShape="1">
          <a:blip r:embed="rId4">
            <a:alphaModFix/>
          </a:blip>
          <a:srcRect t="10492"/>
          <a:stretch/>
        </p:blipFill>
        <p:spPr>
          <a:xfrm>
            <a:off x="1763438" y="2514600"/>
            <a:ext cx="8665123" cy="38036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7"/>
          <p:cNvSpPr txBox="1"/>
          <p:nvPr/>
        </p:nvSpPr>
        <p:spPr>
          <a:xfrm>
            <a:off x="609600" y="612844"/>
            <a:ext cx="5486400" cy="56323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i="0">
                <a:solidFill>
                  <a:srgbClr val="222222"/>
                </a:solidFill>
                <a:latin typeface="Arial"/>
                <a:ea typeface="Arial"/>
                <a:cs typeface="Arial"/>
                <a:sym typeface="Arial"/>
              </a:rPr>
              <a:t>Ventajas de PostgreSQL</a:t>
            </a:r>
            <a:endParaRPr/>
          </a:p>
          <a:p>
            <a:pPr marL="0" marR="0" lvl="0" indent="0" algn="l" rtl="0">
              <a:spcBef>
                <a:spcPts val="0"/>
              </a:spcBef>
              <a:spcAft>
                <a:spcPts val="0"/>
              </a:spcAft>
              <a:buNone/>
            </a:pPr>
            <a:r>
              <a:rPr lang="es-ES" sz="1800" b="0" i="0">
                <a:solidFill>
                  <a:srgbClr val="222222"/>
                </a:solidFill>
                <a:latin typeface="Arial"/>
                <a:ea typeface="Arial"/>
                <a:cs typeface="Arial"/>
                <a:sym typeface="Arial"/>
              </a:rPr>
              <a:t>A continuación se detallan las principales ventajas/beneficios de PostgreSQL:</a:t>
            </a:r>
            <a:endParaRPr/>
          </a:p>
          <a:p>
            <a:pPr marL="0" marR="0" lvl="0" indent="0" algn="just" rtl="0">
              <a:spcBef>
                <a:spcPts val="0"/>
              </a:spcBef>
              <a:spcAft>
                <a:spcPts val="0"/>
              </a:spcAft>
              <a:buNone/>
            </a:pPr>
            <a:endParaRPr sz="1800" b="0" i="0">
              <a:solidFill>
                <a:srgbClr val="222222"/>
              </a:solidFill>
              <a:latin typeface="Arial"/>
              <a:ea typeface="Arial"/>
              <a:cs typeface="Arial"/>
              <a:sym typeface="Arial"/>
            </a:endParaRPr>
          </a:p>
          <a:p>
            <a:pPr marL="285750" marR="0" lvl="0" indent="-285750" algn="just" rtl="0">
              <a:spcBef>
                <a:spcPts val="0"/>
              </a:spcBef>
              <a:spcAft>
                <a:spcPts val="0"/>
              </a:spcAft>
              <a:buClr>
                <a:srgbClr val="222222"/>
              </a:buClr>
              <a:buSzPts val="1800"/>
              <a:buFont typeface="Arial"/>
              <a:buChar char="•"/>
            </a:pPr>
            <a:r>
              <a:rPr lang="es-ES" sz="1800" b="0" i="0">
                <a:solidFill>
                  <a:srgbClr val="222222"/>
                </a:solidFill>
                <a:latin typeface="Arial"/>
                <a:ea typeface="Arial"/>
                <a:cs typeface="Arial"/>
                <a:sym typeface="Arial"/>
              </a:rPr>
              <a:t>PostgreSQL puede ejecutar sitios web dinámicos y aplicaciones web como una opción de pila LAMP.</a:t>
            </a:r>
            <a:endParaRPr/>
          </a:p>
          <a:p>
            <a:pPr marL="285750" marR="0" lvl="0" indent="-285750" algn="just" rtl="0">
              <a:spcBef>
                <a:spcPts val="0"/>
              </a:spcBef>
              <a:spcAft>
                <a:spcPts val="0"/>
              </a:spcAft>
              <a:buClr>
                <a:srgbClr val="222222"/>
              </a:buClr>
              <a:buSzPts val="1800"/>
              <a:buFont typeface="Arial"/>
              <a:buChar char="•"/>
            </a:pPr>
            <a:r>
              <a:rPr lang="es-ES" sz="1800" b="0" i="0">
                <a:solidFill>
                  <a:srgbClr val="222222"/>
                </a:solidFill>
                <a:latin typeface="Arial"/>
                <a:ea typeface="Arial"/>
                <a:cs typeface="Arial"/>
                <a:sym typeface="Arial"/>
              </a:rPr>
              <a:t>PostgreSQLEl registro de escritura anticipada la convierte en una base de datos altamente tolerante a fallas.</a:t>
            </a:r>
            <a:endParaRPr/>
          </a:p>
          <a:p>
            <a:pPr marL="285750" marR="0" lvl="0" indent="-285750" algn="just" rtl="0">
              <a:spcBef>
                <a:spcPts val="0"/>
              </a:spcBef>
              <a:spcAft>
                <a:spcPts val="0"/>
              </a:spcAft>
              <a:buClr>
                <a:srgbClr val="222222"/>
              </a:buClr>
              <a:buSzPts val="1800"/>
              <a:buFont typeface="Arial"/>
              <a:buChar char="•"/>
            </a:pPr>
            <a:r>
              <a:rPr lang="es-ES" sz="1800" b="0" i="0">
                <a:solidFill>
                  <a:srgbClr val="222222"/>
                </a:solidFill>
                <a:latin typeface="Arial"/>
                <a:ea typeface="Arial"/>
                <a:cs typeface="Arial"/>
                <a:sym typeface="Arial"/>
              </a:rPr>
              <a:t>PostgreSQL El código fuente está disponible gratuitamente bajo una licencia de código abierto. Esto le brinda la libertad de usarlo, modificarlo e implementarlo según las necesidades de su negocio.</a:t>
            </a:r>
            <a:endParaRPr/>
          </a:p>
          <a:p>
            <a:pPr marL="285750" marR="0" lvl="0" indent="-285750" algn="just" rtl="0">
              <a:spcBef>
                <a:spcPts val="0"/>
              </a:spcBef>
              <a:spcAft>
                <a:spcPts val="0"/>
              </a:spcAft>
              <a:buClr>
                <a:srgbClr val="222222"/>
              </a:buClr>
              <a:buSzPts val="1800"/>
              <a:buFont typeface="Arial"/>
              <a:buChar char="•"/>
            </a:pPr>
            <a:r>
              <a:rPr lang="es-ES" sz="1800" b="0" i="0">
                <a:solidFill>
                  <a:srgbClr val="222222"/>
                </a:solidFill>
                <a:latin typeface="Arial"/>
                <a:ea typeface="Arial"/>
                <a:cs typeface="Arial"/>
                <a:sym typeface="Arial"/>
              </a:rPr>
              <a:t>PostgreSQL admite objetos geográficos para que pueda usarlos para servicios basados ​​en ubicación y sistemas de información geográfica.</a:t>
            </a:r>
            <a:endParaRPr/>
          </a:p>
          <a:p>
            <a:pPr marL="285750" marR="0" lvl="0" indent="-285750" algn="just" rtl="0">
              <a:spcBef>
                <a:spcPts val="0"/>
              </a:spcBef>
              <a:spcAft>
                <a:spcPts val="0"/>
              </a:spcAft>
              <a:buClr>
                <a:srgbClr val="222222"/>
              </a:buClr>
              <a:buSzPts val="1800"/>
              <a:buFont typeface="Arial"/>
              <a:buChar char="•"/>
            </a:pPr>
            <a:r>
              <a:rPr lang="es-ES" sz="1800" b="0" i="0">
                <a:solidFill>
                  <a:srgbClr val="222222"/>
                </a:solidFill>
                <a:latin typeface="Arial"/>
                <a:ea typeface="Arial"/>
                <a:cs typeface="Arial"/>
                <a:sym typeface="Arial"/>
              </a:rPr>
              <a:t>PostgreSQL admite objetos geográficos para que pueda usarse como un almacén de datos geoespaciales para servicios basados ​​en ubicación y sistemas de información geográfica.</a:t>
            </a:r>
            <a:endParaRPr/>
          </a:p>
        </p:txBody>
      </p:sp>
      <p:pic>
        <p:nvPicPr>
          <p:cNvPr id="172" name="Google Shape;172;p17" descr="Categoría «Desventaja» de imágenes, fotos de stock e ilustraciones libres  de regalías | Shutterstock"/>
          <p:cNvPicPr preferRelativeResize="0"/>
          <p:nvPr/>
        </p:nvPicPr>
        <p:blipFill rotWithShape="1">
          <a:blip r:embed="rId3">
            <a:alphaModFix/>
          </a:blip>
          <a:srcRect l="3231" t="6071" r="49899" b="13928"/>
          <a:stretch/>
        </p:blipFill>
        <p:spPr>
          <a:xfrm>
            <a:off x="6934200" y="1442545"/>
            <a:ext cx="4114800" cy="397291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txBox="1"/>
          <p:nvPr/>
        </p:nvSpPr>
        <p:spPr>
          <a:xfrm>
            <a:off x="800100" y="783967"/>
            <a:ext cx="5295900" cy="532453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b="1" i="0">
                <a:solidFill>
                  <a:srgbClr val="222222"/>
                </a:solidFill>
                <a:latin typeface="Arial"/>
                <a:ea typeface="Arial"/>
                <a:cs typeface="Arial"/>
                <a:sym typeface="Arial"/>
              </a:rPr>
              <a:t>Desventajas de PostgreSQL</a:t>
            </a:r>
            <a:endParaRPr/>
          </a:p>
          <a:p>
            <a:pPr marL="0" marR="0" lvl="0" indent="0" algn="l" rtl="0">
              <a:spcBef>
                <a:spcPts val="0"/>
              </a:spcBef>
              <a:spcAft>
                <a:spcPts val="0"/>
              </a:spcAft>
              <a:buNone/>
            </a:pPr>
            <a:r>
              <a:rPr lang="es-ES" sz="2000" b="0" i="0">
                <a:solidFill>
                  <a:srgbClr val="222222"/>
                </a:solidFill>
                <a:latin typeface="Arial"/>
                <a:ea typeface="Arial"/>
                <a:cs typeface="Arial"/>
                <a:sym typeface="Arial"/>
              </a:rPr>
              <a:t>A continuación se detallan las desventajas/limitaciones de PostgreSQL:</a:t>
            </a:r>
            <a:endParaRPr/>
          </a:p>
          <a:p>
            <a:pPr marL="0" marR="0" lvl="0" indent="0" algn="just" rtl="0">
              <a:spcBef>
                <a:spcPts val="0"/>
              </a:spcBef>
              <a:spcAft>
                <a:spcPts val="0"/>
              </a:spcAft>
              <a:buNone/>
            </a:pPr>
            <a:endParaRPr sz="2000" b="0" i="0">
              <a:solidFill>
                <a:srgbClr val="222222"/>
              </a:solidFill>
              <a:latin typeface="Arial"/>
              <a:ea typeface="Arial"/>
              <a:cs typeface="Arial"/>
              <a:sym typeface="Arial"/>
            </a:endParaRPr>
          </a:p>
          <a:p>
            <a:pPr marL="285750" marR="0" lvl="0" indent="-285750" algn="just" rtl="0">
              <a:spcBef>
                <a:spcPts val="0"/>
              </a:spcBef>
              <a:spcAft>
                <a:spcPts val="0"/>
              </a:spcAft>
              <a:buClr>
                <a:srgbClr val="222222"/>
              </a:buClr>
              <a:buSzPts val="2000"/>
              <a:buFont typeface="Arial"/>
              <a:buChar char="•"/>
            </a:pPr>
            <a:r>
              <a:rPr lang="es-ES" sz="2000" b="0" i="0">
                <a:solidFill>
                  <a:srgbClr val="222222"/>
                </a:solidFill>
                <a:latin typeface="Arial"/>
                <a:ea typeface="Arial"/>
                <a:cs typeface="Arial"/>
                <a:sym typeface="Arial"/>
              </a:rPr>
              <a:t>Postgres no es propiedad de una sola organización. Por lo tanto, ha tenido problemas para dar a conocer su nombre a pesar de tener todas las funciones y ser comparable a otros sistemas DBMS.</a:t>
            </a:r>
            <a:endParaRPr/>
          </a:p>
          <a:p>
            <a:pPr marL="285750" marR="0" lvl="0" indent="-285750" algn="just" rtl="0">
              <a:spcBef>
                <a:spcPts val="0"/>
              </a:spcBef>
              <a:spcAft>
                <a:spcPts val="0"/>
              </a:spcAft>
              <a:buClr>
                <a:srgbClr val="222222"/>
              </a:buClr>
              <a:buSzPts val="2000"/>
              <a:buFont typeface="Arial"/>
              <a:buChar char="•"/>
            </a:pPr>
            <a:r>
              <a:rPr lang="es-ES" sz="2000" b="0" i="0">
                <a:solidFill>
                  <a:srgbClr val="222222"/>
                </a:solidFill>
                <a:latin typeface="Arial"/>
                <a:ea typeface="Arial"/>
                <a:cs typeface="Arial"/>
                <a:sym typeface="Arial"/>
              </a:rPr>
              <a:t>Los cambios realizados para mejorar la velocidad requieren más trabajo que MySQL as PostgreSQL se centra en la compatibilidad</a:t>
            </a:r>
            <a:endParaRPr/>
          </a:p>
          <a:p>
            <a:pPr marL="285750" marR="0" lvl="0" indent="-285750" algn="just" rtl="0">
              <a:spcBef>
                <a:spcPts val="0"/>
              </a:spcBef>
              <a:spcAft>
                <a:spcPts val="0"/>
              </a:spcAft>
              <a:buClr>
                <a:srgbClr val="222222"/>
              </a:buClr>
              <a:buSzPts val="2000"/>
              <a:buFont typeface="Arial"/>
              <a:buChar char="•"/>
            </a:pPr>
            <a:r>
              <a:rPr lang="es-ES" sz="2000" b="0" i="0">
                <a:solidFill>
                  <a:srgbClr val="222222"/>
                </a:solidFill>
                <a:latin typeface="Arial"/>
                <a:ea typeface="Arial"/>
                <a:cs typeface="Arial"/>
                <a:sym typeface="Arial"/>
              </a:rPr>
              <a:t>Muchas aplicaciones de código abierto son compatibles MySQL, pero puede que no sea compatible PostgreSQL</a:t>
            </a:r>
            <a:endParaRPr/>
          </a:p>
          <a:p>
            <a:pPr marL="285750" marR="0" lvl="0" indent="-285750" algn="just" rtl="0">
              <a:spcBef>
                <a:spcPts val="0"/>
              </a:spcBef>
              <a:spcAft>
                <a:spcPts val="0"/>
              </a:spcAft>
              <a:buClr>
                <a:srgbClr val="222222"/>
              </a:buClr>
              <a:buSzPts val="2000"/>
              <a:buFont typeface="Arial"/>
              <a:buChar char="•"/>
            </a:pPr>
            <a:r>
              <a:rPr lang="es-ES" sz="2000" b="0" i="0">
                <a:solidFill>
                  <a:srgbClr val="222222"/>
                </a:solidFill>
                <a:latin typeface="Arial"/>
                <a:ea typeface="Arial"/>
                <a:cs typeface="Arial"/>
                <a:sym typeface="Arial"/>
              </a:rPr>
              <a:t>En las métricas de rendimiento, es más lento que </a:t>
            </a:r>
            <a:r>
              <a:rPr lang="es-ES" sz="2000" b="0" i="0" u="sng" strike="noStrike">
                <a:solidFill>
                  <a:srgbClr val="222222"/>
                </a:solidFill>
                <a:latin typeface="Arial"/>
                <a:ea typeface="Arial"/>
                <a:cs typeface="Arial"/>
                <a:sym typeface="Arial"/>
                <a:hlinkClick r:id="rId3">
                  <a:extLst>
                    <a:ext uri="{A12FA001-AC4F-418D-AE19-62706E023703}">
                      <ahyp:hlinkClr xmlns:ahyp="http://schemas.microsoft.com/office/drawing/2018/hyperlinkcolor" val="tx"/>
                    </a:ext>
                  </a:extLst>
                </a:hlinkClick>
              </a:rPr>
              <a:t>MySQL</a:t>
            </a:r>
            <a:r>
              <a:rPr lang="es-ES" sz="2000" b="0" i="0">
                <a:solidFill>
                  <a:srgbClr val="222222"/>
                </a:solidFill>
                <a:latin typeface="Arial"/>
                <a:ea typeface="Arial"/>
                <a:cs typeface="Arial"/>
                <a:sym typeface="Arial"/>
              </a:rPr>
              <a:t>.</a:t>
            </a:r>
            <a:endParaRPr/>
          </a:p>
        </p:txBody>
      </p:sp>
      <p:pic>
        <p:nvPicPr>
          <p:cNvPr id="178" name="Google Shape;178;p18" descr="Categoría «Desventaja» de imágenes, fotos de stock e ilustraciones libres  de regalías | Shutterstock"/>
          <p:cNvPicPr preferRelativeResize="0"/>
          <p:nvPr/>
        </p:nvPicPr>
        <p:blipFill rotWithShape="1">
          <a:blip r:embed="rId4">
            <a:alphaModFix/>
          </a:blip>
          <a:srcRect l="50101" t="6071" r="3030" b="13928"/>
          <a:stretch/>
        </p:blipFill>
        <p:spPr>
          <a:xfrm>
            <a:off x="7086600" y="1459779"/>
            <a:ext cx="4114800" cy="397291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9"/>
          <p:cNvSpPr txBox="1"/>
          <p:nvPr/>
        </p:nvSpPr>
        <p:spPr>
          <a:xfrm>
            <a:off x="1409700" y="1532145"/>
            <a:ext cx="9372600" cy="2506455"/>
          </a:xfrm>
          <a:prstGeom prst="rect">
            <a:avLst/>
          </a:prstGeom>
          <a:noFill/>
          <a:ln>
            <a:noFill/>
          </a:ln>
        </p:spPr>
        <p:txBody>
          <a:bodyPr spcFirstLastPara="1" wrap="square" lIns="0" tIns="43800" rIns="0" bIns="0" anchor="t" anchorCtr="0">
            <a:spAutoFit/>
          </a:bodyPr>
          <a:lstStyle/>
          <a:p>
            <a:pPr marL="457834" marR="5080" lvl="0" indent="-445770" algn="ctr" rtl="0">
              <a:spcBef>
                <a:spcPts val="0"/>
              </a:spcBef>
              <a:spcAft>
                <a:spcPts val="0"/>
              </a:spcAft>
              <a:buNone/>
            </a:pPr>
            <a:r>
              <a:rPr lang="es-ES" sz="4000" b="1">
                <a:solidFill>
                  <a:schemeClr val="dk1"/>
                </a:solidFill>
                <a:latin typeface="Arial"/>
                <a:ea typeface="Arial"/>
                <a:cs typeface="Arial"/>
                <a:sym typeface="Arial"/>
              </a:rPr>
              <a:t>¿Crees que PostgreSQL es una buena opción para gestionar bases de datos en proyectos profesionales? ¿Por qué?</a:t>
            </a:r>
            <a:endParaRPr sz="4000">
              <a:solidFill>
                <a:schemeClr val="dk1"/>
              </a:solidFill>
              <a:latin typeface="Arial"/>
              <a:ea typeface="Arial"/>
              <a:cs typeface="Arial"/>
              <a:sym typeface="Arial"/>
            </a:endParaRPr>
          </a:p>
        </p:txBody>
      </p:sp>
      <p:pic>
        <p:nvPicPr>
          <p:cNvPr id="184" name="Google Shape;184;p19"/>
          <p:cNvPicPr preferRelativeResize="0"/>
          <p:nvPr/>
        </p:nvPicPr>
        <p:blipFill rotWithShape="1">
          <a:blip r:embed="rId3">
            <a:alphaModFix/>
          </a:blip>
          <a:srcRect/>
          <a:stretch/>
        </p:blipFill>
        <p:spPr>
          <a:xfrm>
            <a:off x="5334000" y="4343400"/>
            <a:ext cx="1524000" cy="1524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0"/>
          <p:cNvSpPr txBox="1"/>
          <p:nvPr/>
        </p:nvSpPr>
        <p:spPr>
          <a:xfrm>
            <a:off x="457200" y="228600"/>
            <a:ext cx="8458200" cy="659796"/>
          </a:xfrm>
          <a:prstGeom prst="rect">
            <a:avLst/>
          </a:prstGeom>
          <a:noFill/>
          <a:ln>
            <a:noFill/>
          </a:ln>
        </p:spPr>
        <p:txBody>
          <a:bodyPr spcFirstLastPara="1" wrap="square" lIns="0" tIns="43800" rIns="0" bIns="0" anchor="t" anchorCtr="0">
            <a:spAutoFit/>
          </a:bodyPr>
          <a:lstStyle/>
          <a:p>
            <a:pPr marL="457834" marR="5080" lvl="0" indent="-445770" algn="ctr" rtl="0">
              <a:spcBef>
                <a:spcPts val="0"/>
              </a:spcBef>
              <a:spcAft>
                <a:spcPts val="0"/>
              </a:spcAft>
              <a:buNone/>
            </a:pPr>
            <a:r>
              <a:rPr lang="es-ES" sz="2000" b="1">
                <a:solidFill>
                  <a:schemeClr val="dk1"/>
                </a:solidFill>
                <a:latin typeface="Arial"/>
                <a:ea typeface="Arial"/>
                <a:cs typeface="Arial"/>
                <a:sym typeface="Arial"/>
              </a:rPr>
              <a:t>¿Crees que PostgreSQL es una buena opción para gestionar bases de datos en proyectos profesionales? ¿Por qué?</a:t>
            </a:r>
            <a:endParaRPr sz="2000">
              <a:solidFill>
                <a:schemeClr val="dk1"/>
              </a:solidFill>
              <a:latin typeface="Arial"/>
              <a:ea typeface="Arial"/>
              <a:cs typeface="Arial"/>
              <a:sym typeface="Arial"/>
            </a:endParaRPr>
          </a:p>
        </p:txBody>
      </p:sp>
      <p:sp>
        <p:nvSpPr>
          <p:cNvPr id="190" name="Google Shape;190;p20"/>
          <p:cNvSpPr txBox="1"/>
          <p:nvPr/>
        </p:nvSpPr>
        <p:spPr>
          <a:xfrm>
            <a:off x="609600" y="1219200"/>
            <a:ext cx="10972800" cy="424731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0000"/>
                </a:solidFill>
                <a:latin typeface="Calibri"/>
                <a:ea typeface="Calibri"/>
                <a:cs typeface="Calibri"/>
                <a:sym typeface="Calibri"/>
              </a:rPr>
              <a:t>Sí, PostgreSQL es una excelente opción para gestionar bases de datos en proyectos profesionales por varias razones:</a:t>
            </a:r>
            <a:endParaRPr/>
          </a:p>
          <a:p>
            <a:pPr marL="0" marR="0" lvl="0" indent="-114300" algn="just" rtl="0">
              <a:spcBef>
                <a:spcPts val="0"/>
              </a:spcBef>
              <a:spcAft>
                <a:spcPts val="0"/>
              </a:spcAft>
              <a:buClr>
                <a:srgbClr val="FF0000"/>
              </a:buClr>
              <a:buSzPts val="1800"/>
              <a:buFont typeface="Calibri"/>
              <a:buAutoNum type="arabicPeriod"/>
            </a:pPr>
            <a:r>
              <a:rPr lang="es-ES" sz="1800" b="1">
                <a:solidFill>
                  <a:srgbClr val="FF0000"/>
                </a:solidFill>
                <a:latin typeface="Calibri"/>
                <a:ea typeface="Calibri"/>
                <a:cs typeface="Calibri"/>
                <a:sym typeface="Calibri"/>
              </a:rPr>
              <a:t>Código Abierto</a:t>
            </a:r>
            <a:r>
              <a:rPr lang="es-ES" sz="1800">
                <a:solidFill>
                  <a:srgbClr val="FF0000"/>
                </a:solidFill>
                <a:latin typeface="Calibri"/>
                <a:ea typeface="Calibri"/>
                <a:cs typeface="Calibri"/>
                <a:sym typeface="Calibri"/>
              </a:rPr>
              <a:t>: PostgreSQL es de código abierto, lo que significa que es gratuito y cuenta con una comunidad activa de desarrolladores que constantemente mejoran y actualizan el software.</a:t>
            </a:r>
            <a:endParaRPr/>
          </a:p>
          <a:p>
            <a:pPr marL="0" marR="0" lvl="0" indent="-114300" algn="just" rtl="0">
              <a:spcBef>
                <a:spcPts val="0"/>
              </a:spcBef>
              <a:spcAft>
                <a:spcPts val="0"/>
              </a:spcAft>
              <a:buClr>
                <a:srgbClr val="FF0000"/>
              </a:buClr>
              <a:buSzPts val="1800"/>
              <a:buFont typeface="Calibri"/>
              <a:buAutoNum type="arabicPeriod"/>
            </a:pPr>
            <a:r>
              <a:rPr lang="es-ES" sz="1800" b="1">
                <a:solidFill>
                  <a:srgbClr val="FF0000"/>
                </a:solidFill>
                <a:latin typeface="Calibri"/>
                <a:ea typeface="Calibri"/>
                <a:cs typeface="Calibri"/>
                <a:sym typeface="Calibri"/>
              </a:rPr>
              <a:t>Cumplimiento de Estándares</a:t>
            </a:r>
            <a:r>
              <a:rPr lang="es-ES" sz="1800">
                <a:solidFill>
                  <a:srgbClr val="FF0000"/>
                </a:solidFill>
                <a:latin typeface="Calibri"/>
                <a:ea typeface="Calibri"/>
                <a:cs typeface="Calibri"/>
                <a:sym typeface="Calibri"/>
              </a:rPr>
              <a:t>: PostgreSQL es altamente compatible con los estándares SQL, lo que facilita la transición desde otros sistemas de bases de datos y asegura la interoperabilidad con otras aplicaciones.</a:t>
            </a:r>
            <a:endParaRPr/>
          </a:p>
          <a:p>
            <a:pPr marL="0" marR="0" lvl="0" indent="-114300" algn="just" rtl="0">
              <a:spcBef>
                <a:spcPts val="0"/>
              </a:spcBef>
              <a:spcAft>
                <a:spcPts val="0"/>
              </a:spcAft>
              <a:buClr>
                <a:srgbClr val="FF0000"/>
              </a:buClr>
              <a:buSzPts val="1800"/>
              <a:buFont typeface="Calibri"/>
              <a:buAutoNum type="arabicPeriod"/>
            </a:pPr>
            <a:r>
              <a:rPr lang="es-ES" sz="1800" b="1">
                <a:solidFill>
                  <a:srgbClr val="FF0000"/>
                </a:solidFill>
                <a:latin typeface="Calibri"/>
                <a:ea typeface="Calibri"/>
                <a:cs typeface="Calibri"/>
                <a:sym typeface="Calibri"/>
              </a:rPr>
              <a:t>Extensibilidad</a:t>
            </a:r>
            <a:r>
              <a:rPr lang="es-ES" sz="1800">
                <a:solidFill>
                  <a:srgbClr val="FF0000"/>
                </a:solidFill>
                <a:latin typeface="Calibri"/>
                <a:ea typeface="Calibri"/>
                <a:cs typeface="Calibri"/>
                <a:sym typeface="Calibri"/>
              </a:rPr>
              <a:t>: PostgreSQL permite a los usuarios crear tipos de datos personalizados, funciones, operadores y más, lo que proporciona una gran flexibilidad para adaptarse a las necesidades específicas de cada proyecto.</a:t>
            </a:r>
            <a:endParaRPr/>
          </a:p>
          <a:p>
            <a:pPr marL="0" marR="0" lvl="0" indent="-114300" algn="just" rtl="0">
              <a:spcBef>
                <a:spcPts val="0"/>
              </a:spcBef>
              <a:spcAft>
                <a:spcPts val="0"/>
              </a:spcAft>
              <a:buClr>
                <a:srgbClr val="FF0000"/>
              </a:buClr>
              <a:buSzPts val="1800"/>
              <a:buFont typeface="Calibri"/>
              <a:buAutoNum type="arabicPeriod"/>
            </a:pPr>
            <a:r>
              <a:rPr lang="es-ES" sz="1800" b="1">
                <a:solidFill>
                  <a:srgbClr val="FF0000"/>
                </a:solidFill>
                <a:latin typeface="Calibri"/>
                <a:ea typeface="Calibri"/>
                <a:cs typeface="Calibri"/>
                <a:sym typeface="Calibri"/>
              </a:rPr>
              <a:t>Seguridad</a:t>
            </a:r>
            <a:r>
              <a:rPr lang="es-ES" sz="1800">
                <a:solidFill>
                  <a:srgbClr val="FF0000"/>
                </a:solidFill>
                <a:latin typeface="Calibri"/>
                <a:ea typeface="Calibri"/>
                <a:cs typeface="Calibri"/>
                <a:sym typeface="Calibri"/>
              </a:rPr>
              <a:t>: Ofrece características avanzadas de seguridad, como autenticación, cifrado y control de acceso detallado, que son esenciales para proteger los datos sensibles en entornos profesionales.</a:t>
            </a:r>
            <a:endParaRPr/>
          </a:p>
          <a:p>
            <a:pPr marL="0" marR="0" lvl="0" indent="-114300" algn="just" rtl="0">
              <a:spcBef>
                <a:spcPts val="0"/>
              </a:spcBef>
              <a:spcAft>
                <a:spcPts val="0"/>
              </a:spcAft>
              <a:buClr>
                <a:srgbClr val="FF0000"/>
              </a:buClr>
              <a:buSzPts val="1800"/>
              <a:buFont typeface="Calibri"/>
              <a:buAutoNum type="arabicPeriod"/>
            </a:pPr>
            <a:r>
              <a:rPr lang="es-ES" sz="1800" b="1">
                <a:solidFill>
                  <a:srgbClr val="FF0000"/>
                </a:solidFill>
                <a:latin typeface="Calibri"/>
                <a:ea typeface="Calibri"/>
                <a:cs typeface="Calibri"/>
                <a:sym typeface="Calibri"/>
              </a:rPr>
              <a:t>Rendimiento y Escalabilidad</a:t>
            </a:r>
            <a:r>
              <a:rPr lang="es-ES" sz="1800">
                <a:solidFill>
                  <a:srgbClr val="FF0000"/>
                </a:solidFill>
                <a:latin typeface="Calibri"/>
                <a:ea typeface="Calibri"/>
                <a:cs typeface="Calibri"/>
                <a:sym typeface="Calibri"/>
              </a:rPr>
              <a:t>: PostgreSQL está optimizado para manejar grandes volúmenes de datos y puede escalar eficientemente, lo que es crucial para proyectos que esperan crecer con el tiempo.</a:t>
            </a:r>
            <a:endParaRPr/>
          </a:p>
          <a:p>
            <a:pPr marL="0" marR="0" lvl="0" indent="-114300" algn="just" rtl="0">
              <a:spcBef>
                <a:spcPts val="0"/>
              </a:spcBef>
              <a:spcAft>
                <a:spcPts val="0"/>
              </a:spcAft>
              <a:buClr>
                <a:srgbClr val="FF0000"/>
              </a:buClr>
              <a:buSzPts val="1800"/>
              <a:buFont typeface="Calibri"/>
              <a:buAutoNum type="arabicPeriod"/>
            </a:pPr>
            <a:r>
              <a:rPr lang="es-ES" sz="1800" b="1">
                <a:solidFill>
                  <a:srgbClr val="FF0000"/>
                </a:solidFill>
                <a:latin typeface="Calibri"/>
                <a:ea typeface="Calibri"/>
                <a:cs typeface="Calibri"/>
                <a:sym typeface="Calibri"/>
              </a:rPr>
              <a:t>Alta Disponibilidad</a:t>
            </a:r>
            <a:r>
              <a:rPr lang="es-ES" sz="1800">
                <a:solidFill>
                  <a:srgbClr val="FF0000"/>
                </a:solidFill>
                <a:latin typeface="Calibri"/>
                <a:ea typeface="Calibri"/>
                <a:cs typeface="Calibri"/>
                <a:sym typeface="Calibri"/>
              </a:rPr>
              <a:t>: Soporta replicación y clustering, permitiendo configuraciones de alta disponibilidad que minimizan el tiempo de inactividad y aseguran que los datos estén siempre accesibles.</a:t>
            </a:r>
            <a:endParaRPr/>
          </a:p>
          <a:p>
            <a:pPr marL="0" marR="0" lvl="0" indent="-114300" algn="just" rtl="0">
              <a:spcBef>
                <a:spcPts val="0"/>
              </a:spcBef>
              <a:spcAft>
                <a:spcPts val="0"/>
              </a:spcAft>
              <a:buClr>
                <a:srgbClr val="FF0000"/>
              </a:buClr>
              <a:buSzPts val="1800"/>
              <a:buFont typeface="Calibri"/>
              <a:buAutoNum type="arabicPeriod"/>
            </a:pPr>
            <a:r>
              <a:rPr lang="es-ES" sz="1800" b="1">
                <a:solidFill>
                  <a:srgbClr val="FF0000"/>
                </a:solidFill>
                <a:latin typeface="Calibri"/>
                <a:ea typeface="Calibri"/>
                <a:cs typeface="Calibri"/>
                <a:sym typeface="Calibri"/>
              </a:rPr>
              <a:t>Documentación y Soporte</a:t>
            </a:r>
            <a:r>
              <a:rPr lang="es-ES" sz="1800">
                <a:solidFill>
                  <a:srgbClr val="FF0000"/>
                </a:solidFill>
                <a:latin typeface="Calibri"/>
                <a:ea typeface="Calibri"/>
                <a:cs typeface="Calibri"/>
                <a:sym typeface="Calibri"/>
              </a:rPr>
              <a:t>: Cuenta con una amplia documentación y una gran comunidad de usuarios y desarrolladores que ofrecen soporte y recursos, lo cual facilita la resolución de problemas y el aprendizaje continuo.</a:t>
            </a:r>
            <a:endParaRPr/>
          </a:p>
        </p:txBody>
      </p:sp>
      <p:sp>
        <p:nvSpPr>
          <p:cNvPr id="191" name="Google Shape;191;p20"/>
          <p:cNvSpPr txBox="1"/>
          <p:nvPr/>
        </p:nvSpPr>
        <p:spPr>
          <a:xfrm>
            <a:off x="8582348" y="5797321"/>
            <a:ext cx="30000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FF0000"/>
                </a:solidFill>
                <a:latin typeface="Calibri"/>
                <a:ea typeface="Calibri"/>
                <a:cs typeface="Calibri"/>
                <a:sym typeface="Calibri"/>
              </a:rPr>
              <a:t>OJO: SOLO PARA EL DOCENTE</a:t>
            </a:r>
            <a:endParaRPr sz="1800" b="1">
              <a:solidFill>
                <a:srgbClr val="FF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1"/>
          <p:cNvSpPr/>
          <p:nvPr/>
        </p:nvSpPr>
        <p:spPr>
          <a:xfrm>
            <a:off x="0" y="2503550"/>
            <a:ext cx="12185226" cy="2113472"/>
          </a:xfrm>
          <a:custGeom>
            <a:avLst/>
            <a:gdLst/>
            <a:ahLst/>
            <a:cxnLst/>
            <a:rect l="l" t="t" r="r" b="b"/>
            <a:pathLst>
              <a:path w="9144635" h="700405" extrusionOk="0">
                <a:moveTo>
                  <a:pt x="9027447" y="700199"/>
                </a:moveTo>
                <a:lnTo>
                  <a:pt x="116702" y="700199"/>
                </a:lnTo>
                <a:lnTo>
                  <a:pt x="71276" y="691028"/>
                </a:lnTo>
                <a:lnTo>
                  <a:pt x="34181" y="666018"/>
                </a:lnTo>
                <a:lnTo>
                  <a:pt x="9171" y="628923"/>
                </a:lnTo>
                <a:lnTo>
                  <a:pt x="0" y="583497"/>
                </a:lnTo>
                <a:lnTo>
                  <a:pt x="0" y="116702"/>
                </a:lnTo>
                <a:lnTo>
                  <a:pt x="9171" y="71276"/>
                </a:lnTo>
                <a:lnTo>
                  <a:pt x="34181" y="34181"/>
                </a:lnTo>
                <a:lnTo>
                  <a:pt x="71276" y="9171"/>
                </a:lnTo>
                <a:lnTo>
                  <a:pt x="116702" y="0"/>
                </a:lnTo>
                <a:lnTo>
                  <a:pt x="9027447" y="0"/>
                </a:lnTo>
                <a:lnTo>
                  <a:pt x="9072107" y="8883"/>
                </a:lnTo>
                <a:lnTo>
                  <a:pt x="9109968" y="34181"/>
                </a:lnTo>
                <a:lnTo>
                  <a:pt x="9135266" y="72042"/>
                </a:lnTo>
                <a:lnTo>
                  <a:pt x="9144149" y="116702"/>
                </a:lnTo>
                <a:lnTo>
                  <a:pt x="9144149" y="583497"/>
                </a:lnTo>
                <a:lnTo>
                  <a:pt x="9134978" y="628923"/>
                </a:lnTo>
                <a:lnTo>
                  <a:pt x="9109968" y="666018"/>
                </a:lnTo>
                <a:lnTo>
                  <a:pt x="9072873" y="691028"/>
                </a:lnTo>
                <a:lnTo>
                  <a:pt x="9027447" y="7001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7" name="Google Shape;197;p21"/>
          <p:cNvSpPr txBox="1">
            <a:spLocks noGrp="1"/>
          </p:cNvSpPr>
          <p:nvPr>
            <p:ph type="title"/>
          </p:nvPr>
        </p:nvSpPr>
        <p:spPr>
          <a:xfrm>
            <a:off x="4275285" y="2889209"/>
            <a:ext cx="3634800" cy="13674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s-ES" b="1">
                <a:solidFill>
                  <a:schemeClr val="lt1"/>
                </a:solidFill>
                <a:latin typeface="Rubik"/>
                <a:ea typeface="Rubik"/>
                <a:cs typeface="Rubik"/>
                <a:sym typeface="Rubik"/>
              </a:rPr>
              <a:t>Caso práctico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2"/>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22"/>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204" name="Google Shape;204;p22"/>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pic>
        <p:nvPicPr>
          <p:cNvPr id="205" name="Google Shape;205;p22"/>
          <p:cNvPicPr preferRelativeResize="0"/>
          <p:nvPr/>
        </p:nvPicPr>
        <p:blipFill rotWithShape="1">
          <a:blip r:embed="rId3">
            <a:alphaModFix/>
          </a:blip>
          <a:srcRect/>
          <a:stretch/>
        </p:blipFill>
        <p:spPr>
          <a:xfrm>
            <a:off x="5773909" y="304800"/>
            <a:ext cx="626891" cy="561824"/>
          </a:xfrm>
          <a:prstGeom prst="rect">
            <a:avLst/>
          </a:prstGeom>
          <a:noFill/>
          <a:ln>
            <a:noFill/>
          </a:ln>
        </p:spPr>
      </p:pic>
      <p:pic>
        <p:nvPicPr>
          <p:cNvPr id="206" name="Google Shape;206;p22" descr="una práctica ilustración plana de una computadora portátil que funciona  14982741 Vector en Vecteezy"/>
          <p:cNvPicPr preferRelativeResize="0"/>
          <p:nvPr/>
        </p:nvPicPr>
        <p:blipFill rotWithShape="1">
          <a:blip r:embed="rId4">
            <a:alphaModFix/>
          </a:blip>
          <a:srcRect/>
          <a:stretch/>
        </p:blipFill>
        <p:spPr>
          <a:xfrm>
            <a:off x="859155" y="1181100"/>
            <a:ext cx="4800600" cy="4800600"/>
          </a:xfrm>
          <a:prstGeom prst="rect">
            <a:avLst/>
          </a:prstGeom>
          <a:noFill/>
          <a:ln>
            <a:noFill/>
          </a:ln>
        </p:spPr>
      </p:pic>
      <p:pic>
        <p:nvPicPr>
          <p:cNvPr id="207" name="Google Shape;207;p22"/>
          <p:cNvPicPr preferRelativeResize="0"/>
          <p:nvPr/>
        </p:nvPicPr>
        <p:blipFill rotWithShape="1">
          <a:blip r:embed="rId5">
            <a:alphaModFix/>
          </a:blip>
          <a:srcRect/>
          <a:stretch/>
        </p:blipFill>
        <p:spPr>
          <a:xfrm>
            <a:off x="5520111" y="1808445"/>
            <a:ext cx="5812734" cy="354591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3"/>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3" name="Google Shape;213;p23"/>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214" name="Google Shape;214;p23"/>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pic>
        <p:nvPicPr>
          <p:cNvPr id="215" name="Google Shape;215;p23"/>
          <p:cNvPicPr preferRelativeResize="0"/>
          <p:nvPr/>
        </p:nvPicPr>
        <p:blipFill rotWithShape="1">
          <a:blip r:embed="rId3">
            <a:alphaModFix/>
          </a:blip>
          <a:srcRect/>
          <a:stretch/>
        </p:blipFill>
        <p:spPr>
          <a:xfrm>
            <a:off x="5773909" y="304800"/>
            <a:ext cx="626891" cy="561824"/>
          </a:xfrm>
          <a:prstGeom prst="rect">
            <a:avLst/>
          </a:prstGeom>
          <a:noFill/>
          <a:ln>
            <a:noFill/>
          </a:ln>
        </p:spPr>
      </p:pic>
      <p:sp>
        <p:nvSpPr>
          <p:cNvPr id="216" name="Google Shape;216;p23"/>
          <p:cNvSpPr txBox="1"/>
          <p:nvPr/>
        </p:nvSpPr>
        <p:spPr>
          <a:xfrm>
            <a:off x="2282337" y="1780300"/>
            <a:ext cx="7627325" cy="443711"/>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None/>
            </a:pPr>
            <a:r>
              <a:rPr lang="es-ES" sz="2800">
                <a:solidFill>
                  <a:schemeClr val="dk1"/>
                </a:solidFill>
                <a:latin typeface="Arial"/>
                <a:ea typeface="Arial"/>
                <a:cs typeface="Arial"/>
                <a:sym typeface="Arial"/>
              </a:rPr>
              <a:t>¿Quién quisiera participar? (2 voluntarios)</a:t>
            </a:r>
            <a:endParaRPr/>
          </a:p>
        </p:txBody>
      </p:sp>
      <p:pic>
        <p:nvPicPr>
          <p:cNvPr id="217" name="Google Shape;217;p23"/>
          <p:cNvPicPr preferRelativeResize="0"/>
          <p:nvPr/>
        </p:nvPicPr>
        <p:blipFill rotWithShape="1">
          <a:blip r:embed="rId3">
            <a:alphaModFix/>
          </a:blip>
          <a:srcRect/>
          <a:stretch/>
        </p:blipFill>
        <p:spPr>
          <a:xfrm>
            <a:off x="4730555" y="2895600"/>
            <a:ext cx="2730890" cy="252033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4"/>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3" name="Google Shape;223;p24"/>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224" name="Google Shape;224;p24"/>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225" name="Google Shape;225;p24"/>
          <p:cNvSpPr txBox="1"/>
          <p:nvPr/>
        </p:nvSpPr>
        <p:spPr>
          <a:xfrm>
            <a:off x="3039354" y="1831852"/>
            <a:ext cx="6096000" cy="115416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s-ES" sz="3200">
                <a:solidFill>
                  <a:schemeClr val="dk1"/>
                </a:solidFill>
                <a:latin typeface="Arial"/>
                <a:ea typeface="Arial"/>
                <a:cs typeface="Arial"/>
                <a:sym typeface="Arial"/>
              </a:rPr>
              <a:t>¿Qué se les hizo más fácil?</a:t>
            </a:r>
            <a:endParaRPr/>
          </a:p>
          <a:p>
            <a:pPr marL="0" marR="0" lvl="0" indent="0" algn="ctr" rtl="0">
              <a:lnSpc>
                <a:spcPct val="100000"/>
              </a:lnSpc>
              <a:spcBef>
                <a:spcPts val="585"/>
              </a:spcBef>
              <a:spcAft>
                <a:spcPts val="0"/>
              </a:spcAft>
              <a:buNone/>
            </a:pPr>
            <a:r>
              <a:rPr lang="es-ES" sz="3200">
                <a:solidFill>
                  <a:schemeClr val="dk1"/>
                </a:solidFill>
                <a:latin typeface="Arial"/>
                <a:ea typeface="Arial"/>
                <a:cs typeface="Arial"/>
                <a:sym typeface="Arial"/>
              </a:rPr>
              <a:t>¿Qué se les hizo más retador?</a:t>
            </a:r>
            <a:endParaRPr sz="3200">
              <a:solidFill>
                <a:schemeClr val="dk1"/>
              </a:solidFill>
              <a:latin typeface="Arial"/>
              <a:ea typeface="Arial"/>
              <a:cs typeface="Arial"/>
              <a:sym typeface="Arial"/>
            </a:endParaRPr>
          </a:p>
        </p:txBody>
      </p:sp>
      <p:pic>
        <p:nvPicPr>
          <p:cNvPr id="226" name="Google Shape;226;p24"/>
          <p:cNvPicPr preferRelativeResize="0"/>
          <p:nvPr/>
        </p:nvPicPr>
        <p:blipFill rotWithShape="1">
          <a:blip r:embed="rId3">
            <a:alphaModFix/>
          </a:blip>
          <a:srcRect/>
          <a:stretch/>
        </p:blipFill>
        <p:spPr>
          <a:xfrm>
            <a:off x="4953000" y="3618011"/>
            <a:ext cx="2047300" cy="2047300"/>
          </a:xfrm>
          <a:prstGeom prst="rect">
            <a:avLst/>
          </a:prstGeom>
          <a:noFill/>
          <a:ln>
            <a:noFill/>
          </a:ln>
        </p:spPr>
      </p:pic>
      <p:pic>
        <p:nvPicPr>
          <p:cNvPr id="227" name="Google Shape;227;p24"/>
          <p:cNvPicPr preferRelativeResize="0"/>
          <p:nvPr/>
        </p:nvPicPr>
        <p:blipFill rotWithShape="1">
          <a:blip r:embed="rId3">
            <a:alphaModFix/>
          </a:blip>
          <a:srcRect/>
          <a:stretch/>
        </p:blipFill>
        <p:spPr>
          <a:xfrm>
            <a:off x="5766673" y="318461"/>
            <a:ext cx="548164" cy="54816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5"/>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25"/>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34" name="Google Shape;234;p25"/>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235" name="Google Shape;235;p25"/>
          <p:cNvSpPr txBox="1"/>
          <p:nvPr/>
        </p:nvSpPr>
        <p:spPr>
          <a:xfrm>
            <a:off x="2243577" y="2644170"/>
            <a:ext cx="7687554" cy="1569660"/>
          </a:xfrm>
          <a:prstGeom prst="rect">
            <a:avLst/>
          </a:prstGeom>
          <a:noFill/>
          <a:ln>
            <a:noFill/>
          </a:ln>
        </p:spPr>
        <p:txBody>
          <a:bodyPr spcFirstLastPara="1" wrap="square" lIns="91425" tIns="45700" rIns="91425" bIns="45700" anchor="t" anchorCtr="0">
            <a:spAutoFit/>
          </a:bodyPr>
          <a:lstStyle/>
          <a:p>
            <a:pPr marL="12700" marR="0" lvl="0" indent="0" algn="ctr" rtl="0">
              <a:lnSpc>
                <a:spcPct val="100000"/>
              </a:lnSpc>
              <a:spcBef>
                <a:spcPts val="0"/>
              </a:spcBef>
              <a:spcAft>
                <a:spcPts val="0"/>
              </a:spcAft>
              <a:buNone/>
            </a:pPr>
            <a:r>
              <a:rPr lang="es-ES" sz="3200">
                <a:solidFill>
                  <a:schemeClr val="dk1"/>
                </a:solidFill>
                <a:latin typeface="Arial"/>
                <a:ea typeface="Arial"/>
                <a:cs typeface="Arial"/>
                <a:sym typeface="Arial"/>
              </a:rPr>
              <a:t>Tomar apuntes de manera eficaz ayuda a consolidar el  aprendizaje y prepararse para los exámenes.</a:t>
            </a:r>
            <a:endParaRPr/>
          </a:p>
        </p:txBody>
      </p:sp>
      <p:pic>
        <p:nvPicPr>
          <p:cNvPr id="236" name="Google Shape;236;p25"/>
          <p:cNvPicPr preferRelativeResize="0"/>
          <p:nvPr/>
        </p:nvPicPr>
        <p:blipFill rotWithShape="1">
          <a:blip r:embed="rId3">
            <a:alphaModFix/>
          </a:blip>
          <a:srcRect/>
          <a:stretch/>
        </p:blipFill>
        <p:spPr>
          <a:xfrm>
            <a:off x="5705310" y="304802"/>
            <a:ext cx="561824" cy="5618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6"/>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2" name="Google Shape;242;p26"/>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s-ES" sz="2400" b="1">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43" name="Google Shape;243;p26"/>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244" name="Google Shape;244;p26"/>
          <p:cNvSpPr txBox="1"/>
          <p:nvPr/>
        </p:nvSpPr>
        <p:spPr>
          <a:xfrm>
            <a:off x="2243577" y="3149025"/>
            <a:ext cx="7687554" cy="584775"/>
          </a:xfrm>
          <a:prstGeom prst="rect">
            <a:avLst/>
          </a:prstGeom>
          <a:noFill/>
          <a:ln>
            <a:noFill/>
          </a:ln>
        </p:spPr>
        <p:txBody>
          <a:bodyPr spcFirstLastPara="1" wrap="square" lIns="91425" tIns="45700" rIns="91425" bIns="45700" anchor="t" anchorCtr="0">
            <a:spAutoFit/>
          </a:bodyPr>
          <a:lstStyle/>
          <a:p>
            <a:pPr marL="12700" marR="0" lvl="0" indent="0" algn="ctr" rtl="0">
              <a:lnSpc>
                <a:spcPct val="100000"/>
              </a:lnSpc>
              <a:spcBef>
                <a:spcPts val="0"/>
              </a:spcBef>
              <a:spcAft>
                <a:spcPts val="0"/>
              </a:spcAft>
              <a:buNone/>
            </a:pPr>
            <a:r>
              <a:rPr lang="es-ES" sz="3200" b="1">
                <a:solidFill>
                  <a:schemeClr val="dk1"/>
                </a:solidFill>
                <a:latin typeface="Arial"/>
                <a:ea typeface="Arial"/>
                <a:cs typeface="Arial"/>
                <a:sym typeface="Arial"/>
              </a:rPr>
              <a:t>¿Qué hemos aprendido el día de hoy?</a:t>
            </a:r>
            <a:endParaRPr sz="3200">
              <a:solidFill>
                <a:schemeClr val="dk1"/>
              </a:solidFill>
              <a:latin typeface="Arial"/>
              <a:ea typeface="Arial"/>
              <a:cs typeface="Arial"/>
              <a:sym typeface="Arial"/>
            </a:endParaRPr>
          </a:p>
        </p:txBody>
      </p:sp>
      <p:pic>
        <p:nvPicPr>
          <p:cNvPr id="245" name="Google Shape;245;p26"/>
          <p:cNvPicPr preferRelativeResize="0"/>
          <p:nvPr/>
        </p:nvPicPr>
        <p:blipFill rotWithShape="1">
          <a:blip r:embed="rId3">
            <a:alphaModFix/>
          </a:blip>
          <a:srcRect/>
          <a:stretch/>
        </p:blipFill>
        <p:spPr>
          <a:xfrm>
            <a:off x="5766673" y="318461"/>
            <a:ext cx="548164" cy="5481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7"/>
          <p:cNvSpPr txBox="1"/>
          <p:nvPr/>
        </p:nvSpPr>
        <p:spPr>
          <a:xfrm>
            <a:off x="723900" y="1066800"/>
            <a:ext cx="10744200" cy="452431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i="0">
                <a:solidFill>
                  <a:srgbClr val="000000"/>
                </a:solidFill>
                <a:latin typeface="Arial"/>
                <a:ea typeface="Arial"/>
                <a:cs typeface="Arial"/>
                <a:sym typeface="Arial"/>
              </a:rPr>
              <a:t>Resumen</a:t>
            </a:r>
            <a:endParaRPr/>
          </a:p>
          <a:p>
            <a:pPr marL="285750" marR="0" lvl="0" indent="-285750" algn="just" rtl="0">
              <a:spcBef>
                <a:spcPts val="0"/>
              </a:spcBef>
              <a:spcAft>
                <a:spcPts val="0"/>
              </a:spcAft>
              <a:buClr>
                <a:srgbClr val="000000"/>
              </a:buClr>
              <a:buSzPts val="1800"/>
              <a:buFont typeface="Arial"/>
              <a:buChar char="•"/>
            </a:pPr>
            <a:r>
              <a:rPr lang="es-ES" sz="1800" b="0" i="0">
                <a:solidFill>
                  <a:srgbClr val="000000"/>
                </a:solidFill>
                <a:latin typeface="Arial"/>
                <a:ea typeface="Arial"/>
                <a:cs typeface="Arial"/>
                <a:sym typeface="Arial"/>
              </a:rPr>
              <a:t>Introducción a los PostgreSQL: PostgreSQL es un sistema de gestión de bases de datos de código abierto de clase empresarial</a:t>
            </a:r>
            <a:endParaRPr/>
          </a:p>
          <a:p>
            <a:pPr marL="285750" marR="0" lvl="0" indent="-285750" algn="just" rtl="0">
              <a:spcBef>
                <a:spcPts val="0"/>
              </a:spcBef>
              <a:spcAft>
                <a:spcPts val="0"/>
              </a:spcAft>
              <a:buClr>
                <a:srgbClr val="000000"/>
              </a:buClr>
              <a:buSzPts val="1800"/>
              <a:buFont typeface="Arial"/>
              <a:buChar char="•"/>
            </a:pPr>
            <a:r>
              <a:rPr lang="es-ES" sz="1800" b="0" i="0">
                <a:solidFill>
                  <a:srgbClr val="000000"/>
                </a:solidFill>
                <a:latin typeface="Arial"/>
                <a:ea typeface="Arial"/>
                <a:cs typeface="Arial"/>
                <a:sym typeface="Arial"/>
              </a:rPr>
              <a:t>PostgreSQL (inicialmente llamado Postgres) fue creado por el profesor de informática Michael Stonebraker y su equipo.</a:t>
            </a:r>
            <a:endParaRPr/>
          </a:p>
          <a:p>
            <a:pPr marL="285750" marR="0" lvl="0" indent="-285750" algn="just" rtl="0">
              <a:spcBef>
                <a:spcPts val="0"/>
              </a:spcBef>
              <a:spcAft>
                <a:spcPts val="0"/>
              </a:spcAft>
              <a:buClr>
                <a:srgbClr val="000000"/>
              </a:buClr>
              <a:buSzPts val="1800"/>
              <a:buFont typeface="Arial"/>
              <a:buChar char="•"/>
            </a:pPr>
            <a:r>
              <a:rPr lang="es-ES" sz="1800" b="0" i="0">
                <a:solidFill>
                  <a:srgbClr val="000000"/>
                </a:solidFill>
                <a:latin typeface="Arial"/>
                <a:ea typeface="Arial"/>
                <a:cs typeface="Arial"/>
                <a:sym typeface="Arial"/>
              </a:rPr>
              <a:t>Uno de los beneficios de PostgreSQL ¿Es su compatibilidad con varias plataformas que utilizan los principales lenguajes y middleware?</a:t>
            </a:r>
            <a:endParaRPr/>
          </a:p>
          <a:p>
            <a:pPr marL="285750" marR="0" lvl="0" indent="-285750" algn="just" rtl="0">
              <a:spcBef>
                <a:spcPts val="0"/>
              </a:spcBef>
              <a:spcAft>
                <a:spcPts val="0"/>
              </a:spcAft>
              <a:buClr>
                <a:srgbClr val="000000"/>
              </a:buClr>
              <a:buSzPts val="1800"/>
              <a:buFont typeface="Arial"/>
              <a:buChar char="•"/>
            </a:pPr>
            <a:r>
              <a:rPr lang="es-ES" sz="1800" b="0" i="0">
                <a:solidFill>
                  <a:srgbClr val="000000"/>
                </a:solidFill>
                <a:latin typeface="Arial"/>
                <a:ea typeface="Arial"/>
                <a:cs typeface="Arial"/>
                <a:sym typeface="Arial"/>
              </a:rPr>
              <a:t>POSTGRES Server es un software gratuito y de código abierto, lo que significa que nunca tendrás que pagar nada por este servicio.</a:t>
            </a:r>
            <a:endParaRPr/>
          </a:p>
          <a:p>
            <a:pPr marL="285750" marR="0" lvl="0" indent="-285750" algn="just" rtl="0">
              <a:spcBef>
                <a:spcPts val="0"/>
              </a:spcBef>
              <a:spcAft>
                <a:spcPts val="0"/>
              </a:spcAft>
              <a:buClr>
                <a:srgbClr val="000000"/>
              </a:buClr>
              <a:buSzPts val="1800"/>
              <a:buFont typeface="Arial"/>
              <a:buChar char="•"/>
            </a:pPr>
            <a:r>
              <a:rPr lang="es-ES" sz="1800" b="0" i="0">
                <a:solidFill>
                  <a:srgbClr val="000000"/>
                </a:solidFill>
                <a:latin typeface="Arial"/>
                <a:ea typeface="Arial"/>
                <a:cs typeface="Arial"/>
                <a:sym typeface="Arial"/>
              </a:rPr>
              <a:t>El PostgreSQL Las características son que puede ejecutar sitios web dinámicos y aplicaciones web como una opción para la pila LAMP.</a:t>
            </a:r>
            <a:endParaRPr/>
          </a:p>
          <a:p>
            <a:pPr marL="285750" marR="0" lvl="0" indent="-285750" algn="just" rtl="0">
              <a:spcBef>
                <a:spcPts val="0"/>
              </a:spcBef>
              <a:spcAft>
                <a:spcPts val="0"/>
              </a:spcAft>
              <a:buClr>
                <a:srgbClr val="000000"/>
              </a:buClr>
              <a:buSzPts val="1800"/>
              <a:buFont typeface="Arial"/>
              <a:buChar char="•"/>
            </a:pPr>
            <a:r>
              <a:rPr lang="es-ES" sz="1800" b="0" i="0">
                <a:solidFill>
                  <a:srgbClr val="000000"/>
                </a:solidFill>
                <a:latin typeface="Arial"/>
                <a:ea typeface="Arial"/>
                <a:cs typeface="Arial"/>
                <a:sym typeface="Arial"/>
              </a:rPr>
              <a:t>Admite datos JSON.</a:t>
            </a:r>
            <a:endParaRPr/>
          </a:p>
          <a:p>
            <a:pPr marL="285750" marR="0" lvl="0" indent="-285750" algn="just" rtl="0">
              <a:spcBef>
                <a:spcPts val="0"/>
              </a:spcBef>
              <a:spcAft>
                <a:spcPts val="0"/>
              </a:spcAft>
              <a:buClr>
                <a:srgbClr val="000000"/>
              </a:buClr>
              <a:buSzPts val="1800"/>
              <a:buFont typeface="Arial"/>
              <a:buChar char="•"/>
            </a:pPr>
            <a:r>
              <a:rPr lang="es-ES" sz="1800" b="0" i="0">
                <a:solidFill>
                  <a:srgbClr val="000000"/>
                </a:solidFill>
                <a:latin typeface="Arial"/>
                <a:ea typeface="Arial"/>
                <a:cs typeface="Arial"/>
                <a:sym typeface="Arial"/>
              </a:rPr>
              <a:t>Postgres no es propiedad de una sola organización. Por lo tanto, ha tenido problemas para dar a conocer su nombre a pesar de tener todas las funciones y ser comparable a otros sistemas DBMS.</a:t>
            </a:r>
            <a:endParaRPr/>
          </a:p>
          <a:p>
            <a:pPr marL="285750" marR="0" lvl="0" indent="-285750" algn="just" rtl="0">
              <a:spcBef>
                <a:spcPts val="0"/>
              </a:spcBef>
              <a:spcAft>
                <a:spcPts val="0"/>
              </a:spcAft>
              <a:buClr>
                <a:srgbClr val="000000"/>
              </a:buClr>
              <a:buSzPts val="1800"/>
              <a:buFont typeface="Arial"/>
              <a:buChar char="•"/>
            </a:pPr>
            <a:r>
              <a:rPr lang="es-ES" sz="1800" b="0" i="0">
                <a:solidFill>
                  <a:srgbClr val="000000"/>
                </a:solidFill>
                <a:latin typeface="Arial"/>
                <a:ea typeface="Arial"/>
                <a:cs typeface="Arial"/>
                <a:sym typeface="Arial"/>
              </a:rPr>
              <a:t>PostgreSQL se utiliza ampliamente en la industria financiera, datos GIS gubernamentales, fabricación, tecnología web y NoSQL y para trabajos de recopilación de datos científicos.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8"/>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6" name="Google Shape;256;p28"/>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sp>
        <p:nvSpPr>
          <p:cNvPr id="257" name="Google Shape;257;p28"/>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pic>
        <p:nvPicPr>
          <p:cNvPr id="258" name="Google Shape;258;p28"/>
          <p:cNvPicPr preferRelativeResize="0"/>
          <p:nvPr/>
        </p:nvPicPr>
        <p:blipFill rotWithShape="1">
          <a:blip r:embed="rId3">
            <a:alphaModFix/>
          </a:blip>
          <a:srcRect/>
          <a:stretch/>
        </p:blipFill>
        <p:spPr>
          <a:xfrm>
            <a:off x="5705310" y="304802"/>
            <a:ext cx="561824" cy="561824"/>
          </a:xfrm>
          <a:prstGeom prst="rect">
            <a:avLst/>
          </a:prstGeom>
          <a:noFill/>
          <a:ln>
            <a:noFill/>
          </a:ln>
        </p:spPr>
      </p:pic>
      <p:sp>
        <p:nvSpPr>
          <p:cNvPr id="259" name="Google Shape;259;p28"/>
          <p:cNvSpPr txBox="1"/>
          <p:nvPr/>
        </p:nvSpPr>
        <p:spPr>
          <a:xfrm>
            <a:off x="1243933" y="5472302"/>
            <a:ext cx="9704133" cy="369332"/>
          </a:xfrm>
          <a:prstGeom prst="rect">
            <a:avLst/>
          </a:prstGeom>
          <a:solidFill>
            <a:srgbClr val="D9EAD3"/>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s-ES" sz="2400" i="1">
                <a:solidFill>
                  <a:schemeClr val="dk1"/>
                </a:solidFill>
                <a:latin typeface="Arial"/>
                <a:ea typeface="Arial"/>
                <a:cs typeface="Arial"/>
                <a:sym typeface="Arial"/>
              </a:rPr>
              <a:t>Nota: Entrega de manera escrita, en la siguiente clase.</a:t>
            </a:r>
            <a:endParaRPr sz="2400">
              <a:solidFill>
                <a:schemeClr val="dk1"/>
              </a:solidFill>
              <a:latin typeface="Arial"/>
              <a:ea typeface="Arial"/>
              <a:cs typeface="Arial"/>
              <a:sym typeface="Arial"/>
            </a:endParaRPr>
          </a:p>
        </p:txBody>
      </p:sp>
      <p:sp>
        <p:nvSpPr>
          <p:cNvPr id="260" name="Google Shape;260;p28"/>
          <p:cNvSpPr txBox="1"/>
          <p:nvPr/>
        </p:nvSpPr>
        <p:spPr>
          <a:xfrm>
            <a:off x="723899" y="1122749"/>
            <a:ext cx="10744200" cy="409342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000" b="1">
                <a:solidFill>
                  <a:schemeClr val="dk1"/>
                </a:solidFill>
                <a:latin typeface="Calibri"/>
                <a:ea typeface="Calibri"/>
                <a:cs typeface="Calibri"/>
                <a:sym typeface="Calibri"/>
              </a:rPr>
              <a:t>Investigación y Escritura sobre PostgreSQL</a:t>
            </a:r>
            <a:endParaRPr/>
          </a:p>
          <a:p>
            <a:pPr marL="0" marR="0" lvl="0" indent="0" algn="l" rtl="0">
              <a:spcBef>
                <a:spcPts val="0"/>
              </a:spcBef>
              <a:spcAft>
                <a:spcPts val="0"/>
              </a:spcAft>
              <a:buNone/>
            </a:pPr>
            <a:endParaRPr sz="2000" b="1">
              <a:solidFill>
                <a:schemeClr val="dk1"/>
              </a:solidFill>
              <a:latin typeface="Calibri"/>
              <a:ea typeface="Calibri"/>
              <a:cs typeface="Calibri"/>
              <a:sym typeface="Calibri"/>
            </a:endParaRPr>
          </a:p>
          <a:p>
            <a:pPr marL="0" marR="0" lvl="0" indent="-127000" algn="l" rtl="0">
              <a:spcBef>
                <a:spcPts val="0"/>
              </a:spcBef>
              <a:spcAft>
                <a:spcPts val="0"/>
              </a:spcAft>
              <a:buClr>
                <a:schemeClr val="dk1"/>
              </a:buClr>
              <a:buSzPts val="2000"/>
              <a:buFont typeface="Calibri"/>
              <a:buAutoNum type="arabicPeriod"/>
            </a:pPr>
            <a:r>
              <a:rPr lang="es-ES" sz="2000" b="1">
                <a:solidFill>
                  <a:schemeClr val="dk1"/>
                </a:solidFill>
                <a:latin typeface="Calibri"/>
                <a:ea typeface="Calibri"/>
                <a:cs typeface="Calibri"/>
                <a:sym typeface="Calibri"/>
              </a:rPr>
              <a:t>Características Principales</a:t>
            </a:r>
            <a:r>
              <a:rPr lang="es-ES" sz="2000">
                <a:solidFill>
                  <a:schemeClr val="dk1"/>
                </a:solidFill>
                <a:latin typeface="Calibri"/>
                <a:ea typeface="Calibri"/>
                <a:cs typeface="Calibri"/>
                <a:sym typeface="Calibri"/>
              </a:rPr>
              <a:t>:</a:t>
            </a:r>
            <a:endParaRPr/>
          </a:p>
          <a:p>
            <a:pPr marL="742950" marR="0" lvl="1" indent="-285750" algn="l" rtl="0">
              <a:spcBef>
                <a:spcPts val="0"/>
              </a:spcBef>
              <a:spcAft>
                <a:spcPts val="0"/>
              </a:spcAft>
              <a:buClr>
                <a:schemeClr val="dk1"/>
              </a:buClr>
              <a:buSzPts val="2000"/>
              <a:buFont typeface="Calibri"/>
              <a:buAutoNum type="arabicPeriod"/>
            </a:pPr>
            <a:r>
              <a:rPr lang="es-ES" sz="2000" b="0" i="0" u="none" strike="noStrike" cap="none">
                <a:solidFill>
                  <a:schemeClr val="dk1"/>
                </a:solidFill>
                <a:latin typeface="Calibri"/>
                <a:ea typeface="Calibri"/>
                <a:cs typeface="Calibri"/>
                <a:sym typeface="Calibri"/>
              </a:rPr>
              <a:t>Describe al menos cinco características clave de PostgreSQL discutidas en clase. Para cada característica, explica qué es y por qué es importante.</a:t>
            </a:r>
            <a:endParaRPr/>
          </a:p>
          <a:p>
            <a:pPr marL="457200" marR="0" lvl="1" indent="0" algn="l" rtl="0">
              <a:spcBef>
                <a:spcPts val="0"/>
              </a:spcBef>
              <a:spcAft>
                <a:spcPts val="0"/>
              </a:spcAft>
              <a:buNone/>
            </a:pPr>
            <a:endParaRPr sz="2000" b="0" i="0" u="none" strike="noStrike" cap="none">
              <a:solidFill>
                <a:schemeClr val="dk1"/>
              </a:solidFill>
              <a:latin typeface="Calibri"/>
              <a:ea typeface="Calibri"/>
              <a:cs typeface="Calibri"/>
              <a:sym typeface="Calibri"/>
            </a:endParaRPr>
          </a:p>
          <a:p>
            <a:pPr marL="0" marR="0" lvl="0" indent="-127000" algn="l" rtl="0">
              <a:spcBef>
                <a:spcPts val="0"/>
              </a:spcBef>
              <a:spcAft>
                <a:spcPts val="0"/>
              </a:spcAft>
              <a:buClr>
                <a:schemeClr val="dk1"/>
              </a:buClr>
              <a:buSzPts val="2000"/>
              <a:buFont typeface="Calibri"/>
              <a:buAutoNum type="arabicPeriod"/>
            </a:pPr>
            <a:r>
              <a:rPr lang="es-ES" sz="2000" b="1">
                <a:solidFill>
                  <a:schemeClr val="dk1"/>
                </a:solidFill>
                <a:latin typeface="Calibri"/>
                <a:ea typeface="Calibri"/>
                <a:cs typeface="Calibri"/>
                <a:sym typeface="Calibri"/>
              </a:rPr>
              <a:t>Casos de Uso</a:t>
            </a:r>
            <a:r>
              <a:rPr lang="es-ES" sz="2000">
                <a:solidFill>
                  <a:schemeClr val="dk1"/>
                </a:solidFill>
                <a:latin typeface="Calibri"/>
                <a:ea typeface="Calibri"/>
                <a:cs typeface="Calibri"/>
                <a:sym typeface="Calibri"/>
              </a:rPr>
              <a:t>:</a:t>
            </a:r>
            <a:endParaRPr/>
          </a:p>
          <a:p>
            <a:pPr marL="742950" marR="0" lvl="1" indent="-285750" algn="l" rtl="0">
              <a:spcBef>
                <a:spcPts val="0"/>
              </a:spcBef>
              <a:spcAft>
                <a:spcPts val="0"/>
              </a:spcAft>
              <a:buClr>
                <a:schemeClr val="dk1"/>
              </a:buClr>
              <a:buSzPts val="2000"/>
              <a:buFont typeface="Calibri"/>
              <a:buAutoNum type="arabicPeriod"/>
            </a:pPr>
            <a:r>
              <a:rPr lang="es-ES" sz="2000" b="0" i="0" u="none" strike="noStrike" cap="none">
                <a:solidFill>
                  <a:schemeClr val="dk1"/>
                </a:solidFill>
                <a:latin typeface="Calibri"/>
                <a:ea typeface="Calibri"/>
                <a:cs typeface="Calibri"/>
                <a:sym typeface="Calibri"/>
              </a:rPr>
              <a:t>Investiga y describe al menos tres casos de uso o ejemplos de empresas que utilizan PostgreSQL. Explica cómo PostgreSQL les ha beneficiado en sus operaciones.</a:t>
            </a:r>
            <a:endParaRPr/>
          </a:p>
          <a:p>
            <a:pPr marL="457200" marR="0" lvl="1" indent="0" algn="l" rtl="0">
              <a:spcBef>
                <a:spcPts val="0"/>
              </a:spcBef>
              <a:spcAft>
                <a:spcPts val="0"/>
              </a:spcAft>
              <a:buNone/>
            </a:pPr>
            <a:endParaRPr sz="2000" b="0" i="0" u="none" strike="noStrike" cap="none">
              <a:solidFill>
                <a:schemeClr val="dk1"/>
              </a:solidFill>
              <a:latin typeface="Calibri"/>
              <a:ea typeface="Calibri"/>
              <a:cs typeface="Calibri"/>
              <a:sym typeface="Calibri"/>
            </a:endParaRPr>
          </a:p>
          <a:p>
            <a:pPr marL="0" marR="0" lvl="0" indent="-127000" algn="l" rtl="0">
              <a:spcBef>
                <a:spcPts val="0"/>
              </a:spcBef>
              <a:spcAft>
                <a:spcPts val="0"/>
              </a:spcAft>
              <a:buClr>
                <a:schemeClr val="dk1"/>
              </a:buClr>
              <a:buSzPts val="2000"/>
              <a:buFont typeface="Calibri"/>
              <a:buAutoNum type="arabicPeriod"/>
            </a:pPr>
            <a:r>
              <a:rPr lang="es-ES" sz="2000" b="1">
                <a:solidFill>
                  <a:schemeClr val="dk1"/>
                </a:solidFill>
                <a:latin typeface="Calibri"/>
                <a:ea typeface="Calibri"/>
                <a:cs typeface="Calibri"/>
                <a:sym typeface="Calibri"/>
              </a:rPr>
              <a:t>Exploración de Características Avanzadas</a:t>
            </a:r>
            <a:r>
              <a:rPr lang="es-ES" sz="2000">
                <a:solidFill>
                  <a:schemeClr val="dk1"/>
                </a:solidFill>
                <a:latin typeface="Calibri"/>
                <a:ea typeface="Calibri"/>
                <a:cs typeface="Calibri"/>
                <a:sym typeface="Calibri"/>
              </a:rPr>
              <a:t>:</a:t>
            </a:r>
            <a:endParaRPr/>
          </a:p>
          <a:p>
            <a:pPr marL="742950" marR="0" lvl="1" indent="-285750" algn="l" rtl="0">
              <a:spcBef>
                <a:spcPts val="0"/>
              </a:spcBef>
              <a:spcAft>
                <a:spcPts val="0"/>
              </a:spcAft>
              <a:buClr>
                <a:schemeClr val="dk1"/>
              </a:buClr>
              <a:buSzPts val="2000"/>
              <a:buFont typeface="Calibri"/>
              <a:buAutoNum type="arabicPeriod"/>
            </a:pPr>
            <a:r>
              <a:rPr lang="es-ES" sz="2000" b="0" i="0" u="none" strike="noStrike" cap="none">
                <a:solidFill>
                  <a:schemeClr val="dk1"/>
                </a:solidFill>
                <a:latin typeface="Calibri"/>
                <a:ea typeface="Calibri"/>
                <a:cs typeface="Calibri"/>
                <a:sym typeface="Calibri"/>
              </a:rPr>
              <a:t>Investiga dos características avanzadas de PostgreSQL que no se hayan discutido en clase. Escribe sobre qué son estas características y cómo pueden ser útiles en un entorno profesional.</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9"/>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6" name="Google Shape;266;p29"/>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Recursos</a:t>
            </a:r>
            <a:endParaRPr sz="2400">
              <a:solidFill>
                <a:schemeClr val="dk1"/>
              </a:solidFill>
              <a:latin typeface="Arial"/>
              <a:ea typeface="Arial"/>
              <a:cs typeface="Arial"/>
              <a:sym typeface="Arial"/>
            </a:endParaRPr>
          </a:p>
        </p:txBody>
      </p:sp>
      <p:sp>
        <p:nvSpPr>
          <p:cNvPr id="267" name="Google Shape;267;p29"/>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pic>
        <p:nvPicPr>
          <p:cNvPr id="268" name="Google Shape;268;p29"/>
          <p:cNvPicPr preferRelativeResize="0"/>
          <p:nvPr/>
        </p:nvPicPr>
        <p:blipFill rotWithShape="1">
          <a:blip r:embed="rId3">
            <a:alphaModFix/>
          </a:blip>
          <a:srcRect/>
          <a:stretch/>
        </p:blipFill>
        <p:spPr>
          <a:xfrm>
            <a:off x="5705310" y="304802"/>
            <a:ext cx="561824" cy="561824"/>
          </a:xfrm>
          <a:prstGeom prst="rect">
            <a:avLst/>
          </a:prstGeom>
          <a:noFill/>
          <a:ln>
            <a:noFill/>
          </a:ln>
        </p:spPr>
      </p:pic>
      <p:sp>
        <p:nvSpPr>
          <p:cNvPr id="269" name="Google Shape;269;p29"/>
          <p:cNvSpPr txBox="1"/>
          <p:nvPr/>
        </p:nvSpPr>
        <p:spPr>
          <a:xfrm>
            <a:off x="1243933" y="5472302"/>
            <a:ext cx="9704133" cy="369332"/>
          </a:xfrm>
          <a:prstGeom prst="rect">
            <a:avLst/>
          </a:prstGeom>
          <a:solidFill>
            <a:srgbClr val="D9EAD3"/>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s-ES" sz="2400" i="1">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
        <p:nvSpPr>
          <p:cNvPr id="270" name="Google Shape;270;p29"/>
          <p:cNvSpPr txBox="1"/>
          <p:nvPr/>
        </p:nvSpPr>
        <p:spPr>
          <a:xfrm>
            <a:off x="1028699" y="1365177"/>
            <a:ext cx="10134600"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1">
                <a:solidFill>
                  <a:schemeClr val="dk1"/>
                </a:solidFill>
                <a:latin typeface="Calibri"/>
                <a:ea typeface="Calibri"/>
                <a:cs typeface="Calibri"/>
                <a:sym typeface="Calibri"/>
              </a:rPr>
              <a:t>1. Videos</a:t>
            </a:r>
            <a:endParaRPr/>
          </a:p>
          <a:p>
            <a:pPr marL="0" marR="0" lvl="0" indent="-114300" algn="l" rtl="0">
              <a:spcBef>
                <a:spcPts val="0"/>
              </a:spcBef>
              <a:spcAft>
                <a:spcPts val="0"/>
              </a:spcAft>
              <a:buClr>
                <a:schemeClr val="dk1"/>
              </a:buClr>
              <a:buSzPts val="1800"/>
              <a:buFont typeface="Arial"/>
              <a:buChar char="•"/>
            </a:pPr>
            <a:r>
              <a:rPr lang="es-ES" sz="1800" b="1">
                <a:solidFill>
                  <a:schemeClr val="dk1"/>
                </a:solidFill>
                <a:latin typeface="Calibri"/>
                <a:ea typeface="Calibri"/>
                <a:cs typeface="Calibri"/>
                <a:sym typeface="Calibri"/>
              </a:rPr>
              <a:t> Video 1</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https://www.youtube.com/watch?v=pOnNxmrKwao</a:t>
            </a:r>
            <a:endParaRPr sz="1800">
              <a:solidFill>
                <a:schemeClr val="dk1"/>
              </a:solidFill>
              <a:latin typeface="Calibri"/>
              <a:ea typeface="Calibri"/>
              <a:cs typeface="Calibri"/>
              <a:sym typeface="Calibri"/>
            </a:endParaRPr>
          </a:p>
          <a:p>
            <a:pPr marL="0" marR="0" lvl="0" indent="-114300" algn="l" rtl="0">
              <a:spcBef>
                <a:spcPts val="0"/>
              </a:spcBef>
              <a:spcAft>
                <a:spcPts val="0"/>
              </a:spcAft>
              <a:buClr>
                <a:schemeClr val="dk1"/>
              </a:buClr>
              <a:buSzPts val="1800"/>
              <a:buFont typeface="Arial"/>
              <a:buChar char="•"/>
            </a:pPr>
            <a:r>
              <a:rPr lang="es-ES" sz="1800" b="1">
                <a:solidFill>
                  <a:schemeClr val="dk1"/>
                </a:solidFill>
                <a:latin typeface="Calibri"/>
                <a:ea typeface="Calibri"/>
                <a:cs typeface="Calibri"/>
                <a:sym typeface="Calibri"/>
              </a:rPr>
              <a:t> Video 2</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https://www.youtube.com/watch?v=y1ply3gtDO8</a:t>
            </a:r>
            <a:endParaRPr sz="1800">
              <a:solidFill>
                <a:schemeClr val="dk1"/>
              </a:solidFill>
              <a:latin typeface="Calibri"/>
              <a:ea typeface="Calibri"/>
              <a:cs typeface="Calibri"/>
              <a:sym typeface="Calibri"/>
            </a:endParaRPr>
          </a:p>
          <a:p>
            <a:pPr marL="0" marR="0" lvl="0" indent="-114300" algn="l" rtl="0">
              <a:spcBef>
                <a:spcPts val="0"/>
              </a:spcBef>
              <a:spcAft>
                <a:spcPts val="0"/>
              </a:spcAft>
              <a:buClr>
                <a:schemeClr val="dk1"/>
              </a:buClr>
              <a:buSzPts val="1800"/>
              <a:buFont typeface="Arial"/>
              <a:buChar char="•"/>
            </a:pPr>
            <a:r>
              <a:rPr lang="es-ES" sz="1800" b="1">
                <a:solidFill>
                  <a:schemeClr val="dk1"/>
                </a:solidFill>
                <a:latin typeface="Calibri"/>
                <a:ea typeface="Calibri"/>
                <a:cs typeface="Calibri"/>
                <a:sym typeface="Calibri"/>
              </a:rPr>
              <a:t> Video 3</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https://www.youtube.com/watch?v=CxHpOl2RMtQ</a:t>
            </a:r>
            <a:endParaRPr sz="1800">
              <a:solidFill>
                <a:schemeClr val="dk1"/>
              </a:solidFill>
              <a:latin typeface="Calibri"/>
              <a:ea typeface="Calibri"/>
              <a:cs typeface="Calibri"/>
              <a:sym typeface="Calibri"/>
            </a:endParaRPr>
          </a:p>
          <a:p>
            <a:pPr marL="0" marR="0" lvl="0" indent="-114300" algn="l" rtl="0">
              <a:spcBef>
                <a:spcPts val="0"/>
              </a:spcBef>
              <a:spcAft>
                <a:spcPts val="0"/>
              </a:spcAft>
              <a:buClr>
                <a:schemeClr val="dk1"/>
              </a:buClr>
              <a:buSzPts val="1800"/>
              <a:buFont typeface="Arial"/>
              <a:buChar char="•"/>
            </a:pPr>
            <a:r>
              <a:rPr lang="es-ES" sz="1800" b="1">
                <a:solidFill>
                  <a:schemeClr val="dk1"/>
                </a:solidFill>
                <a:latin typeface="Calibri"/>
                <a:ea typeface="Calibri"/>
                <a:cs typeface="Calibri"/>
                <a:sym typeface="Calibri"/>
              </a:rPr>
              <a:t> Video 4</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https://www.youtube.com/watch?v=40uGNsi7ysc</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ES" sz="2400" b="1">
                <a:solidFill>
                  <a:schemeClr val="dk1"/>
                </a:solidFill>
                <a:latin typeface="Calibri"/>
                <a:ea typeface="Calibri"/>
                <a:cs typeface="Calibri"/>
                <a:sym typeface="Calibri"/>
              </a:rPr>
              <a:t>2. Páginas Web</a:t>
            </a:r>
            <a:endParaRPr/>
          </a:p>
          <a:p>
            <a:pPr marL="0" marR="0" lvl="0" indent="-114300" algn="l" rtl="0">
              <a:spcBef>
                <a:spcPts val="0"/>
              </a:spcBef>
              <a:spcAft>
                <a:spcPts val="0"/>
              </a:spcAft>
              <a:buClr>
                <a:schemeClr val="dk1"/>
              </a:buClr>
              <a:buSzPts val="1800"/>
              <a:buFont typeface="Arial"/>
              <a:buChar char="•"/>
            </a:pPr>
            <a:r>
              <a:rPr lang="es-ES" sz="1800" b="1">
                <a:solidFill>
                  <a:schemeClr val="dk1"/>
                </a:solidFill>
                <a:latin typeface="Calibri"/>
                <a:ea typeface="Calibri"/>
                <a:cs typeface="Calibri"/>
                <a:sym typeface="Calibri"/>
              </a:rPr>
              <a:t> Página Web 1</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https://www.arsys.es/blog/postgresql-servidores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ES" sz="2400" b="1">
                <a:solidFill>
                  <a:schemeClr val="dk1"/>
                </a:solidFill>
                <a:latin typeface="Calibri"/>
                <a:ea typeface="Calibri"/>
                <a:cs typeface="Calibri"/>
                <a:sym typeface="Calibri"/>
              </a:rPr>
              <a:t>3. PDFs</a:t>
            </a:r>
            <a:endParaRPr sz="2400" b="1">
              <a:solidFill>
                <a:schemeClr val="dk1"/>
              </a:solidFill>
              <a:latin typeface="Calibri"/>
              <a:ea typeface="Calibri"/>
              <a:cs typeface="Calibri"/>
              <a:sym typeface="Calibri"/>
            </a:endParaRPr>
          </a:p>
          <a:p>
            <a:pPr marL="0" marR="0" lvl="0" indent="-114300" algn="l" rtl="0">
              <a:spcBef>
                <a:spcPts val="0"/>
              </a:spcBef>
              <a:spcAft>
                <a:spcPts val="0"/>
              </a:spcAft>
              <a:buClr>
                <a:schemeClr val="dk1"/>
              </a:buClr>
              <a:buSzPts val="1800"/>
              <a:buFont typeface="Arial"/>
              <a:buChar char="•"/>
            </a:pPr>
            <a:r>
              <a:rPr lang="es-ES" sz="1800" b="1">
                <a:solidFill>
                  <a:schemeClr val="dk1"/>
                </a:solidFill>
                <a:latin typeface="Calibri"/>
                <a:ea typeface="Calibri"/>
                <a:cs typeface="Calibri"/>
                <a:sym typeface="Calibri"/>
              </a:rPr>
              <a:t> PDF 1</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9">
                  <a:extLst>
                    <a:ext uri="{A12FA001-AC4F-418D-AE19-62706E023703}">
                      <ahyp:hlinkClr xmlns:ahyp="http://schemas.microsoft.com/office/drawing/2018/hyperlinkcolor" val="tx"/>
                    </a:ext>
                  </a:extLst>
                </a:hlinkClick>
              </a:rPr>
              <a:t>https://iessanvicente.com/colaboraciones/postgreSQL.pdf</a:t>
            </a:r>
            <a:endParaRPr sz="1800">
              <a:solidFill>
                <a:schemeClr val="dk1"/>
              </a:solidFill>
              <a:latin typeface="Calibri"/>
              <a:ea typeface="Calibri"/>
              <a:cs typeface="Calibri"/>
              <a:sym typeface="Calibri"/>
            </a:endParaRPr>
          </a:p>
          <a:p>
            <a:pPr marL="0" marR="0" lvl="0" indent="-114300" algn="l" rtl="0">
              <a:spcBef>
                <a:spcPts val="0"/>
              </a:spcBef>
              <a:spcAft>
                <a:spcPts val="0"/>
              </a:spcAft>
              <a:buClr>
                <a:schemeClr val="dk1"/>
              </a:buClr>
              <a:buSzPts val="1800"/>
              <a:buFont typeface="Arial"/>
              <a:buChar char="•"/>
            </a:pPr>
            <a:r>
              <a:rPr lang="es-ES" sz="1800" b="1">
                <a:solidFill>
                  <a:schemeClr val="dk1"/>
                </a:solidFill>
                <a:latin typeface="Calibri"/>
                <a:ea typeface="Calibri"/>
                <a:cs typeface="Calibri"/>
                <a:sym typeface="Calibri"/>
              </a:rPr>
              <a:t> PDF 2</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10">
                  <a:extLst>
                    <a:ext uri="{A12FA001-AC4F-418D-AE19-62706E023703}">
                      <ahyp:hlinkClr xmlns:ahyp="http://schemas.microsoft.com/office/drawing/2018/hyperlinkcolor" val="tx"/>
                    </a:ext>
                  </a:extLst>
                </a:hlinkClick>
              </a:rPr>
              <a:t>http://profesores.elo.utfsm.cl/~agv/elo330/2s02/projects/denzer/informe.pdf</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0"/>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30"/>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ES" sz="2400" b="1">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pic>
        <p:nvPicPr>
          <p:cNvPr id="277" name="Google Shape;277;p30"/>
          <p:cNvPicPr preferRelativeResize="0"/>
          <p:nvPr/>
        </p:nvPicPr>
        <p:blipFill rotWithShape="1">
          <a:blip r:embed="rId3">
            <a:alphaModFix/>
          </a:blip>
          <a:srcRect/>
          <a:stretch/>
        </p:blipFill>
        <p:spPr>
          <a:xfrm>
            <a:off x="5705310" y="304802"/>
            <a:ext cx="561824" cy="561824"/>
          </a:xfrm>
          <a:prstGeom prst="rect">
            <a:avLst/>
          </a:prstGeom>
          <a:noFill/>
          <a:ln>
            <a:noFill/>
          </a:ln>
        </p:spPr>
      </p:pic>
      <p:sp>
        <p:nvSpPr>
          <p:cNvPr id="278" name="Google Shape;278;p30"/>
          <p:cNvSpPr txBox="1"/>
          <p:nvPr/>
        </p:nvSpPr>
        <p:spPr>
          <a:xfrm>
            <a:off x="914400" y="2828835"/>
            <a:ext cx="609600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b="1">
                <a:solidFill>
                  <a:schemeClr val="dk1"/>
                </a:solidFill>
                <a:latin typeface="Arial"/>
                <a:ea typeface="Arial"/>
                <a:cs typeface="Arial"/>
                <a:sym typeface="Arial"/>
              </a:rPr>
              <a:t>MUCHAS GRACIAS QUE DIOS LOS BENDIGA!!!</a:t>
            </a:r>
            <a:endParaRPr sz="3600" b="1">
              <a:solidFill>
                <a:schemeClr val="dk1"/>
              </a:solidFill>
              <a:latin typeface="Arial"/>
              <a:ea typeface="Arial"/>
              <a:cs typeface="Arial"/>
              <a:sym typeface="Arial"/>
            </a:endParaRPr>
          </a:p>
        </p:txBody>
      </p:sp>
      <p:pic>
        <p:nvPicPr>
          <p:cNvPr id="279" name="Google Shape;279;p30"/>
          <p:cNvPicPr preferRelativeResize="0"/>
          <p:nvPr/>
        </p:nvPicPr>
        <p:blipFill rotWithShape="1">
          <a:blip r:embed="rId4">
            <a:alphaModFix/>
          </a:blip>
          <a:srcRect/>
          <a:stretch/>
        </p:blipFill>
        <p:spPr>
          <a:xfrm>
            <a:off x="7467600" y="1216152"/>
            <a:ext cx="3056381" cy="442569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grpSp>
        <p:nvGrpSpPr>
          <p:cNvPr id="284" name="Google Shape;284;p31"/>
          <p:cNvGrpSpPr/>
          <p:nvPr/>
        </p:nvGrpSpPr>
        <p:grpSpPr>
          <a:xfrm>
            <a:off x="2057400" y="152400"/>
            <a:ext cx="9906000" cy="4152900"/>
            <a:chOff x="2057400" y="152400"/>
            <a:chExt cx="9906000" cy="4152900"/>
          </a:xfrm>
        </p:grpSpPr>
        <p:pic>
          <p:nvPicPr>
            <p:cNvPr id="285" name="Google Shape;285;p31"/>
            <p:cNvPicPr preferRelativeResize="0"/>
            <p:nvPr/>
          </p:nvPicPr>
          <p:blipFill rotWithShape="1">
            <a:blip r:embed="rId3">
              <a:alphaModFix/>
            </a:blip>
            <a:srcRect/>
            <a:stretch/>
          </p:blipFill>
          <p:spPr>
            <a:xfrm>
              <a:off x="2057400" y="2552700"/>
              <a:ext cx="7856700" cy="1752600"/>
            </a:xfrm>
            <a:prstGeom prst="rect">
              <a:avLst/>
            </a:prstGeom>
            <a:noFill/>
            <a:ln>
              <a:noFill/>
            </a:ln>
          </p:spPr>
        </p:pic>
        <p:sp>
          <p:nvSpPr>
            <p:cNvPr id="286" name="Google Shape;286;p31"/>
            <p:cNvSpPr/>
            <p:nvPr/>
          </p:nvSpPr>
          <p:spPr>
            <a:xfrm>
              <a:off x="9144000" y="152400"/>
              <a:ext cx="2819400" cy="76272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1613</Words>
  <Application>Microsoft Office PowerPoint</Application>
  <PresentationFormat>Panorámica</PresentationFormat>
  <Paragraphs>137</Paragraphs>
  <Slides>31</Slides>
  <Notes>31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31</vt:i4>
      </vt:variant>
    </vt:vector>
  </HeadingPairs>
  <TitlesOfParts>
    <vt:vector size="36" baseType="lpstr">
      <vt:lpstr>Poppins</vt:lpstr>
      <vt:lpstr>Arial</vt:lpstr>
      <vt:lpstr>Calibri</vt:lpstr>
      <vt:lpstr>Rubik</vt:lpstr>
      <vt:lpstr>Office Theme</vt:lpstr>
      <vt:lpstr>Presentación de PowerPoint</vt:lpstr>
      <vt:lpstr>MG. CARLOS IGNACIO FLORES RUJEL</vt:lpstr>
      <vt:lpstr>Presentación de PowerPoint</vt:lpstr>
      <vt:lpstr>CURSO: BASE DE DATOS II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Caso práctico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Julia</dc:creator>
  <cp:lastModifiedBy>Docente - Carlos Ignacio Flores Rujel</cp:lastModifiedBy>
  <cp:revision>1</cp:revision>
  <dcterms:created xsi:type="dcterms:W3CDTF">2024-06-11T03:36:57Z</dcterms:created>
  <dcterms:modified xsi:type="dcterms:W3CDTF">2026-03-21T23:44:16Z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