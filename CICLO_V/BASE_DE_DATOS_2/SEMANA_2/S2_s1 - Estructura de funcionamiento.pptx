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12192000" cy="6858000"/>
  <p:embeddedFontLst>
    <p:embeddedFont>
      <p:font typeface="Roboto"/>
      <p:regular r:id="rId50"/>
      <p:bold r:id="rId51"/>
      <p:italic r:id="rId52"/>
      <p:boldItalic r:id="rId53"/>
    </p:embeddedFont>
    <p:embeddedFont>
      <p:font typeface="Lato"/>
      <p:regular r:id="rId54"/>
      <p:bold r:id="rId55"/>
      <p:italic r:id="rId56"/>
      <p:boldItalic r:id="rId57"/>
    </p:embeddedFont>
    <p:embeddedFont>
      <p:font typeface="Pathway Extreme"/>
      <p:regular r:id="rId58"/>
      <p:bold r:id="rId59"/>
      <p:italic r:id="rId60"/>
      <p:boldItalic r:id="rId61"/>
    </p:embeddedFont>
    <p:embeddedFont>
      <p:font typeface="Rubik"/>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6" roundtripDataSignature="AMtx7mj49sfitiaRyxSKZy1IrOHG4t8I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ubik-regular.fntdata"/><Relationship Id="rId61" Type="http://schemas.openxmlformats.org/officeDocument/2006/relationships/font" Target="fonts/PathwayExtreme-boldItalic.fntdata"/><Relationship Id="rId20" Type="http://schemas.openxmlformats.org/officeDocument/2006/relationships/slide" Target="slides/slide15.xml"/><Relationship Id="rId64" Type="http://schemas.openxmlformats.org/officeDocument/2006/relationships/font" Target="fonts/Rubik-italic.fntdata"/><Relationship Id="rId63" Type="http://schemas.openxmlformats.org/officeDocument/2006/relationships/font" Target="fonts/Rubik-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Rubik-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athwayExtreme-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55" Type="http://schemas.openxmlformats.org/officeDocument/2006/relationships/font" Target="fonts/Lato-bold.fntdata"/><Relationship Id="rId10" Type="http://schemas.openxmlformats.org/officeDocument/2006/relationships/slide" Target="slides/slide5.xml"/><Relationship Id="rId54" Type="http://schemas.openxmlformats.org/officeDocument/2006/relationships/font" Target="fonts/Lato-regular.fntdata"/><Relationship Id="rId13" Type="http://schemas.openxmlformats.org/officeDocument/2006/relationships/slide" Target="slides/slide8.xml"/><Relationship Id="rId57" Type="http://schemas.openxmlformats.org/officeDocument/2006/relationships/font" Target="fonts/Lato-boldItalic.fntdata"/><Relationship Id="rId12" Type="http://schemas.openxmlformats.org/officeDocument/2006/relationships/slide" Target="slides/slide7.xml"/><Relationship Id="rId56" Type="http://schemas.openxmlformats.org/officeDocument/2006/relationships/font" Target="fonts/Lato-italic.fntdata"/><Relationship Id="rId15" Type="http://schemas.openxmlformats.org/officeDocument/2006/relationships/slide" Target="slides/slide10.xml"/><Relationship Id="rId59" Type="http://schemas.openxmlformats.org/officeDocument/2006/relationships/font" Target="fonts/PathwayExtreme-bold.fntdata"/><Relationship Id="rId14" Type="http://schemas.openxmlformats.org/officeDocument/2006/relationships/slide" Target="slides/slide9.xml"/><Relationship Id="rId58" Type="http://schemas.openxmlformats.org/officeDocument/2006/relationships/font" Target="fonts/PathwayExtreme-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2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2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2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2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3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3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3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3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7: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8: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9: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0: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4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1: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4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2: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4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3: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4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6"/>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6"/>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 name="Google Shape;18;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 name="Shape 21"/>
        <p:cNvGrpSpPr/>
        <p:nvPr/>
      </p:nvGrpSpPr>
      <p:grpSpPr>
        <a:xfrm>
          <a:off x="0" y="0"/>
          <a:ext cx="0" cy="0"/>
          <a:chOff x="0" y="0"/>
          <a:chExt cx="0" cy="0"/>
        </a:xfrm>
      </p:grpSpPr>
      <p:sp>
        <p:nvSpPr>
          <p:cNvPr id="22" name="Google Shape;22;p47"/>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7"/>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
        <p:nvSpPr>
          <p:cNvPr id="28" name="Google Shape;28;p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49"/>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9"/>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49"/>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50"/>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2" name="Google Shape;12;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latin typeface="Calibri"/>
                <a:ea typeface="Calibri"/>
                <a:cs typeface="Calibri"/>
                <a:sym typeface="Calibri"/>
              </a:defRPr>
            </a:lvl1pPr>
            <a:lvl2pPr indent="0" lvl="1" marL="0" marR="0" rtl="0" algn="r">
              <a:spcBef>
                <a:spcPts val="0"/>
              </a:spcBef>
              <a:buNone/>
              <a:defRPr b="0" i="0" sz="1800" u="none" cap="none" strike="noStrike">
                <a:solidFill>
                  <a:srgbClr val="888888"/>
                </a:solidFill>
                <a:latin typeface="Calibri"/>
                <a:ea typeface="Calibri"/>
                <a:cs typeface="Calibri"/>
                <a:sym typeface="Calibri"/>
              </a:defRPr>
            </a:lvl2pPr>
            <a:lvl3pPr indent="0" lvl="2" marL="0" marR="0" rtl="0" algn="r">
              <a:spcBef>
                <a:spcPts val="0"/>
              </a:spcBef>
              <a:buNone/>
              <a:defRPr b="0" i="0" sz="1800" u="none" cap="none" strike="noStrike">
                <a:solidFill>
                  <a:srgbClr val="888888"/>
                </a:solidFill>
                <a:latin typeface="Calibri"/>
                <a:ea typeface="Calibri"/>
                <a:cs typeface="Calibri"/>
                <a:sym typeface="Calibri"/>
              </a:defRPr>
            </a:lvl3pPr>
            <a:lvl4pPr indent="0" lvl="3" marL="0" marR="0" rtl="0" algn="r">
              <a:spcBef>
                <a:spcPts val="0"/>
              </a:spcBef>
              <a:buNone/>
              <a:defRPr b="0" i="0" sz="1800" u="none" cap="none" strike="noStrike">
                <a:solidFill>
                  <a:srgbClr val="888888"/>
                </a:solidFill>
                <a:latin typeface="Calibri"/>
                <a:ea typeface="Calibri"/>
                <a:cs typeface="Calibri"/>
                <a:sym typeface="Calibri"/>
              </a:defRPr>
            </a:lvl4pPr>
            <a:lvl5pPr indent="0" lvl="4" marL="0" marR="0" rtl="0" algn="r">
              <a:spcBef>
                <a:spcPts val="0"/>
              </a:spcBef>
              <a:buNone/>
              <a:defRPr b="0" i="0" sz="1800" u="none" cap="none" strike="noStrike">
                <a:solidFill>
                  <a:srgbClr val="888888"/>
                </a:solidFill>
                <a:latin typeface="Calibri"/>
                <a:ea typeface="Calibri"/>
                <a:cs typeface="Calibri"/>
                <a:sym typeface="Calibri"/>
              </a:defRPr>
            </a:lvl5pPr>
            <a:lvl6pPr indent="0" lvl="5" marL="0" marR="0" rtl="0" algn="r">
              <a:spcBef>
                <a:spcPts val="0"/>
              </a:spcBef>
              <a:buNone/>
              <a:defRPr b="0" i="0" sz="1800" u="none" cap="none" strike="noStrike">
                <a:solidFill>
                  <a:srgbClr val="888888"/>
                </a:solidFill>
                <a:latin typeface="Calibri"/>
                <a:ea typeface="Calibri"/>
                <a:cs typeface="Calibri"/>
                <a:sym typeface="Calibri"/>
              </a:defRPr>
            </a:lvl6pPr>
            <a:lvl7pPr indent="0" lvl="6" marL="0" marR="0" rtl="0" algn="r">
              <a:spcBef>
                <a:spcPts val="0"/>
              </a:spcBef>
              <a:buNone/>
              <a:defRPr b="0" i="0" sz="1800" u="none" cap="none" strike="noStrike">
                <a:solidFill>
                  <a:srgbClr val="888888"/>
                </a:solidFill>
                <a:latin typeface="Calibri"/>
                <a:ea typeface="Calibri"/>
                <a:cs typeface="Calibri"/>
                <a:sym typeface="Calibri"/>
              </a:defRPr>
            </a:lvl7pPr>
            <a:lvl8pPr indent="0" lvl="7" marL="0" marR="0" rtl="0" algn="r">
              <a:spcBef>
                <a:spcPts val="0"/>
              </a:spcBef>
              <a:buNone/>
              <a:defRPr b="0" i="0" sz="1800" u="none" cap="none" strike="noStrike">
                <a:solidFill>
                  <a:srgbClr val="888888"/>
                </a:solidFill>
                <a:latin typeface="Calibri"/>
                <a:ea typeface="Calibri"/>
                <a:cs typeface="Calibri"/>
                <a:sym typeface="Calibri"/>
              </a:defRPr>
            </a:lvl8pPr>
            <a:lvl9pPr indent="0" lvl="8" marL="0" marR="0" rtl="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www.youtube.com/watch?v=1NQiEnJXntA" TargetMode="Externa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hyperlink" Target="https://platzi.com/blog/que-es-frontend-y-backen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pgadmin.org/" TargetMode="External"/><Relationship Id="rId4" Type="http://schemas.openxmlformats.org/officeDocument/2006/relationships/hyperlink" Target="https://phppgadmin.sourceforge.net/doku.ph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hyperlink" Target="https://www.youtube.com/watch?v=6S8A-1jBD5Y" TargetMode="External"/><Relationship Id="rId5" Type="http://schemas.openxmlformats.org/officeDocument/2006/relationships/hyperlink" Target="https://www.youtube.com/watch?v=GulrHlRoT0g" TargetMode="External"/><Relationship Id="rId6" Type="http://schemas.openxmlformats.org/officeDocument/2006/relationships/image" Target="../media/image28.jpg"/><Relationship Id="rId7"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6.png"/><Relationship Id="rId4" Type="http://schemas.openxmlformats.org/officeDocument/2006/relationships/image" Target="../media/image17.jpg"/><Relationship Id="rId5"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9.png"/><Relationship Id="rId4" Type="http://schemas.openxmlformats.org/officeDocument/2006/relationships/hyperlink" Target="https://www.youtube.com/watch?v=B_lqjZGwViI" TargetMode="External"/><Relationship Id="rId10" Type="http://schemas.openxmlformats.org/officeDocument/2006/relationships/hyperlink" Target="https://www.tutorialesprogramacionya.com/postgresqlya/" TargetMode="External"/><Relationship Id="rId9" Type="http://schemas.openxmlformats.org/officeDocument/2006/relationships/hyperlink" Target="https://dgvs.mspbs.gov.py/files/documentos/06_06_2016_20_09_46_P06_M2109_02152.pdf" TargetMode="External"/><Relationship Id="rId5" Type="http://schemas.openxmlformats.org/officeDocument/2006/relationships/hyperlink" Target="https://www.youtube.com/watch?v=gEJcMrk3E-Q&amp;list=PLgqdACsQ8US2DCzQVrdZDZCTtTFHMY0as" TargetMode="External"/><Relationship Id="rId6" Type="http://schemas.openxmlformats.org/officeDocument/2006/relationships/hyperlink" Target="https://www.youtube.com/watch?v=PTs5v6WNfm4" TargetMode="External"/><Relationship Id="rId7" Type="http://schemas.openxmlformats.org/officeDocument/2006/relationships/hyperlink" Target="https://www.youtube.com/watch?v=VPqapy7m7uk" TargetMode="External"/><Relationship Id="rId8" Type="http://schemas.openxmlformats.org/officeDocument/2006/relationships/hyperlink" Target="https://www.youtube.com/watch?v=8aN91vauy8o"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9.png"/><Relationship Id="rId4" Type="http://schemas.openxmlformats.org/officeDocument/2006/relationships/image" Target="../media/image2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descr="Carteles de normas de clase para imprimir" id="47" name="Google Shape;47;p1"/>
          <p:cNvPicPr preferRelativeResize="0"/>
          <p:nvPr/>
        </p:nvPicPr>
        <p:blipFill rotWithShape="1">
          <a:blip r:embed="rId3">
            <a:alphaModFix/>
          </a:blip>
          <a:srcRect b="15416" l="10056" r="9222" t="6806"/>
          <a:stretch/>
        </p:blipFill>
        <p:spPr>
          <a:xfrm>
            <a:off x="2400300" y="990600"/>
            <a:ext cx="7391400" cy="533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txBox="1"/>
          <p:nvPr>
            <p:ph type="ctrTitle"/>
          </p:nvPr>
        </p:nvSpPr>
        <p:spPr>
          <a:xfrm>
            <a:off x="900112" y="1838144"/>
            <a:ext cx="10363199" cy="905056"/>
          </a:xfrm>
          <a:prstGeom prst="rect">
            <a:avLst/>
          </a:prstGeom>
          <a:noFill/>
          <a:ln>
            <a:noFill/>
          </a:ln>
        </p:spPr>
        <p:txBody>
          <a:bodyPr anchorCtr="0" anchor="t" bIns="0" lIns="0" spcFirstLastPara="1" rIns="0" wrap="square" tIns="116200">
            <a:spAutoFit/>
          </a:bodyPr>
          <a:lstStyle/>
          <a:p>
            <a:pPr indent="-3253104" lvl="0" marL="3268979" marR="5080" rtl="0" algn="ctr">
              <a:lnSpc>
                <a:spcPct val="135000"/>
              </a:lnSpc>
              <a:spcBef>
                <a:spcPts val="0"/>
              </a:spcBef>
              <a:spcAft>
                <a:spcPts val="0"/>
              </a:spcAft>
              <a:buNone/>
            </a:pPr>
            <a:r>
              <a:rPr lang="es-ES" sz="4800">
                <a:latin typeface="Arial"/>
                <a:ea typeface="Arial"/>
                <a:cs typeface="Arial"/>
                <a:sym typeface="Arial"/>
              </a:rPr>
              <a:t>CURSO: BASE DE DATOS II</a:t>
            </a:r>
            <a:endParaRPr sz="4800">
              <a:latin typeface="Arial"/>
              <a:ea typeface="Arial"/>
              <a:cs typeface="Arial"/>
              <a:sym typeface="Arial"/>
            </a:endParaRPr>
          </a:p>
        </p:txBody>
      </p:sp>
      <p:sp>
        <p:nvSpPr>
          <p:cNvPr id="53" name="Google Shape;53;p2"/>
          <p:cNvSpPr txBox="1"/>
          <p:nvPr/>
        </p:nvSpPr>
        <p:spPr>
          <a:xfrm>
            <a:off x="2767012" y="1644495"/>
            <a:ext cx="66294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1800" u="none" cap="none" strike="noStrike">
                <a:solidFill>
                  <a:srgbClr val="D1052D"/>
                </a:solidFill>
                <a:latin typeface="Calibri"/>
                <a:ea typeface="Calibri"/>
                <a:cs typeface="Calibri"/>
                <a:sym typeface="Calibri"/>
              </a:rPr>
              <a:t>PRIMERA UNIDAD DE APRENDIZAJE 1: </a:t>
            </a:r>
            <a:r>
              <a:rPr b="0" i="0" lang="es-ES" sz="1800" u="none" cap="none" strike="noStrike">
                <a:solidFill>
                  <a:schemeClr val="dk1"/>
                </a:solidFill>
                <a:latin typeface="Calibri"/>
                <a:ea typeface="Calibri"/>
                <a:cs typeface="Calibri"/>
                <a:sym typeface="Calibri"/>
              </a:rPr>
              <a:t>Bases de Datos Relacionales</a:t>
            </a:r>
            <a:endParaRPr b="0" i="0" sz="1800" u="none" cap="none" strike="noStrike">
              <a:solidFill>
                <a:schemeClr val="dk1"/>
              </a:solidFill>
              <a:latin typeface="Calibri"/>
              <a:ea typeface="Calibri"/>
              <a:cs typeface="Calibri"/>
              <a:sym typeface="Calibri"/>
            </a:endParaRPr>
          </a:p>
        </p:txBody>
      </p:sp>
      <p:sp>
        <p:nvSpPr>
          <p:cNvPr id="54" name="Google Shape;54;p2"/>
          <p:cNvSpPr txBox="1"/>
          <p:nvPr/>
        </p:nvSpPr>
        <p:spPr>
          <a:xfrm>
            <a:off x="1966912" y="3271108"/>
            <a:ext cx="8258176" cy="2100575"/>
          </a:xfrm>
          <a:prstGeom prst="rect">
            <a:avLst/>
          </a:prstGeom>
          <a:solidFill>
            <a:srgbClr val="D1052D"/>
          </a:solid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3200" u="none" cap="none" strike="noStrike">
                <a:solidFill>
                  <a:schemeClr val="lt1"/>
                </a:solidFill>
                <a:latin typeface="Arial"/>
                <a:ea typeface="Arial"/>
                <a:cs typeface="Arial"/>
                <a:sym typeface="Arial"/>
              </a:rPr>
              <a:t>SESIÓN N° 2:</a:t>
            </a:r>
            <a:endParaRPr b="1" i="0" sz="3200" u="none" cap="none" strike="noStrike">
              <a:solidFill>
                <a:schemeClr val="lt1"/>
              </a:solidFill>
              <a:latin typeface="Arial"/>
              <a:ea typeface="Arial"/>
              <a:cs typeface="Arial"/>
              <a:sym typeface="Arial"/>
            </a:endParaRPr>
          </a:p>
          <a:p>
            <a:pPr indent="0" lvl="0" marL="12700" marR="0" rtl="0" algn="l">
              <a:lnSpc>
                <a:spcPct val="100000"/>
              </a:lnSpc>
              <a:spcBef>
                <a:spcPts val="100"/>
              </a:spcBef>
              <a:spcAft>
                <a:spcPts val="0"/>
              </a:spcAft>
              <a:buNone/>
            </a:pPr>
            <a:r>
              <a:rPr b="1" i="0" lang="es-ES" sz="3200" u="none" cap="none" strike="noStrike">
                <a:solidFill>
                  <a:schemeClr val="lt1"/>
                </a:solidFill>
                <a:latin typeface="Calibri"/>
                <a:ea typeface="Calibri"/>
                <a:cs typeface="Calibri"/>
                <a:sym typeface="Calibri"/>
              </a:rPr>
              <a:t>PostgreSQL: </a:t>
            </a:r>
            <a:endParaRPr/>
          </a:p>
          <a:p>
            <a:pPr indent="-457200" lvl="0" marL="469900" marR="0" rtl="0" algn="l">
              <a:lnSpc>
                <a:spcPct val="100000"/>
              </a:lnSpc>
              <a:spcBef>
                <a:spcPts val="100"/>
              </a:spcBef>
              <a:spcAft>
                <a:spcPts val="0"/>
              </a:spcAft>
              <a:buClr>
                <a:schemeClr val="lt1"/>
              </a:buClr>
              <a:buSzPts val="3200"/>
              <a:buFont typeface="Arial"/>
              <a:buChar char="-"/>
            </a:pPr>
            <a:r>
              <a:rPr b="0" i="0" lang="es-ES" sz="3200" u="none" cap="none" strike="noStrike">
                <a:solidFill>
                  <a:schemeClr val="lt1"/>
                </a:solidFill>
                <a:latin typeface="Arial"/>
                <a:ea typeface="Arial"/>
                <a:cs typeface="Arial"/>
                <a:sym typeface="Arial"/>
              </a:rPr>
              <a:t>Estructura de funcionamiento</a:t>
            </a:r>
            <a:endParaRPr/>
          </a:p>
          <a:p>
            <a:pPr indent="-457200" lvl="0" marL="469900" marR="0" rtl="0" algn="l">
              <a:lnSpc>
                <a:spcPct val="100000"/>
              </a:lnSpc>
              <a:spcBef>
                <a:spcPts val="100"/>
              </a:spcBef>
              <a:spcAft>
                <a:spcPts val="0"/>
              </a:spcAft>
              <a:buClr>
                <a:schemeClr val="lt1"/>
              </a:buClr>
              <a:buSzPts val="3200"/>
              <a:buFont typeface="Arial"/>
              <a:buChar char="-"/>
            </a:pPr>
            <a:r>
              <a:rPr b="0" i="0" lang="es-ES" sz="3200" u="none" cap="none" strike="noStrike">
                <a:solidFill>
                  <a:schemeClr val="lt1"/>
                </a:solidFill>
                <a:latin typeface="Arial"/>
                <a:ea typeface="Arial"/>
                <a:cs typeface="Arial"/>
                <a:sym typeface="Arial"/>
              </a:rPr>
              <a:t>Creación de Bases de Datos y Tablas</a:t>
            </a:r>
            <a:endParaRPr/>
          </a:p>
        </p:txBody>
      </p:sp>
      <p:sp>
        <p:nvSpPr>
          <p:cNvPr id="55" name="Google Shape;55;p2"/>
          <p:cNvSpPr txBox="1"/>
          <p:nvPr/>
        </p:nvSpPr>
        <p:spPr>
          <a:xfrm>
            <a:off x="3048000" y="5715000"/>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i="0" lang="es-ES" sz="1800" u="none" cap="none" strike="noStrike">
                <a:solidFill>
                  <a:srgbClr val="D1052D"/>
                </a:solidFill>
                <a:latin typeface="Arial"/>
                <a:ea typeface="Arial"/>
                <a:cs typeface="Arial"/>
                <a:sym typeface="Arial"/>
              </a:rPr>
              <a:t>DOCENTES DE UTP</a:t>
            </a:r>
            <a:endParaRPr/>
          </a:p>
          <a:p>
            <a:pPr indent="0" lvl="0" marL="12700" marR="0" rtl="0" algn="ctr">
              <a:lnSpc>
                <a:spcPct val="100000"/>
              </a:lnSpc>
              <a:spcBef>
                <a:spcPts val="100"/>
              </a:spcBef>
              <a:spcAft>
                <a:spcPts val="0"/>
              </a:spcAft>
              <a:buNone/>
            </a:pPr>
            <a:r>
              <a:rPr b="1" i="0" lang="es-ES" sz="1800" u="none" cap="none" strike="noStrike">
                <a:solidFill>
                  <a:srgbClr val="D1052D"/>
                </a:solidFill>
                <a:latin typeface="Arial"/>
                <a:ea typeface="Arial"/>
                <a:cs typeface="Arial"/>
                <a:sym typeface="Arial"/>
              </a:rPr>
              <a:t>SISTEMAS</a:t>
            </a:r>
            <a:endParaRPr b="0" i="0" sz="1800" u="none" cap="none" strike="noStrike">
              <a:solidFill>
                <a:schemeClr val="dk1"/>
              </a:solidFill>
              <a:latin typeface="Arial"/>
              <a:ea typeface="Arial"/>
              <a:cs typeface="Arial"/>
              <a:sym typeface="Arial"/>
            </a:endParaRPr>
          </a:p>
        </p:txBody>
      </p:sp>
      <p:grpSp>
        <p:nvGrpSpPr>
          <p:cNvPr id="56" name="Google Shape;56;p2"/>
          <p:cNvGrpSpPr/>
          <p:nvPr/>
        </p:nvGrpSpPr>
        <p:grpSpPr>
          <a:xfrm>
            <a:off x="3681788" y="152400"/>
            <a:ext cx="8281612" cy="1295400"/>
            <a:chOff x="3681788" y="152400"/>
            <a:chExt cx="8281612" cy="1295400"/>
          </a:xfrm>
        </p:grpSpPr>
        <p:pic>
          <p:nvPicPr>
            <p:cNvPr id="57" name="Google Shape;57;p2"/>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58" name="Google Shape;58;p2"/>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Motivación para el aprendizaje</a:t>
            </a:r>
            <a:endParaRPr sz="2400">
              <a:solidFill>
                <a:schemeClr val="dk1"/>
              </a:solidFill>
              <a:latin typeface="Arial"/>
              <a:ea typeface="Arial"/>
              <a:cs typeface="Arial"/>
              <a:sym typeface="Arial"/>
            </a:endParaRPr>
          </a:p>
        </p:txBody>
      </p:sp>
      <p:pic>
        <p:nvPicPr>
          <p:cNvPr id="65" name="Google Shape;65;p3"/>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66" name="Google Shape;66;p3"/>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67" name="Google Shape;67;p3"/>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Lo que debemos tener en cuenta</a:t>
            </a:r>
            <a:endParaRPr sz="3600">
              <a:solidFill>
                <a:schemeClr val="dk1"/>
              </a:solidFill>
              <a:latin typeface="Arial"/>
              <a:ea typeface="Arial"/>
              <a:cs typeface="Arial"/>
              <a:sym typeface="Arial"/>
            </a:endParaRPr>
          </a:p>
        </p:txBody>
      </p:sp>
      <p:pic>
        <p:nvPicPr>
          <p:cNvPr id="68" name="Google Shape;68;p3"/>
          <p:cNvPicPr preferRelativeResize="0"/>
          <p:nvPr/>
        </p:nvPicPr>
        <p:blipFill rotWithShape="1">
          <a:blip r:embed="rId4">
            <a:alphaModFix/>
          </a:blip>
          <a:srcRect b="0" l="0" r="0" t="0"/>
          <a:stretch/>
        </p:blipFill>
        <p:spPr>
          <a:xfrm>
            <a:off x="9753600" y="6184229"/>
            <a:ext cx="445171" cy="445171"/>
          </a:xfrm>
          <a:prstGeom prst="rect">
            <a:avLst/>
          </a:prstGeom>
          <a:noFill/>
          <a:ln>
            <a:noFill/>
          </a:ln>
        </p:spPr>
      </p:pic>
      <p:sp>
        <p:nvSpPr>
          <p:cNvPr id="69" name="Google Shape;69;p3"/>
          <p:cNvSpPr txBox="1"/>
          <p:nvPr/>
        </p:nvSpPr>
        <p:spPr>
          <a:xfrm>
            <a:off x="10198771" y="6222148"/>
            <a:ext cx="1764629" cy="400110"/>
          </a:xfrm>
          <a:prstGeom prst="rect">
            <a:avLst/>
          </a:prstGeom>
          <a:noFill/>
          <a:ln>
            <a:noFill/>
          </a:ln>
        </p:spPr>
        <p:txBody>
          <a:bodyPr anchorCtr="0" anchor="t" bIns="45700" lIns="91425" spcFirstLastPara="1" rIns="91425" wrap="square" tIns="45700">
            <a:spAutoFit/>
          </a:bodyPr>
          <a:lstStyle/>
          <a:p>
            <a:pPr indent="0" lvl="0" marL="0" marR="114300" rtl="0" algn="l">
              <a:lnSpc>
                <a:spcPct val="100000"/>
              </a:lnSpc>
              <a:spcBef>
                <a:spcPts val="0"/>
              </a:spcBef>
              <a:spcAft>
                <a:spcPts val="0"/>
              </a:spcAft>
              <a:buNone/>
            </a:pPr>
            <a:r>
              <a:rPr b="1" lang="es-ES" sz="2000">
                <a:solidFill>
                  <a:schemeClr val="dk1"/>
                </a:solidFill>
                <a:latin typeface="Arial"/>
                <a:ea typeface="Arial"/>
                <a:cs typeface="Arial"/>
                <a:sym typeface="Arial"/>
              </a:rPr>
              <a:t>5 minutos</a:t>
            </a:r>
            <a:endParaRPr sz="20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nvSpPr>
        <p:spPr>
          <a:xfrm>
            <a:off x="3049191" y="5302608"/>
            <a:ext cx="609361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3">
                  <a:extLst>
                    <a:ext uri="{A12FA001-AC4F-418D-AE19-62706E023703}">
                      <ahyp:hlinkClr val="tx"/>
                    </a:ext>
                  </a:extLst>
                </a:hlinkClick>
              </a:rPr>
              <a:t>https://www.youtube.com/watch?v=1NQiEnJXntA</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75" name="Google Shape;75;p4"/>
          <p:cNvPicPr preferRelativeResize="0"/>
          <p:nvPr/>
        </p:nvPicPr>
        <p:blipFill rotWithShape="1">
          <a:blip r:embed="rId4">
            <a:alphaModFix/>
          </a:blip>
          <a:srcRect b="0" l="0" r="0" t="0"/>
          <a:stretch/>
        </p:blipFill>
        <p:spPr>
          <a:xfrm>
            <a:off x="2846320" y="952607"/>
            <a:ext cx="6649378" cy="41344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82" name="Google Shape;82;p5"/>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83" name="Google Shape;83;p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84" name="Google Shape;84;p5"/>
          <p:cNvSpPr txBox="1"/>
          <p:nvPr/>
        </p:nvSpPr>
        <p:spPr>
          <a:xfrm>
            <a:off x="2590800" y="2981235"/>
            <a:ext cx="70104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¿Qué vimos en la sesión anterior?</a:t>
            </a:r>
            <a:endParaRPr sz="36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91" name="Google Shape;91;p6"/>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92" name="Google Shape;92;p6"/>
          <p:cNvSpPr txBox="1"/>
          <p:nvPr/>
        </p:nvSpPr>
        <p:spPr>
          <a:xfrm>
            <a:off x="381000" y="1064597"/>
            <a:ext cx="5342651" cy="52629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800">
                <a:solidFill>
                  <a:schemeClr val="dk1"/>
                </a:solidFill>
                <a:latin typeface="Calibri"/>
                <a:ea typeface="Calibri"/>
                <a:cs typeface="Calibri"/>
                <a:sym typeface="Calibri"/>
              </a:rPr>
              <a:t>Introducción a las características de PostgreSQL</a:t>
            </a:r>
            <a:endParaRPr/>
          </a:p>
          <a:p>
            <a:pPr indent="0" lvl="0" marL="0" marR="0" rtl="0" algn="ctr">
              <a:spcBef>
                <a:spcPts val="0"/>
              </a:spcBef>
              <a:spcAft>
                <a:spcPts val="0"/>
              </a:spcAft>
              <a:buNone/>
            </a:pPr>
            <a:r>
              <a:t/>
            </a:r>
            <a:endParaRPr b="1" sz="2000">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Calibri"/>
              <a:buAutoNum type="arabicPeriod"/>
            </a:pPr>
            <a:r>
              <a:rPr b="1" lang="es-ES" sz="2000">
                <a:solidFill>
                  <a:schemeClr val="dk1"/>
                </a:solidFill>
                <a:latin typeface="Calibri"/>
                <a:ea typeface="Calibri"/>
                <a:cs typeface="Calibri"/>
                <a:sym typeface="Calibri"/>
              </a:rPr>
              <a:t>¿Cuál de las siguientes características es una de las principales de PostgreSQL?</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Soporte para transacciones ACID</a:t>
            </a:r>
            <a:endParaRPr b="0" i="0" sz="20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Requiere un sistema operativo específico</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Solo soporta datos en formato JSON</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Calibri"/>
              <a:buAutoNum type="arabicPeriod"/>
            </a:pPr>
            <a:r>
              <a:rPr b="1" lang="es-ES" sz="2000">
                <a:solidFill>
                  <a:schemeClr val="dk1"/>
                </a:solidFill>
                <a:latin typeface="Calibri"/>
                <a:ea typeface="Calibri"/>
                <a:cs typeface="Calibri"/>
                <a:sym typeface="Calibri"/>
              </a:rPr>
              <a:t>PostgreSQL es conocido por ser:</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Exclusivamente un sistema de bases de datos en la nube</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Un sistema de bases de datos no relacional</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Un sistema de gestión de bases de datos relacional y objeto-relacional</a:t>
            </a:r>
            <a:endParaRPr/>
          </a:p>
        </p:txBody>
      </p:sp>
      <p:sp>
        <p:nvSpPr>
          <p:cNvPr id="93" name="Google Shape;93;p6"/>
          <p:cNvSpPr txBox="1"/>
          <p:nvPr/>
        </p:nvSpPr>
        <p:spPr>
          <a:xfrm>
            <a:off x="6234112" y="948690"/>
            <a:ext cx="5342651" cy="56630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3. ¿Qué tipo de lenguaje de consulta utiliza PostgreSQL para gestionar datos?</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JSON (JavaScript Object Notation)</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SQL (Structured Query Language)</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XML (Extensible Markup Language)</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4. PostgreSQL ofrece compatibilidad con el estándar SQL:</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ANSI SQL</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SQL Server</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SQLite</a:t>
            </a:r>
            <a:endParaRPr/>
          </a:p>
          <a:p>
            <a:pPr indent="0" lvl="1" marL="457200" marR="0" rtl="0" algn="l">
              <a:spcBef>
                <a:spcPts val="0"/>
              </a:spcBef>
              <a:spcAft>
                <a:spcPts val="0"/>
              </a:spcAft>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5. Una característica avanzada de PostgreSQL es:</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Solo soporte para almacenamiento en disco</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Exclusiva para consultas simples y sin optimización</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Soporte para procedimientos almacenados en múltiples lenguajes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100" name="Google Shape;100;p7"/>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01" name="Google Shape;101;p7"/>
          <p:cNvSpPr txBox="1"/>
          <p:nvPr/>
        </p:nvSpPr>
        <p:spPr>
          <a:xfrm>
            <a:off x="381000" y="1064597"/>
            <a:ext cx="5342651" cy="526297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800">
                <a:solidFill>
                  <a:schemeClr val="dk1"/>
                </a:solidFill>
                <a:latin typeface="Calibri"/>
                <a:ea typeface="Calibri"/>
                <a:cs typeface="Calibri"/>
                <a:sym typeface="Calibri"/>
              </a:rPr>
              <a:t>Introducción a las características de PostgreSQL</a:t>
            </a:r>
            <a:endParaRPr/>
          </a:p>
          <a:p>
            <a:pPr indent="0" lvl="0" marL="0" marR="0" rtl="0" algn="ctr">
              <a:spcBef>
                <a:spcPts val="0"/>
              </a:spcBef>
              <a:spcAft>
                <a:spcPts val="0"/>
              </a:spcAft>
              <a:buNone/>
            </a:pPr>
            <a:r>
              <a:rPr b="1" lang="es-ES" sz="2000">
                <a:solidFill>
                  <a:srgbClr val="FF0000"/>
                </a:solidFill>
                <a:latin typeface="Calibri"/>
                <a:ea typeface="Calibri"/>
                <a:cs typeface="Calibri"/>
                <a:sym typeface="Calibri"/>
              </a:rPr>
              <a:t>(RESPUESTAS)</a:t>
            </a:r>
            <a:endParaRPr/>
          </a:p>
          <a:p>
            <a:pPr indent="-127000" lvl="0" marL="0" marR="0" rtl="0" algn="l">
              <a:spcBef>
                <a:spcPts val="0"/>
              </a:spcBef>
              <a:spcAft>
                <a:spcPts val="0"/>
              </a:spcAft>
              <a:buClr>
                <a:schemeClr val="dk1"/>
              </a:buClr>
              <a:buSzPts val="2000"/>
              <a:buFont typeface="Calibri"/>
              <a:buAutoNum type="arabicPeriod"/>
            </a:pPr>
            <a:r>
              <a:rPr b="1" lang="es-ES" sz="2000">
                <a:solidFill>
                  <a:schemeClr val="dk1"/>
                </a:solidFill>
                <a:latin typeface="Calibri"/>
                <a:ea typeface="Calibri"/>
                <a:cs typeface="Calibri"/>
                <a:sym typeface="Calibri"/>
              </a:rPr>
              <a:t>¿Cuál de las siguientes características es una de las principales de PostgreSQL?</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rgbClr val="FF0000"/>
                </a:solidFill>
                <a:latin typeface="Calibri"/>
                <a:ea typeface="Calibri"/>
                <a:cs typeface="Calibri"/>
                <a:sym typeface="Calibri"/>
              </a:rPr>
              <a:t>a) Soporte para transacciones ACID</a:t>
            </a:r>
            <a:endParaRPr b="0" i="0" sz="2000" u="none" cap="none" strike="noStrike">
              <a:solidFill>
                <a:srgbClr val="FF0000"/>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Requiere un sistema operativo específico</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Solo soporta datos en formato JSON</a:t>
            </a:r>
            <a:endParaRPr/>
          </a:p>
          <a:p>
            <a:pPr indent="0" lvl="1" marL="4572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spcBef>
                <a:spcPts val="0"/>
              </a:spcBef>
              <a:spcAft>
                <a:spcPts val="0"/>
              </a:spcAft>
              <a:buClr>
                <a:schemeClr val="dk1"/>
              </a:buClr>
              <a:buSzPts val="2000"/>
              <a:buFont typeface="Calibri"/>
              <a:buAutoNum type="arabicPeriod"/>
            </a:pPr>
            <a:r>
              <a:rPr b="1" lang="es-ES" sz="2000">
                <a:solidFill>
                  <a:schemeClr val="dk1"/>
                </a:solidFill>
                <a:latin typeface="Calibri"/>
                <a:ea typeface="Calibri"/>
                <a:cs typeface="Calibri"/>
                <a:sym typeface="Calibri"/>
              </a:rPr>
              <a:t>PostgreSQL es conocido por ser:</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Exclusivamente un sistema de bases de datos en la nube</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Un sistema de bases de datos no relacional</a:t>
            </a:r>
            <a:endParaRPr/>
          </a:p>
          <a:p>
            <a:pPr indent="0" lvl="1" marL="457200" marR="0" rtl="0" algn="l">
              <a:spcBef>
                <a:spcPts val="0"/>
              </a:spcBef>
              <a:spcAft>
                <a:spcPts val="0"/>
              </a:spcAft>
              <a:buNone/>
            </a:pPr>
            <a:r>
              <a:rPr b="0" i="0" lang="es-ES" sz="2000" u="none" cap="none" strike="noStrike">
                <a:solidFill>
                  <a:srgbClr val="FF0000"/>
                </a:solidFill>
                <a:latin typeface="Calibri"/>
                <a:ea typeface="Calibri"/>
                <a:cs typeface="Calibri"/>
                <a:sym typeface="Calibri"/>
              </a:rPr>
              <a:t>c) Un sistema de gestión de bases de datos relacional y objeto-relacional</a:t>
            </a:r>
            <a:endParaRPr/>
          </a:p>
        </p:txBody>
      </p:sp>
      <p:sp>
        <p:nvSpPr>
          <p:cNvPr id="102" name="Google Shape;102;p7"/>
          <p:cNvSpPr txBox="1"/>
          <p:nvPr/>
        </p:nvSpPr>
        <p:spPr>
          <a:xfrm>
            <a:off x="6234112" y="948690"/>
            <a:ext cx="5342651" cy="566308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Calibri"/>
                <a:ea typeface="Calibri"/>
                <a:cs typeface="Calibri"/>
                <a:sym typeface="Calibri"/>
              </a:rPr>
              <a:t>3. ¿Qué tipo de lenguaje de consulta utiliza PostgreSQL para gestionar datos?</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JSON (JavaScript Object Notation)</a:t>
            </a:r>
            <a:endParaRPr/>
          </a:p>
          <a:p>
            <a:pPr indent="0" lvl="1" marL="457200" marR="0" rtl="0" algn="l">
              <a:spcBef>
                <a:spcPts val="0"/>
              </a:spcBef>
              <a:spcAft>
                <a:spcPts val="0"/>
              </a:spcAft>
              <a:buNone/>
            </a:pPr>
            <a:r>
              <a:rPr b="0" i="0" lang="es-ES" sz="2000" u="none" cap="none" strike="noStrike">
                <a:solidFill>
                  <a:srgbClr val="FF0000"/>
                </a:solidFill>
                <a:latin typeface="Calibri"/>
                <a:ea typeface="Calibri"/>
                <a:cs typeface="Calibri"/>
                <a:sym typeface="Calibri"/>
              </a:rPr>
              <a:t>b) SQL (Structured Query Language)</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XML (Extensible Markup Language)</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4. PostgreSQL ofrece compatibilidad con el estándar SQL:</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rgbClr val="FF0000"/>
                </a:solidFill>
                <a:latin typeface="Calibri"/>
                <a:ea typeface="Calibri"/>
                <a:cs typeface="Calibri"/>
                <a:sym typeface="Calibri"/>
              </a:rPr>
              <a:t>a) ANSI SQL</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SQL Server</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c) SQLite</a:t>
            </a:r>
            <a:endParaRPr/>
          </a:p>
          <a:p>
            <a:pPr indent="0" lvl="1" marL="457200" marR="0" rtl="0" algn="l">
              <a:spcBef>
                <a:spcPts val="0"/>
              </a:spcBef>
              <a:spcAft>
                <a:spcPts val="0"/>
              </a:spcAft>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1" lang="es-ES" sz="2000">
                <a:solidFill>
                  <a:schemeClr val="dk1"/>
                </a:solidFill>
                <a:latin typeface="Calibri"/>
                <a:ea typeface="Calibri"/>
                <a:cs typeface="Calibri"/>
                <a:sym typeface="Calibri"/>
              </a:rPr>
              <a:t>5. Una característica avanzada de PostgreSQL es:</a:t>
            </a:r>
            <a:endParaRPr sz="20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a) Solo soporte para almacenamiento en disco</a:t>
            </a:r>
            <a:endParaRPr/>
          </a:p>
          <a:p>
            <a:pPr indent="0" lvl="1" marL="457200" marR="0" rtl="0" algn="l">
              <a:spcBef>
                <a:spcPts val="0"/>
              </a:spcBef>
              <a:spcAft>
                <a:spcPts val="0"/>
              </a:spcAft>
              <a:buNone/>
            </a:pPr>
            <a:r>
              <a:rPr b="0" i="0" lang="es-ES" sz="2000" u="none" cap="none" strike="noStrike">
                <a:solidFill>
                  <a:schemeClr val="dk1"/>
                </a:solidFill>
                <a:latin typeface="Calibri"/>
                <a:ea typeface="Calibri"/>
                <a:cs typeface="Calibri"/>
                <a:sym typeface="Calibri"/>
              </a:rPr>
              <a:t>b) Exclusiva para consultas simples y sin optimización</a:t>
            </a:r>
            <a:endParaRPr/>
          </a:p>
          <a:p>
            <a:pPr indent="0" lvl="1" marL="457200" marR="0" rtl="0" algn="l">
              <a:spcBef>
                <a:spcPts val="0"/>
              </a:spcBef>
              <a:spcAft>
                <a:spcPts val="0"/>
              </a:spcAft>
              <a:buNone/>
            </a:pPr>
            <a:r>
              <a:rPr b="0" i="0" lang="es-ES" sz="2000" u="none" cap="none" strike="noStrike">
                <a:solidFill>
                  <a:srgbClr val="FF0000"/>
                </a:solidFill>
                <a:latin typeface="Calibri"/>
                <a:ea typeface="Calibri"/>
                <a:cs typeface="Calibri"/>
                <a:sym typeface="Calibri"/>
              </a:rPr>
              <a:t>c) Soporte para procedimientos almacenados en múltiples lenguajes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Logro de la sesión</a:t>
            </a:r>
            <a:endParaRPr sz="2400">
              <a:solidFill>
                <a:schemeClr val="dk1"/>
              </a:solidFill>
              <a:latin typeface="Arial"/>
              <a:ea typeface="Arial"/>
              <a:cs typeface="Arial"/>
              <a:sym typeface="Arial"/>
            </a:endParaRPr>
          </a:p>
        </p:txBody>
      </p:sp>
      <p:sp>
        <p:nvSpPr>
          <p:cNvPr id="109" name="Google Shape;109;p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110" name="Google Shape;110;p8"/>
          <p:cNvSpPr txBox="1"/>
          <p:nvPr/>
        </p:nvSpPr>
        <p:spPr>
          <a:xfrm>
            <a:off x="2552700" y="2644170"/>
            <a:ext cx="7086600"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3200">
                <a:solidFill>
                  <a:schemeClr val="dk1"/>
                </a:solidFill>
                <a:latin typeface="Arial"/>
                <a:ea typeface="Arial"/>
                <a:cs typeface="Arial"/>
                <a:sym typeface="Arial"/>
              </a:rPr>
              <a:t>Al finalizar la unidad el participante comprende los fundamentos y uso de otras bases de datos relacionales.</a:t>
            </a:r>
            <a:endParaRPr sz="3200">
              <a:solidFill>
                <a:schemeClr val="dk1"/>
              </a:solidFill>
              <a:latin typeface="Arial"/>
              <a:ea typeface="Arial"/>
              <a:cs typeface="Arial"/>
              <a:sym typeface="Arial"/>
            </a:endParaRPr>
          </a:p>
        </p:txBody>
      </p:sp>
      <p:pic>
        <p:nvPicPr>
          <p:cNvPr id="111" name="Google Shape;111;p8"/>
          <p:cNvPicPr preferRelativeResize="0"/>
          <p:nvPr/>
        </p:nvPicPr>
        <p:blipFill rotWithShape="1">
          <a:blip r:embed="rId3">
            <a:alphaModFix/>
          </a:blip>
          <a:srcRect b="0" l="0" r="0" t="0"/>
          <a:stretch/>
        </p:blipFill>
        <p:spPr>
          <a:xfrm>
            <a:off x="5783622" y="292547"/>
            <a:ext cx="559075" cy="5590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Importancia de la sesión</a:t>
            </a:r>
            <a:endParaRPr sz="2400">
              <a:solidFill>
                <a:schemeClr val="dk1"/>
              </a:solidFill>
              <a:latin typeface="Arial"/>
              <a:ea typeface="Arial"/>
              <a:cs typeface="Arial"/>
              <a:sym typeface="Arial"/>
            </a:endParaRPr>
          </a:p>
        </p:txBody>
      </p:sp>
      <p:sp>
        <p:nvSpPr>
          <p:cNvPr id="118" name="Google Shape;118;p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119" name="Google Shape;119;p9"/>
          <p:cNvPicPr preferRelativeResize="0"/>
          <p:nvPr/>
        </p:nvPicPr>
        <p:blipFill rotWithShape="1">
          <a:blip r:embed="rId3">
            <a:alphaModFix/>
          </a:blip>
          <a:srcRect b="0" l="0" r="0" t="0"/>
          <a:stretch/>
        </p:blipFill>
        <p:spPr>
          <a:xfrm>
            <a:off x="5817875" y="304800"/>
            <a:ext cx="506725" cy="561823"/>
          </a:xfrm>
          <a:prstGeom prst="rect">
            <a:avLst/>
          </a:prstGeom>
          <a:noFill/>
          <a:ln>
            <a:noFill/>
          </a:ln>
        </p:spPr>
      </p:pic>
      <p:sp>
        <p:nvSpPr>
          <p:cNvPr id="120" name="Google Shape;120;p9"/>
          <p:cNvSpPr txBox="1"/>
          <p:nvPr/>
        </p:nvSpPr>
        <p:spPr>
          <a:xfrm>
            <a:off x="959168" y="1659285"/>
            <a:ext cx="10224137" cy="35394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2800">
                <a:solidFill>
                  <a:schemeClr val="dk1"/>
                </a:solidFill>
                <a:latin typeface="Calibri"/>
                <a:ea typeface="Calibri"/>
                <a:cs typeface="Calibri"/>
                <a:sym typeface="Calibri"/>
              </a:rPr>
              <a:t>Comprender la estructura de funcionamiento de PostgreSQL - la creación de bases de datos y tablas es fundamental para cualquier profesional que trabaje con gestión de datos y desarrollo de software. </a:t>
            </a:r>
            <a:endParaRPr/>
          </a:p>
          <a:p>
            <a:pPr indent="0" lvl="0" marL="0" marR="0" rtl="0" algn="ctr">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spcBef>
                <a:spcPts val="0"/>
              </a:spcBef>
              <a:spcAft>
                <a:spcPts val="0"/>
              </a:spcAft>
              <a:buNone/>
            </a:pPr>
            <a:r>
              <a:rPr lang="es-ES" sz="2800">
                <a:solidFill>
                  <a:schemeClr val="dk1"/>
                </a:solidFill>
                <a:latin typeface="Calibri"/>
                <a:ea typeface="Calibri"/>
                <a:cs typeface="Calibri"/>
                <a:sym typeface="Calibri"/>
              </a:rPr>
              <a:t>En el ámbito profesional, estas competencias son cruciales para desarrollar aplicaciones robustas, escalar soluciones y asegurar que los datos se gestionen de manera segura y efectiva.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0"/>
          <p:cNvSpPr txBox="1"/>
          <p:nvPr/>
        </p:nvSpPr>
        <p:spPr>
          <a:xfrm>
            <a:off x="1966912" y="2890391"/>
            <a:ext cx="8258176" cy="1595309"/>
          </a:xfrm>
          <a:prstGeom prst="rect">
            <a:avLst/>
          </a:prstGeom>
          <a:solidFill>
            <a:srgbClr val="D1052D"/>
          </a:solidFill>
          <a:ln cap="flat" cmpd="sng" w="9525">
            <a:solidFill>
              <a:srgbClr val="7C5F9F"/>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spAutoFit/>
          </a:bodyPr>
          <a:lstStyle/>
          <a:p>
            <a:pPr indent="0" lvl="0" marL="12700" marR="0" rtl="0" algn="l">
              <a:lnSpc>
                <a:spcPct val="100000"/>
              </a:lnSpc>
              <a:spcBef>
                <a:spcPts val="0"/>
              </a:spcBef>
              <a:spcAft>
                <a:spcPts val="0"/>
              </a:spcAft>
              <a:buNone/>
            </a:pPr>
            <a:r>
              <a:rPr b="1" lang="es-ES" sz="3200">
                <a:solidFill>
                  <a:schemeClr val="lt1"/>
                </a:solidFill>
                <a:latin typeface="Calibri"/>
                <a:ea typeface="Calibri"/>
                <a:cs typeface="Calibri"/>
                <a:sym typeface="Calibri"/>
              </a:rPr>
              <a:t>PostgreSQL: </a:t>
            </a:r>
            <a:endParaRPr/>
          </a:p>
          <a:p>
            <a:pPr indent="-457200" lvl="0" marL="469900" marR="0" rtl="0" algn="l">
              <a:lnSpc>
                <a:spcPct val="100000"/>
              </a:lnSpc>
              <a:spcBef>
                <a:spcPts val="100"/>
              </a:spcBef>
              <a:spcAft>
                <a:spcPts val="0"/>
              </a:spcAft>
              <a:buClr>
                <a:schemeClr val="lt1"/>
              </a:buClr>
              <a:buSzPts val="3200"/>
              <a:buFont typeface="Arial"/>
              <a:buChar char="-"/>
            </a:pPr>
            <a:r>
              <a:rPr lang="es-ES" sz="3200">
                <a:solidFill>
                  <a:schemeClr val="lt1"/>
                </a:solidFill>
                <a:latin typeface="Arial"/>
                <a:ea typeface="Arial"/>
                <a:cs typeface="Arial"/>
                <a:sym typeface="Arial"/>
              </a:rPr>
              <a:t>Estructura de funcionamiento</a:t>
            </a:r>
            <a:endParaRPr/>
          </a:p>
          <a:p>
            <a:pPr indent="-457200" lvl="0" marL="469900" marR="0" rtl="0" algn="l">
              <a:lnSpc>
                <a:spcPct val="100000"/>
              </a:lnSpc>
              <a:spcBef>
                <a:spcPts val="100"/>
              </a:spcBef>
              <a:spcAft>
                <a:spcPts val="0"/>
              </a:spcAft>
              <a:buClr>
                <a:schemeClr val="lt1"/>
              </a:buClr>
              <a:buSzPts val="3200"/>
              <a:buFont typeface="Arial"/>
              <a:buChar char="-"/>
            </a:pPr>
            <a:r>
              <a:rPr lang="es-ES" sz="3200">
                <a:solidFill>
                  <a:schemeClr val="lt1"/>
                </a:solidFill>
                <a:latin typeface="Arial"/>
                <a:ea typeface="Arial"/>
                <a:cs typeface="Arial"/>
                <a:sym typeface="Arial"/>
              </a:rPr>
              <a:t>Creación de Bases de Datos y Tablas</a:t>
            </a:r>
            <a:endParaRPr sz="3200">
              <a:solidFill>
                <a:schemeClr val="lt1"/>
              </a:solidFill>
              <a:latin typeface="Arial"/>
              <a:ea typeface="Arial"/>
              <a:cs typeface="Arial"/>
              <a:sym typeface="Arial"/>
            </a:endParaRPr>
          </a:p>
        </p:txBody>
      </p:sp>
      <p:sp>
        <p:nvSpPr>
          <p:cNvPr id="126" name="Google Shape;126;p10"/>
          <p:cNvSpPr txBox="1"/>
          <p:nvPr/>
        </p:nvSpPr>
        <p:spPr>
          <a:xfrm>
            <a:off x="4076700" y="1991427"/>
            <a:ext cx="4038600" cy="646331"/>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600">
                <a:solidFill>
                  <a:srgbClr val="000000"/>
                </a:solidFill>
                <a:latin typeface="Arial"/>
                <a:ea typeface="Arial"/>
                <a:cs typeface="Arial"/>
                <a:sym typeface="Arial"/>
              </a:rPr>
              <a:t>SESIÓN N° 2:</a:t>
            </a:r>
            <a:endParaRPr b="1" sz="3600">
              <a:solidFill>
                <a:srgbClr val="000000"/>
              </a:solidFill>
              <a:latin typeface="Arial"/>
              <a:ea typeface="Arial"/>
              <a:cs typeface="Arial"/>
              <a:sym typeface="Arial"/>
            </a:endParaRPr>
          </a:p>
        </p:txBody>
      </p:sp>
      <p:sp>
        <p:nvSpPr>
          <p:cNvPr id="127" name="Google Shape;127;p1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1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Temario</a:t>
            </a:r>
            <a:endParaRPr sz="2400">
              <a:solidFill>
                <a:schemeClr val="dk1"/>
              </a:solidFill>
              <a:latin typeface="Arial"/>
              <a:ea typeface="Arial"/>
              <a:cs typeface="Arial"/>
              <a:sym typeface="Arial"/>
            </a:endParaRPr>
          </a:p>
        </p:txBody>
      </p:sp>
      <p:pic>
        <p:nvPicPr>
          <p:cNvPr id="129" name="Google Shape;129;p10"/>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130" name="Google Shape;130;p10"/>
          <p:cNvSpPr txBox="1"/>
          <p:nvPr/>
        </p:nvSpPr>
        <p:spPr>
          <a:xfrm>
            <a:off x="365760" y="973304"/>
            <a:ext cx="535789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Arial"/>
                <a:ea typeface="Arial"/>
                <a:cs typeface="Arial"/>
                <a:sym typeface="Arial"/>
              </a:rPr>
              <a:t>¡Que no se te escape nada de tu clase!:</a:t>
            </a:r>
            <a:endParaRPr sz="20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nvSpPr>
        <p:spPr>
          <a:xfrm>
            <a:off x="4781548" y="1250400"/>
            <a:ext cx="6572251" cy="489364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400">
                <a:solidFill>
                  <a:schemeClr val="dk1"/>
                </a:solidFill>
                <a:latin typeface="Pathway Extreme"/>
                <a:ea typeface="Pathway Extreme"/>
                <a:cs typeface="Pathway Extreme"/>
                <a:sym typeface="Pathway Extreme"/>
              </a:rPr>
              <a:t>PostgreSQL ofrece una verdadera semántica ACID para las transacciones y tiene soporte completo para claves foráneas, uniones, vistas, disparadores y procedimientos almacenados, en muchos lenguajes diferentes. Incluye la mayoría de los tipos de datos de SQL, como los de INTEGER, VARCHAR, TIMESTAMP y BOOLEAN. También admite el almacenamiento de objetos binarios de gran tamaño, como imágenes, vídeos o sonidos. Es fiable, ya que cuenta con una amplia red de soporte comunitario integrada. PostgreSQL es una base de datos tolerante a fallos gracias a su registro de escritura anticipada.</a:t>
            </a:r>
            <a:endParaRPr/>
          </a:p>
        </p:txBody>
      </p:sp>
      <p:pic>
        <p:nvPicPr>
          <p:cNvPr descr="Qué es un manual de normas y procedimientos? - La Magia de la Mejora" id="136" name="Google Shape;136;p11"/>
          <p:cNvPicPr preferRelativeResize="0"/>
          <p:nvPr/>
        </p:nvPicPr>
        <p:blipFill rotWithShape="1">
          <a:blip r:embed="rId3">
            <a:alphaModFix/>
          </a:blip>
          <a:srcRect b="7446" l="0" r="0" t="0"/>
          <a:stretch/>
        </p:blipFill>
        <p:spPr>
          <a:xfrm>
            <a:off x="876301" y="1905000"/>
            <a:ext cx="3677521" cy="3403663"/>
          </a:xfrm>
          <a:prstGeom prst="rect">
            <a:avLst/>
          </a:prstGeom>
          <a:noFill/>
          <a:ln>
            <a:noFill/>
          </a:ln>
        </p:spPr>
      </p:pic>
      <p:sp>
        <p:nvSpPr>
          <p:cNvPr id="137" name="Google Shape;137;p11"/>
          <p:cNvSpPr txBox="1"/>
          <p:nvPr/>
        </p:nvSpPr>
        <p:spPr>
          <a:xfrm>
            <a:off x="823913" y="727180"/>
            <a:ext cx="6093618" cy="5232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800">
                <a:solidFill>
                  <a:schemeClr val="dk1"/>
                </a:solidFill>
                <a:latin typeface="Calibri"/>
                <a:ea typeface="Calibri"/>
                <a:cs typeface="Calibri"/>
                <a:sym typeface="Calibri"/>
              </a:rPr>
              <a:t>Fiabilidad y cumplimiento de normas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nvSpPr>
        <p:spPr>
          <a:xfrm>
            <a:off x="647700" y="609600"/>
            <a:ext cx="10896600" cy="546303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200">
                <a:solidFill>
                  <a:schemeClr val="dk1"/>
                </a:solidFill>
                <a:latin typeface="Calibri"/>
                <a:ea typeface="Calibri"/>
                <a:cs typeface="Calibri"/>
                <a:sym typeface="Calibri"/>
              </a:rPr>
              <a:t>Archivos de datos/Estructura del directorio de datos</a:t>
            </a:r>
            <a:endParaRPr/>
          </a:p>
          <a:p>
            <a:pPr indent="0" lvl="0" marL="0" marR="0" rtl="0" algn="just">
              <a:spcBef>
                <a:spcPts val="0"/>
              </a:spcBef>
              <a:spcAft>
                <a:spcPts val="0"/>
              </a:spcAft>
              <a:buNone/>
            </a:pPr>
            <a:r>
              <a:t/>
            </a:r>
            <a:endParaRPr b="1" i="0" sz="1200">
              <a:solidFill>
                <a:schemeClr val="dk1"/>
              </a:solidFill>
              <a:latin typeface="Calibri"/>
              <a:ea typeface="Calibri"/>
              <a:cs typeface="Calibri"/>
              <a:sym typeface="Calibri"/>
            </a:endParaRPr>
          </a:p>
          <a:p>
            <a:pPr indent="0" lvl="0" marL="0" marR="0" rtl="0" algn="just">
              <a:spcBef>
                <a:spcPts val="0"/>
              </a:spcBef>
              <a:spcAft>
                <a:spcPts val="0"/>
              </a:spcAft>
              <a:buNone/>
            </a:pPr>
            <a:r>
              <a:rPr b="0" i="0" lang="es-ES" sz="2100">
                <a:solidFill>
                  <a:schemeClr val="dk1"/>
                </a:solidFill>
                <a:latin typeface="Pathway Extreme"/>
                <a:ea typeface="Pathway Extreme"/>
                <a:cs typeface="Pathway Extreme"/>
                <a:sym typeface="Pathway Extreme"/>
              </a:rPr>
              <a:t>PostgreSQL tiene varias bases de datos, que juntas forman un cluster de bases de datos. </a:t>
            </a:r>
            <a:endParaRPr/>
          </a:p>
          <a:p>
            <a:pPr indent="0" lvl="0" marL="0" marR="0" rtl="0" algn="just">
              <a:spcBef>
                <a:spcPts val="0"/>
              </a:spcBef>
              <a:spcAft>
                <a:spcPts val="0"/>
              </a:spcAft>
              <a:buNone/>
            </a:pPr>
            <a:r>
              <a:rPr b="0" i="0" lang="es-ES" sz="2100">
                <a:solidFill>
                  <a:schemeClr val="dk1"/>
                </a:solidFill>
                <a:latin typeface="Pathway Extreme"/>
                <a:ea typeface="Pathway Extreme"/>
                <a:cs typeface="Pathway Extreme"/>
                <a:sym typeface="Pathway Extreme"/>
              </a:rPr>
              <a:t>La creación de la nueva base de datos del usuario se realiza a través de las bases de datos de plantilla, que consisten en las tablas del catálogo del sistema. </a:t>
            </a:r>
            <a:endParaRPr/>
          </a:p>
          <a:p>
            <a:pPr indent="0" lvl="0" marL="0" marR="0" rtl="0" algn="just">
              <a:spcBef>
                <a:spcPts val="0"/>
              </a:spcBef>
              <a:spcAft>
                <a:spcPts val="0"/>
              </a:spcAft>
              <a:buNone/>
            </a:pPr>
            <a:r>
              <a:rPr b="0" i="0" lang="es-ES" sz="2100">
                <a:solidFill>
                  <a:schemeClr val="dk1"/>
                </a:solidFill>
                <a:latin typeface="Pathway Extreme"/>
                <a:ea typeface="Pathway Extreme"/>
                <a:cs typeface="Pathway Extreme"/>
                <a:sym typeface="Pathway Extreme"/>
              </a:rPr>
              <a:t>Los datos necesarios para el clúster se almacenan en el directorio de datos del clúster, que también se denomina «PGDATA». Consta de varios subdirectorios. </a:t>
            </a:r>
            <a:endParaRPr/>
          </a:p>
          <a:p>
            <a:pPr indent="0" lvl="0" marL="0" marR="0" rtl="0" algn="just">
              <a:spcBef>
                <a:spcPts val="0"/>
              </a:spcBef>
              <a:spcAft>
                <a:spcPts val="0"/>
              </a:spcAft>
              <a:buNone/>
            </a:pPr>
            <a:r>
              <a:rPr b="0" i="0" lang="es-ES" sz="2100">
                <a:solidFill>
                  <a:schemeClr val="dk1"/>
                </a:solidFill>
                <a:latin typeface="Pathway Extreme"/>
                <a:ea typeface="Pathway Extreme"/>
                <a:cs typeface="Pathway Extreme"/>
                <a:sym typeface="Pathway Extreme"/>
              </a:rPr>
              <a:t>A continuación se mencionan algunos importantes:</a:t>
            </a:r>
            <a:endParaRPr/>
          </a:p>
          <a:p>
            <a:pPr indent="-342900" lvl="0" marL="342900" marR="0" rtl="0" algn="just">
              <a:spcBef>
                <a:spcPts val="0"/>
              </a:spcBef>
              <a:spcAft>
                <a:spcPts val="0"/>
              </a:spcAft>
              <a:buClr>
                <a:schemeClr val="dk1"/>
              </a:buClr>
              <a:buSzPts val="2100"/>
              <a:buFont typeface="Arial"/>
              <a:buChar char="•"/>
            </a:pPr>
            <a:r>
              <a:rPr b="1" i="0" lang="es-ES" sz="2100">
                <a:solidFill>
                  <a:schemeClr val="dk1"/>
                </a:solidFill>
                <a:latin typeface="Pathway Extreme"/>
                <a:ea typeface="Pathway Extreme"/>
                <a:cs typeface="Pathway Extreme"/>
                <a:sym typeface="Pathway Extreme"/>
              </a:rPr>
              <a:t>Global</a:t>
            </a:r>
            <a:r>
              <a:rPr b="0" i="0" lang="es-ES" sz="2100">
                <a:solidFill>
                  <a:schemeClr val="dk1"/>
                </a:solidFill>
                <a:latin typeface="Pathway Extreme"/>
                <a:ea typeface="Pathway Extreme"/>
                <a:cs typeface="Pathway Extreme"/>
                <a:sym typeface="Pathway Extreme"/>
              </a:rPr>
              <a:t>: El subdirectorio global está formado por las tablas del clúster, como la base de datos de usuarios.</a:t>
            </a:r>
            <a:endParaRPr/>
          </a:p>
          <a:p>
            <a:pPr indent="-342900" lvl="0" marL="342900" marR="0" rtl="0" algn="just">
              <a:spcBef>
                <a:spcPts val="0"/>
              </a:spcBef>
              <a:spcAft>
                <a:spcPts val="0"/>
              </a:spcAft>
              <a:buClr>
                <a:schemeClr val="dk1"/>
              </a:buClr>
              <a:buSzPts val="2100"/>
              <a:buFont typeface="Arial"/>
              <a:buChar char="•"/>
            </a:pPr>
            <a:r>
              <a:rPr b="1" i="0" lang="es-ES" sz="2100">
                <a:solidFill>
                  <a:schemeClr val="dk1"/>
                </a:solidFill>
                <a:latin typeface="Pathway Extreme"/>
                <a:ea typeface="Pathway Extreme"/>
                <a:cs typeface="Pathway Extreme"/>
                <a:sym typeface="Pathway Extreme"/>
              </a:rPr>
              <a:t>Base</a:t>
            </a:r>
            <a:r>
              <a:rPr b="0" i="0" lang="es-ES" sz="2100">
                <a:solidFill>
                  <a:schemeClr val="dk1"/>
                </a:solidFill>
                <a:latin typeface="Pathway Extreme"/>
                <a:ea typeface="Pathway Extreme"/>
                <a:cs typeface="Pathway Extreme"/>
                <a:sym typeface="Pathway Extreme"/>
              </a:rPr>
              <a:t>: El subdirectorio Base es la ubicación física del espacio de tablas por defecto. Contiene varios subdirectorios por base de datos, dentro de los cuales se almacenan los catálogos del sistema.</a:t>
            </a:r>
            <a:endParaRPr/>
          </a:p>
          <a:p>
            <a:pPr indent="-342900" lvl="0" marL="342900" marR="0" rtl="0" algn="just">
              <a:spcBef>
                <a:spcPts val="0"/>
              </a:spcBef>
              <a:spcAft>
                <a:spcPts val="0"/>
              </a:spcAft>
              <a:buClr>
                <a:schemeClr val="dk1"/>
              </a:buClr>
              <a:buSzPts val="2100"/>
              <a:buFont typeface="Arial"/>
              <a:buChar char="•"/>
            </a:pPr>
            <a:r>
              <a:rPr b="1" i="0" lang="es-ES" sz="2100">
                <a:solidFill>
                  <a:schemeClr val="dk1"/>
                </a:solidFill>
                <a:latin typeface="Pathway Extreme"/>
                <a:ea typeface="Pathway Extreme"/>
                <a:cs typeface="Pathway Extreme"/>
                <a:sym typeface="Pathway Extreme"/>
              </a:rPr>
              <a:t>PID</a:t>
            </a:r>
            <a:r>
              <a:rPr b="0" i="0" lang="es-ES" sz="2100">
                <a:solidFill>
                  <a:schemeClr val="dk1"/>
                </a:solidFill>
                <a:latin typeface="Pathway Extreme"/>
                <a:ea typeface="Pathway Extreme"/>
                <a:cs typeface="Pathway Extreme"/>
                <a:sym typeface="Pathway Extreme"/>
              </a:rPr>
              <a:t>: El archivo PID consiste en el ID del proceso postmaster actual (PID).</a:t>
            </a:r>
            <a:endParaRPr/>
          </a:p>
          <a:p>
            <a:pPr indent="-342900" lvl="0" marL="342900" marR="0" rtl="0" algn="just">
              <a:spcBef>
                <a:spcPts val="0"/>
              </a:spcBef>
              <a:spcAft>
                <a:spcPts val="0"/>
              </a:spcAft>
              <a:buClr>
                <a:schemeClr val="dk1"/>
              </a:buClr>
              <a:buSzPts val="2100"/>
              <a:buFont typeface="Arial"/>
              <a:buChar char="•"/>
            </a:pPr>
            <a:r>
              <a:rPr b="1" i="0" lang="es-ES" sz="2100">
                <a:solidFill>
                  <a:schemeClr val="dk1"/>
                </a:solidFill>
                <a:latin typeface="Pathway Extreme"/>
                <a:ea typeface="Pathway Extreme"/>
                <a:cs typeface="Pathway Extreme"/>
                <a:sym typeface="Pathway Extreme"/>
              </a:rPr>
              <a:t>PG_VERSION</a:t>
            </a:r>
            <a:r>
              <a:rPr b="0" i="0" lang="es-ES" sz="2100">
                <a:solidFill>
                  <a:schemeClr val="dk1"/>
                </a:solidFill>
                <a:latin typeface="Pathway Extreme"/>
                <a:ea typeface="Pathway Extreme"/>
                <a:cs typeface="Pathway Extreme"/>
                <a:sym typeface="Pathway Extreme"/>
              </a:rPr>
              <a:t>: Este subdirectorio consiste en la información de la versión de la base de datos.</a:t>
            </a:r>
            <a:endParaRPr/>
          </a:p>
          <a:p>
            <a:pPr indent="-342900" lvl="0" marL="342900" marR="0" rtl="0" algn="just">
              <a:spcBef>
                <a:spcPts val="0"/>
              </a:spcBef>
              <a:spcAft>
                <a:spcPts val="0"/>
              </a:spcAft>
              <a:buClr>
                <a:schemeClr val="dk1"/>
              </a:buClr>
              <a:buSzPts val="2100"/>
              <a:buFont typeface="Arial"/>
              <a:buChar char="•"/>
            </a:pPr>
            <a:r>
              <a:rPr b="1" i="0" lang="es-ES" sz="2100">
                <a:solidFill>
                  <a:schemeClr val="dk1"/>
                </a:solidFill>
                <a:latin typeface="Pathway Extreme"/>
                <a:ea typeface="Pathway Extreme"/>
                <a:cs typeface="Pathway Extreme"/>
                <a:sym typeface="Pathway Extreme"/>
              </a:rPr>
              <a:t>PG_NOTIFY</a:t>
            </a:r>
            <a:r>
              <a:rPr b="0" i="0" lang="es-ES" sz="2100">
                <a:solidFill>
                  <a:schemeClr val="dk1"/>
                </a:solidFill>
                <a:latin typeface="Pathway Extreme"/>
                <a:ea typeface="Pathway Extreme"/>
                <a:cs typeface="Pathway Extreme"/>
                <a:sym typeface="Pathway Extreme"/>
              </a:rPr>
              <a:t>: Este subdirectorio contiene los datos de estado de LISTEN/NOTIFY. Estos archivos pueden ser útiles para la resolución de problemas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nvSpPr>
        <p:spPr>
          <a:xfrm>
            <a:off x="457199" y="533400"/>
            <a:ext cx="10995557" cy="13234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000">
                <a:solidFill>
                  <a:schemeClr val="dk1"/>
                </a:solidFill>
                <a:latin typeface="Lato"/>
                <a:ea typeface="Lato"/>
                <a:cs typeface="Lato"/>
                <a:sym typeface="Lato"/>
              </a:rPr>
              <a:t>Funciones DE PostgreSQL</a:t>
            </a:r>
            <a:endParaRPr/>
          </a:p>
          <a:p>
            <a:pPr indent="0" lvl="0" marL="0" marR="0" rtl="0" algn="just">
              <a:spcBef>
                <a:spcPts val="0"/>
              </a:spcBef>
              <a:spcAft>
                <a:spcPts val="0"/>
              </a:spcAft>
              <a:buNone/>
            </a:pPr>
            <a:r>
              <a:t/>
            </a:r>
            <a:endParaRPr b="1" i="0" sz="2000">
              <a:solidFill>
                <a:schemeClr val="dk1"/>
              </a:solidFill>
              <a:latin typeface="Lato"/>
              <a:ea typeface="Lato"/>
              <a:cs typeface="Lato"/>
              <a:sym typeface="Lato"/>
            </a:endParaRPr>
          </a:p>
          <a:p>
            <a:pPr indent="0" lvl="0" marL="0" marR="0" rtl="0" algn="just">
              <a:spcBef>
                <a:spcPts val="0"/>
              </a:spcBef>
              <a:spcAft>
                <a:spcPts val="0"/>
              </a:spcAft>
              <a:buNone/>
            </a:pPr>
            <a:r>
              <a:rPr b="0" i="0" lang="es-ES" sz="2000">
                <a:solidFill>
                  <a:schemeClr val="dk1"/>
                </a:solidFill>
                <a:latin typeface="Lato"/>
                <a:ea typeface="Lato"/>
                <a:cs typeface="Lato"/>
                <a:sym typeface="Lato"/>
              </a:rPr>
              <a:t>PostgreSQL es una poderosa herramienta para gestionar grandes volúmenes de datos y la aplican sectores como gobierno, industria, educación y comercio. Estas son sus funciones principales.</a:t>
            </a:r>
            <a:endParaRPr/>
          </a:p>
        </p:txBody>
      </p:sp>
      <p:pic>
        <p:nvPicPr>
          <p:cNvPr descr="Funciones ejecutivas" id="148" name="Google Shape;148;p13"/>
          <p:cNvPicPr preferRelativeResize="0"/>
          <p:nvPr/>
        </p:nvPicPr>
        <p:blipFill rotWithShape="1">
          <a:blip r:embed="rId3">
            <a:alphaModFix/>
          </a:blip>
          <a:srcRect b="0" l="0" r="0" t="0"/>
          <a:stretch/>
        </p:blipFill>
        <p:spPr>
          <a:xfrm>
            <a:off x="7377111" y="1981200"/>
            <a:ext cx="4061357" cy="3936666"/>
          </a:xfrm>
          <a:prstGeom prst="rect">
            <a:avLst/>
          </a:prstGeom>
          <a:noFill/>
          <a:ln>
            <a:noFill/>
          </a:ln>
        </p:spPr>
      </p:pic>
      <p:sp>
        <p:nvSpPr>
          <p:cNvPr id="149" name="Google Shape;149;p13"/>
          <p:cNvSpPr txBox="1"/>
          <p:nvPr/>
        </p:nvSpPr>
        <p:spPr>
          <a:xfrm>
            <a:off x="457199" y="1875889"/>
            <a:ext cx="6248401" cy="4401205"/>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Almacenamiento eficiente de datos: organiza y almacena datos garantizando su integridad y consistencia.</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Consultas avanzadas: permite realizar consultas complejas y analizar datos para obtener información valiosa con lenguaje SQL.</a:t>
            </a:r>
            <a:endParaRPr/>
          </a:p>
          <a:p>
            <a:pPr indent="-342900" lvl="0" marL="342900" marR="0" rtl="0" algn="just">
              <a:spcBef>
                <a:spcPts val="0"/>
              </a:spcBef>
              <a:spcAft>
                <a:spcPts val="0"/>
              </a:spcAft>
              <a:buClr>
                <a:schemeClr val="dk1"/>
              </a:buClr>
              <a:buSzPts val="2000"/>
              <a:buFont typeface="Arial"/>
              <a:buChar char="•"/>
            </a:pPr>
            <a:r>
              <a:rPr b="0" i="0" lang="es-ES" sz="2000" u="sng" strike="noStrike">
                <a:solidFill>
                  <a:schemeClr val="dk1"/>
                </a:solidFill>
                <a:latin typeface="Lato"/>
                <a:ea typeface="Lato"/>
                <a:cs typeface="Lato"/>
                <a:sym typeface="Lato"/>
                <a:hlinkClick r:id="rId4">
                  <a:extLst>
                    <a:ext uri="{A12FA001-AC4F-418D-AE19-62706E023703}">
                      <ahyp:hlinkClr val="tx"/>
                    </a:ext>
                  </a:extLst>
                </a:hlinkClick>
              </a:rPr>
              <a:t>Backend</a:t>
            </a:r>
            <a:r>
              <a:rPr b="0" i="0" lang="es-ES" sz="2000">
                <a:solidFill>
                  <a:schemeClr val="dk1"/>
                </a:solidFill>
                <a:latin typeface="Lato"/>
                <a:ea typeface="Lato"/>
                <a:cs typeface="Lato"/>
                <a:sym typeface="Lato"/>
              </a:rPr>
              <a:t> confiable para aplicaciones: empleado principalmente en el desarrollo de aplicaciones web y móviles, pues ofrece un almacenamiento seguro y escalable para los datos de la aplicación.</a:t>
            </a:r>
            <a:endParaRPr/>
          </a:p>
          <a:p>
            <a:pPr indent="-342900" lvl="0" marL="342900" marR="0" rtl="0" algn="just">
              <a:spcBef>
                <a:spcPts val="0"/>
              </a:spcBef>
              <a:spcAft>
                <a:spcPts val="0"/>
              </a:spcAft>
              <a:buClr>
                <a:schemeClr val="dk1"/>
              </a:buClr>
              <a:buSzPts val="2000"/>
              <a:buFont typeface="Arial"/>
              <a:buChar char="•"/>
            </a:pPr>
            <a:r>
              <a:rPr b="0" i="0" lang="es-ES" sz="2000">
                <a:solidFill>
                  <a:schemeClr val="dk1"/>
                </a:solidFill>
                <a:latin typeface="Lato"/>
                <a:ea typeface="Lato"/>
                <a:cs typeface="Lato"/>
                <a:sym typeface="Lato"/>
              </a:rPr>
              <a:t>Soporte geoespacial: cuenta con funciones avanzadas para manejar datos geoespaciales, siendo ideal para apps que requieren análisis y visualización de mapas.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nvSpPr>
        <p:spPr>
          <a:xfrm>
            <a:off x="609600" y="685800"/>
            <a:ext cx="10896600" cy="38164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200">
                <a:solidFill>
                  <a:schemeClr val="dk1"/>
                </a:solidFill>
                <a:latin typeface="Lato"/>
                <a:ea typeface="Lato"/>
                <a:cs typeface="Lato"/>
                <a:sym typeface="Lato"/>
              </a:rPr>
              <a:t>¿Cómo funciona PostgreSQL?</a:t>
            </a:r>
            <a:endParaRPr/>
          </a:p>
          <a:p>
            <a:pPr indent="0" lvl="0" marL="0" marR="0" rtl="0" algn="just">
              <a:spcBef>
                <a:spcPts val="0"/>
              </a:spcBef>
              <a:spcAft>
                <a:spcPts val="0"/>
              </a:spcAft>
              <a:buNone/>
            </a:pPr>
            <a:r>
              <a:t/>
            </a:r>
            <a:endParaRPr b="1" i="0" sz="2200">
              <a:solidFill>
                <a:schemeClr val="dk1"/>
              </a:solidFill>
              <a:latin typeface="Lato"/>
              <a:ea typeface="Lato"/>
              <a:cs typeface="Lato"/>
              <a:sym typeface="Lato"/>
            </a:endParaRPr>
          </a:p>
          <a:p>
            <a:pPr indent="0" lvl="0" marL="0" marR="0" rtl="0" algn="just">
              <a:spcBef>
                <a:spcPts val="0"/>
              </a:spcBef>
              <a:spcAft>
                <a:spcPts val="0"/>
              </a:spcAft>
              <a:buNone/>
            </a:pPr>
            <a:r>
              <a:rPr b="0" i="0" lang="es-ES" sz="2200">
                <a:solidFill>
                  <a:schemeClr val="dk1"/>
                </a:solidFill>
                <a:latin typeface="Lato"/>
                <a:ea typeface="Lato"/>
                <a:cs typeface="Lato"/>
                <a:sym typeface="Lato"/>
              </a:rPr>
              <a:t>Postgres se basa en el clásico </a:t>
            </a:r>
            <a:r>
              <a:rPr b="1" i="0" lang="es-ES" sz="2200">
                <a:solidFill>
                  <a:schemeClr val="dk1"/>
                </a:solidFill>
                <a:latin typeface="Lato"/>
                <a:ea typeface="Lato"/>
                <a:cs typeface="Lato"/>
                <a:sym typeface="Lato"/>
              </a:rPr>
              <a:t>modelo cliente-servidor</a:t>
            </a:r>
            <a:r>
              <a:rPr b="0" i="0" lang="es-ES" sz="2200">
                <a:solidFill>
                  <a:schemeClr val="dk1"/>
                </a:solidFill>
                <a:latin typeface="Lato"/>
                <a:ea typeface="Lato"/>
                <a:cs typeface="Lato"/>
                <a:sym typeface="Lato"/>
              </a:rPr>
              <a:t>: el componente central que hace de servidor, con el nombre de “</a:t>
            </a:r>
            <a:r>
              <a:rPr b="1" i="0" lang="es-ES" sz="2200">
                <a:solidFill>
                  <a:schemeClr val="dk1"/>
                </a:solidFill>
                <a:latin typeface="Lato"/>
                <a:ea typeface="Lato"/>
                <a:cs typeface="Lato"/>
                <a:sym typeface="Lato"/>
              </a:rPr>
              <a:t>postmaster”</a:t>
            </a:r>
            <a:r>
              <a:rPr b="0" i="0" lang="es-ES" sz="2200">
                <a:solidFill>
                  <a:schemeClr val="dk1"/>
                </a:solidFill>
                <a:latin typeface="Lato"/>
                <a:ea typeface="Lato"/>
                <a:cs typeface="Lato"/>
                <a:sym typeface="Lato"/>
              </a:rPr>
              <a:t>, administra todos los archivos de la BD, así como todas las conexiones que se establecen con el servidor de la BD para las funciones de comunicación (input/output). Para establecer estas conexiones solo se necesita un programa-cliente, si bien el paquete de software de PostgreSQL ya integra de forma nativa el cliente psql para operarlo desde la terminal de líneas de comando. También podría optarse por una aplicación con </a:t>
            </a:r>
            <a:r>
              <a:rPr b="1" i="0" lang="es-ES" sz="2200">
                <a:solidFill>
                  <a:schemeClr val="dk1"/>
                </a:solidFill>
                <a:latin typeface="Lato"/>
                <a:ea typeface="Lato"/>
                <a:cs typeface="Lato"/>
                <a:sym typeface="Lato"/>
              </a:rPr>
              <a:t>interfaz gráfica de usuario</a:t>
            </a:r>
            <a:r>
              <a:rPr b="0" i="0" lang="es-ES" sz="2200">
                <a:solidFill>
                  <a:schemeClr val="dk1"/>
                </a:solidFill>
                <a:latin typeface="Lato"/>
                <a:ea typeface="Lato"/>
                <a:cs typeface="Lato"/>
                <a:sym typeface="Lato"/>
              </a:rPr>
              <a:t> como </a:t>
            </a:r>
            <a:r>
              <a:rPr b="0" i="0" lang="es-ES" sz="2200" u="sng">
                <a:solidFill>
                  <a:schemeClr val="dk1"/>
                </a:solidFill>
                <a:latin typeface="Lato"/>
                <a:ea typeface="Lato"/>
                <a:cs typeface="Lato"/>
                <a:sym typeface="Lato"/>
                <a:hlinkClick r:id="rId3">
                  <a:extLst>
                    <a:ext uri="{A12FA001-AC4F-418D-AE19-62706E023703}">
                      <ahyp:hlinkClr val="tx"/>
                    </a:ext>
                  </a:extLst>
                </a:hlinkClick>
              </a:rPr>
              <a:t>pgAdmin</a:t>
            </a:r>
            <a:r>
              <a:rPr b="0" i="0" lang="es-ES" sz="2200">
                <a:solidFill>
                  <a:schemeClr val="dk1"/>
                </a:solidFill>
                <a:latin typeface="Lato"/>
                <a:ea typeface="Lato"/>
                <a:cs typeface="Lato"/>
                <a:sym typeface="Lato"/>
              </a:rPr>
              <a:t> o </a:t>
            </a:r>
            <a:r>
              <a:rPr b="0" i="0" lang="es-ES" sz="2200" u="sng">
                <a:solidFill>
                  <a:schemeClr val="dk1"/>
                </a:solidFill>
                <a:latin typeface="Lato"/>
                <a:ea typeface="Lato"/>
                <a:cs typeface="Lato"/>
                <a:sym typeface="Lato"/>
                <a:hlinkClick r:id="rId4">
                  <a:extLst>
                    <a:ext uri="{A12FA001-AC4F-418D-AE19-62706E023703}">
                      <ahyp:hlinkClr val="tx"/>
                    </a:ext>
                  </a:extLst>
                </a:hlinkClick>
              </a:rPr>
              <a:t>phpPgAdmin</a:t>
            </a:r>
            <a:r>
              <a:rPr b="0" i="0" lang="es-ES" sz="2200">
                <a:solidFill>
                  <a:schemeClr val="dk1"/>
                </a:solidFill>
                <a:latin typeface="Lato"/>
                <a:ea typeface="Lato"/>
                <a:cs typeface="Lato"/>
                <a:sym typeface="Lato"/>
              </a:rPr>
              <a:t>, fáciles de instalar y manejar. En las páginas web interactivas es el servidor web el que se encarga de hacer de cliente.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nvSpPr>
        <p:spPr>
          <a:xfrm>
            <a:off x="609600" y="685800"/>
            <a:ext cx="10744200" cy="381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200">
                <a:solidFill>
                  <a:schemeClr val="dk1"/>
                </a:solidFill>
                <a:latin typeface="Lato"/>
                <a:ea typeface="Lato"/>
                <a:cs typeface="Lato"/>
                <a:sym typeface="Lato"/>
              </a:rPr>
              <a:t>¿Qué es el Afinamiento de Bases de Datos PostgreSQL?</a:t>
            </a:r>
            <a:endParaRPr/>
          </a:p>
          <a:p>
            <a:pPr indent="0" lvl="0" marL="0" marR="0" rtl="0" algn="l">
              <a:spcBef>
                <a:spcPts val="0"/>
              </a:spcBef>
              <a:spcAft>
                <a:spcPts val="0"/>
              </a:spcAft>
              <a:buNone/>
            </a:pPr>
            <a:r>
              <a:t/>
            </a:r>
            <a:endParaRPr b="0" i="0" sz="2200">
              <a:solidFill>
                <a:schemeClr val="dk1"/>
              </a:solidFill>
              <a:latin typeface="Lato"/>
              <a:ea typeface="Lato"/>
              <a:cs typeface="Lato"/>
              <a:sym typeface="Lato"/>
            </a:endParaRPr>
          </a:p>
          <a:p>
            <a:pPr indent="0" lvl="0" marL="0" marR="0" rtl="0" algn="just">
              <a:spcBef>
                <a:spcPts val="0"/>
              </a:spcBef>
              <a:spcAft>
                <a:spcPts val="0"/>
              </a:spcAft>
              <a:buNone/>
            </a:pPr>
            <a:r>
              <a:rPr b="0" i="0" lang="es-ES" sz="2200">
                <a:solidFill>
                  <a:schemeClr val="dk1"/>
                </a:solidFill>
                <a:latin typeface="Lato"/>
                <a:ea typeface="Lato"/>
                <a:cs typeface="Lato"/>
                <a:sym typeface="Lato"/>
              </a:rPr>
              <a:t>El Afinamiento o </a:t>
            </a:r>
            <a:r>
              <a:rPr lang="es-ES" sz="2200">
                <a:solidFill>
                  <a:schemeClr val="dk1"/>
                </a:solidFill>
                <a:latin typeface="Lato"/>
                <a:ea typeface="Lato"/>
                <a:cs typeface="Lato"/>
                <a:sym typeface="Lato"/>
              </a:rPr>
              <a:t>T</a:t>
            </a:r>
            <a:r>
              <a:rPr b="0" i="0" lang="es-ES" sz="2200">
                <a:solidFill>
                  <a:schemeClr val="dk1"/>
                </a:solidFill>
                <a:latin typeface="Lato"/>
                <a:ea typeface="Lato"/>
                <a:cs typeface="Lato"/>
                <a:sym typeface="Lato"/>
              </a:rPr>
              <a:t>uning de Bases de Datos PostgreSQL (Performance Tuning de Base de Datos PostgreSQL) es el proceso de cambiar la configuración de la base de datos en un esfuerzo por obtener un mejor rendimiento de ésta. Esto requiere una comprensión profunda de la arquitectura y de cómo funciona el motor de la base de datos, qué hace cada parámetro de configuración y qué valores deben usarse.</a:t>
            </a:r>
            <a:endParaRPr/>
          </a:p>
          <a:p>
            <a:pPr indent="0" lvl="0" marL="0" marR="0" rtl="0" algn="just">
              <a:spcBef>
                <a:spcPts val="0"/>
              </a:spcBef>
              <a:spcAft>
                <a:spcPts val="0"/>
              </a:spcAft>
              <a:buNone/>
            </a:pPr>
            <a:r>
              <a:rPr b="0" i="0" lang="es-ES" sz="2200">
                <a:solidFill>
                  <a:schemeClr val="dk1"/>
                </a:solidFill>
                <a:latin typeface="Lato"/>
                <a:ea typeface="Lato"/>
                <a:cs typeface="Lato"/>
                <a:sym typeface="Lato"/>
              </a:rPr>
              <a:t>Ajustar el rendimiento de PostgreSQL no es similar a ajustar otras bases de datos, como por ejemplo Oracle. Esto se debe a que, con PostgreSQL, puede activar cada esquema para una métrica de rendimiento diferente según el caso de uso, por ejemplo, escrituras o lecturas frecuentes.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nvSpPr>
        <p:spPr>
          <a:xfrm>
            <a:off x="762000" y="829389"/>
            <a:ext cx="5334000" cy="48320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2200">
                <a:solidFill>
                  <a:srgbClr val="222222"/>
                </a:solidFill>
                <a:latin typeface="Lato"/>
                <a:ea typeface="Lato"/>
                <a:cs typeface="Lato"/>
                <a:sym typeface="Lato"/>
              </a:rPr>
              <a:t>Arquitectura PostgreSQL</a:t>
            </a:r>
            <a:endParaRPr/>
          </a:p>
          <a:p>
            <a:pPr indent="0" lvl="0" marL="0" marR="0" rtl="0" algn="just">
              <a:spcBef>
                <a:spcPts val="0"/>
              </a:spcBef>
              <a:spcAft>
                <a:spcPts val="0"/>
              </a:spcAft>
              <a:buNone/>
            </a:pPr>
            <a:r>
              <a:t/>
            </a:r>
            <a:endParaRPr b="0" i="0" sz="2200">
              <a:solidFill>
                <a:srgbClr val="222222"/>
              </a:solidFill>
              <a:latin typeface="Lato"/>
              <a:ea typeface="Lato"/>
              <a:cs typeface="Lato"/>
              <a:sym typeface="Lato"/>
            </a:endParaRPr>
          </a:p>
          <a:p>
            <a:pPr indent="0" lvl="0" marL="0" marR="0" rtl="0" algn="just">
              <a:spcBef>
                <a:spcPts val="0"/>
              </a:spcBef>
              <a:spcAft>
                <a:spcPts val="0"/>
              </a:spcAft>
              <a:buNone/>
            </a:pPr>
            <a:r>
              <a:rPr b="0" i="0" lang="es-ES" sz="2200">
                <a:solidFill>
                  <a:srgbClr val="222222"/>
                </a:solidFill>
                <a:latin typeface="Lato"/>
                <a:ea typeface="Lato"/>
                <a:cs typeface="Lato"/>
                <a:sym typeface="Lato"/>
              </a:rPr>
              <a:t>El servidor PostgreSQL tiene una estructura clásica en los RDBMS, que consiste en una memoria compartida (shared pool), un conjunto de procesos backgrounds y una estructura de directorios de datos que forman la base de datos propiamente tal. A las estructuras de memoria y procesos background se le denomina Instancia PostgreSQL. En esta sección, hablaremos de las componentes principales de la Instancia.</a:t>
            </a:r>
            <a:endParaRPr/>
          </a:p>
        </p:txBody>
      </p:sp>
      <p:pic>
        <p:nvPicPr>
          <p:cNvPr descr="Tuning de bases de datos PostgreSQL" id="165" name="Google Shape;165;p16"/>
          <p:cNvPicPr preferRelativeResize="0"/>
          <p:nvPr/>
        </p:nvPicPr>
        <p:blipFill rotWithShape="1">
          <a:blip r:embed="rId3">
            <a:alphaModFix/>
          </a:blip>
          <a:srcRect b="0" l="0" r="0" t="0"/>
          <a:stretch/>
        </p:blipFill>
        <p:spPr>
          <a:xfrm>
            <a:off x="6721478" y="2221981"/>
            <a:ext cx="4708522" cy="24140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Tuning de bases de datos PostgreSQL" id="170" name="Google Shape;170;p17"/>
          <p:cNvPicPr preferRelativeResize="0"/>
          <p:nvPr/>
        </p:nvPicPr>
        <p:blipFill rotWithShape="1">
          <a:blip r:embed="rId3">
            <a:alphaModFix/>
          </a:blip>
          <a:srcRect b="0" l="0" r="0" t="0"/>
          <a:stretch/>
        </p:blipFill>
        <p:spPr>
          <a:xfrm>
            <a:off x="762000" y="990600"/>
            <a:ext cx="10210800" cy="52350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txBox="1"/>
          <p:nvPr/>
        </p:nvSpPr>
        <p:spPr>
          <a:xfrm>
            <a:off x="533400" y="2745306"/>
            <a:ext cx="11049000" cy="34778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s-ES" sz="2000">
                <a:solidFill>
                  <a:srgbClr val="FF0000"/>
                </a:solidFill>
                <a:latin typeface="Roboto"/>
                <a:ea typeface="Roboto"/>
                <a:cs typeface="Roboto"/>
                <a:sym typeface="Roboto"/>
              </a:rPr>
              <a:t>LO QUE TRATA DE LA IMAGEN, PARA EXPLICAR AL ESTUDIANTE:</a:t>
            </a:r>
            <a:endParaRPr/>
          </a:p>
          <a:p>
            <a:pPr indent="0" lvl="0" marL="0" marR="0" rtl="0" algn="just">
              <a:spcBef>
                <a:spcPts val="0"/>
              </a:spcBef>
              <a:spcAft>
                <a:spcPts val="0"/>
              </a:spcAft>
              <a:buNone/>
            </a:pPr>
            <a:r>
              <a:rPr b="0" i="0" lang="es-ES" sz="2000">
                <a:solidFill>
                  <a:srgbClr val="FF0000"/>
                </a:solidFill>
                <a:latin typeface="Roboto"/>
                <a:ea typeface="Roboto"/>
                <a:cs typeface="Roboto"/>
                <a:sym typeface="Roboto"/>
              </a:rPr>
              <a:t>A continuación, se muestra Ilustración 1 Arquitectura PostgreSQL. Inicialmente, el cliente envía una petición al servidor postmaster para abrir un canal de comunicación (sesión). El servidor postmaster que está escuchando por conexiones nuevas, crea un proceso servidor para que atienda al proceso cliente, y estos dos últimos procesos quedan comunicándose en un esquema peer to peer. Luego, el proceso cliente envía alguna petición SQL al su proceso servidor, y el proceso servidor PostgreSQL procesa los datos utilizando bufferes compartidos y procesos background. El archivo físico de datos PostgreSQL se almacena en el directorio de datos. Todo buffer de datos en memoria tiene una imagen en disco. Cuando se consulta un dato, si es que el buffer que contiene ese dato no está memoria se debe cargar desde un bloque en disco a memoria, esta imagen en memoria del bloque o página en disco se denomina buffer.</a:t>
            </a:r>
            <a:endParaRPr sz="2000">
              <a:solidFill>
                <a:srgbClr val="FF0000"/>
              </a:solidFill>
              <a:latin typeface="Calibri"/>
              <a:ea typeface="Calibri"/>
              <a:cs typeface="Calibri"/>
              <a:sym typeface="Calibri"/>
            </a:endParaRPr>
          </a:p>
        </p:txBody>
      </p:sp>
      <p:pic>
        <p:nvPicPr>
          <p:cNvPr descr="Tuning de bases de datos PostgreSQL" id="176" name="Google Shape;176;p18"/>
          <p:cNvPicPr preferRelativeResize="0"/>
          <p:nvPr/>
        </p:nvPicPr>
        <p:blipFill rotWithShape="1">
          <a:blip r:embed="rId3">
            <a:alphaModFix/>
          </a:blip>
          <a:srcRect b="0" l="0" r="0" t="0"/>
          <a:stretch/>
        </p:blipFill>
        <p:spPr>
          <a:xfrm>
            <a:off x="3782132" y="304800"/>
            <a:ext cx="4310163" cy="2209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9"/>
          <p:cNvSpPr txBox="1"/>
          <p:nvPr/>
        </p:nvSpPr>
        <p:spPr>
          <a:xfrm>
            <a:off x="990600" y="1143000"/>
            <a:ext cx="10210800" cy="3170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000">
                <a:solidFill>
                  <a:srgbClr val="1F4282"/>
                </a:solidFill>
                <a:latin typeface="Roboto"/>
                <a:ea typeface="Roboto"/>
                <a:cs typeface="Roboto"/>
                <a:sym typeface="Roboto"/>
              </a:rPr>
              <a:t>Cómo ajustar el rendimiento de PostgreSQL</a:t>
            </a:r>
            <a:endParaRPr/>
          </a:p>
          <a:p>
            <a:pPr indent="0" lvl="0" marL="0" marR="0" rtl="0" algn="ctr">
              <a:spcBef>
                <a:spcPts val="0"/>
              </a:spcBef>
              <a:spcAft>
                <a:spcPts val="0"/>
              </a:spcAft>
              <a:buNone/>
            </a:pPr>
            <a:r>
              <a:t/>
            </a:r>
            <a:endParaRPr b="1" i="0" sz="2000">
              <a:solidFill>
                <a:srgbClr val="1F4282"/>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Hay muchas formas de realizar un Tuning de bases de datos PostgreSQL. Depende principalmente del caso de uso, por lo que es importante saber qué quiere lograr antes de comenzar. Hay varios parámetros de configuración que se pueden usar para realizar ajustes, algunos de los cuales analizaré en esta sección. Por ejemplo, si la base de datos soporta un sistema OLTP orientado a transacciones, como un sistema de ventas – que tiene una configuración recomendada – o por otro lado, si el sistema es un DSS o, incluso, un sistema BATCH, presentan configuraciones diferentes orientadas a servir consultas con alto nivel de I/O. Las estructuras de memoria cambian en estos casos.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nvSpPr>
        <p:spPr>
          <a:xfrm>
            <a:off x="685800" y="914400"/>
            <a:ext cx="1059180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000">
                <a:solidFill>
                  <a:srgbClr val="1E73BE"/>
                </a:solidFill>
                <a:latin typeface="Roboto"/>
                <a:ea typeface="Roboto"/>
                <a:cs typeface="Roboto"/>
                <a:sym typeface="Roboto"/>
              </a:rPr>
              <a:t>Diseño de base de datos</a:t>
            </a:r>
            <a:endParaRPr/>
          </a:p>
          <a:p>
            <a:pPr indent="0" lvl="0" marL="0" marR="0" rtl="0" algn="l">
              <a:spcBef>
                <a:spcPts val="0"/>
              </a:spcBef>
              <a:spcAft>
                <a:spcPts val="0"/>
              </a:spcAft>
              <a:buNone/>
            </a:pPr>
            <a:r>
              <a:t/>
            </a:r>
            <a:endParaRPr b="0" i="0" sz="2000">
              <a:solidFill>
                <a:srgbClr val="1E73BE"/>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Podría decirse que el diseño de la base de datos es uno de los pasos más importantes para optimizar el rendimiento de cualquier base de datos, no solo de PostgreSQL. Uno observa que en la práctica es una de las actividades que menos se hace, porque en general, los desarrolladores ignoran las claves de la arquitectura de RDBMS y los elementos que influyen en un buen rendimiento de BD. Indexar las columnas FKs, particionar, son acciones elementales que pueden mejorar mucho el rendimiento. </a:t>
            </a:r>
            <a:r>
              <a:rPr b="1" i="0" lang="es-ES" sz="2000">
                <a:solidFill>
                  <a:srgbClr val="222222"/>
                </a:solidFill>
                <a:latin typeface="Roboto"/>
                <a:ea typeface="Roboto"/>
                <a:cs typeface="Roboto"/>
                <a:sym typeface="Roboto"/>
              </a:rPr>
              <a:t>Tener índices adecuados</a:t>
            </a:r>
            <a:r>
              <a:rPr b="0" i="0" lang="es-ES" sz="2000">
                <a:solidFill>
                  <a:srgbClr val="222222"/>
                </a:solidFill>
                <a:latin typeface="Roboto"/>
                <a:ea typeface="Roboto"/>
                <a:cs typeface="Roboto"/>
                <a:sym typeface="Roboto"/>
              </a:rPr>
              <a:t> depende en gran medida del caso de uso y de las consultas que ejecutará con frecuencia. La idea aquí es filtrar la mayor cantidad de datos posible para que haya menos datos para cargar en memoria. Por lo tanto, debe </a:t>
            </a:r>
            <a:r>
              <a:rPr b="1" i="0" lang="es-ES" sz="2000">
                <a:solidFill>
                  <a:srgbClr val="222222"/>
                </a:solidFill>
                <a:latin typeface="Roboto"/>
                <a:ea typeface="Roboto"/>
                <a:cs typeface="Roboto"/>
                <a:sym typeface="Roboto"/>
              </a:rPr>
              <a:t>crear índices en columnas</a:t>
            </a:r>
            <a:r>
              <a:rPr b="0" i="0" lang="es-ES" sz="2000">
                <a:solidFill>
                  <a:srgbClr val="222222"/>
                </a:solidFill>
                <a:latin typeface="Roboto"/>
                <a:ea typeface="Roboto"/>
                <a:cs typeface="Roboto"/>
                <a:sym typeface="Roboto"/>
              </a:rPr>
              <a:t> que normalmente se utilizan como filtros (cláusula WHERE ) en las consultas ejecutadas con más frecuencia.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nvSpPr>
        <p:spPr>
          <a:xfrm>
            <a:off x="533400" y="696872"/>
            <a:ext cx="11049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a:solidFill>
                  <a:srgbClr val="7C8BA0"/>
                </a:solidFill>
                <a:latin typeface="Roboto"/>
                <a:ea typeface="Roboto"/>
                <a:cs typeface="Roboto"/>
                <a:sym typeface="Roboto"/>
              </a:rPr>
              <a:t>Ajuste de hardware</a:t>
            </a:r>
            <a:endParaRPr/>
          </a:p>
          <a:p>
            <a:pPr indent="0" lvl="0" marL="0" marR="0" rtl="0" algn="ctr">
              <a:spcBef>
                <a:spcPts val="0"/>
              </a:spcBef>
              <a:spcAft>
                <a:spcPts val="0"/>
              </a:spcAft>
              <a:buNone/>
            </a:pPr>
            <a:r>
              <a:t/>
            </a:r>
            <a:endParaRPr b="0" i="0" sz="1800">
              <a:solidFill>
                <a:srgbClr val="7C8BA0"/>
              </a:solidFill>
              <a:latin typeface="Roboto"/>
              <a:ea typeface="Roboto"/>
              <a:cs typeface="Roboto"/>
              <a:sym typeface="Roboto"/>
            </a:endParaRPr>
          </a:p>
          <a:p>
            <a:pPr indent="0" lvl="0" marL="0" marR="0" rtl="0" algn="just">
              <a:spcBef>
                <a:spcPts val="0"/>
              </a:spcBef>
              <a:spcAft>
                <a:spcPts val="0"/>
              </a:spcAft>
              <a:buNone/>
            </a:pPr>
            <a:r>
              <a:rPr b="0" i="0" lang="es-ES" sz="1800">
                <a:solidFill>
                  <a:srgbClr val="222222"/>
                </a:solidFill>
                <a:latin typeface="Roboto"/>
                <a:ea typeface="Roboto"/>
                <a:cs typeface="Roboto"/>
                <a:sym typeface="Roboto"/>
              </a:rPr>
              <a:t>El hardware subyacente definitivamente tiene un papel que desempeñar en la optimización del rendimiento de PostgreSQL. Los desarrolladores deben tener en cuenta la partición, indexación, configuración y capacidad del hardware de los datos al diseñar consultas. Aquí, veremos cuatro componentes de hardware principales y cómo afectan el rendimiento de PostgreSQL.</a:t>
            </a:r>
            <a:endParaRPr/>
          </a:p>
        </p:txBody>
      </p:sp>
      <p:sp>
        <p:nvSpPr>
          <p:cNvPr id="192" name="Google Shape;192;p21"/>
          <p:cNvSpPr txBox="1"/>
          <p:nvPr/>
        </p:nvSpPr>
        <p:spPr>
          <a:xfrm>
            <a:off x="609600" y="2558534"/>
            <a:ext cx="5181600"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200">
                <a:solidFill>
                  <a:srgbClr val="222222"/>
                </a:solidFill>
                <a:latin typeface="Roboto"/>
                <a:ea typeface="Roboto"/>
                <a:cs typeface="Roboto"/>
                <a:sym typeface="Roboto"/>
              </a:rPr>
              <a:t>CPU</a:t>
            </a:r>
            <a:endParaRPr b="0" i="0" sz="12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La CPU juega un papel importante en el rendimiento de las consultas PostgreSQL. Las operaciones y cálculos complejos, como agregaciones, uniones, hash, agrupaciones, clasificación, etc., requieren tiempo de CPU. Y junto con el tiempo de CPU, la CPU debería ser lo suficientemente poderosa para manejar tales tareas.</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Ampliar la capacidad de CPU es una acción que tiene alto costo. Por lo tanto, es necesario realizar un análisis exhaustivo del impacto de la CPU en el rendimiento antes de actualizar la CPU. Al mismo tiempo, se debe pensar lo suficiente en optimizar la consulta para aprovechar al máximo la CPU existente.</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Una de las acciones más importantes de un motor de base de datos en consumir un alto nivel de CPU, es la generación del Plan de Ejecución de una consulta. Se deben evaluar los costos de muchos planes de ejecución alternativos, y de debe elegir el “óptimo”, el de menor costo. En la medida que las consultas sean complejas, la cantidad de planes a evaluar será muy grande, y el esfuerzo de cálculo en la evaluación será mayor.</a:t>
            </a:r>
            <a:endParaRPr/>
          </a:p>
        </p:txBody>
      </p:sp>
      <p:sp>
        <p:nvSpPr>
          <p:cNvPr id="193" name="Google Shape;193;p21"/>
          <p:cNvSpPr txBox="1"/>
          <p:nvPr/>
        </p:nvSpPr>
        <p:spPr>
          <a:xfrm>
            <a:off x="6096000" y="2558534"/>
            <a:ext cx="5534025"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200">
                <a:solidFill>
                  <a:srgbClr val="222222"/>
                </a:solidFill>
                <a:latin typeface="Roboto"/>
                <a:ea typeface="Roboto"/>
                <a:cs typeface="Roboto"/>
                <a:sym typeface="Roboto"/>
              </a:rPr>
              <a:t>RAM</a:t>
            </a:r>
            <a:endParaRPr b="0" i="0" sz="12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La RAM o la memoria es crucial para que las bases de datos funcionen correctamente. El buffer pool de la instancia PostgreSQL vive en la RAM. Siempre que enviamos una consulta, los datos primero se guardan en la memoria y luego se aplica cualquier agregación, agrupación, clasificación, etc. Por eso es importante asegurarse de tener suficiente memoria para guardar sus datos.</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Con mayor memoria, también verá un mayor caché de disco y operaciones de I/O reducidas en el disco. Esto mejora significativamente el rendimiento de las consultas PostgreSQL, ya que las operaciones de I/O son mucho más caras que las operaciones en la memoria. </a:t>
            </a:r>
            <a:r>
              <a:rPr b="1" i="0" lang="es-ES" sz="1200">
                <a:solidFill>
                  <a:srgbClr val="222222"/>
                </a:solidFill>
                <a:latin typeface="Roboto"/>
                <a:ea typeface="Roboto"/>
                <a:cs typeface="Roboto"/>
                <a:sym typeface="Roboto"/>
              </a:rPr>
              <a:t>Nunca está mal tener un poco más de memoria de la absolutamente necesaria</a:t>
            </a:r>
            <a:r>
              <a:rPr b="0" i="0" lang="es-ES" sz="1200">
                <a:solidFill>
                  <a:srgbClr val="222222"/>
                </a:solidFill>
                <a:latin typeface="Roboto"/>
                <a:ea typeface="Roboto"/>
                <a:cs typeface="Roboto"/>
                <a:sym typeface="Roboto"/>
              </a:rPr>
              <a:t>.</a:t>
            </a:r>
            <a:endParaRPr/>
          </a:p>
          <a:p>
            <a:pPr indent="0" lvl="0" marL="0" marR="0" rtl="0" algn="just">
              <a:spcBef>
                <a:spcPts val="0"/>
              </a:spcBef>
              <a:spcAft>
                <a:spcPts val="0"/>
              </a:spcAft>
              <a:buNone/>
            </a:pPr>
            <a:r>
              <a:rPr b="0" i="0" lang="es-ES" sz="1200">
                <a:solidFill>
                  <a:srgbClr val="222222"/>
                </a:solidFill>
                <a:latin typeface="Roboto"/>
                <a:ea typeface="Roboto"/>
                <a:cs typeface="Roboto"/>
                <a:sym typeface="Roboto"/>
              </a:rPr>
              <a:t>Por otro lado, si no tenemos suficiente memoria, nuestras consultas podrían cerrarse con una excepción de «memoria insuficiente», u otros procesos en ejecución podrían cerrarse abruptamente para dar cabida a nuestras consultas.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nvSpPr>
        <p:spPr>
          <a:xfrm>
            <a:off x="585788" y="1219200"/>
            <a:ext cx="5129211" cy="35394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400">
                <a:solidFill>
                  <a:srgbClr val="222222"/>
                </a:solidFill>
                <a:latin typeface="Roboto"/>
                <a:ea typeface="Roboto"/>
                <a:cs typeface="Roboto"/>
                <a:sym typeface="Roboto"/>
              </a:rPr>
              <a:t>I/O de disco</a:t>
            </a:r>
            <a:endParaRPr b="0" i="0" sz="14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Un disco duro (ya sea magnético o SSD) es donde residen todos los datos. Entonces, cada vez que se envía una consulta, primero se deben leer los datos del disco y cargarlos en la memoria (shared pool). De manera similar, siempre que haya una operación de escritura, los datos deben escribirse en el disco desde la memoria. Todo esto genera costos de I/O de disco.</a:t>
            </a:r>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Un tiempo de lectura y escritura rápido mejora en gran medida el rendimiento de una consulta PostgreSQL, ya que los datos pueden cargarse rápidamente en la memoria o descargarse rápidamente de la memoria. Si hay operaciones de I/O importantes en la base de datos, otra buena idea es almacenar físicamente cada tablespace en una unidad de disco diferente para que el disco no se sobrecargue con solicitudes de operaciones de I/O.</a:t>
            </a:r>
            <a:endParaRPr/>
          </a:p>
        </p:txBody>
      </p:sp>
      <p:sp>
        <p:nvSpPr>
          <p:cNvPr id="199" name="Google Shape;199;p22"/>
          <p:cNvSpPr txBox="1"/>
          <p:nvPr/>
        </p:nvSpPr>
        <p:spPr>
          <a:xfrm>
            <a:off x="6065043" y="1219200"/>
            <a:ext cx="5560218" cy="310854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s-ES" sz="1400">
                <a:solidFill>
                  <a:srgbClr val="222222"/>
                </a:solidFill>
                <a:latin typeface="Roboto"/>
                <a:ea typeface="Roboto"/>
                <a:cs typeface="Roboto"/>
                <a:sym typeface="Roboto"/>
              </a:rPr>
              <a:t>Red</a:t>
            </a:r>
            <a:endParaRPr b="0" i="0" sz="1400">
              <a:solidFill>
                <a:srgbClr val="222222"/>
              </a:solidFill>
              <a:latin typeface="Roboto"/>
              <a:ea typeface="Roboto"/>
              <a:cs typeface="Roboto"/>
              <a:sym typeface="Roboto"/>
            </a:endParaRPr>
          </a:p>
          <a:p>
            <a:pPr indent="0" lvl="0" marL="0" marR="0" rtl="0" algn="just">
              <a:spcBef>
                <a:spcPts val="0"/>
              </a:spcBef>
              <a:spcAft>
                <a:spcPts val="0"/>
              </a:spcAft>
              <a:buNone/>
            </a:pPr>
            <a:r>
              <a:rPr b="0" i="0" lang="es-ES" sz="1400">
                <a:solidFill>
                  <a:srgbClr val="222222"/>
                </a:solidFill>
                <a:latin typeface="Roboto"/>
                <a:ea typeface="Roboto"/>
                <a:cs typeface="Roboto"/>
                <a:sym typeface="Roboto"/>
              </a:rPr>
              <a:t>Es posible que optimizar la red no parezca tan importante al principio. Pero a medida que los datos crecen, se puede ver que la red desempeña un papel importante en el rendimiento de las consultas. Los retrasos en la red son uno de los cuellos de botella de rendimiento más comunes. Es importante contar con tarjetas de red confiables, de alta velocidad y con gran ancho de banda. Además, la conectividad de alta velocidad entre nodos es igualmente crucial. Esto permite que los datos fluyan fácil y rápidamente entre máquinas y no bloqueen consultas. Si tiene una arquitectura de N capas, hay que tratar de minimizar el viaje de datos desde la capa de datos a la capa lógica de negocio, tratando de procesar la máxima información en la base de datos misma, por ejemplo, vía procedimiento o funciones almacenadas.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nvSpPr>
        <p:spPr>
          <a:xfrm>
            <a:off x="800100" y="838200"/>
            <a:ext cx="10591800" cy="501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000">
                <a:solidFill>
                  <a:srgbClr val="555555"/>
                </a:solidFill>
                <a:latin typeface="Roboto"/>
                <a:ea typeface="Roboto"/>
                <a:cs typeface="Roboto"/>
                <a:sym typeface="Roboto"/>
              </a:rPr>
              <a:t>Optimización del sistema operativo</a:t>
            </a:r>
            <a:endParaRPr/>
          </a:p>
          <a:p>
            <a:pPr indent="0" lvl="0" marL="0" marR="0" rtl="0" algn="ctr">
              <a:spcBef>
                <a:spcPts val="0"/>
              </a:spcBef>
              <a:spcAft>
                <a:spcPts val="0"/>
              </a:spcAft>
              <a:buNone/>
            </a:pPr>
            <a:r>
              <a:t/>
            </a:r>
            <a:endParaRPr b="1" i="0" sz="2000">
              <a:solidFill>
                <a:srgbClr val="555555"/>
              </a:solidFill>
              <a:latin typeface="Roboto"/>
              <a:ea typeface="Roboto"/>
              <a:cs typeface="Roboto"/>
              <a:sym typeface="Roboto"/>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El sistema operativo desempeña un papel importante en el rendimiento de una base de datos, ya que es la capa que permite la comunicación entre el software de la base de datos y el hardware subyacente.</a:t>
            </a:r>
            <a:r>
              <a:rPr b="0" i="0" lang="es-ES" sz="2000">
                <a:solidFill>
                  <a:srgbClr val="222222"/>
                </a:solidFill>
                <a:latin typeface="Roboto"/>
                <a:ea typeface="Roboto"/>
                <a:cs typeface="Roboto"/>
                <a:sym typeface="Roboto"/>
              </a:rPr>
              <a:t> Por ejemplo, si un sistema operativo no puede leer grandes pedazos de archivos de datos del disco a la memoria, el rendimiento general será deficiente.</a:t>
            </a:r>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Cada sistema operativo proporciona muchos parámetros de configuración para ajustar el rendimiento y adaptarlo mejor a nuestro caso de uso. Con una configuración personalizada podemos mejorar significativamente el rendimiento de lectura y escritura de nuestras bases de datos PostgreSQL. Los sistemas operativos también brindan capacidades que el software de bases de datos generalmente no incluye y, sin embargo, dependen de dichas características para su correcto funcionamiento.</a:t>
            </a:r>
            <a:endParaRPr/>
          </a:p>
          <a:p>
            <a:pPr indent="0" lvl="0" marL="0" marR="0" rtl="0" algn="just">
              <a:spcBef>
                <a:spcPts val="0"/>
              </a:spcBef>
              <a:spcAft>
                <a:spcPts val="0"/>
              </a:spcAft>
              <a:buNone/>
            </a:pPr>
            <a:r>
              <a:rPr b="0" i="0" lang="es-ES" sz="2000">
                <a:solidFill>
                  <a:srgbClr val="222222"/>
                </a:solidFill>
                <a:latin typeface="Roboto"/>
                <a:ea typeface="Roboto"/>
                <a:cs typeface="Roboto"/>
                <a:sym typeface="Roboto"/>
              </a:rPr>
              <a:t>Un ejemplo de esto es mantener activa y abierta una conexión TCP entre un servidor de base de datos y un cliente. Normalmente en las bases de datos PostgreSQL  se ven errores como los siguientes: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p:nvPr/>
        </p:nvSpPr>
        <p:spPr>
          <a:xfrm>
            <a:off x="590550" y="612844"/>
            <a:ext cx="10972800" cy="5632311"/>
          </a:xfrm>
          <a:prstGeom prst="rect">
            <a:avLst/>
          </a:prstGeom>
          <a:noFill/>
          <a:ln>
            <a:noFill/>
          </a:ln>
        </p:spPr>
        <p:txBody>
          <a:bodyPr anchorCtr="0" anchor="ctr" bIns="0" lIns="0" spcFirstLastPara="1" rIns="0" wrap="square" tIns="0">
            <a:spAutoFit/>
          </a:bodyPr>
          <a:lstStyle/>
          <a:p>
            <a:pPr indent="0" lvl="0" marL="0" marR="0" rtl="0" algn="just">
              <a:lnSpc>
                <a:spcPct val="100000"/>
              </a:lnSpc>
              <a:spcBef>
                <a:spcPts val="0"/>
              </a:spcBef>
              <a:spcAft>
                <a:spcPts val="0"/>
              </a:spcAft>
              <a:buClr>
                <a:srgbClr val="242424"/>
              </a:buClr>
              <a:buSzPts val="2400"/>
              <a:buFont typeface="Arial"/>
              <a:buNone/>
            </a:pPr>
            <a:r>
              <a:rPr b="1" i="0" lang="es-ES" sz="2400" u="none" cap="none" strike="noStrike">
                <a:solidFill>
                  <a:srgbClr val="242424"/>
                </a:solidFill>
                <a:latin typeface="Arial"/>
                <a:ea typeface="Arial"/>
                <a:cs typeface="Arial"/>
                <a:sym typeface="Arial"/>
              </a:rPr>
              <a:t>Estructura de gestión de la información</a:t>
            </a:r>
            <a:endParaRPr/>
          </a:p>
          <a:p>
            <a:pPr indent="0" lvl="0" marL="0" marR="0" rtl="0" algn="just">
              <a:lnSpc>
                <a:spcPct val="100000"/>
              </a:lnSpc>
              <a:spcBef>
                <a:spcPts val="0"/>
              </a:spcBef>
              <a:spcAft>
                <a:spcPts val="0"/>
              </a:spcAft>
              <a:buClr>
                <a:srgbClr val="242424"/>
              </a:buClr>
              <a:buSzPts val="1800"/>
              <a:buFont typeface="Arial"/>
              <a:buNone/>
            </a:pPr>
            <a:r>
              <a:rPr b="0" i="0" lang="es-ES" sz="1800" u="none" cap="none" strike="noStrike">
                <a:solidFill>
                  <a:srgbClr val="242424"/>
                </a:solidFill>
                <a:latin typeface="Arial"/>
                <a:ea typeface="Arial"/>
                <a:cs typeface="Arial"/>
                <a:sym typeface="Arial"/>
              </a:rPr>
              <a:t>PostgreSQL sigue el esquema de una base de datos relacional. Por lo cual, PostgreSQL se estructura utilizando varios elementos específicos de aquel modelo.</a:t>
            </a:r>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sz="1800">
              <a:solidFill>
                <a:srgbClr val="242424"/>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242424"/>
              </a:solidFill>
              <a:latin typeface="Arial"/>
              <a:ea typeface="Arial"/>
              <a:cs typeface="Arial"/>
              <a:sym typeface="Arial"/>
            </a:endParaRPr>
          </a:p>
          <a:p>
            <a:pPr indent="0" lvl="0" marL="0" marR="0" rtl="0" algn="just">
              <a:lnSpc>
                <a:spcPct val="100000"/>
              </a:lnSpc>
              <a:spcBef>
                <a:spcPts val="0"/>
              </a:spcBef>
              <a:spcAft>
                <a:spcPts val="0"/>
              </a:spcAft>
              <a:buClr>
                <a:srgbClr val="242424"/>
              </a:buClr>
              <a:buSzPts val="1800"/>
              <a:buFont typeface="Arial"/>
              <a:buNone/>
            </a:pPr>
            <a:r>
              <a:rPr b="0" i="0" lang="es-ES" sz="1800" u="none" cap="none" strike="noStrike">
                <a:solidFill>
                  <a:srgbClr val="242424"/>
                </a:solidFill>
                <a:latin typeface="Arial"/>
                <a:ea typeface="Arial"/>
                <a:cs typeface="Arial"/>
                <a:sym typeface="Arial"/>
              </a:rPr>
              <a:t>La estructura básica de una base de datos en PostgreSQL contiene los siguientes elementos clave:</a:t>
            </a:r>
            <a:endParaRPr b="0" i="0" sz="1400" u="none" cap="none" strike="noStrike">
              <a:solidFill>
                <a:schemeClr val="dk1"/>
              </a:solidFill>
              <a:latin typeface="Arial"/>
              <a:ea typeface="Arial"/>
              <a:cs typeface="Arial"/>
              <a:sym typeface="Arial"/>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Tablas</a:t>
            </a:r>
            <a:r>
              <a:rPr b="0" i="0" lang="es-ES" sz="1800" u="none" cap="none" strike="noStrike">
                <a:solidFill>
                  <a:srgbClr val="242424"/>
                </a:solidFill>
                <a:latin typeface="Arial"/>
                <a:ea typeface="Arial"/>
                <a:cs typeface="Arial"/>
                <a:sym typeface="Arial"/>
              </a:rPr>
              <a:t>: Las tablas son el mecanismo principal que tienen las bases de datos relacionales para almacenar y organizar los datos. Las tablas se asemejan a una hoja de cálculo, compuesta por filas y columnas.</a:t>
            </a:r>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Columnas</a:t>
            </a:r>
            <a:r>
              <a:rPr b="0" i="0" lang="es-ES" sz="1800" u="none" cap="none" strike="noStrike">
                <a:solidFill>
                  <a:srgbClr val="242424"/>
                </a:solidFill>
                <a:latin typeface="Arial"/>
                <a:ea typeface="Arial"/>
                <a:cs typeface="Arial"/>
                <a:sym typeface="Arial"/>
              </a:rPr>
              <a:t>: Las columnas, también conocidas como atributos o campos, representan una propiedad dentro de la tabla. Cada columna está compuesta por un nombre, un tipo de dato y otras propiedades.</a:t>
            </a:r>
            <a:endParaRPr/>
          </a:p>
          <a:p>
            <a:pPr indent="-114300" lvl="0" marL="0" marR="0" rtl="0" algn="just">
              <a:lnSpc>
                <a:spcPct val="100000"/>
              </a:lnSpc>
              <a:spcBef>
                <a:spcPts val="0"/>
              </a:spcBef>
              <a:spcAft>
                <a:spcPts val="0"/>
              </a:spcAft>
              <a:buClr>
                <a:srgbClr val="242424"/>
              </a:buClr>
              <a:buSzPts val="1800"/>
              <a:buFont typeface="Arial"/>
              <a:buChar char="•"/>
            </a:pPr>
            <a:r>
              <a:rPr b="1" i="0" lang="es-ES" sz="1800" u="none" cap="none" strike="noStrike">
                <a:solidFill>
                  <a:srgbClr val="242424"/>
                </a:solidFill>
                <a:latin typeface="Arial"/>
                <a:ea typeface="Arial"/>
                <a:cs typeface="Arial"/>
                <a:sym typeface="Arial"/>
              </a:rPr>
              <a:t>Filas</a:t>
            </a:r>
            <a:r>
              <a:rPr b="0" i="0" lang="es-ES" sz="1800" u="none" cap="none" strike="noStrike">
                <a:solidFill>
                  <a:srgbClr val="242424"/>
                </a:solidFill>
                <a:latin typeface="Arial"/>
                <a:ea typeface="Arial"/>
                <a:cs typeface="Arial"/>
                <a:sym typeface="Arial"/>
              </a:rPr>
              <a:t>: Las filas, también conocidas como registros o tuplas, representan una instancia de los datos en sí. Los valores correspondientes en las filas se rigen fielmente a lo definido en las columnas, respetando restricciones y tipos de datos.</a:t>
            </a:r>
            <a:endParaRPr b="0" i="0" sz="2400" u="none" cap="none" strike="noStrike">
              <a:solidFill>
                <a:schemeClr val="dk1"/>
              </a:solidFill>
              <a:latin typeface="Arial"/>
              <a:ea typeface="Arial"/>
              <a:cs typeface="Arial"/>
              <a:sym typeface="Arial"/>
            </a:endParaRPr>
          </a:p>
        </p:txBody>
      </p:sp>
      <p:pic>
        <p:nvPicPr>
          <p:cNvPr id="210" name="Google Shape;210;p24"/>
          <p:cNvPicPr preferRelativeResize="0"/>
          <p:nvPr/>
        </p:nvPicPr>
        <p:blipFill rotWithShape="1">
          <a:blip r:embed="rId3">
            <a:alphaModFix/>
          </a:blip>
          <a:srcRect b="0" l="0" r="0" t="0"/>
          <a:stretch/>
        </p:blipFill>
        <p:spPr>
          <a:xfrm>
            <a:off x="3581400" y="1828800"/>
            <a:ext cx="4031512" cy="1981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nvSpPr>
        <p:spPr>
          <a:xfrm>
            <a:off x="723900" y="686869"/>
            <a:ext cx="10744200"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2400">
                <a:solidFill>
                  <a:srgbClr val="242424"/>
                </a:solidFill>
                <a:latin typeface="Arial"/>
                <a:ea typeface="Arial"/>
                <a:cs typeface="Arial"/>
                <a:sym typeface="Arial"/>
              </a:rPr>
              <a:t>Tipos de datos en PostgreSQL</a:t>
            </a:r>
            <a:endParaRPr/>
          </a:p>
          <a:p>
            <a:pPr indent="0" lvl="0" marL="0" marR="0" rtl="0" algn="just">
              <a:spcBef>
                <a:spcPts val="0"/>
              </a:spcBef>
              <a:spcAft>
                <a:spcPts val="0"/>
              </a:spcAft>
              <a:buNone/>
            </a:pPr>
            <a:r>
              <a:rPr b="0" i="0" lang="es-ES" sz="2400">
                <a:solidFill>
                  <a:srgbClr val="242424"/>
                </a:solidFill>
                <a:latin typeface="Arial"/>
                <a:ea typeface="Arial"/>
                <a:cs typeface="Arial"/>
                <a:sym typeface="Arial"/>
              </a:rPr>
              <a:t>En cuanto a los tipos de datos, PostgreSQL sigue estándares ANSI e ISO para tipos de datos, ofreciendo una amplia variedad para almacenar y manipular información eficientemente. A continuación, los tipos de datos más utilizados en PostgreSQL a nivel general:</a:t>
            </a:r>
            <a:endParaRPr/>
          </a:p>
          <a:p>
            <a:pPr indent="0" lvl="0" marL="0" marR="0" rtl="0" algn="l">
              <a:spcBef>
                <a:spcPts val="0"/>
              </a:spcBef>
              <a:spcAft>
                <a:spcPts val="0"/>
              </a:spcAft>
              <a:buNone/>
            </a:pPr>
            <a:r>
              <a:t/>
            </a:r>
            <a:endParaRPr b="0" i="0" sz="2400">
              <a:solidFill>
                <a:srgbClr val="242424"/>
              </a:solidFill>
              <a:latin typeface="Arial"/>
              <a:ea typeface="Arial"/>
              <a:cs typeface="Arial"/>
              <a:sym typeface="Arial"/>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Números enteros.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Números decimales y puntos flotantes.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Textos y caracteres.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Fechas y horas.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Booleanos.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Binarios.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Arreglos.</a:t>
            </a:r>
            <a:endParaRPr/>
          </a:p>
          <a:p>
            <a:pPr indent="-152400" lvl="0" marL="0" marR="0" rtl="0" algn="l">
              <a:spcBef>
                <a:spcPts val="0"/>
              </a:spcBef>
              <a:spcAft>
                <a:spcPts val="0"/>
              </a:spcAft>
              <a:buClr>
                <a:srgbClr val="242424"/>
              </a:buClr>
              <a:buSzPts val="2400"/>
              <a:buFont typeface="Calibri"/>
              <a:buAutoNum type="arabicPeriod"/>
            </a:pPr>
            <a:r>
              <a:rPr b="0" i="0" lang="es-ES" sz="2400">
                <a:solidFill>
                  <a:srgbClr val="242424"/>
                </a:solidFill>
                <a:latin typeface="Arial"/>
                <a:ea typeface="Arial"/>
                <a:cs typeface="Arial"/>
                <a:sym typeface="Arial"/>
              </a:rPr>
              <a:t>JSON y JSONB.</a:t>
            </a:r>
            <a:endParaRPr/>
          </a:p>
        </p:txBody>
      </p:sp>
      <p:pic>
        <p:nvPicPr>
          <p:cNvPr id="216" name="Google Shape;216;p25"/>
          <p:cNvPicPr preferRelativeResize="0"/>
          <p:nvPr/>
        </p:nvPicPr>
        <p:blipFill rotWithShape="1">
          <a:blip r:embed="rId3">
            <a:alphaModFix/>
          </a:blip>
          <a:srcRect b="0" l="0" r="0" t="0"/>
          <a:stretch/>
        </p:blipFill>
        <p:spPr>
          <a:xfrm>
            <a:off x="5920930" y="2728912"/>
            <a:ext cx="5547170" cy="320664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p:nvPr/>
        </p:nvSpPr>
        <p:spPr>
          <a:xfrm>
            <a:off x="647700" y="612844"/>
            <a:ext cx="10896600" cy="563231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s-ES" sz="2000" u="none" cap="none" strike="noStrike">
                <a:solidFill>
                  <a:schemeClr val="dk1"/>
                </a:solidFill>
                <a:latin typeface="Calibri"/>
                <a:ea typeface="Calibri"/>
                <a:cs typeface="Calibri"/>
                <a:sym typeface="Calibri"/>
              </a:rPr>
              <a:t>Estructura de Funcionamiento de PostgreSQL</a:t>
            </a:r>
            <a:endParaRPr/>
          </a:p>
          <a:p>
            <a:pPr indent="0" lvl="0" marL="0" marR="0" rtl="0" algn="just">
              <a:lnSpc>
                <a:spcPct val="100000"/>
              </a:lnSpc>
              <a:spcBef>
                <a:spcPts val="0"/>
              </a:spcBef>
              <a:spcAft>
                <a:spcPts val="0"/>
              </a:spcAft>
              <a:buNone/>
            </a:pPr>
            <a:r>
              <a:t/>
            </a:r>
            <a:endParaRPr b="1" i="0" sz="20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2000"/>
              <a:buFont typeface="Calibri"/>
              <a:buNone/>
            </a:pPr>
            <a:r>
              <a:rPr b="1" i="0" lang="es-ES" sz="2000" u="none" cap="none" strike="noStrike">
                <a:solidFill>
                  <a:schemeClr val="dk1"/>
                </a:solidFill>
                <a:latin typeface="Calibri"/>
                <a:ea typeface="Calibri"/>
                <a:cs typeface="Calibri"/>
                <a:sym typeface="Calibri"/>
              </a:rPr>
              <a:t>PostgreSQL</a:t>
            </a:r>
            <a:r>
              <a:rPr b="0" i="0" lang="es-ES" sz="2000" u="none" cap="none" strike="noStrike">
                <a:solidFill>
                  <a:schemeClr val="dk1"/>
                </a:solidFill>
                <a:latin typeface="Calibri"/>
                <a:ea typeface="Calibri"/>
                <a:cs typeface="Calibri"/>
                <a:sym typeface="Calibri"/>
              </a:rPr>
              <a:t> es un sistema de gestión de bases de datos relacional y objeto-relacional que sigue una arquitectura cliente-servidor. Aquí se desglosan sus componentes principales:</a:t>
            </a:r>
            <a:endParaRPr/>
          </a:p>
          <a:p>
            <a:pPr indent="0" lvl="0" marL="0" marR="0" rtl="0" algn="just">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Servidor PostgreSQL</a:t>
            </a:r>
            <a:r>
              <a:rPr b="0" i="0" lang="es-ES" sz="2000" u="none" cap="none" strike="noStrike">
                <a:solidFill>
                  <a:schemeClr val="dk1"/>
                </a:solidFill>
                <a:latin typeface="Calibri"/>
                <a:ea typeface="Calibri"/>
                <a:cs typeface="Calibri"/>
                <a:sym typeface="Calibri"/>
              </a:rPr>
              <a:t>: El servidor de bases de datos es el componente central de PostgreSQL que maneja las conexiones de los clientes, procesa las consultas y gestiona las bases de datos.</a:t>
            </a:r>
            <a:endParaRPr/>
          </a:p>
          <a:p>
            <a:pPr indent="-215900" lvl="0" marL="34290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Cliente PostgreSQL</a:t>
            </a:r>
            <a:r>
              <a:rPr b="0" i="0" lang="es-ES" sz="2000" u="none" cap="none" strike="noStrike">
                <a:solidFill>
                  <a:schemeClr val="dk1"/>
                </a:solidFill>
                <a:latin typeface="Calibri"/>
                <a:ea typeface="Calibri"/>
                <a:cs typeface="Calibri"/>
                <a:sym typeface="Calibri"/>
              </a:rPr>
              <a:t>: Los clientes son aplicaciones o interfaces que interactúan con el servidor PostgreSQL para enviar consultas y recibir resultados. Los clientes pueden ser herramientas de línea de comandos como psql, aplicaciones web, sistemas de escritorio, etc.</a:t>
            </a:r>
            <a:endParaRPr/>
          </a:p>
          <a:p>
            <a:pPr indent="-215900" lvl="0" marL="34290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Motor de Almacenamiento</a:t>
            </a:r>
            <a:r>
              <a:rPr b="0" i="0" lang="es-ES" sz="2000" u="none" cap="none" strike="noStrike">
                <a:solidFill>
                  <a:schemeClr val="dk1"/>
                </a:solidFill>
                <a:latin typeface="Calibri"/>
                <a:ea typeface="Calibri"/>
                <a:cs typeface="Calibri"/>
                <a:sym typeface="Calibri"/>
              </a:rPr>
              <a:t>: PostgreSQL utiliza su propio motor de almacenamiento que soporta transacciones ACID (Atomicidad, Consistencia, Aislamiento y Durabilidad). Esto garantiza la fiabilidad y consistencia de los datos.</a:t>
            </a:r>
            <a:endParaRPr/>
          </a:p>
          <a:p>
            <a:pPr indent="-215900" lvl="0" marL="342900" marR="0" rtl="0" algn="just">
              <a:lnSpc>
                <a:spcPct val="100000"/>
              </a:lnSpc>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342900" lvl="0" marL="342900" marR="0" rtl="0" algn="just">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Sistema de Archivos</a:t>
            </a:r>
            <a:r>
              <a:rPr b="0" i="0" lang="es-ES" sz="2000" u="none" cap="none" strike="noStrike">
                <a:solidFill>
                  <a:schemeClr val="dk1"/>
                </a:solidFill>
                <a:latin typeface="Calibri"/>
                <a:ea typeface="Calibri"/>
                <a:cs typeface="Calibri"/>
                <a:sym typeface="Calibri"/>
              </a:rPr>
              <a:t>: PostgreSQL almacena sus datos en archivos en el sistema de archivos del servidor. Cada base de datos y tabla se representa mediante varios archivos en el disco.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p:nvPr/>
        </p:nvSpPr>
        <p:spPr>
          <a:xfrm>
            <a:off x="533400" y="1074508"/>
            <a:ext cx="10896600" cy="4708981"/>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Buffer Cache</a:t>
            </a:r>
            <a:r>
              <a:rPr b="0" i="0" lang="es-ES" sz="2000" u="none" cap="none" strike="noStrike">
                <a:solidFill>
                  <a:schemeClr val="dk1"/>
                </a:solidFill>
                <a:latin typeface="Calibri"/>
                <a:ea typeface="Calibri"/>
                <a:cs typeface="Calibri"/>
                <a:sym typeface="Calibri"/>
              </a:rPr>
              <a:t>: PostgreSQL utiliza una memoria intermedia para mejorar el rendimiento de las operaciones de lectura y escritura. Los datos accedidos con frecuencia se almacenan en caché para reducir el acceso al disco.</a:t>
            </a:r>
            <a:endParaRPr/>
          </a:p>
          <a:p>
            <a:pPr indent="-215900" lvl="0" marL="34290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WAL (Write-Ahead Logging)</a:t>
            </a:r>
            <a:r>
              <a:rPr b="0" i="0" lang="es-ES" sz="2000" u="none" cap="none" strike="noStrike">
                <a:solidFill>
                  <a:schemeClr val="dk1"/>
                </a:solidFill>
                <a:latin typeface="Calibri"/>
                <a:ea typeface="Calibri"/>
                <a:cs typeface="Calibri"/>
                <a:sym typeface="Calibri"/>
              </a:rPr>
              <a:t>: Este componente asegura la durabilidad de las transacciones. Antes de realizar cualquier cambio en los datos, estos se registran en el WAL. En caso de fallo, PostgreSQL puede recuperar los datos utilizando el WAL.</a:t>
            </a:r>
            <a:endParaRPr/>
          </a:p>
          <a:p>
            <a:pPr indent="-215900" lvl="0" marL="34290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Catálogo del Sistema</a:t>
            </a:r>
            <a:r>
              <a:rPr b="0" i="0" lang="es-ES" sz="2000" u="none" cap="none" strike="noStrike">
                <a:solidFill>
                  <a:schemeClr val="dk1"/>
                </a:solidFill>
                <a:latin typeface="Calibri"/>
                <a:ea typeface="Calibri"/>
                <a:cs typeface="Calibri"/>
                <a:sym typeface="Calibri"/>
              </a:rPr>
              <a:t>: PostgreSQL mantiene un catálogo de sistema que almacena información sobre las bases de datos, tablas, índices, usuarios, y otros objetos. Este catálogo es utilizado para gestionar la estructura de la base de datos.</a:t>
            </a:r>
            <a:endParaRPr/>
          </a:p>
          <a:p>
            <a:pPr indent="-215900" lvl="0" marL="34290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000"/>
              <a:buFont typeface="Arial"/>
              <a:buChar char="•"/>
            </a:pPr>
            <a:r>
              <a:rPr b="1" i="0" lang="es-ES" sz="2000" u="none" cap="none" strike="noStrike">
                <a:solidFill>
                  <a:schemeClr val="dk1"/>
                </a:solidFill>
                <a:latin typeface="Calibri"/>
                <a:ea typeface="Calibri"/>
                <a:cs typeface="Calibri"/>
                <a:sym typeface="Calibri"/>
              </a:rPr>
              <a:t>Control de Concurrencia Multiversión (MVCC)</a:t>
            </a:r>
            <a:r>
              <a:rPr b="0" i="0" lang="es-ES" sz="2000" u="none" cap="none" strike="noStrike">
                <a:solidFill>
                  <a:schemeClr val="dk1"/>
                </a:solidFill>
                <a:latin typeface="Calibri"/>
                <a:ea typeface="Calibri"/>
                <a:cs typeface="Calibri"/>
                <a:sym typeface="Calibri"/>
              </a:rPr>
              <a:t>: PostgreSQL implementa MVCC para manejar múltiples transacciones simultáneamente sin conflictos. Esto permite que las transacciones lean datos consistentes sin bloquearse entre sí.</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8"/>
          <p:cNvSpPr txBox="1"/>
          <p:nvPr/>
        </p:nvSpPr>
        <p:spPr>
          <a:xfrm>
            <a:off x="1409700" y="1532145"/>
            <a:ext cx="9372600" cy="2506455"/>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chemeClr val="dk1"/>
                </a:solidFill>
                <a:latin typeface="Arial"/>
                <a:ea typeface="Arial"/>
                <a:cs typeface="Arial"/>
                <a:sym typeface="Arial"/>
              </a:rPr>
              <a:t>¿Cómo influye la estructura de funcionamiento de PostgreSQL en su rendimiento y escalabilidad para proyectos profesionales?</a:t>
            </a:r>
            <a:endParaRPr sz="4000">
              <a:solidFill>
                <a:schemeClr val="dk1"/>
              </a:solidFill>
              <a:latin typeface="Arial"/>
              <a:ea typeface="Arial"/>
              <a:cs typeface="Arial"/>
              <a:sym typeface="Arial"/>
            </a:endParaRPr>
          </a:p>
        </p:txBody>
      </p:sp>
      <p:pic>
        <p:nvPicPr>
          <p:cNvPr id="232" name="Google Shape;232;p28"/>
          <p:cNvPicPr preferRelativeResize="0"/>
          <p:nvPr/>
        </p:nvPicPr>
        <p:blipFill rotWithShape="1">
          <a:blip r:embed="rId3">
            <a:alphaModFix/>
          </a:blip>
          <a:srcRect b="0" l="0" r="0" t="0"/>
          <a:stretch/>
        </p:blipFill>
        <p:spPr>
          <a:xfrm>
            <a:off x="5334000" y="4343400"/>
            <a:ext cx="1524000" cy="1524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nvSpPr>
        <p:spPr>
          <a:xfrm>
            <a:off x="457200" y="228600"/>
            <a:ext cx="8458200" cy="659796"/>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2000">
                <a:solidFill>
                  <a:schemeClr val="dk1"/>
                </a:solidFill>
                <a:latin typeface="Arial"/>
                <a:ea typeface="Arial"/>
                <a:cs typeface="Arial"/>
                <a:sym typeface="Arial"/>
              </a:rPr>
              <a:t>¿Cómo influye la estructura de funcionamiento de PostgreSQL en su rendimiento y escalabilidad para proyectos profesionales?</a:t>
            </a:r>
            <a:endParaRPr sz="2000">
              <a:solidFill>
                <a:schemeClr val="dk1"/>
              </a:solidFill>
              <a:latin typeface="Arial"/>
              <a:ea typeface="Arial"/>
              <a:cs typeface="Arial"/>
              <a:sym typeface="Arial"/>
            </a:endParaRPr>
          </a:p>
        </p:txBody>
      </p:sp>
      <p:sp>
        <p:nvSpPr>
          <p:cNvPr id="238" name="Google Shape;238;p29"/>
          <p:cNvSpPr txBox="1"/>
          <p:nvPr/>
        </p:nvSpPr>
        <p:spPr>
          <a:xfrm>
            <a:off x="8582348" y="5797321"/>
            <a:ext cx="30000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rgbClr val="FF0000"/>
                </a:solidFill>
                <a:latin typeface="Calibri"/>
                <a:ea typeface="Calibri"/>
                <a:cs typeface="Calibri"/>
                <a:sym typeface="Calibri"/>
              </a:rPr>
              <a:t>OJO: SOLO PARA EL DOCENTE</a:t>
            </a:r>
            <a:endParaRPr b="1" sz="1800">
              <a:solidFill>
                <a:srgbClr val="FF0000"/>
              </a:solidFill>
              <a:latin typeface="Calibri"/>
              <a:ea typeface="Calibri"/>
              <a:cs typeface="Calibri"/>
              <a:sym typeface="Calibri"/>
            </a:endParaRPr>
          </a:p>
        </p:txBody>
      </p:sp>
      <p:sp>
        <p:nvSpPr>
          <p:cNvPr id="239" name="Google Shape;239;p29"/>
          <p:cNvSpPr/>
          <p:nvPr/>
        </p:nvSpPr>
        <p:spPr>
          <a:xfrm>
            <a:off x="457200" y="1292056"/>
            <a:ext cx="11125200" cy="452431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s-ES" sz="1600" u="none" cap="none" strike="noStrike">
                <a:solidFill>
                  <a:srgbClr val="FF0000"/>
                </a:solidFill>
                <a:latin typeface="Arial"/>
                <a:ea typeface="Arial"/>
                <a:cs typeface="Arial"/>
                <a:sym typeface="Arial"/>
              </a:rPr>
              <a:t>Arquitectura de Procesos y Multi-Version Concurrency Control (MVCC)</a:t>
            </a:r>
            <a:r>
              <a:rPr b="0" i="0" lang="es-ES" sz="1600" u="none" cap="none" strike="noStrike">
                <a:solidFill>
                  <a:srgbClr val="FF0000"/>
                </a:solidFill>
                <a:latin typeface="Arial"/>
                <a:ea typeface="Arial"/>
                <a:cs typeface="Arial"/>
                <a:sym typeface="Arial"/>
              </a:rPr>
              <a:t>:</a:t>
            </a:r>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Procesos Independientes</a:t>
            </a:r>
            <a:r>
              <a:rPr b="0" i="0" lang="es-ES" sz="1600" u="none" cap="none" strike="noStrike">
                <a:solidFill>
                  <a:srgbClr val="FF0000"/>
                </a:solidFill>
                <a:latin typeface="Arial"/>
                <a:ea typeface="Arial"/>
                <a:cs typeface="Arial"/>
                <a:sym typeface="Arial"/>
              </a:rPr>
              <a:t>: PostgreSQL usa un modelo basado en procesos en lugar de hilos, lo que mejora la estabilidad y permite una gestión más eficiente de recursos.</a:t>
            </a:r>
            <a:endParaRPr/>
          </a:p>
          <a:p>
            <a:pPr indent="0" lvl="0" marL="0" marR="0" rtl="0" algn="just">
              <a:lnSpc>
                <a:spcPct val="100000"/>
              </a:lnSpc>
              <a:spcBef>
                <a:spcPts val="0"/>
              </a:spcBef>
              <a:spcAft>
                <a:spcPts val="0"/>
              </a:spcAft>
              <a:buNone/>
            </a:pPr>
            <a:r>
              <a:t/>
            </a:r>
            <a:endParaRPr b="0" i="0" sz="1600" u="none" cap="none" strike="noStrike">
              <a:solidFill>
                <a:srgbClr val="FF0000"/>
              </a:solidFill>
              <a:latin typeface="Arial"/>
              <a:ea typeface="Arial"/>
              <a:cs typeface="Arial"/>
              <a:sym typeface="Arial"/>
            </a:endParaRPr>
          </a:p>
          <a:p>
            <a:pPr indent="0" lvl="0" marL="0" marR="0" rtl="0" algn="just">
              <a:lnSpc>
                <a:spcPct val="100000"/>
              </a:lnSpc>
              <a:spcBef>
                <a:spcPts val="0"/>
              </a:spcBef>
              <a:spcAft>
                <a:spcPts val="0"/>
              </a:spcAft>
              <a:buNone/>
            </a:pPr>
            <a:r>
              <a:rPr b="1" i="0" lang="es-ES" sz="1600" u="none" cap="none" strike="noStrike">
                <a:solidFill>
                  <a:srgbClr val="FF0000"/>
                </a:solidFill>
                <a:latin typeface="Arial"/>
                <a:ea typeface="Arial"/>
                <a:cs typeface="Arial"/>
                <a:sym typeface="Arial"/>
              </a:rPr>
              <a:t>Sistema de Almacenamiento y Recuperación de Datos</a:t>
            </a:r>
            <a:r>
              <a:rPr b="0" i="0" lang="es-ES" sz="1600" u="none" cap="none" strike="noStrike">
                <a:solidFill>
                  <a:srgbClr val="FF0000"/>
                </a:solidFill>
                <a:latin typeface="Arial"/>
                <a:ea typeface="Arial"/>
                <a:cs typeface="Arial"/>
                <a:sym typeface="Arial"/>
              </a:rPr>
              <a:t>:</a:t>
            </a:r>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Tablespaces</a:t>
            </a:r>
            <a:r>
              <a:rPr b="0" i="0" lang="es-ES" sz="1600" u="none" cap="none" strike="noStrike">
                <a:solidFill>
                  <a:srgbClr val="FF0000"/>
                </a:solidFill>
                <a:latin typeface="Arial"/>
                <a:ea typeface="Arial"/>
                <a:cs typeface="Arial"/>
                <a:sym typeface="Arial"/>
              </a:rPr>
              <a:t>: PostgreSQL permite el uso de tablespaces para distribuir datos en diferentes discos, lo que puede mejorar el rendimiento y la escalabilidad al balancear la carga de trabajo entre varios dispositivos de almacenamiento.</a:t>
            </a:r>
            <a:endParaRPr/>
          </a:p>
          <a:p>
            <a:pPr indent="0" lvl="0" marL="0" marR="0" rtl="0" algn="just">
              <a:lnSpc>
                <a:spcPct val="100000"/>
              </a:lnSpc>
              <a:spcBef>
                <a:spcPts val="0"/>
              </a:spcBef>
              <a:spcAft>
                <a:spcPts val="0"/>
              </a:spcAft>
              <a:buNone/>
            </a:pPr>
            <a:r>
              <a:t/>
            </a:r>
            <a:endParaRPr b="0" i="0" sz="1600" u="none" cap="none" strike="noStrike">
              <a:solidFill>
                <a:srgbClr val="FF0000"/>
              </a:solidFill>
              <a:latin typeface="Arial"/>
              <a:ea typeface="Arial"/>
              <a:cs typeface="Arial"/>
              <a:sym typeface="Arial"/>
            </a:endParaRPr>
          </a:p>
          <a:p>
            <a:pPr indent="0" lvl="0" marL="0" marR="0" rtl="0" algn="just">
              <a:lnSpc>
                <a:spcPct val="100000"/>
              </a:lnSpc>
              <a:spcBef>
                <a:spcPts val="0"/>
              </a:spcBef>
              <a:spcAft>
                <a:spcPts val="0"/>
              </a:spcAft>
              <a:buNone/>
            </a:pPr>
            <a:r>
              <a:rPr b="1" i="0" lang="es-ES" sz="1600" u="none" cap="none" strike="noStrike">
                <a:solidFill>
                  <a:srgbClr val="FF0000"/>
                </a:solidFill>
                <a:latin typeface="Arial"/>
                <a:ea typeface="Arial"/>
                <a:cs typeface="Arial"/>
                <a:sym typeface="Arial"/>
              </a:rPr>
              <a:t>Índices y Optimización de Consultas</a:t>
            </a:r>
            <a:r>
              <a:rPr b="0" i="0" lang="es-ES" sz="1600" u="none" cap="none" strike="noStrike">
                <a:solidFill>
                  <a:srgbClr val="FF0000"/>
                </a:solidFill>
                <a:latin typeface="Arial"/>
                <a:ea typeface="Arial"/>
                <a:cs typeface="Arial"/>
                <a:sym typeface="Arial"/>
              </a:rPr>
              <a:t>:</a:t>
            </a:r>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Planificación de Consultas</a:t>
            </a:r>
            <a:r>
              <a:rPr b="0" i="0" lang="es-ES" sz="1600" u="none" cap="none" strike="noStrike">
                <a:solidFill>
                  <a:srgbClr val="FF0000"/>
                </a:solidFill>
                <a:latin typeface="Arial"/>
                <a:ea typeface="Arial"/>
                <a:cs typeface="Arial"/>
                <a:sym typeface="Arial"/>
              </a:rPr>
              <a:t>: El optimizador de consultas de PostgreSQL utiliza estadísticas detalladas para elegir el mejor plan de ejecución, lo que mejora la eficiencia de las consultas y la respuesta general del sistema.</a:t>
            </a:r>
            <a:endParaRPr/>
          </a:p>
          <a:p>
            <a:pPr indent="0" lvl="0" marL="0" marR="0" rtl="0" algn="just">
              <a:lnSpc>
                <a:spcPct val="100000"/>
              </a:lnSpc>
              <a:spcBef>
                <a:spcPts val="0"/>
              </a:spcBef>
              <a:spcAft>
                <a:spcPts val="0"/>
              </a:spcAft>
              <a:buNone/>
            </a:pPr>
            <a:r>
              <a:t/>
            </a:r>
            <a:endParaRPr b="0" i="0" sz="1600" u="none" cap="none" strike="noStrike">
              <a:solidFill>
                <a:srgbClr val="FF0000"/>
              </a:solidFill>
              <a:latin typeface="Arial"/>
              <a:ea typeface="Arial"/>
              <a:cs typeface="Arial"/>
              <a:sym typeface="Arial"/>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Escalabilidad Horizontal y Vertical</a:t>
            </a:r>
            <a:r>
              <a:rPr b="0" i="0" lang="es-ES" sz="1600" u="none" cap="none" strike="noStrike">
                <a:solidFill>
                  <a:srgbClr val="FF0000"/>
                </a:solidFill>
                <a:latin typeface="Arial"/>
                <a:ea typeface="Arial"/>
                <a:cs typeface="Arial"/>
                <a:sym typeface="Arial"/>
              </a:rPr>
              <a:t>:</a:t>
            </a:r>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Escalabilidad Vertical</a:t>
            </a:r>
            <a:r>
              <a:rPr b="0" i="0" lang="es-ES" sz="1600" u="none" cap="none" strike="noStrike">
                <a:solidFill>
                  <a:srgbClr val="FF0000"/>
                </a:solidFill>
                <a:latin typeface="Arial"/>
                <a:ea typeface="Arial"/>
                <a:cs typeface="Arial"/>
                <a:sym typeface="Arial"/>
              </a:rPr>
              <a:t>: PostgreSQL puede escalar verticalmente aumentando los recursos de hardware (CPU, RAM, almacenamiento) para manejar mayores volúmenes de datos y consultas más complejas.</a:t>
            </a:r>
            <a:endParaRPr/>
          </a:p>
          <a:p>
            <a:pPr indent="-101600" lvl="0" marL="0" marR="0" rtl="0" algn="just">
              <a:lnSpc>
                <a:spcPct val="100000"/>
              </a:lnSpc>
              <a:spcBef>
                <a:spcPts val="0"/>
              </a:spcBef>
              <a:spcAft>
                <a:spcPts val="0"/>
              </a:spcAft>
              <a:buClr>
                <a:srgbClr val="FF0000"/>
              </a:buClr>
              <a:buSzPts val="1600"/>
              <a:buFont typeface="Arial"/>
              <a:buChar char="•"/>
            </a:pPr>
            <a:r>
              <a:rPr b="1" i="0" lang="es-ES" sz="1600" u="none" cap="none" strike="noStrike">
                <a:solidFill>
                  <a:srgbClr val="FF0000"/>
                </a:solidFill>
                <a:latin typeface="Arial"/>
                <a:ea typeface="Arial"/>
                <a:cs typeface="Arial"/>
                <a:sym typeface="Arial"/>
              </a:rPr>
              <a:t>Escalabilidad Horizontal</a:t>
            </a:r>
            <a:r>
              <a:rPr b="0" i="0" lang="es-ES" sz="1600" u="none" cap="none" strike="noStrike">
                <a:solidFill>
                  <a:srgbClr val="FF0000"/>
                </a:solidFill>
                <a:latin typeface="Arial"/>
                <a:ea typeface="Arial"/>
                <a:cs typeface="Arial"/>
                <a:sym typeface="Arial"/>
              </a:rPr>
              <a:t>: Aunque PostgreSQL no ofrece replicación y particionamiento tan avanzado como algunos otros sistemas, proporciona soluciones como la replicación lógica y el uso de herramientas como Citus para escalar horizontalmente en entornos distribuidos.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30"/>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246" name="Google Shape;246;p30"/>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247" name="Google Shape;247;p30"/>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48" name="Google Shape;248;p30"/>
          <p:cNvSpPr txBox="1"/>
          <p:nvPr/>
        </p:nvSpPr>
        <p:spPr>
          <a:xfrm>
            <a:off x="838200" y="5493133"/>
            <a:ext cx="51054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4">
                  <a:extLst>
                    <a:ext uri="{A12FA001-AC4F-418D-AE19-62706E023703}">
                      <ahyp:hlinkClr val="tx"/>
                    </a:ext>
                  </a:extLst>
                </a:hlinkClick>
              </a:rPr>
              <a:t>https://www.youtube.com/watch?v=6S8A-1jBD5Y</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30"/>
          <p:cNvSpPr txBox="1"/>
          <p:nvPr/>
        </p:nvSpPr>
        <p:spPr>
          <a:xfrm>
            <a:off x="6324600" y="5447394"/>
            <a:ext cx="503039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ES" sz="1800" u="sng">
                <a:solidFill>
                  <a:schemeClr val="dk1"/>
                </a:solidFill>
                <a:latin typeface="Calibri"/>
                <a:ea typeface="Calibri"/>
                <a:cs typeface="Calibri"/>
                <a:sym typeface="Calibri"/>
                <a:hlinkClick r:id="rId5">
                  <a:extLst>
                    <a:ext uri="{A12FA001-AC4F-418D-AE19-62706E023703}">
                      <ahyp:hlinkClr val="tx"/>
                    </a:ext>
                  </a:extLst>
                </a:hlinkClick>
              </a:rPr>
              <a:t>https://www.youtube.com/watch?v=GulrHlRoT0g</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cono de tabla de consulta de base de datos, estilo de dibujos animados  14694103 Vector en Vecteezy" id="250" name="Google Shape;250;p30"/>
          <p:cNvPicPr preferRelativeResize="0"/>
          <p:nvPr/>
        </p:nvPicPr>
        <p:blipFill rotWithShape="1">
          <a:blip r:embed="rId6">
            <a:alphaModFix/>
          </a:blip>
          <a:srcRect b="0" l="0" r="0" t="0"/>
          <a:stretch/>
        </p:blipFill>
        <p:spPr>
          <a:xfrm>
            <a:off x="6953250" y="1219200"/>
            <a:ext cx="3657600" cy="3657600"/>
          </a:xfrm>
          <a:prstGeom prst="rect">
            <a:avLst/>
          </a:prstGeom>
          <a:noFill/>
          <a:ln>
            <a:noFill/>
          </a:ln>
        </p:spPr>
      </p:pic>
      <p:pic>
        <p:nvPicPr>
          <p:cNvPr descr="icono de procesamiento de datos, estilo de dibujos animados 14694912 Vector  en Vecteezy" id="251" name="Google Shape;251;p30"/>
          <p:cNvPicPr preferRelativeResize="0"/>
          <p:nvPr/>
        </p:nvPicPr>
        <p:blipFill rotWithShape="1">
          <a:blip r:embed="rId7">
            <a:alphaModFix/>
          </a:blip>
          <a:srcRect b="0" l="0" r="0" t="0"/>
          <a:stretch/>
        </p:blipFill>
        <p:spPr>
          <a:xfrm>
            <a:off x="1523405" y="1232203"/>
            <a:ext cx="3429000" cy="3429000"/>
          </a:xfrm>
          <a:prstGeom prst="rect">
            <a:avLst/>
          </a:prstGeom>
          <a:noFill/>
          <a:ln>
            <a:noFill/>
          </a:ln>
        </p:spPr>
      </p:pic>
      <p:sp>
        <p:nvSpPr>
          <p:cNvPr id="252" name="Google Shape;252;p30"/>
          <p:cNvSpPr txBox="1"/>
          <p:nvPr/>
        </p:nvSpPr>
        <p:spPr>
          <a:xfrm>
            <a:off x="933450" y="4661203"/>
            <a:ext cx="4914900" cy="659796"/>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rgbClr val="FF0000"/>
                </a:solidFill>
                <a:latin typeface="Arial"/>
                <a:ea typeface="Arial"/>
                <a:cs typeface="Arial"/>
                <a:sym typeface="Arial"/>
              </a:rPr>
              <a:t>BASE DE DATOS</a:t>
            </a:r>
            <a:endParaRPr sz="4000">
              <a:solidFill>
                <a:srgbClr val="FF0000"/>
              </a:solidFill>
              <a:latin typeface="Arial"/>
              <a:ea typeface="Arial"/>
              <a:cs typeface="Arial"/>
              <a:sym typeface="Arial"/>
            </a:endParaRPr>
          </a:p>
        </p:txBody>
      </p:sp>
      <p:sp>
        <p:nvSpPr>
          <p:cNvPr id="253" name="Google Shape;253;p30"/>
          <p:cNvSpPr txBox="1"/>
          <p:nvPr/>
        </p:nvSpPr>
        <p:spPr>
          <a:xfrm>
            <a:off x="6324600" y="4615464"/>
            <a:ext cx="4914900" cy="659796"/>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rgbClr val="FF0000"/>
                </a:solidFill>
                <a:latin typeface="Arial"/>
                <a:ea typeface="Arial"/>
                <a:cs typeface="Arial"/>
                <a:sym typeface="Arial"/>
              </a:rPr>
              <a:t>TABLAS</a:t>
            </a:r>
            <a:endParaRPr sz="4000">
              <a:solidFill>
                <a:srgbClr val="FF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3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Recordando los aprendizajes</a:t>
            </a:r>
            <a:endParaRPr sz="2400">
              <a:solidFill>
                <a:schemeClr val="dk1"/>
              </a:solidFill>
              <a:latin typeface="Arial"/>
              <a:ea typeface="Arial"/>
              <a:cs typeface="Arial"/>
              <a:sym typeface="Arial"/>
            </a:endParaRPr>
          </a:p>
        </p:txBody>
      </p:sp>
      <p:pic>
        <p:nvPicPr>
          <p:cNvPr id="260" name="Google Shape;260;p31"/>
          <p:cNvPicPr preferRelativeResize="0"/>
          <p:nvPr/>
        </p:nvPicPr>
        <p:blipFill rotWithShape="1">
          <a:blip r:embed="rId3">
            <a:alphaModFix/>
          </a:blip>
          <a:srcRect b="0" l="0" r="0" t="0"/>
          <a:stretch/>
        </p:blipFill>
        <p:spPr>
          <a:xfrm>
            <a:off x="5723651" y="313451"/>
            <a:ext cx="524749" cy="524749"/>
          </a:xfrm>
          <a:prstGeom prst="rect">
            <a:avLst/>
          </a:prstGeom>
          <a:noFill/>
          <a:ln>
            <a:noFill/>
          </a:ln>
        </p:spPr>
      </p:pic>
      <p:sp>
        <p:nvSpPr>
          <p:cNvPr id="261" name="Google Shape;261;p3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262" name="Google Shape;262;p31"/>
          <p:cNvSpPr txBox="1"/>
          <p:nvPr/>
        </p:nvSpPr>
        <p:spPr>
          <a:xfrm>
            <a:off x="933450" y="1371600"/>
            <a:ext cx="10325100" cy="30469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ES" sz="2400">
                <a:solidFill>
                  <a:schemeClr val="dk1"/>
                </a:solidFill>
                <a:latin typeface="Calibri"/>
                <a:ea typeface="Calibri"/>
                <a:cs typeface="Calibri"/>
                <a:sym typeface="Calibri"/>
              </a:rPr>
              <a:t>Desarrollar un organizador visual que ilustre los conceptos fundamentales de bases de datos y tablas, facilitando la comprensión y la memorización de los temas relacionados con respecto a los videos.</a:t>
            </a:r>
            <a:endParaRPr/>
          </a:p>
          <a:p>
            <a:pPr indent="0" lvl="0" marL="0" marR="0" rtl="0" algn="just">
              <a:spcBef>
                <a:spcPts val="0"/>
              </a:spcBef>
              <a:spcAft>
                <a:spcPts val="0"/>
              </a:spcAft>
              <a:buNone/>
            </a:pPr>
            <a:r>
              <a:t/>
            </a:r>
            <a:endParaRPr sz="2400">
              <a:solidFill>
                <a:srgbClr val="FF0000"/>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Desarrollo en pares</a:t>
            </a:r>
            <a:r>
              <a:rPr lang="es-ES" sz="24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2400"/>
              <a:buFont typeface="Arial"/>
              <a:buChar char="•"/>
            </a:pPr>
            <a:r>
              <a:rPr lang="es-ES" sz="2400">
                <a:solidFill>
                  <a:schemeClr val="dk1"/>
                </a:solidFill>
                <a:latin typeface="Calibri"/>
                <a:ea typeface="Calibri"/>
                <a:cs typeface="Calibri"/>
                <a:sym typeface="Calibri"/>
              </a:rPr>
              <a:t>Cada grupo debe crear su propio organizador visual basándose en la revisión visual con respecto al video presentado.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nvSpPr>
        <p:spPr>
          <a:xfrm>
            <a:off x="1409700" y="1532145"/>
            <a:ext cx="9372600" cy="2506455"/>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4000">
                <a:solidFill>
                  <a:schemeClr val="dk1"/>
                </a:solidFill>
                <a:latin typeface="Arial"/>
                <a:ea typeface="Arial"/>
                <a:cs typeface="Arial"/>
                <a:sym typeface="Arial"/>
              </a:rPr>
              <a:t>¿Qué consideraciones clave deben tenerse en cuenta al crear una base de datos y sus tablas para garantizar una estructura eficiente y escalable?</a:t>
            </a:r>
            <a:endParaRPr sz="4000">
              <a:solidFill>
                <a:schemeClr val="dk1"/>
              </a:solidFill>
              <a:latin typeface="Arial"/>
              <a:ea typeface="Arial"/>
              <a:cs typeface="Arial"/>
              <a:sym typeface="Arial"/>
            </a:endParaRPr>
          </a:p>
        </p:txBody>
      </p:sp>
      <p:pic>
        <p:nvPicPr>
          <p:cNvPr id="268" name="Google Shape;268;p32"/>
          <p:cNvPicPr preferRelativeResize="0"/>
          <p:nvPr/>
        </p:nvPicPr>
        <p:blipFill rotWithShape="1">
          <a:blip r:embed="rId3">
            <a:alphaModFix/>
          </a:blip>
          <a:srcRect b="0" l="0" r="0" t="0"/>
          <a:stretch/>
        </p:blipFill>
        <p:spPr>
          <a:xfrm>
            <a:off x="5334000" y="4343400"/>
            <a:ext cx="1524000" cy="1524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nvSpPr>
        <p:spPr>
          <a:xfrm>
            <a:off x="457200" y="228600"/>
            <a:ext cx="8458200" cy="967573"/>
          </a:xfrm>
          <a:prstGeom prst="rect">
            <a:avLst/>
          </a:prstGeom>
          <a:noFill/>
          <a:ln>
            <a:noFill/>
          </a:ln>
        </p:spPr>
        <p:txBody>
          <a:bodyPr anchorCtr="0" anchor="t" bIns="0" lIns="0" spcFirstLastPara="1" rIns="0" wrap="square" tIns="43800">
            <a:spAutoFit/>
          </a:bodyPr>
          <a:lstStyle/>
          <a:p>
            <a:pPr indent="-445770" lvl="0" marL="457834" marR="5080" rtl="0" algn="ctr">
              <a:spcBef>
                <a:spcPts val="0"/>
              </a:spcBef>
              <a:spcAft>
                <a:spcPts val="0"/>
              </a:spcAft>
              <a:buNone/>
            </a:pPr>
            <a:r>
              <a:rPr b="1" lang="es-ES" sz="2000">
                <a:solidFill>
                  <a:schemeClr val="dk1"/>
                </a:solidFill>
                <a:latin typeface="Arial"/>
                <a:ea typeface="Arial"/>
                <a:cs typeface="Arial"/>
                <a:sym typeface="Arial"/>
              </a:rPr>
              <a:t>¿Qué consideraciones clave deben tenerse en cuenta al crear una base de datos y sus tablas para garantizar una estructura eficiente y escalable?</a:t>
            </a:r>
            <a:endParaRPr sz="2000">
              <a:solidFill>
                <a:schemeClr val="dk1"/>
              </a:solidFill>
              <a:latin typeface="Arial"/>
              <a:ea typeface="Arial"/>
              <a:cs typeface="Arial"/>
              <a:sym typeface="Arial"/>
            </a:endParaRPr>
          </a:p>
        </p:txBody>
      </p:sp>
      <p:sp>
        <p:nvSpPr>
          <p:cNvPr id="274" name="Google Shape;274;p33"/>
          <p:cNvSpPr txBox="1"/>
          <p:nvPr/>
        </p:nvSpPr>
        <p:spPr>
          <a:xfrm>
            <a:off x="8582348" y="5797321"/>
            <a:ext cx="30000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1800">
                <a:solidFill>
                  <a:srgbClr val="FF0000"/>
                </a:solidFill>
                <a:latin typeface="Calibri"/>
                <a:ea typeface="Calibri"/>
                <a:cs typeface="Calibri"/>
                <a:sym typeface="Calibri"/>
              </a:rPr>
              <a:t>OJO: SOLO PARA EL DOCENTE</a:t>
            </a:r>
            <a:endParaRPr b="1" sz="1800">
              <a:solidFill>
                <a:srgbClr val="FF0000"/>
              </a:solidFill>
              <a:latin typeface="Calibri"/>
              <a:ea typeface="Calibri"/>
              <a:cs typeface="Calibri"/>
              <a:sym typeface="Calibri"/>
            </a:endParaRPr>
          </a:p>
        </p:txBody>
      </p:sp>
      <p:sp>
        <p:nvSpPr>
          <p:cNvPr id="275" name="Google Shape;275;p33"/>
          <p:cNvSpPr/>
          <p:nvPr/>
        </p:nvSpPr>
        <p:spPr>
          <a:xfrm>
            <a:off x="533400" y="1290522"/>
            <a:ext cx="10972800" cy="487056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None/>
            </a:pPr>
            <a:r>
              <a:rPr b="1" i="0" lang="es-ES" sz="1800" u="none" cap="none" strike="noStrike">
                <a:solidFill>
                  <a:srgbClr val="FF0000"/>
                </a:solidFill>
                <a:latin typeface="Arial"/>
                <a:ea typeface="Arial"/>
                <a:cs typeface="Arial"/>
                <a:sym typeface="Arial"/>
              </a:rPr>
              <a:t>Definición Clara de Requisitos</a:t>
            </a:r>
            <a:r>
              <a:rPr b="0" i="0" lang="es-ES" sz="1800" u="none" cap="none" strike="noStrike">
                <a:solidFill>
                  <a:srgbClr val="FF0000"/>
                </a:solidFill>
                <a:latin typeface="Arial"/>
                <a:ea typeface="Arial"/>
                <a:cs typeface="Arial"/>
                <a:sym typeface="Arial"/>
              </a:rPr>
              <a:t>:</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Objetivos del Sistema</a:t>
            </a:r>
            <a:r>
              <a:rPr b="0" i="0" lang="es-ES" sz="1800" u="none" cap="none" strike="noStrike">
                <a:solidFill>
                  <a:srgbClr val="FF0000"/>
                </a:solidFill>
                <a:latin typeface="Arial"/>
                <a:ea typeface="Arial"/>
                <a:cs typeface="Arial"/>
                <a:sym typeface="Arial"/>
              </a:rPr>
              <a:t>: Comprender los requisitos del sistema y las necesidades de la aplicación ayuda a diseñar una base de datos que se alinee con los objetivos de negocio y soporte las funcionalidades necesarias.</a:t>
            </a:r>
            <a:endParaRPr/>
          </a:p>
          <a:p>
            <a:pPr indent="0" lvl="0" marL="0" marR="0" rtl="0" algn="just">
              <a:lnSpc>
                <a:spcPct val="100000"/>
              </a:lnSpc>
              <a:spcBef>
                <a:spcPts val="0"/>
              </a:spcBef>
              <a:spcAft>
                <a:spcPts val="0"/>
              </a:spcAft>
              <a:buNone/>
            </a:pPr>
            <a:r>
              <a:t/>
            </a:r>
            <a:endParaRPr b="1" i="0" sz="1050" u="none" cap="none" strike="noStrike">
              <a:solidFill>
                <a:srgbClr val="FF0000"/>
              </a:solidFill>
              <a:latin typeface="Arial"/>
              <a:ea typeface="Arial"/>
              <a:cs typeface="Arial"/>
              <a:sym typeface="Arial"/>
            </a:endParaRPr>
          </a:p>
          <a:p>
            <a:pPr indent="0" lvl="0" marL="0" marR="0" rtl="0" algn="just">
              <a:lnSpc>
                <a:spcPct val="100000"/>
              </a:lnSpc>
              <a:spcBef>
                <a:spcPts val="0"/>
              </a:spcBef>
              <a:spcAft>
                <a:spcPts val="0"/>
              </a:spcAft>
              <a:buNone/>
            </a:pPr>
            <a:r>
              <a:rPr b="1" i="0" lang="es-ES" sz="1800" u="none" cap="none" strike="noStrike">
                <a:solidFill>
                  <a:srgbClr val="FF0000"/>
                </a:solidFill>
                <a:latin typeface="Arial"/>
                <a:ea typeface="Arial"/>
                <a:cs typeface="Arial"/>
                <a:sym typeface="Arial"/>
              </a:rPr>
              <a:t>Diseño de la Estructura de Datos</a:t>
            </a:r>
            <a:r>
              <a:rPr b="0" i="0" lang="es-ES" sz="1800" u="none" cap="none" strike="noStrike">
                <a:solidFill>
                  <a:srgbClr val="FF0000"/>
                </a:solidFill>
                <a:latin typeface="Arial"/>
                <a:ea typeface="Arial"/>
                <a:cs typeface="Arial"/>
                <a:sym typeface="Arial"/>
              </a:rPr>
              <a:t>:</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Modelado de Datos</a:t>
            </a:r>
            <a:r>
              <a:rPr b="0" i="0" lang="es-ES" sz="1800" u="none" cap="none" strike="noStrike">
                <a:solidFill>
                  <a:srgbClr val="FF0000"/>
                </a:solidFill>
                <a:latin typeface="Arial"/>
                <a:ea typeface="Arial"/>
                <a:cs typeface="Arial"/>
                <a:sym typeface="Arial"/>
              </a:rPr>
              <a:t>: Utilizar un modelo de datos adecuado (ERD - Diagrama Entidad-Relación) para representar las entidades y sus relaciones. Esto ayuda a visualizar la estructura y a identificar la necesidad de tablas y relaciones.</a:t>
            </a:r>
            <a:endParaRPr/>
          </a:p>
          <a:p>
            <a:pPr indent="-114300" lvl="0" marL="0" marR="0" rtl="0" algn="just">
              <a:lnSpc>
                <a:spcPct val="100000"/>
              </a:lnSpc>
              <a:spcBef>
                <a:spcPts val="0"/>
              </a:spcBef>
              <a:spcAft>
                <a:spcPts val="0"/>
              </a:spcAft>
              <a:buClr>
                <a:srgbClr val="FF0000"/>
              </a:buClr>
              <a:buSzPts val="1800"/>
              <a:buFont typeface="Arial"/>
              <a:buChar char="•"/>
            </a:pPr>
            <a:r>
              <a:rPr b="1" i="0" lang="es-ES" sz="1800" u="none" cap="none" strike="noStrike">
                <a:solidFill>
                  <a:srgbClr val="FF0000"/>
                </a:solidFill>
                <a:latin typeface="Arial"/>
                <a:ea typeface="Arial"/>
                <a:cs typeface="Arial"/>
                <a:sym typeface="Arial"/>
              </a:rPr>
              <a:t>Normalización</a:t>
            </a:r>
            <a:r>
              <a:rPr b="0" i="0" lang="es-ES" sz="1800" u="none" cap="none" strike="noStrike">
                <a:solidFill>
                  <a:srgbClr val="FF0000"/>
                </a:solidFill>
                <a:latin typeface="Arial"/>
                <a:ea typeface="Arial"/>
                <a:cs typeface="Arial"/>
                <a:sym typeface="Arial"/>
              </a:rPr>
              <a:t>: Aplicar principios de normalización (hasta la tercera forma normal, al menos) para evitar redundancias y asegurar la integridad de los datos. La normalización ayuda a reducir la duplicación de datos y mejorar la consistencia.</a:t>
            </a:r>
            <a:endParaRPr/>
          </a:p>
          <a:p>
            <a:pPr indent="0" lvl="0" marL="0" marR="0" rtl="0" algn="just">
              <a:lnSpc>
                <a:spcPct val="100000"/>
              </a:lnSpc>
              <a:spcBef>
                <a:spcPts val="0"/>
              </a:spcBef>
              <a:spcAft>
                <a:spcPts val="0"/>
              </a:spcAft>
              <a:buNone/>
            </a:pPr>
            <a:r>
              <a:t/>
            </a:r>
            <a:endParaRPr sz="1100">
              <a:solidFill>
                <a:srgbClr val="FF0000"/>
              </a:solidFill>
              <a:latin typeface="Arial"/>
              <a:ea typeface="Arial"/>
              <a:cs typeface="Arial"/>
              <a:sym typeface="Arial"/>
            </a:endParaRPr>
          </a:p>
          <a:p>
            <a:pPr indent="0" lvl="0" marL="0" marR="0" rtl="0" algn="l">
              <a:spcBef>
                <a:spcPts val="0"/>
              </a:spcBef>
              <a:spcAft>
                <a:spcPts val="0"/>
              </a:spcAft>
              <a:buNone/>
            </a:pPr>
            <a:r>
              <a:rPr b="1" lang="es-ES" sz="1800">
                <a:solidFill>
                  <a:srgbClr val="FF0000"/>
                </a:solidFill>
                <a:latin typeface="Calibri"/>
                <a:ea typeface="Calibri"/>
                <a:cs typeface="Calibri"/>
                <a:sym typeface="Calibri"/>
              </a:rPr>
              <a:t>Definición de Claves Primarias y Foráneas</a:t>
            </a:r>
            <a:r>
              <a:rPr lang="es-ES" sz="1800">
                <a:solidFill>
                  <a:srgbClr val="FF0000"/>
                </a:solidFill>
                <a:latin typeface="Calibri"/>
                <a:ea typeface="Calibri"/>
                <a:cs typeface="Calibri"/>
                <a:sym typeface="Calibri"/>
              </a:rPr>
              <a:t>:</a:t>
            </a:r>
            <a:endParaRPr/>
          </a:p>
          <a:p>
            <a:pPr indent="-114300" lvl="0" marL="0" marR="0" rtl="0" algn="l">
              <a:spcBef>
                <a:spcPts val="0"/>
              </a:spcBef>
              <a:spcAft>
                <a:spcPts val="0"/>
              </a:spcAft>
              <a:buClr>
                <a:srgbClr val="FF0000"/>
              </a:buClr>
              <a:buSzPts val="1800"/>
              <a:buFont typeface="Arial"/>
              <a:buChar char="•"/>
            </a:pPr>
            <a:r>
              <a:rPr b="1" lang="es-ES" sz="1800">
                <a:solidFill>
                  <a:srgbClr val="FF0000"/>
                </a:solidFill>
                <a:latin typeface="Calibri"/>
                <a:ea typeface="Calibri"/>
                <a:cs typeface="Calibri"/>
                <a:sym typeface="Calibri"/>
              </a:rPr>
              <a:t>Claves Primarias</a:t>
            </a:r>
            <a:r>
              <a:rPr lang="es-ES" sz="1800">
                <a:solidFill>
                  <a:srgbClr val="FF0000"/>
                </a:solidFill>
                <a:latin typeface="Calibri"/>
                <a:ea typeface="Calibri"/>
                <a:cs typeface="Calibri"/>
                <a:sym typeface="Calibri"/>
              </a:rPr>
              <a:t>: Asegurar que cada tabla tenga una clave primaria única para identificar de manera inequívoca cada registro.</a:t>
            </a:r>
            <a:endParaRPr/>
          </a:p>
          <a:p>
            <a:pPr indent="-114300" lvl="0" marL="0" marR="0" rtl="0" algn="l">
              <a:spcBef>
                <a:spcPts val="0"/>
              </a:spcBef>
              <a:spcAft>
                <a:spcPts val="0"/>
              </a:spcAft>
              <a:buClr>
                <a:srgbClr val="FF0000"/>
              </a:buClr>
              <a:buSzPts val="1800"/>
              <a:buFont typeface="Arial"/>
              <a:buChar char="•"/>
            </a:pPr>
            <a:r>
              <a:rPr b="1" lang="es-ES" sz="1800">
                <a:solidFill>
                  <a:srgbClr val="FF0000"/>
                </a:solidFill>
                <a:latin typeface="Calibri"/>
                <a:ea typeface="Calibri"/>
                <a:cs typeface="Calibri"/>
                <a:sym typeface="Calibri"/>
              </a:rPr>
              <a:t>Claves Foráneas</a:t>
            </a:r>
            <a:r>
              <a:rPr lang="es-ES" sz="1800">
                <a:solidFill>
                  <a:srgbClr val="FF0000"/>
                </a:solidFill>
                <a:latin typeface="Calibri"/>
                <a:ea typeface="Calibri"/>
                <a:cs typeface="Calibri"/>
                <a:sym typeface="Calibri"/>
              </a:rPr>
              <a:t>: Establecer claves foráneas para mantener la integridad referencial entre tablas y definir las relaciones entre entidades.</a:t>
            </a:r>
            <a:endParaRPr b="0" i="0" sz="1800" u="none" cap="none" strike="noStrike">
              <a:solidFill>
                <a:srgbClr val="FF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4"/>
          <p:cNvSpPr/>
          <p:nvPr/>
        </p:nvSpPr>
        <p:spPr>
          <a:xfrm>
            <a:off x="0" y="2819400"/>
            <a:ext cx="12192000" cy="1219200"/>
          </a:xfrm>
          <a:custGeom>
            <a:rect b="b" l="l" r="r" t="t"/>
            <a:pathLst>
              <a:path extrusionOk="0" h="700405" w="914463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34"/>
          <p:cNvSpPr txBox="1"/>
          <p:nvPr>
            <p:ph type="title"/>
          </p:nvPr>
        </p:nvSpPr>
        <p:spPr>
          <a:xfrm>
            <a:off x="4278672" y="3084034"/>
            <a:ext cx="3634655" cy="689932"/>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s-ES">
                <a:solidFill>
                  <a:schemeClr val="lt1"/>
                </a:solidFill>
                <a:latin typeface="Rubik"/>
                <a:ea typeface="Rubik"/>
                <a:cs typeface="Rubik"/>
                <a:sym typeface="Rubik"/>
              </a:rPr>
              <a:t>Caso práctico</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5"/>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5"/>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88" name="Google Shape;288;p35"/>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89" name="Google Shape;289;p35"/>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pic>
        <p:nvPicPr>
          <p:cNvPr descr="una práctica ilustración plana de una computadora portátil que funciona  14982741 Vector en Vecteezy" id="290" name="Google Shape;290;p35"/>
          <p:cNvPicPr preferRelativeResize="0"/>
          <p:nvPr/>
        </p:nvPicPr>
        <p:blipFill rotWithShape="1">
          <a:blip r:embed="rId4">
            <a:alphaModFix/>
          </a:blip>
          <a:srcRect b="0" l="0" r="0" t="0"/>
          <a:stretch/>
        </p:blipFill>
        <p:spPr>
          <a:xfrm>
            <a:off x="685800" y="1028700"/>
            <a:ext cx="4800600" cy="4800600"/>
          </a:xfrm>
          <a:prstGeom prst="rect">
            <a:avLst/>
          </a:prstGeom>
          <a:noFill/>
          <a:ln>
            <a:noFill/>
          </a:ln>
        </p:spPr>
      </p:pic>
      <p:pic>
        <p:nvPicPr>
          <p:cNvPr id="291" name="Google Shape;291;p35"/>
          <p:cNvPicPr preferRelativeResize="0"/>
          <p:nvPr/>
        </p:nvPicPr>
        <p:blipFill rotWithShape="1">
          <a:blip r:embed="rId5">
            <a:alphaModFix/>
          </a:blip>
          <a:srcRect b="0" l="0" r="0" t="0"/>
          <a:stretch/>
        </p:blipFill>
        <p:spPr>
          <a:xfrm>
            <a:off x="5940463" y="1907217"/>
            <a:ext cx="5492674" cy="334836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36"/>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298" name="Google Shape;298;p36"/>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299" name="Google Shape;299;p36"/>
          <p:cNvPicPr preferRelativeResize="0"/>
          <p:nvPr/>
        </p:nvPicPr>
        <p:blipFill rotWithShape="1">
          <a:blip r:embed="rId3">
            <a:alphaModFix/>
          </a:blip>
          <a:srcRect b="0" l="0" r="0" t="0"/>
          <a:stretch/>
        </p:blipFill>
        <p:spPr>
          <a:xfrm>
            <a:off x="5773909" y="304800"/>
            <a:ext cx="626891" cy="561824"/>
          </a:xfrm>
          <a:prstGeom prst="rect">
            <a:avLst/>
          </a:prstGeom>
          <a:noFill/>
          <a:ln>
            <a:noFill/>
          </a:ln>
        </p:spPr>
      </p:pic>
      <p:sp>
        <p:nvSpPr>
          <p:cNvPr id="300" name="Google Shape;300;p36"/>
          <p:cNvSpPr txBox="1"/>
          <p:nvPr/>
        </p:nvSpPr>
        <p:spPr>
          <a:xfrm>
            <a:off x="2282337" y="1780300"/>
            <a:ext cx="7627325" cy="443711"/>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None/>
            </a:pPr>
            <a:r>
              <a:rPr lang="es-ES" sz="2800">
                <a:solidFill>
                  <a:schemeClr val="dk1"/>
                </a:solidFill>
                <a:latin typeface="Arial"/>
                <a:ea typeface="Arial"/>
                <a:cs typeface="Arial"/>
                <a:sym typeface="Arial"/>
              </a:rPr>
              <a:t>¿Quién quisiera participar? (2 voluntarios)</a:t>
            </a:r>
            <a:endParaRPr/>
          </a:p>
        </p:txBody>
      </p:sp>
      <p:pic>
        <p:nvPicPr>
          <p:cNvPr id="301" name="Google Shape;301;p36"/>
          <p:cNvPicPr preferRelativeResize="0"/>
          <p:nvPr/>
        </p:nvPicPr>
        <p:blipFill rotWithShape="1">
          <a:blip r:embed="rId3">
            <a:alphaModFix/>
          </a:blip>
          <a:srcRect b="0" l="0" r="0" t="0"/>
          <a:stretch/>
        </p:blipFill>
        <p:spPr>
          <a:xfrm>
            <a:off x="4730555" y="2895600"/>
            <a:ext cx="2730890" cy="252033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7"/>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37"/>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Caso práctico</a:t>
            </a:r>
            <a:endParaRPr sz="2400">
              <a:solidFill>
                <a:schemeClr val="dk1"/>
              </a:solidFill>
              <a:latin typeface="Arial"/>
              <a:ea typeface="Arial"/>
              <a:cs typeface="Arial"/>
              <a:sym typeface="Arial"/>
            </a:endParaRPr>
          </a:p>
        </p:txBody>
      </p:sp>
      <p:sp>
        <p:nvSpPr>
          <p:cNvPr id="308" name="Google Shape;308;p37"/>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09" name="Google Shape;309;p37"/>
          <p:cNvSpPr txBox="1"/>
          <p:nvPr/>
        </p:nvSpPr>
        <p:spPr>
          <a:xfrm>
            <a:off x="3039354" y="1831852"/>
            <a:ext cx="6096000"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s-ES" sz="3200">
                <a:solidFill>
                  <a:schemeClr val="dk1"/>
                </a:solidFill>
                <a:latin typeface="Arial"/>
                <a:ea typeface="Arial"/>
                <a:cs typeface="Arial"/>
                <a:sym typeface="Arial"/>
              </a:rPr>
              <a:t>¿Qué se les hizo más fácil?</a:t>
            </a:r>
            <a:endParaRPr/>
          </a:p>
          <a:p>
            <a:pPr indent="0" lvl="0" marL="0" marR="0" rtl="0" algn="ctr">
              <a:lnSpc>
                <a:spcPct val="100000"/>
              </a:lnSpc>
              <a:spcBef>
                <a:spcPts val="585"/>
              </a:spcBef>
              <a:spcAft>
                <a:spcPts val="0"/>
              </a:spcAft>
              <a:buNone/>
            </a:pPr>
            <a:r>
              <a:rPr lang="es-ES" sz="3200">
                <a:solidFill>
                  <a:schemeClr val="dk1"/>
                </a:solidFill>
                <a:latin typeface="Arial"/>
                <a:ea typeface="Arial"/>
                <a:cs typeface="Arial"/>
                <a:sym typeface="Arial"/>
              </a:rPr>
              <a:t>¿Qué se les hizo más retador?</a:t>
            </a:r>
            <a:endParaRPr sz="3200">
              <a:solidFill>
                <a:schemeClr val="dk1"/>
              </a:solidFill>
              <a:latin typeface="Arial"/>
              <a:ea typeface="Arial"/>
              <a:cs typeface="Arial"/>
              <a:sym typeface="Arial"/>
            </a:endParaRPr>
          </a:p>
        </p:txBody>
      </p:sp>
      <p:pic>
        <p:nvPicPr>
          <p:cNvPr id="310" name="Google Shape;310;p37"/>
          <p:cNvPicPr preferRelativeResize="0"/>
          <p:nvPr/>
        </p:nvPicPr>
        <p:blipFill rotWithShape="1">
          <a:blip r:embed="rId3">
            <a:alphaModFix/>
          </a:blip>
          <a:srcRect b="0" l="0" r="0" t="0"/>
          <a:stretch/>
        </p:blipFill>
        <p:spPr>
          <a:xfrm>
            <a:off x="4953000" y="3618011"/>
            <a:ext cx="2047300" cy="2047300"/>
          </a:xfrm>
          <a:prstGeom prst="rect">
            <a:avLst/>
          </a:prstGeom>
          <a:noFill/>
          <a:ln>
            <a:noFill/>
          </a:ln>
        </p:spPr>
      </p:pic>
      <p:pic>
        <p:nvPicPr>
          <p:cNvPr id="311" name="Google Shape;311;p37"/>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38"/>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318" name="Google Shape;318;p38"/>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19" name="Google Shape;319;p38"/>
          <p:cNvSpPr txBox="1"/>
          <p:nvPr/>
        </p:nvSpPr>
        <p:spPr>
          <a:xfrm>
            <a:off x="2243577" y="2644170"/>
            <a:ext cx="7687554" cy="156966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lang="es-ES" sz="3200">
                <a:solidFill>
                  <a:schemeClr val="dk1"/>
                </a:solidFill>
                <a:latin typeface="Arial"/>
                <a:ea typeface="Arial"/>
                <a:cs typeface="Arial"/>
                <a:sym typeface="Arial"/>
              </a:rPr>
              <a:t>Tomar apuntes de manera eficaz ayuda a consolidar el  aprendizaje y prepararse para los exámenes.</a:t>
            </a:r>
            <a:endParaRPr/>
          </a:p>
        </p:txBody>
      </p:sp>
      <p:pic>
        <p:nvPicPr>
          <p:cNvPr id="320" name="Google Shape;320;p38"/>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9"/>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39"/>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s-ES" sz="2400">
                <a:solidFill>
                  <a:srgbClr val="FFFFFF"/>
                </a:solidFill>
                <a:latin typeface="Arial"/>
                <a:ea typeface="Arial"/>
                <a:cs typeface="Arial"/>
                <a:sym typeface="Arial"/>
              </a:rPr>
              <a:t>Conclusiones</a:t>
            </a:r>
            <a:endParaRPr sz="2400">
              <a:solidFill>
                <a:schemeClr val="dk1"/>
              </a:solidFill>
              <a:latin typeface="Arial"/>
              <a:ea typeface="Arial"/>
              <a:cs typeface="Arial"/>
              <a:sym typeface="Arial"/>
            </a:endParaRPr>
          </a:p>
        </p:txBody>
      </p:sp>
      <p:sp>
        <p:nvSpPr>
          <p:cNvPr id="327" name="Google Shape;327;p39"/>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sp>
        <p:nvSpPr>
          <p:cNvPr id="328" name="Google Shape;328;p39"/>
          <p:cNvSpPr txBox="1"/>
          <p:nvPr/>
        </p:nvSpPr>
        <p:spPr>
          <a:xfrm>
            <a:off x="2243577" y="3149025"/>
            <a:ext cx="7687554" cy="58477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None/>
            </a:pPr>
            <a:r>
              <a:rPr b="1" lang="es-ES" sz="3200">
                <a:solidFill>
                  <a:schemeClr val="dk1"/>
                </a:solidFill>
                <a:latin typeface="Arial"/>
                <a:ea typeface="Arial"/>
                <a:cs typeface="Arial"/>
                <a:sym typeface="Arial"/>
              </a:rPr>
              <a:t>¿Qué hemos aprendido el día de hoy?</a:t>
            </a:r>
            <a:endParaRPr sz="3200">
              <a:solidFill>
                <a:schemeClr val="dk1"/>
              </a:solidFill>
              <a:latin typeface="Arial"/>
              <a:ea typeface="Arial"/>
              <a:cs typeface="Arial"/>
              <a:sym typeface="Arial"/>
            </a:endParaRPr>
          </a:p>
        </p:txBody>
      </p:sp>
      <p:pic>
        <p:nvPicPr>
          <p:cNvPr id="329" name="Google Shape;329;p39"/>
          <p:cNvPicPr preferRelativeResize="0"/>
          <p:nvPr/>
        </p:nvPicPr>
        <p:blipFill rotWithShape="1">
          <a:blip r:embed="rId3">
            <a:alphaModFix/>
          </a:blip>
          <a:srcRect b="0" l="0" r="0" t="0"/>
          <a:stretch/>
        </p:blipFill>
        <p:spPr>
          <a:xfrm>
            <a:off x="5766673" y="318461"/>
            <a:ext cx="548164" cy="5481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0"/>
          <p:cNvSpPr txBox="1"/>
          <p:nvPr/>
        </p:nvSpPr>
        <p:spPr>
          <a:xfrm>
            <a:off x="762000" y="797510"/>
            <a:ext cx="10287000" cy="526297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s-ES" sz="2400">
                <a:solidFill>
                  <a:schemeClr val="dk1"/>
                </a:solidFill>
                <a:latin typeface="Calibri"/>
                <a:ea typeface="Calibri"/>
                <a:cs typeface="Calibri"/>
                <a:sym typeface="Calibri"/>
              </a:rPr>
              <a:t>Conclusiones</a:t>
            </a:r>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Flexibilidad y Potencia</a:t>
            </a:r>
            <a:r>
              <a:rPr lang="es-ES" sz="2400">
                <a:solidFill>
                  <a:schemeClr val="dk1"/>
                </a:solidFill>
                <a:latin typeface="Calibri"/>
                <a:ea typeface="Calibri"/>
                <a:cs typeface="Calibri"/>
                <a:sym typeface="Calibri"/>
              </a:rPr>
              <a:t>: PostgreSQL es un sistema robusto y flexible que soporta una amplia gama de tipos de datos y operaciones avanzadas. Su arquitectura basada en procesos garantiza una gestión eficiente de múltiples conexiones concurrentes.</a:t>
            </a:r>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Integridad y Consistencia</a:t>
            </a:r>
            <a:r>
              <a:rPr lang="es-ES" sz="2400">
                <a:solidFill>
                  <a:schemeClr val="dk1"/>
                </a:solidFill>
                <a:latin typeface="Calibri"/>
                <a:ea typeface="Calibri"/>
                <a:cs typeface="Calibri"/>
                <a:sym typeface="Calibri"/>
              </a:rPr>
              <a:t>: La implementación de transacciones ACID en PostgreSQL asegura que los datos se mantengan consistentes y seguros, incluso en caso de fallos o errores.</a:t>
            </a:r>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Expansión y Personalización</a:t>
            </a:r>
            <a:r>
              <a:rPr lang="es-ES" sz="2400">
                <a:solidFill>
                  <a:schemeClr val="dk1"/>
                </a:solidFill>
                <a:latin typeface="Calibri"/>
                <a:ea typeface="Calibri"/>
                <a:cs typeface="Calibri"/>
                <a:sym typeface="Calibri"/>
              </a:rPr>
              <a:t>: Las extensiones y módulos permiten a los usuarios adaptar PostgreSQL a sus necesidades específicas, ampliando sus capacidades más allá de lo que ofrece por defecto.</a:t>
            </a:r>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Facilidad de Uso</a:t>
            </a:r>
            <a:r>
              <a:rPr lang="es-ES" sz="2400">
                <a:solidFill>
                  <a:schemeClr val="dk1"/>
                </a:solidFill>
                <a:latin typeface="Calibri"/>
                <a:ea typeface="Calibri"/>
                <a:cs typeface="Calibri"/>
                <a:sym typeface="Calibri"/>
              </a:rPr>
              <a:t>: La creación de bases de datos y tablas en PostgreSQL es intuitiva y se realiza mediante comandos SQL estándar, facilitando la tarea a los administradores de bases de datos y desarrolladores.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1"/>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41"/>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sp>
        <p:nvSpPr>
          <p:cNvPr id="341" name="Google Shape;341;p41"/>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42" name="Google Shape;342;p41"/>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43" name="Google Shape;343;p41"/>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Entrega de manera escrita, en la siguiente clase.</a:t>
            </a:r>
            <a:endParaRPr sz="2400">
              <a:solidFill>
                <a:schemeClr val="dk1"/>
              </a:solidFill>
              <a:latin typeface="Arial"/>
              <a:ea typeface="Arial"/>
              <a:cs typeface="Arial"/>
              <a:sym typeface="Arial"/>
            </a:endParaRPr>
          </a:p>
        </p:txBody>
      </p:sp>
      <p:sp>
        <p:nvSpPr>
          <p:cNvPr id="344" name="Google Shape;344;p41"/>
          <p:cNvSpPr txBox="1"/>
          <p:nvPr/>
        </p:nvSpPr>
        <p:spPr>
          <a:xfrm>
            <a:off x="856327" y="1276637"/>
            <a:ext cx="10096501" cy="37856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Estructura de funcionamiento y creación de Bases de Datos - Tablas</a:t>
            </a:r>
            <a:endParaRPr/>
          </a:p>
          <a:p>
            <a:pPr indent="0" lvl="0" marL="0" marR="0" rtl="0" algn="just">
              <a:spcBef>
                <a:spcPts val="0"/>
              </a:spcBef>
              <a:spcAft>
                <a:spcPts val="0"/>
              </a:spcAft>
              <a:buNone/>
            </a:pPr>
            <a:r>
              <a:t/>
            </a:r>
            <a:endParaRPr b="1" sz="2400">
              <a:solidFill>
                <a:schemeClr val="dk1"/>
              </a:solidFill>
              <a:latin typeface="Calibri"/>
              <a:ea typeface="Calibri"/>
              <a:cs typeface="Calibri"/>
              <a:sym typeface="Calibri"/>
            </a:endParaRPr>
          </a:p>
          <a:p>
            <a:pPr indent="-152400" lvl="0" marL="0" marR="0" rtl="0" algn="just">
              <a:spcBef>
                <a:spcPts val="0"/>
              </a:spcBef>
              <a:spcAft>
                <a:spcPts val="0"/>
              </a:spcAft>
              <a:buClr>
                <a:schemeClr val="dk1"/>
              </a:buClr>
              <a:buSzPts val="2400"/>
              <a:buFont typeface="Calibri"/>
              <a:buAutoNum type="arabicPeriod"/>
            </a:pPr>
            <a:r>
              <a:rPr b="1" lang="es-ES" sz="2400">
                <a:solidFill>
                  <a:schemeClr val="dk1"/>
                </a:solidFill>
                <a:latin typeface="Calibri"/>
                <a:ea typeface="Calibri"/>
                <a:cs typeface="Calibri"/>
                <a:sym typeface="Calibri"/>
              </a:rPr>
              <a:t> Componentes Principales</a:t>
            </a:r>
            <a:r>
              <a:rPr lang="es-ES" sz="24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s-ES" sz="2400">
                <a:solidFill>
                  <a:schemeClr val="dk1"/>
                </a:solidFill>
                <a:latin typeface="Calibri"/>
                <a:ea typeface="Calibri"/>
                <a:cs typeface="Calibri"/>
                <a:sym typeface="Calibri"/>
              </a:rPr>
              <a:t>Describe de acuerdo a tu experiencia sobre el tema de: Base de Datos (BD) y Sistema de Gestión de Bases de Datos (DBMS), por medio de un cuadro comparativo.</a:t>
            </a:r>
            <a:endParaRPr/>
          </a:p>
          <a:p>
            <a:pPr indent="0" lvl="0" marL="0" marR="0" rtl="0" algn="just">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b="1" lang="es-ES" sz="2400">
                <a:solidFill>
                  <a:schemeClr val="dk1"/>
                </a:solidFill>
                <a:latin typeface="Calibri"/>
                <a:ea typeface="Calibri"/>
                <a:cs typeface="Calibri"/>
                <a:sym typeface="Calibri"/>
              </a:rPr>
              <a:t>2. Casos de Uso</a:t>
            </a:r>
            <a:r>
              <a:rPr lang="es-ES" sz="2400">
                <a:solidFill>
                  <a:schemeClr val="dk1"/>
                </a:solidFill>
                <a:latin typeface="Calibri"/>
                <a:ea typeface="Calibri"/>
                <a:cs typeface="Calibri"/>
                <a:sym typeface="Calibri"/>
              </a:rPr>
              <a:t>:</a:t>
            </a:r>
            <a:endParaRPr/>
          </a:p>
          <a:p>
            <a:pPr indent="0" lvl="0" marL="0" marR="0" rtl="0" algn="just">
              <a:spcBef>
                <a:spcPts val="0"/>
              </a:spcBef>
              <a:spcAft>
                <a:spcPts val="0"/>
              </a:spcAft>
              <a:buNone/>
            </a:pPr>
            <a:r>
              <a:rPr lang="es-ES" sz="2400">
                <a:solidFill>
                  <a:schemeClr val="dk1"/>
                </a:solidFill>
                <a:latin typeface="Calibri"/>
                <a:ea typeface="Calibri"/>
                <a:cs typeface="Calibri"/>
                <a:sym typeface="Calibri"/>
              </a:rPr>
              <a:t>Crear y describe ejemplo de base de datos y tablas con la utilización de PostgreSQL.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2"/>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42"/>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Recursos</a:t>
            </a:r>
            <a:endParaRPr sz="2400">
              <a:solidFill>
                <a:schemeClr val="dk1"/>
              </a:solidFill>
              <a:latin typeface="Arial"/>
              <a:ea typeface="Arial"/>
              <a:cs typeface="Arial"/>
              <a:sym typeface="Arial"/>
            </a:endParaRPr>
          </a:p>
        </p:txBody>
      </p:sp>
      <p:sp>
        <p:nvSpPr>
          <p:cNvPr id="351" name="Google Shape;351;p42"/>
          <p:cNvSpPr txBox="1"/>
          <p:nvPr/>
        </p:nvSpPr>
        <p:spPr>
          <a:xfrm>
            <a:off x="3886200" y="3581400"/>
            <a:ext cx="6476999" cy="295402"/>
          </a:xfrm>
          <a:prstGeom prst="rect">
            <a:avLst/>
          </a:prstGeom>
          <a:solidFill>
            <a:srgbClr val="FFFFFF"/>
          </a:solidFill>
          <a:ln>
            <a:noFill/>
          </a:ln>
        </p:spPr>
        <p:txBody>
          <a:bodyPr anchorCtr="0" anchor="t" bIns="0" lIns="0" spcFirstLastPara="1" rIns="0" wrap="square" tIns="0">
            <a:spAutoFit/>
          </a:bodyPr>
          <a:lstStyle/>
          <a:p>
            <a:pPr indent="0" lvl="0" marL="0" marR="0" rtl="0" algn="l">
              <a:lnSpc>
                <a:spcPct val="65312"/>
              </a:lnSpc>
              <a:spcBef>
                <a:spcPts val="0"/>
              </a:spcBef>
              <a:spcAft>
                <a:spcPts val="0"/>
              </a:spcAft>
              <a:buNone/>
            </a:pPr>
            <a:r>
              <a:t/>
            </a:r>
            <a:endParaRPr sz="3200">
              <a:solidFill>
                <a:schemeClr val="dk1"/>
              </a:solidFill>
              <a:latin typeface="Arial"/>
              <a:ea typeface="Arial"/>
              <a:cs typeface="Arial"/>
              <a:sym typeface="Arial"/>
            </a:endParaRPr>
          </a:p>
        </p:txBody>
      </p:sp>
      <p:pic>
        <p:nvPicPr>
          <p:cNvPr id="352" name="Google Shape;352;p42"/>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53" name="Google Shape;353;p42"/>
          <p:cNvSpPr txBox="1"/>
          <p:nvPr/>
        </p:nvSpPr>
        <p:spPr>
          <a:xfrm>
            <a:off x="1243933" y="5472302"/>
            <a:ext cx="9704133" cy="369332"/>
          </a:xfrm>
          <a:prstGeom prst="rect">
            <a:avLst/>
          </a:prstGeom>
          <a:solidFill>
            <a:srgbClr val="D9EAD3"/>
          </a:solidFill>
          <a:ln>
            <a:noFill/>
          </a:ln>
        </p:spPr>
        <p:txBody>
          <a:bodyPr anchorCtr="0" anchor="t" bIns="0" lIns="0" spcFirstLastPara="1" rIns="0" wrap="square" tIns="0">
            <a:spAutoFit/>
          </a:bodyPr>
          <a:lstStyle/>
          <a:p>
            <a:pPr indent="0" lvl="0" marL="0" marR="0" rtl="0" algn="ctr">
              <a:spcBef>
                <a:spcPts val="0"/>
              </a:spcBef>
              <a:spcAft>
                <a:spcPts val="0"/>
              </a:spcAft>
              <a:buNone/>
            </a:pPr>
            <a:r>
              <a:rPr i="1" lang="es-ES" sz="2400">
                <a:solidFill>
                  <a:schemeClr val="dk1"/>
                </a:solidFill>
                <a:latin typeface="Arial"/>
                <a:ea typeface="Arial"/>
                <a:cs typeface="Arial"/>
                <a:sym typeface="Arial"/>
              </a:rPr>
              <a:t>Nota: No olvides también revisar tu plataforma UTP+Class</a:t>
            </a:r>
            <a:endParaRPr sz="2400">
              <a:solidFill>
                <a:schemeClr val="dk1"/>
              </a:solidFill>
              <a:latin typeface="Arial"/>
              <a:ea typeface="Arial"/>
              <a:cs typeface="Arial"/>
              <a:sym typeface="Arial"/>
            </a:endParaRPr>
          </a:p>
        </p:txBody>
      </p:sp>
      <p:sp>
        <p:nvSpPr>
          <p:cNvPr id="354" name="Google Shape;354;p42"/>
          <p:cNvSpPr txBox="1"/>
          <p:nvPr/>
        </p:nvSpPr>
        <p:spPr>
          <a:xfrm>
            <a:off x="1028699" y="1365177"/>
            <a:ext cx="10134600" cy="36009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chemeClr val="dk1"/>
                </a:solidFill>
                <a:latin typeface="Calibri"/>
                <a:ea typeface="Calibri"/>
                <a:cs typeface="Calibri"/>
                <a:sym typeface="Calibri"/>
              </a:rPr>
              <a:t>1. Videos</a:t>
            </a:r>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Video 1</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4">
                  <a:extLst>
                    <a:ext uri="{A12FA001-AC4F-418D-AE19-62706E023703}">
                      <ahyp:hlinkClr val="tx"/>
                    </a:ext>
                  </a:extLst>
                </a:hlinkClick>
              </a:rPr>
              <a:t>https://www.youtube.com/watch?v=B_lqjZGwViI</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Video 2</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5">
                  <a:extLst>
                    <a:ext uri="{A12FA001-AC4F-418D-AE19-62706E023703}">
                      <ahyp:hlinkClr val="tx"/>
                    </a:ext>
                  </a:extLst>
                </a:hlinkClick>
              </a:rPr>
              <a:t>https://www.youtube.com/watch?v=gEJcMrk3E-Q&amp;list=PLgqdACsQ8US2DCzQVrdZDZCTtTFHMY0as</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Video 3</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6">
                  <a:extLst>
                    <a:ext uri="{A12FA001-AC4F-418D-AE19-62706E023703}">
                      <ahyp:hlinkClr val="tx"/>
                    </a:ext>
                  </a:extLst>
                </a:hlinkClick>
              </a:rPr>
              <a:t>https://www.youtube.com/watch?v=PTs5v6WNfm4</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Video 4</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7">
                  <a:extLst>
                    <a:ext uri="{A12FA001-AC4F-418D-AE19-62706E023703}">
                      <ahyp:hlinkClr val="tx"/>
                    </a:ext>
                  </a:extLst>
                </a:hlinkClick>
              </a:rPr>
              <a:t>https://www.youtube.com/watch?v=VPqapy7m7uk</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Video 5</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8">
                  <a:extLst>
                    <a:ext uri="{A12FA001-AC4F-418D-AE19-62706E023703}">
                      <ahyp:hlinkClr val="tx"/>
                    </a:ext>
                  </a:extLst>
                </a:hlinkClick>
              </a:rPr>
              <a:t>https://www.youtube.com/watch?v=8aN91vauy8o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s-ES" sz="2400">
                <a:solidFill>
                  <a:schemeClr val="dk1"/>
                </a:solidFill>
                <a:latin typeface="Calibri"/>
                <a:ea typeface="Calibri"/>
                <a:cs typeface="Calibri"/>
                <a:sym typeface="Calibri"/>
              </a:rPr>
              <a:t>2. PDFs</a:t>
            </a:r>
            <a:endParaRPr b="1" sz="24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PDF 1</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9">
                  <a:extLst>
                    <a:ext uri="{A12FA001-AC4F-418D-AE19-62706E023703}">
                      <ahyp:hlinkClr val="tx"/>
                    </a:ext>
                  </a:extLst>
                </a:hlinkClick>
              </a:rPr>
              <a:t>https://dgvs.mspbs.gov.py/files/documentos/06_06_2016_20_09_46_P06_M2109_02152.pdf</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Arial"/>
              <a:buChar char="•"/>
            </a:pPr>
            <a:r>
              <a:rPr b="1" lang="es-ES" sz="1800">
                <a:solidFill>
                  <a:schemeClr val="dk1"/>
                </a:solidFill>
                <a:latin typeface="Calibri"/>
                <a:ea typeface="Calibri"/>
                <a:cs typeface="Calibri"/>
                <a:sym typeface="Calibri"/>
              </a:rPr>
              <a:t> PDF 2</a:t>
            </a:r>
            <a:r>
              <a:rPr lang="es-ES" sz="1800">
                <a:solidFill>
                  <a:schemeClr val="dk1"/>
                </a:solidFill>
                <a:latin typeface="Calibri"/>
                <a:ea typeface="Calibri"/>
                <a:cs typeface="Calibri"/>
                <a:sym typeface="Calibri"/>
              </a:rPr>
              <a:t>: </a:t>
            </a:r>
            <a:r>
              <a:rPr lang="es-ES" sz="1800" u="sng">
                <a:solidFill>
                  <a:schemeClr val="dk1"/>
                </a:solidFill>
                <a:latin typeface="Calibri"/>
                <a:ea typeface="Calibri"/>
                <a:cs typeface="Calibri"/>
                <a:sym typeface="Calibri"/>
                <a:hlinkClick r:id="rId10">
                  <a:extLst>
                    <a:ext uri="{A12FA001-AC4F-418D-AE19-62706E023703}">
                      <ahyp:hlinkClr val="tx"/>
                    </a:ext>
                  </a:extLst>
                </a:hlinkClick>
              </a:rPr>
              <a:t>https://www.tutorialesprogramacionya.com/postgresqlya/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p:nvPr/>
        </p:nvSpPr>
        <p:spPr>
          <a:xfrm>
            <a:off x="0" y="304801"/>
            <a:ext cx="5659755" cy="561824"/>
          </a:xfrm>
          <a:custGeom>
            <a:rect b="b" l="l" r="r" t="t"/>
            <a:pathLst>
              <a:path extrusionOk="0" h="415290" w="5659755">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43"/>
          <p:cNvSpPr txBox="1"/>
          <p:nvPr/>
        </p:nvSpPr>
        <p:spPr>
          <a:xfrm>
            <a:off x="381000" y="381000"/>
            <a:ext cx="472440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s-ES" sz="2400">
                <a:solidFill>
                  <a:srgbClr val="FFFFFF"/>
                </a:solidFill>
                <a:latin typeface="Arial"/>
                <a:ea typeface="Arial"/>
                <a:cs typeface="Arial"/>
                <a:sym typeface="Arial"/>
              </a:rPr>
              <a:t>Tarea</a:t>
            </a:r>
            <a:endParaRPr sz="2400">
              <a:solidFill>
                <a:schemeClr val="dk1"/>
              </a:solidFill>
              <a:latin typeface="Arial"/>
              <a:ea typeface="Arial"/>
              <a:cs typeface="Arial"/>
              <a:sym typeface="Arial"/>
            </a:endParaRPr>
          </a:p>
        </p:txBody>
      </p:sp>
      <p:pic>
        <p:nvPicPr>
          <p:cNvPr id="361" name="Google Shape;361;p43"/>
          <p:cNvPicPr preferRelativeResize="0"/>
          <p:nvPr/>
        </p:nvPicPr>
        <p:blipFill rotWithShape="1">
          <a:blip r:embed="rId3">
            <a:alphaModFix/>
          </a:blip>
          <a:srcRect b="0" l="0" r="0" t="0"/>
          <a:stretch/>
        </p:blipFill>
        <p:spPr>
          <a:xfrm>
            <a:off x="5705310" y="304802"/>
            <a:ext cx="561824" cy="561824"/>
          </a:xfrm>
          <a:prstGeom prst="rect">
            <a:avLst/>
          </a:prstGeom>
          <a:noFill/>
          <a:ln>
            <a:noFill/>
          </a:ln>
        </p:spPr>
      </p:pic>
      <p:sp>
        <p:nvSpPr>
          <p:cNvPr id="362" name="Google Shape;362;p43"/>
          <p:cNvSpPr txBox="1"/>
          <p:nvPr/>
        </p:nvSpPr>
        <p:spPr>
          <a:xfrm>
            <a:off x="914400" y="2828835"/>
            <a:ext cx="60960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3600">
                <a:solidFill>
                  <a:schemeClr val="dk1"/>
                </a:solidFill>
                <a:latin typeface="Arial"/>
                <a:ea typeface="Arial"/>
                <a:cs typeface="Arial"/>
                <a:sym typeface="Arial"/>
              </a:rPr>
              <a:t>MUCHAS GRACIAS QUE DIOS LOS BENDIGA!!!</a:t>
            </a:r>
            <a:endParaRPr b="1" sz="3600">
              <a:solidFill>
                <a:schemeClr val="dk1"/>
              </a:solidFill>
              <a:latin typeface="Arial"/>
              <a:ea typeface="Arial"/>
              <a:cs typeface="Arial"/>
              <a:sym typeface="Arial"/>
            </a:endParaRPr>
          </a:p>
        </p:txBody>
      </p:sp>
      <p:pic>
        <p:nvPicPr>
          <p:cNvPr id="363" name="Google Shape;363;p43"/>
          <p:cNvPicPr preferRelativeResize="0"/>
          <p:nvPr/>
        </p:nvPicPr>
        <p:blipFill rotWithShape="1">
          <a:blip r:embed="rId4">
            <a:alphaModFix/>
          </a:blip>
          <a:srcRect b="0" l="0" r="0" t="0"/>
          <a:stretch/>
        </p:blipFill>
        <p:spPr>
          <a:xfrm>
            <a:off x="7467600" y="1216152"/>
            <a:ext cx="3056381" cy="442569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grpSp>
        <p:nvGrpSpPr>
          <p:cNvPr id="368" name="Google Shape;368;p44"/>
          <p:cNvGrpSpPr/>
          <p:nvPr/>
        </p:nvGrpSpPr>
        <p:grpSpPr>
          <a:xfrm>
            <a:off x="2057400" y="152400"/>
            <a:ext cx="9906000" cy="4152900"/>
            <a:chOff x="2057400" y="152400"/>
            <a:chExt cx="9906000" cy="4152900"/>
          </a:xfrm>
        </p:grpSpPr>
        <p:pic>
          <p:nvPicPr>
            <p:cNvPr id="369" name="Google Shape;369;p44"/>
            <p:cNvPicPr preferRelativeResize="0"/>
            <p:nvPr/>
          </p:nvPicPr>
          <p:blipFill rotWithShape="1">
            <a:blip r:embed="rId3">
              <a:alphaModFix/>
            </a:blip>
            <a:srcRect b="0" l="0" r="0" t="0"/>
            <a:stretch/>
          </p:blipFill>
          <p:spPr>
            <a:xfrm>
              <a:off x="2057400" y="2552700"/>
              <a:ext cx="7856700" cy="1752600"/>
            </a:xfrm>
            <a:prstGeom prst="rect">
              <a:avLst/>
            </a:prstGeom>
            <a:noFill/>
            <a:ln>
              <a:noFill/>
            </a:ln>
          </p:spPr>
        </p:pic>
        <p:sp>
          <p:nvSpPr>
            <p:cNvPr id="370" name="Google Shape;370;p44"/>
            <p:cNvSpPr/>
            <p:nvPr/>
          </p:nvSpPr>
          <p:spPr>
            <a:xfrm>
              <a:off x="9144000" y="152400"/>
              <a:ext cx="2819400" cy="76272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