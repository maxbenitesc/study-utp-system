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Lst>
  <p:sldSz cy="6858000" cx="12192000"/>
  <p:notesSz cx="12192000" cy="6858000"/>
  <p:embeddedFontLst>
    <p:embeddedFont>
      <p:font typeface="Rubik"/>
      <p:regular r:id="rId33"/>
      <p:bold r:id="rId34"/>
      <p:italic r:id="rId35"/>
      <p:boldItalic r:id="rId3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3840">
          <p15:clr>
            <a:srgbClr val="A4A3A4"/>
          </p15:clr>
        </p15:guide>
      </p15:sldGuideLst>
    </p:ext>
    <p:ext uri="GoogleSlidesCustomDataVersion2">
      <go:slidesCustomData xmlns:go="http://customooxmlschemas.google.com/" r:id="rId37" roundtripDataSignature="AMtx7mhoALRDJR9Xlel+N7pbvpdwSfpNH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4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font" Target="fonts/Rubik-regular.fntdata"/><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font" Target="fonts/Rubik-italic.fntdata"/><Relationship Id="rId12" Type="http://schemas.openxmlformats.org/officeDocument/2006/relationships/slide" Target="slides/slide7.xml"/><Relationship Id="rId34" Type="http://schemas.openxmlformats.org/officeDocument/2006/relationships/font" Target="fonts/Rubik-bold.fntdata"/><Relationship Id="rId15" Type="http://schemas.openxmlformats.org/officeDocument/2006/relationships/slide" Target="slides/slide10.xml"/><Relationship Id="rId37" Type="http://customschemas.google.com/relationships/presentationmetadata" Target="metadata"/><Relationship Id="rId14" Type="http://schemas.openxmlformats.org/officeDocument/2006/relationships/slide" Target="slides/slide9.xml"/><Relationship Id="rId36" Type="http://schemas.openxmlformats.org/officeDocument/2006/relationships/font" Target="fonts/Rubik-boldItalic.fnt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5283200" cy="3444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6905625" y="0"/>
            <a:ext cx="5283200" cy="3444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1219200" y="3300413"/>
            <a:ext cx="9753600" cy="2700337"/>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6513513"/>
            <a:ext cx="5283200" cy="3444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6905625" y="6513513"/>
            <a:ext cx="5283200" cy="3444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s-E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 name="Shape 43"/>
        <p:cNvGrpSpPr/>
        <p:nvPr/>
      </p:nvGrpSpPr>
      <p:grpSpPr>
        <a:xfrm>
          <a:off x="0" y="0"/>
          <a:ext cx="0" cy="0"/>
          <a:chOff x="0" y="0"/>
          <a:chExt cx="0" cy="0"/>
        </a:xfrm>
      </p:grpSpPr>
      <p:sp>
        <p:nvSpPr>
          <p:cNvPr id="44" name="Google Shape;44;p1: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 name="Google Shape;45;p1: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 name="Shape 54"/>
        <p:cNvGrpSpPr/>
        <p:nvPr/>
      </p:nvGrpSpPr>
      <p:grpSpPr>
        <a:xfrm>
          <a:off x="0" y="0"/>
          <a:ext cx="0" cy="0"/>
          <a:chOff x="0" y="0"/>
          <a:chExt cx="0" cy="0"/>
        </a:xfrm>
      </p:grpSpPr>
      <p:sp>
        <p:nvSpPr>
          <p:cNvPr id="55" name="Google Shape;55;p2: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6" name="Google Shape;56;p2: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p3: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7" name="Google Shape;67;p3: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p4: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6" name="Google Shape;76;p4: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p5: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5" name="Google Shape;85;p5: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6: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6" name="Google Shape;96;p6: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7: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6" name="Google Shape;106;p7: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8: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5" name="Google Shape;115;p8: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p9:notes"/>
          <p:cNvSpPr txBox="1"/>
          <p:nvPr>
            <p:ph idx="1" type="body"/>
          </p:nvPr>
        </p:nvSpPr>
        <p:spPr>
          <a:xfrm>
            <a:off x="1219200" y="3300413"/>
            <a:ext cx="9753600" cy="270033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a:p>
        </p:txBody>
      </p:sp>
      <p:sp>
        <p:nvSpPr>
          <p:cNvPr id="125" name="Google Shape;125;p9: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p10:notes"/>
          <p:cNvSpPr txBox="1"/>
          <p:nvPr>
            <p:ph idx="1" type="body"/>
          </p:nvPr>
        </p:nvSpPr>
        <p:spPr>
          <a:xfrm>
            <a:off x="1219200" y="3300413"/>
            <a:ext cx="9753600" cy="270033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a:p>
        </p:txBody>
      </p:sp>
      <p:sp>
        <p:nvSpPr>
          <p:cNvPr id="133" name="Google Shape;133;p10: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11:notes"/>
          <p:cNvSpPr txBox="1"/>
          <p:nvPr>
            <p:ph idx="1" type="body"/>
          </p:nvPr>
        </p:nvSpPr>
        <p:spPr>
          <a:xfrm>
            <a:off x="1219200" y="3300413"/>
            <a:ext cx="9753600" cy="270033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a:p>
        </p:txBody>
      </p:sp>
      <p:sp>
        <p:nvSpPr>
          <p:cNvPr id="141" name="Google Shape;141;p11: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p12:notes"/>
          <p:cNvSpPr txBox="1"/>
          <p:nvPr>
            <p:ph idx="1" type="body"/>
          </p:nvPr>
        </p:nvSpPr>
        <p:spPr>
          <a:xfrm>
            <a:off x="1219200" y="3300413"/>
            <a:ext cx="9753600" cy="270033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a:p>
        </p:txBody>
      </p:sp>
      <p:sp>
        <p:nvSpPr>
          <p:cNvPr id="149" name="Google Shape;149;p12: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13:notes"/>
          <p:cNvSpPr txBox="1"/>
          <p:nvPr>
            <p:ph idx="1" type="body"/>
          </p:nvPr>
        </p:nvSpPr>
        <p:spPr>
          <a:xfrm>
            <a:off x="1219200" y="3300413"/>
            <a:ext cx="9753600" cy="270033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a:p>
        </p:txBody>
      </p:sp>
      <p:sp>
        <p:nvSpPr>
          <p:cNvPr id="156" name="Google Shape;156;p13: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p14:notes"/>
          <p:cNvSpPr txBox="1"/>
          <p:nvPr>
            <p:ph idx="1" type="body"/>
          </p:nvPr>
        </p:nvSpPr>
        <p:spPr>
          <a:xfrm>
            <a:off x="1219200" y="3300413"/>
            <a:ext cx="9753600" cy="270033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a:p>
        </p:txBody>
      </p:sp>
      <p:sp>
        <p:nvSpPr>
          <p:cNvPr id="163" name="Google Shape;163;p14: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p15:notes"/>
          <p:cNvSpPr txBox="1"/>
          <p:nvPr>
            <p:ph idx="1" type="body"/>
          </p:nvPr>
        </p:nvSpPr>
        <p:spPr>
          <a:xfrm>
            <a:off x="1219200" y="3300413"/>
            <a:ext cx="9753600" cy="270033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a:p>
        </p:txBody>
      </p:sp>
      <p:sp>
        <p:nvSpPr>
          <p:cNvPr id="170" name="Google Shape;170;p15: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p16: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7" name="Google Shape;177;p16: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p17: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3" name="Google Shape;183;p17: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p18: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9" name="Google Shape;189;p18: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p19: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8" name="Google Shape;198;p19: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p20: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8" name="Google Shape;208;p20: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p21: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8" name="Google Shape;218;p21: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p22: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7" name="Google Shape;227;p22: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p23: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6" name="Google Shape;236;p23: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p24: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5" name="Google Shape;245;p24: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p25: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5" name="Google Shape;255;p25: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p26: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5" name="Google Shape;265;p26: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p27: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4" name="Google Shape;274;p27: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obj">
  <p:cSld name="OBJECT">
    <p:spTree>
      <p:nvGrpSpPr>
        <p:cNvPr id="15" name="Shape 15"/>
        <p:cNvGrpSpPr/>
        <p:nvPr/>
      </p:nvGrpSpPr>
      <p:grpSpPr>
        <a:xfrm>
          <a:off x="0" y="0"/>
          <a:ext cx="0" cy="0"/>
          <a:chOff x="0" y="0"/>
          <a:chExt cx="0" cy="0"/>
        </a:xfrm>
      </p:grpSpPr>
      <p:sp>
        <p:nvSpPr>
          <p:cNvPr id="16" name="Google Shape;16;p29"/>
          <p:cNvSpPr txBox="1"/>
          <p:nvPr>
            <p:ph type="ctrTitle"/>
          </p:nvPr>
        </p:nvSpPr>
        <p:spPr>
          <a:xfrm>
            <a:off x="1734820" y="1015746"/>
            <a:ext cx="8722359" cy="1763395"/>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6000">
                <a:solidFill>
                  <a:schemeClr val="dk1"/>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29"/>
          <p:cNvSpPr txBox="1"/>
          <p:nvPr>
            <p:ph idx="1" type="subTitle"/>
          </p:nvPr>
        </p:nvSpPr>
        <p:spPr>
          <a:xfrm>
            <a:off x="1828800" y="3840480"/>
            <a:ext cx="8534400" cy="17145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 name="Google Shape;18;p29"/>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29"/>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29"/>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marL="0" algn="r">
              <a:spcBef>
                <a:spcPts val="0"/>
              </a:spcBef>
              <a:buNone/>
              <a:defRPr>
                <a:solidFill>
                  <a:srgbClr val="888888"/>
                </a:solidFill>
              </a:defRPr>
            </a:lvl1pPr>
            <a:lvl2pPr indent="0" lvl="1" marL="0" algn="r">
              <a:spcBef>
                <a:spcPts val="0"/>
              </a:spcBef>
              <a:buNone/>
              <a:defRPr>
                <a:solidFill>
                  <a:srgbClr val="888888"/>
                </a:solidFill>
              </a:defRPr>
            </a:lvl2pPr>
            <a:lvl3pPr indent="0" lvl="2" marL="0" algn="r">
              <a:spcBef>
                <a:spcPts val="0"/>
              </a:spcBef>
              <a:buNone/>
              <a:defRPr>
                <a:solidFill>
                  <a:srgbClr val="888888"/>
                </a:solidFill>
              </a:defRPr>
            </a:lvl3pPr>
            <a:lvl4pPr indent="0" lvl="3" marL="0" algn="r">
              <a:spcBef>
                <a:spcPts val="0"/>
              </a:spcBef>
              <a:buNone/>
              <a:defRPr>
                <a:solidFill>
                  <a:srgbClr val="888888"/>
                </a:solidFill>
              </a:defRPr>
            </a:lvl4pPr>
            <a:lvl5pPr indent="0" lvl="4" marL="0" algn="r">
              <a:spcBef>
                <a:spcPts val="0"/>
              </a:spcBef>
              <a:buNone/>
              <a:defRPr>
                <a:solidFill>
                  <a:srgbClr val="888888"/>
                </a:solidFill>
              </a:defRPr>
            </a:lvl5pPr>
            <a:lvl6pPr indent="0" lvl="5" marL="0" algn="r">
              <a:spcBef>
                <a:spcPts val="0"/>
              </a:spcBef>
              <a:buNone/>
              <a:defRPr>
                <a:solidFill>
                  <a:srgbClr val="888888"/>
                </a:solidFill>
              </a:defRPr>
            </a:lvl6pPr>
            <a:lvl7pPr indent="0" lvl="6" marL="0" algn="r">
              <a:spcBef>
                <a:spcPts val="0"/>
              </a:spcBef>
              <a:buNone/>
              <a:defRPr>
                <a:solidFill>
                  <a:srgbClr val="888888"/>
                </a:solidFill>
              </a:defRPr>
            </a:lvl7pPr>
            <a:lvl8pPr indent="0" lvl="7" marL="0" algn="r">
              <a:spcBef>
                <a:spcPts val="0"/>
              </a:spcBef>
              <a:buNone/>
              <a:defRPr>
                <a:solidFill>
                  <a:srgbClr val="888888"/>
                </a:solidFill>
              </a:defRPr>
            </a:lvl8pPr>
            <a:lvl9pPr indent="0" lvl="8" marL="0"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s-ES"/>
              <a:t>‹#›</a:t>
            </a:fld>
            <a:endParaRPr b="0" i="0" sz="1800" u="none" cap="none" strike="noStrike">
              <a:latin typeface="Calibri"/>
              <a:ea typeface="Calibri"/>
              <a:cs typeface="Calibri"/>
              <a:sym typeface="Calibri"/>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21" name="Shape 21"/>
        <p:cNvGrpSpPr/>
        <p:nvPr/>
      </p:nvGrpSpPr>
      <p:grpSpPr>
        <a:xfrm>
          <a:off x="0" y="0"/>
          <a:ext cx="0" cy="0"/>
          <a:chOff x="0" y="0"/>
          <a:chExt cx="0" cy="0"/>
        </a:xfrm>
      </p:grpSpPr>
      <p:sp>
        <p:nvSpPr>
          <p:cNvPr id="22" name="Google Shape;22;p30"/>
          <p:cNvSpPr txBox="1"/>
          <p:nvPr>
            <p:ph type="title"/>
          </p:nvPr>
        </p:nvSpPr>
        <p:spPr>
          <a:xfrm>
            <a:off x="916939" y="609676"/>
            <a:ext cx="10358120" cy="69723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4400">
                <a:solidFill>
                  <a:schemeClr val="dk1"/>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30"/>
          <p:cNvSpPr txBox="1"/>
          <p:nvPr>
            <p:ph idx="1" type="body"/>
          </p:nvPr>
        </p:nvSpPr>
        <p:spPr>
          <a:xfrm>
            <a:off x="916939" y="1793493"/>
            <a:ext cx="10358120" cy="1858645"/>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b="0" i="0">
                <a:solidFill>
                  <a:schemeClr val="dk1"/>
                </a:solidFill>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4" name="Google Shape;24;p30"/>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30"/>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30"/>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marL="0" algn="r">
              <a:spcBef>
                <a:spcPts val="0"/>
              </a:spcBef>
              <a:buNone/>
              <a:defRPr>
                <a:solidFill>
                  <a:srgbClr val="888888"/>
                </a:solidFill>
              </a:defRPr>
            </a:lvl1pPr>
            <a:lvl2pPr indent="0" lvl="1" marL="0" algn="r">
              <a:spcBef>
                <a:spcPts val="0"/>
              </a:spcBef>
              <a:buNone/>
              <a:defRPr>
                <a:solidFill>
                  <a:srgbClr val="888888"/>
                </a:solidFill>
              </a:defRPr>
            </a:lvl2pPr>
            <a:lvl3pPr indent="0" lvl="2" marL="0" algn="r">
              <a:spcBef>
                <a:spcPts val="0"/>
              </a:spcBef>
              <a:buNone/>
              <a:defRPr>
                <a:solidFill>
                  <a:srgbClr val="888888"/>
                </a:solidFill>
              </a:defRPr>
            </a:lvl3pPr>
            <a:lvl4pPr indent="0" lvl="3" marL="0" algn="r">
              <a:spcBef>
                <a:spcPts val="0"/>
              </a:spcBef>
              <a:buNone/>
              <a:defRPr>
                <a:solidFill>
                  <a:srgbClr val="888888"/>
                </a:solidFill>
              </a:defRPr>
            </a:lvl4pPr>
            <a:lvl5pPr indent="0" lvl="4" marL="0" algn="r">
              <a:spcBef>
                <a:spcPts val="0"/>
              </a:spcBef>
              <a:buNone/>
              <a:defRPr>
                <a:solidFill>
                  <a:srgbClr val="888888"/>
                </a:solidFill>
              </a:defRPr>
            </a:lvl5pPr>
            <a:lvl6pPr indent="0" lvl="5" marL="0" algn="r">
              <a:spcBef>
                <a:spcPts val="0"/>
              </a:spcBef>
              <a:buNone/>
              <a:defRPr>
                <a:solidFill>
                  <a:srgbClr val="888888"/>
                </a:solidFill>
              </a:defRPr>
            </a:lvl6pPr>
            <a:lvl7pPr indent="0" lvl="6" marL="0" algn="r">
              <a:spcBef>
                <a:spcPts val="0"/>
              </a:spcBef>
              <a:buNone/>
              <a:defRPr>
                <a:solidFill>
                  <a:srgbClr val="888888"/>
                </a:solidFill>
              </a:defRPr>
            </a:lvl7pPr>
            <a:lvl8pPr indent="0" lvl="7" marL="0" algn="r">
              <a:spcBef>
                <a:spcPts val="0"/>
              </a:spcBef>
              <a:buNone/>
              <a:defRPr>
                <a:solidFill>
                  <a:srgbClr val="888888"/>
                </a:solidFill>
              </a:defRPr>
            </a:lvl8pPr>
            <a:lvl9pPr indent="0" lvl="8" marL="0"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s-ES"/>
              <a:t>‹#›</a:t>
            </a:fld>
            <a:endParaRPr b="0" i="0" sz="1800" u="none" cap="none" strike="noStrike">
              <a:latin typeface="Calibri"/>
              <a:ea typeface="Calibri"/>
              <a:cs typeface="Calibri"/>
              <a:sym typeface="Calibri"/>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27" name="Shape 27"/>
        <p:cNvGrpSpPr/>
        <p:nvPr/>
      </p:nvGrpSpPr>
      <p:grpSpPr>
        <a:xfrm>
          <a:off x="0" y="0"/>
          <a:ext cx="0" cy="0"/>
          <a:chOff x="0" y="0"/>
          <a:chExt cx="0" cy="0"/>
        </a:xfrm>
      </p:grpSpPr>
      <p:sp>
        <p:nvSpPr>
          <p:cNvPr id="28" name="Google Shape;28;p31"/>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31"/>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31"/>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marL="0" algn="r">
              <a:spcBef>
                <a:spcPts val="0"/>
              </a:spcBef>
              <a:buNone/>
              <a:defRPr>
                <a:solidFill>
                  <a:srgbClr val="888888"/>
                </a:solidFill>
              </a:defRPr>
            </a:lvl1pPr>
            <a:lvl2pPr indent="0" lvl="1" marL="0" algn="r">
              <a:spcBef>
                <a:spcPts val="0"/>
              </a:spcBef>
              <a:buNone/>
              <a:defRPr>
                <a:solidFill>
                  <a:srgbClr val="888888"/>
                </a:solidFill>
              </a:defRPr>
            </a:lvl2pPr>
            <a:lvl3pPr indent="0" lvl="2" marL="0" algn="r">
              <a:spcBef>
                <a:spcPts val="0"/>
              </a:spcBef>
              <a:buNone/>
              <a:defRPr>
                <a:solidFill>
                  <a:srgbClr val="888888"/>
                </a:solidFill>
              </a:defRPr>
            </a:lvl3pPr>
            <a:lvl4pPr indent="0" lvl="3" marL="0" algn="r">
              <a:spcBef>
                <a:spcPts val="0"/>
              </a:spcBef>
              <a:buNone/>
              <a:defRPr>
                <a:solidFill>
                  <a:srgbClr val="888888"/>
                </a:solidFill>
              </a:defRPr>
            </a:lvl4pPr>
            <a:lvl5pPr indent="0" lvl="4" marL="0" algn="r">
              <a:spcBef>
                <a:spcPts val="0"/>
              </a:spcBef>
              <a:buNone/>
              <a:defRPr>
                <a:solidFill>
                  <a:srgbClr val="888888"/>
                </a:solidFill>
              </a:defRPr>
            </a:lvl5pPr>
            <a:lvl6pPr indent="0" lvl="5" marL="0" algn="r">
              <a:spcBef>
                <a:spcPts val="0"/>
              </a:spcBef>
              <a:buNone/>
              <a:defRPr>
                <a:solidFill>
                  <a:srgbClr val="888888"/>
                </a:solidFill>
              </a:defRPr>
            </a:lvl6pPr>
            <a:lvl7pPr indent="0" lvl="6" marL="0" algn="r">
              <a:spcBef>
                <a:spcPts val="0"/>
              </a:spcBef>
              <a:buNone/>
              <a:defRPr>
                <a:solidFill>
                  <a:srgbClr val="888888"/>
                </a:solidFill>
              </a:defRPr>
            </a:lvl7pPr>
            <a:lvl8pPr indent="0" lvl="7" marL="0" algn="r">
              <a:spcBef>
                <a:spcPts val="0"/>
              </a:spcBef>
              <a:buNone/>
              <a:defRPr>
                <a:solidFill>
                  <a:srgbClr val="888888"/>
                </a:solidFill>
              </a:defRPr>
            </a:lvl8pPr>
            <a:lvl9pPr indent="0" lvl="8" marL="0"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s-ES"/>
              <a:t>‹#›</a:t>
            </a:fld>
            <a:endParaRPr sz="1800">
              <a:latin typeface="Calibri"/>
              <a:ea typeface="Calibri"/>
              <a:cs typeface="Calibri"/>
              <a:sym typeface="Calibri"/>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31" name="Shape 31"/>
        <p:cNvGrpSpPr/>
        <p:nvPr/>
      </p:nvGrpSpPr>
      <p:grpSpPr>
        <a:xfrm>
          <a:off x="0" y="0"/>
          <a:ext cx="0" cy="0"/>
          <a:chOff x="0" y="0"/>
          <a:chExt cx="0" cy="0"/>
        </a:xfrm>
      </p:grpSpPr>
      <p:sp>
        <p:nvSpPr>
          <p:cNvPr id="32" name="Google Shape;32;p32"/>
          <p:cNvSpPr txBox="1"/>
          <p:nvPr>
            <p:ph type="title"/>
          </p:nvPr>
        </p:nvSpPr>
        <p:spPr>
          <a:xfrm>
            <a:off x="916939" y="609676"/>
            <a:ext cx="10358120" cy="69723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4400">
                <a:solidFill>
                  <a:schemeClr val="dk1"/>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 name="Google Shape;33;p32"/>
          <p:cNvSpPr txBox="1"/>
          <p:nvPr>
            <p:ph idx="1" type="body"/>
          </p:nvPr>
        </p:nvSpPr>
        <p:spPr>
          <a:xfrm>
            <a:off x="916939" y="1784350"/>
            <a:ext cx="4892675" cy="4026535"/>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b="0" i="0" sz="3200">
                <a:solidFill>
                  <a:schemeClr val="dk1"/>
                </a:solidFill>
                <a:latin typeface="Calibri"/>
                <a:ea typeface="Calibri"/>
                <a:cs typeface="Calibri"/>
                <a:sym typeface="Calibri"/>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4" name="Google Shape;34;p32"/>
          <p:cNvSpPr txBox="1"/>
          <p:nvPr>
            <p:ph idx="2" type="body"/>
          </p:nvPr>
        </p:nvSpPr>
        <p:spPr>
          <a:xfrm>
            <a:off x="7660005" y="1784350"/>
            <a:ext cx="3527425" cy="4026535"/>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b="0" i="0" sz="3200">
                <a:solidFill>
                  <a:schemeClr val="dk1"/>
                </a:solidFill>
                <a:latin typeface="Calibri"/>
                <a:ea typeface="Calibri"/>
                <a:cs typeface="Calibri"/>
                <a:sym typeface="Calibri"/>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5" name="Google Shape;35;p32"/>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32"/>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 name="Google Shape;37;p32"/>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marL="0" algn="r">
              <a:spcBef>
                <a:spcPts val="0"/>
              </a:spcBef>
              <a:buNone/>
              <a:defRPr>
                <a:solidFill>
                  <a:srgbClr val="888888"/>
                </a:solidFill>
              </a:defRPr>
            </a:lvl1pPr>
            <a:lvl2pPr indent="0" lvl="1" marL="0" algn="r">
              <a:spcBef>
                <a:spcPts val="0"/>
              </a:spcBef>
              <a:buNone/>
              <a:defRPr>
                <a:solidFill>
                  <a:srgbClr val="888888"/>
                </a:solidFill>
              </a:defRPr>
            </a:lvl2pPr>
            <a:lvl3pPr indent="0" lvl="2" marL="0" algn="r">
              <a:spcBef>
                <a:spcPts val="0"/>
              </a:spcBef>
              <a:buNone/>
              <a:defRPr>
                <a:solidFill>
                  <a:srgbClr val="888888"/>
                </a:solidFill>
              </a:defRPr>
            </a:lvl3pPr>
            <a:lvl4pPr indent="0" lvl="3" marL="0" algn="r">
              <a:spcBef>
                <a:spcPts val="0"/>
              </a:spcBef>
              <a:buNone/>
              <a:defRPr>
                <a:solidFill>
                  <a:srgbClr val="888888"/>
                </a:solidFill>
              </a:defRPr>
            </a:lvl4pPr>
            <a:lvl5pPr indent="0" lvl="4" marL="0" algn="r">
              <a:spcBef>
                <a:spcPts val="0"/>
              </a:spcBef>
              <a:buNone/>
              <a:defRPr>
                <a:solidFill>
                  <a:srgbClr val="888888"/>
                </a:solidFill>
              </a:defRPr>
            </a:lvl5pPr>
            <a:lvl6pPr indent="0" lvl="5" marL="0" algn="r">
              <a:spcBef>
                <a:spcPts val="0"/>
              </a:spcBef>
              <a:buNone/>
              <a:defRPr>
                <a:solidFill>
                  <a:srgbClr val="888888"/>
                </a:solidFill>
              </a:defRPr>
            </a:lvl6pPr>
            <a:lvl7pPr indent="0" lvl="6" marL="0" algn="r">
              <a:spcBef>
                <a:spcPts val="0"/>
              </a:spcBef>
              <a:buNone/>
              <a:defRPr>
                <a:solidFill>
                  <a:srgbClr val="888888"/>
                </a:solidFill>
              </a:defRPr>
            </a:lvl7pPr>
            <a:lvl8pPr indent="0" lvl="7" marL="0" algn="r">
              <a:spcBef>
                <a:spcPts val="0"/>
              </a:spcBef>
              <a:buNone/>
              <a:defRPr>
                <a:solidFill>
                  <a:srgbClr val="888888"/>
                </a:solidFill>
              </a:defRPr>
            </a:lvl8pPr>
            <a:lvl9pPr indent="0" lvl="8" marL="0"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s-ES"/>
              <a:t>‹#›</a:t>
            </a:fld>
            <a:endParaRPr sz="1800">
              <a:latin typeface="Calibri"/>
              <a:ea typeface="Calibri"/>
              <a:cs typeface="Calibri"/>
              <a:sym typeface="Calibri"/>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38" name="Shape 38"/>
        <p:cNvGrpSpPr/>
        <p:nvPr/>
      </p:nvGrpSpPr>
      <p:grpSpPr>
        <a:xfrm>
          <a:off x="0" y="0"/>
          <a:ext cx="0" cy="0"/>
          <a:chOff x="0" y="0"/>
          <a:chExt cx="0" cy="0"/>
        </a:xfrm>
      </p:grpSpPr>
      <p:sp>
        <p:nvSpPr>
          <p:cNvPr id="39" name="Google Shape;39;p33"/>
          <p:cNvSpPr txBox="1"/>
          <p:nvPr>
            <p:ph type="title"/>
          </p:nvPr>
        </p:nvSpPr>
        <p:spPr>
          <a:xfrm>
            <a:off x="916939" y="609676"/>
            <a:ext cx="10358120" cy="69723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4400">
                <a:solidFill>
                  <a:schemeClr val="dk1"/>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0" name="Google Shape;40;p33"/>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1" name="Google Shape;41;p33"/>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33"/>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marL="0" algn="r">
              <a:spcBef>
                <a:spcPts val="0"/>
              </a:spcBef>
              <a:buNone/>
              <a:defRPr>
                <a:solidFill>
                  <a:srgbClr val="888888"/>
                </a:solidFill>
              </a:defRPr>
            </a:lvl1pPr>
            <a:lvl2pPr indent="0" lvl="1" marL="0" algn="r">
              <a:spcBef>
                <a:spcPts val="0"/>
              </a:spcBef>
              <a:buNone/>
              <a:defRPr>
                <a:solidFill>
                  <a:srgbClr val="888888"/>
                </a:solidFill>
              </a:defRPr>
            </a:lvl2pPr>
            <a:lvl3pPr indent="0" lvl="2" marL="0" algn="r">
              <a:spcBef>
                <a:spcPts val="0"/>
              </a:spcBef>
              <a:buNone/>
              <a:defRPr>
                <a:solidFill>
                  <a:srgbClr val="888888"/>
                </a:solidFill>
              </a:defRPr>
            </a:lvl3pPr>
            <a:lvl4pPr indent="0" lvl="3" marL="0" algn="r">
              <a:spcBef>
                <a:spcPts val="0"/>
              </a:spcBef>
              <a:buNone/>
              <a:defRPr>
                <a:solidFill>
                  <a:srgbClr val="888888"/>
                </a:solidFill>
              </a:defRPr>
            </a:lvl4pPr>
            <a:lvl5pPr indent="0" lvl="4" marL="0" algn="r">
              <a:spcBef>
                <a:spcPts val="0"/>
              </a:spcBef>
              <a:buNone/>
              <a:defRPr>
                <a:solidFill>
                  <a:srgbClr val="888888"/>
                </a:solidFill>
              </a:defRPr>
            </a:lvl5pPr>
            <a:lvl6pPr indent="0" lvl="5" marL="0" algn="r">
              <a:spcBef>
                <a:spcPts val="0"/>
              </a:spcBef>
              <a:buNone/>
              <a:defRPr>
                <a:solidFill>
                  <a:srgbClr val="888888"/>
                </a:solidFill>
              </a:defRPr>
            </a:lvl6pPr>
            <a:lvl7pPr indent="0" lvl="6" marL="0" algn="r">
              <a:spcBef>
                <a:spcPts val="0"/>
              </a:spcBef>
              <a:buNone/>
              <a:defRPr>
                <a:solidFill>
                  <a:srgbClr val="888888"/>
                </a:solidFill>
              </a:defRPr>
            </a:lvl7pPr>
            <a:lvl8pPr indent="0" lvl="7" marL="0" algn="r">
              <a:spcBef>
                <a:spcPts val="0"/>
              </a:spcBef>
              <a:buNone/>
              <a:defRPr>
                <a:solidFill>
                  <a:srgbClr val="888888"/>
                </a:solidFill>
              </a:defRPr>
            </a:lvl8pPr>
            <a:lvl9pPr indent="0" lvl="8" marL="0"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s-ES"/>
              <a:t>‹#›</a:t>
            </a:fld>
            <a:endParaRPr sz="1800">
              <a:latin typeface="Calibri"/>
              <a:ea typeface="Calibri"/>
              <a:cs typeface="Calibri"/>
              <a:sym typeface="Calibri"/>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13.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9" name="Shape 9"/>
        <p:cNvGrpSpPr/>
        <p:nvPr/>
      </p:nvGrpSpPr>
      <p:grpSpPr>
        <a:xfrm>
          <a:off x="0" y="0"/>
          <a:ext cx="0" cy="0"/>
          <a:chOff x="0" y="0"/>
          <a:chExt cx="0" cy="0"/>
        </a:xfrm>
      </p:grpSpPr>
      <p:sp>
        <p:nvSpPr>
          <p:cNvPr id="10" name="Google Shape;10;p28"/>
          <p:cNvSpPr txBox="1"/>
          <p:nvPr>
            <p:ph type="title"/>
          </p:nvPr>
        </p:nvSpPr>
        <p:spPr>
          <a:xfrm>
            <a:off x="916939" y="609676"/>
            <a:ext cx="10358120" cy="697230"/>
          </a:xfrm>
          <a:prstGeom prst="rect">
            <a:avLst/>
          </a:prstGeom>
          <a:noFill/>
          <a:ln>
            <a:noFill/>
          </a:ln>
        </p:spPr>
        <p:txBody>
          <a:bodyPr anchorCtr="0" anchor="t" bIns="0" lIns="0" spcFirstLastPara="1" rIns="0" wrap="square" tIns="0">
            <a:spAutoFit/>
          </a:bodyPr>
          <a:lstStyle>
            <a:lvl1pPr lvl="0" marR="0" rtl="0" algn="l">
              <a:spcBef>
                <a:spcPts val="0"/>
              </a:spcBef>
              <a:spcAft>
                <a:spcPts val="0"/>
              </a:spcAft>
              <a:buSzPts val="1400"/>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28"/>
          <p:cNvSpPr txBox="1"/>
          <p:nvPr>
            <p:ph idx="1" type="body"/>
          </p:nvPr>
        </p:nvSpPr>
        <p:spPr>
          <a:xfrm>
            <a:off x="916939" y="1793493"/>
            <a:ext cx="10358120" cy="1858645"/>
          </a:xfrm>
          <a:prstGeom prst="rect">
            <a:avLst/>
          </a:prstGeom>
          <a:noFill/>
          <a:ln>
            <a:noFill/>
          </a:ln>
        </p:spPr>
        <p:txBody>
          <a:bodyPr anchorCtr="0" anchor="t" bIns="0" lIns="0" spcFirstLastPara="1" rIns="0" wrap="square" tIns="0">
            <a:spAutoFit/>
          </a:bodyPr>
          <a:lstStyle>
            <a:lvl1pPr indent="-228600" lvl="0" marL="4572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800" u="none" cap="none" strike="noStrike">
                <a:latin typeface="Calibri"/>
                <a:ea typeface="Calibri"/>
                <a:cs typeface="Calibri"/>
                <a:sym typeface="Calibri"/>
              </a:defRPr>
            </a:lvl2pPr>
            <a:lvl3pPr indent="-228600" lvl="2" marL="1371600" marR="0" rtl="0" algn="l">
              <a:spcBef>
                <a:spcPts val="0"/>
              </a:spcBef>
              <a:spcAft>
                <a:spcPts val="0"/>
              </a:spcAft>
              <a:buSzPts val="1400"/>
              <a:buNone/>
              <a:defRPr b="0" i="0" sz="1800" u="none" cap="none" strike="noStrike">
                <a:latin typeface="Calibri"/>
                <a:ea typeface="Calibri"/>
                <a:cs typeface="Calibri"/>
                <a:sym typeface="Calibri"/>
              </a:defRPr>
            </a:lvl3pPr>
            <a:lvl4pPr indent="-228600" lvl="3" marL="1828800" marR="0" rtl="0" algn="l">
              <a:spcBef>
                <a:spcPts val="0"/>
              </a:spcBef>
              <a:spcAft>
                <a:spcPts val="0"/>
              </a:spcAft>
              <a:buSzPts val="1400"/>
              <a:buNone/>
              <a:defRPr b="0" i="0" sz="1800" u="none" cap="none" strike="noStrike">
                <a:latin typeface="Calibri"/>
                <a:ea typeface="Calibri"/>
                <a:cs typeface="Calibri"/>
                <a:sym typeface="Calibri"/>
              </a:defRPr>
            </a:lvl4pPr>
            <a:lvl5pPr indent="-228600" lvl="4" marL="2286000" marR="0" rtl="0" algn="l">
              <a:spcBef>
                <a:spcPts val="0"/>
              </a:spcBef>
              <a:spcAft>
                <a:spcPts val="0"/>
              </a:spcAft>
              <a:buSzPts val="1400"/>
              <a:buNone/>
              <a:defRPr b="0" i="0" sz="1800" u="none" cap="none" strike="noStrike">
                <a:latin typeface="Calibri"/>
                <a:ea typeface="Calibri"/>
                <a:cs typeface="Calibri"/>
                <a:sym typeface="Calibri"/>
              </a:defRPr>
            </a:lvl5pPr>
            <a:lvl6pPr indent="-228600" lvl="5" marL="2743200" marR="0" rtl="0" algn="l">
              <a:spcBef>
                <a:spcPts val="0"/>
              </a:spcBef>
              <a:spcAft>
                <a:spcPts val="0"/>
              </a:spcAft>
              <a:buSzPts val="1400"/>
              <a:buNone/>
              <a:defRPr b="0" i="0" sz="1800" u="none" cap="none" strike="noStrike">
                <a:latin typeface="Calibri"/>
                <a:ea typeface="Calibri"/>
                <a:cs typeface="Calibri"/>
                <a:sym typeface="Calibri"/>
              </a:defRPr>
            </a:lvl6pPr>
            <a:lvl7pPr indent="-228600" lvl="6" marL="3200400" marR="0" rtl="0" algn="l">
              <a:spcBef>
                <a:spcPts val="0"/>
              </a:spcBef>
              <a:spcAft>
                <a:spcPts val="0"/>
              </a:spcAft>
              <a:buSzPts val="1400"/>
              <a:buNone/>
              <a:defRPr b="0" i="0" sz="1800" u="none" cap="none" strike="noStrike">
                <a:latin typeface="Calibri"/>
                <a:ea typeface="Calibri"/>
                <a:cs typeface="Calibri"/>
                <a:sym typeface="Calibri"/>
              </a:defRPr>
            </a:lvl7pPr>
            <a:lvl8pPr indent="-228600" lvl="7" marL="3657600" marR="0" rtl="0" algn="l">
              <a:spcBef>
                <a:spcPts val="0"/>
              </a:spcBef>
              <a:spcAft>
                <a:spcPts val="0"/>
              </a:spcAft>
              <a:buSzPts val="1400"/>
              <a:buNone/>
              <a:defRPr b="0" i="0" sz="1800" u="none" cap="none" strike="noStrike">
                <a:latin typeface="Calibri"/>
                <a:ea typeface="Calibri"/>
                <a:cs typeface="Calibri"/>
                <a:sym typeface="Calibri"/>
              </a:defRPr>
            </a:lvl8pPr>
            <a:lvl9pPr indent="-228600" lvl="8" marL="4114800" marR="0" rtl="0" algn="l">
              <a:spcBef>
                <a:spcPts val="0"/>
              </a:spcBef>
              <a:spcAft>
                <a:spcPts val="0"/>
              </a:spcAft>
              <a:buSzPts val="1400"/>
              <a:buNone/>
              <a:defRPr b="0" i="0" sz="1800" u="none" cap="none" strike="noStrike">
                <a:latin typeface="Calibri"/>
                <a:ea typeface="Calibri"/>
                <a:cs typeface="Calibri"/>
                <a:sym typeface="Calibri"/>
              </a:defRPr>
            </a:lvl9pPr>
          </a:lstStyle>
          <a:p/>
        </p:txBody>
      </p:sp>
      <p:sp>
        <p:nvSpPr>
          <p:cNvPr id="12" name="Google Shape;12;p28"/>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marR="0" rtl="0" algn="ctr">
              <a:spcBef>
                <a:spcPts val="0"/>
              </a:spcBef>
              <a:spcAft>
                <a:spcPts val="0"/>
              </a:spcAft>
              <a:buSzPts val="1400"/>
              <a:buNone/>
              <a:defRPr b="0" i="0" sz="18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28"/>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marR="0" rtl="0" algn="l">
              <a:spcBef>
                <a:spcPts val="0"/>
              </a:spcBef>
              <a:spcAft>
                <a:spcPts val="0"/>
              </a:spcAft>
              <a:buSzPts val="1400"/>
              <a:buNone/>
              <a:defRPr b="0" i="0" sz="18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28"/>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marL="0" marR="0" rtl="0" algn="r">
              <a:spcBef>
                <a:spcPts val="0"/>
              </a:spcBef>
              <a:buNone/>
              <a:defRPr b="0" i="0" sz="1800" u="none" cap="none" strike="noStrike">
                <a:solidFill>
                  <a:srgbClr val="888888"/>
                </a:solidFill>
                <a:latin typeface="Calibri"/>
                <a:ea typeface="Calibri"/>
                <a:cs typeface="Calibri"/>
                <a:sym typeface="Calibri"/>
              </a:defRPr>
            </a:lvl1pPr>
            <a:lvl2pPr indent="0" lvl="1" marL="0" marR="0" rtl="0" algn="r">
              <a:spcBef>
                <a:spcPts val="0"/>
              </a:spcBef>
              <a:buNone/>
              <a:defRPr b="0" i="0" sz="1800" u="none" cap="none" strike="noStrike">
                <a:solidFill>
                  <a:srgbClr val="888888"/>
                </a:solidFill>
                <a:latin typeface="Calibri"/>
                <a:ea typeface="Calibri"/>
                <a:cs typeface="Calibri"/>
                <a:sym typeface="Calibri"/>
              </a:defRPr>
            </a:lvl2pPr>
            <a:lvl3pPr indent="0" lvl="2" marL="0" marR="0" rtl="0" algn="r">
              <a:spcBef>
                <a:spcPts val="0"/>
              </a:spcBef>
              <a:buNone/>
              <a:defRPr b="0" i="0" sz="1800" u="none" cap="none" strike="noStrike">
                <a:solidFill>
                  <a:srgbClr val="888888"/>
                </a:solidFill>
                <a:latin typeface="Calibri"/>
                <a:ea typeface="Calibri"/>
                <a:cs typeface="Calibri"/>
                <a:sym typeface="Calibri"/>
              </a:defRPr>
            </a:lvl3pPr>
            <a:lvl4pPr indent="0" lvl="3" marL="0" marR="0" rtl="0" algn="r">
              <a:spcBef>
                <a:spcPts val="0"/>
              </a:spcBef>
              <a:buNone/>
              <a:defRPr b="0" i="0" sz="1800" u="none" cap="none" strike="noStrike">
                <a:solidFill>
                  <a:srgbClr val="888888"/>
                </a:solidFill>
                <a:latin typeface="Calibri"/>
                <a:ea typeface="Calibri"/>
                <a:cs typeface="Calibri"/>
                <a:sym typeface="Calibri"/>
              </a:defRPr>
            </a:lvl4pPr>
            <a:lvl5pPr indent="0" lvl="4" marL="0" marR="0" rtl="0" algn="r">
              <a:spcBef>
                <a:spcPts val="0"/>
              </a:spcBef>
              <a:buNone/>
              <a:defRPr b="0" i="0" sz="1800" u="none" cap="none" strike="noStrike">
                <a:solidFill>
                  <a:srgbClr val="888888"/>
                </a:solidFill>
                <a:latin typeface="Calibri"/>
                <a:ea typeface="Calibri"/>
                <a:cs typeface="Calibri"/>
                <a:sym typeface="Calibri"/>
              </a:defRPr>
            </a:lvl5pPr>
            <a:lvl6pPr indent="0" lvl="5" marL="0" marR="0" rtl="0" algn="r">
              <a:spcBef>
                <a:spcPts val="0"/>
              </a:spcBef>
              <a:buNone/>
              <a:defRPr b="0" i="0" sz="1800" u="none" cap="none" strike="noStrike">
                <a:solidFill>
                  <a:srgbClr val="888888"/>
                </a:solidFill>
                <a:latin typeface="Calibri"/>
                <a:ea typeface="Calibri"/>
                <a:cs typeface="Calibri"/>
                <a:sym typeface="Calibri"/>
              </a:defRPr>
            </a:lvl6pPr>
            <a:lvl7pPr indent="0" lvl="6" marL="0" marR="0" rtl="0" algn="r">
              <a:spcBef>
                <a:spcPts val="0"/>
              </a:spcBef>
              <a:buNone/>
              <a:defRPr b="0" i="0" sz="1800" u="none" cap="none" strike="noStrike">
                <a:solidFill>
                  <a:srgbClr val="888888"/>
                </a:solidFill>
                <a:latin typeface="Calibri"/>
                <a:ea typeface="Calibri"/>
                <a:cs typeface="Calibri"/>
                <a:sym typeface="Calibri"/>
              </a:defRPr>
            </a:lvl7pPr>
            <a:lvl8pPr indent="0" lvl="7" marL="0" marR="0" rtl="0" algn="r">
              <a:spcBef>
                <a:spcPts val="0"/>
              </a:spcBef>
              <a:buNone/>
              <a:defRPr b="0" i="0" sz="1800" u="none" cap="none" strike="noStrike">
                <a:solidFill>
                  <a:srgbClr val="888888"/>
                </a:solidFill>
                <a:latin typeface="Calibri"/>
                <a:ea typeface="Calibri"/>
                <a:cs typeface="Calibri"/>
                <a:sym typeface="Calibri"/>
              </a:defRPr>
            </a:lvl8pPr>
            <a:lvl9pPr indent="0" lvl="8" marL="0" marR="0" rtl="0" algn="r">
              <a:spcBef>
                <a:spcPts val="0"/>
              </a:spcBef>
              <a:buNone/>
              <a:defRPr b="0" i="0" sz="1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4.png"/><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4.png"/><Relationship Id="rId4" Type="http://schemas.openxmlformats.org/officeDocument/2006/relationships/image" Target="../media/image19.png"/><Relationship Id="rId5" Type="http://schemas.openxmlformats.org/officeDocument/2006/relationships/image" Target="../media/image14.png"/><Relationship Id="rId6" Type="http://schemas.openxmlformats.org/officeDocument/2006/relationships/image" Target="../media/image22.png"/><Relationship Id="rId7" Type="http://schemas.openxmlformats.org/officeDocument/2006/relationships/image" Target="../media/image1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6.png"/><Relationship Id="rId4" Type="http://schemas.openxmlformats.org/officeDocument/2006/relationships/image" Target="../media/image2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1.pn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1.png"/><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1.png"/><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1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1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9.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9.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20.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20.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20.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20.png"/><Relationship Id="rId4" Type="http://schemas.openxmlformats.org/officeDocument/2006/relationships/hyperlink" Target="https://eventos.citius.usc.es/bigdata/workshops/Cassandra.pdf"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20.png"/><Relationship Id="rId4" Type="http://schemas.openxmlformats.org/officeDocument/2006/relationships/image" Target="../media/image12.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 name="Shape 46"/>
        <p:cNvGrpSpPr/>
        <p:nvPr/>
      </p:nvGrpSpPr>
      <p:grpSpPr>
        <a:xfrm>
          <a:off x="0" y="0"/>
          <a:ext cx="0" cy="0"/>
          <a:chOff x="0" y="0"/>
          <a:chExt cx="0" cy="0"/>
        </a:xfrm>
      </p:grpSpPr>
      <p:sp>
        <p:nvSpPr>
          <p:cNvPr id="47" name="Google Shape;47;p1"/>
          <p:cNvSpPr txBox="1"/>
          <p:nvPr>
            <p:ph type="ctrTitle"/>
          </p:nvPr>
        </p:nvSpPr>
        <p:spPr>
          <a:xfrm>
            <a:off x="900112" y="1838144"/>
            <a:ext cx="10363199" cy="905056"/>
          </a:xfrm>
          <a:prstGeom prst="rect">
            <a:avLst/>
          </a:prstGeom>
          <a:noFill/>
          <a:ln>
            <a:noFill/>
          </a:ln>
        </p:spPr>
        <p:txBody>
          <a:bodyPr anchorCtr="0" anchor="t" bIns="0" lIns="0" spcFirstLastPara="1" rIns="0" wrap="square" tIns="116200">
            <a:spAutoFit/>
          </a:bodyPr>
          <a:lstStyle/>
          <a:p>
            <a:pPr indent="-3253104" lvl="0" marL="3268979" marR="5080" rtl="0" algn="ctr">
              <a:lnSpc>
                <a:spcPct val="135000"/>
              </a:lnSpc>
              <a:spcBef>
                <a:spcPts val="0"/>
              </a:spcBef>
              <a:spcAft>
                <a:spcPts val="0"/>
              </a:spcAft>
              <a:buNone/>
            </a:pPr>
            <a:r>
              <a:rPr lang="es-ES" sz="4800">
                <a:latin typeface="Arial"/>
                <a:ea typeface="Arial"/>
                <a:cs typeface="Arial"/>
                <a:sym typeface="Arial"/>
              </a:rPr>
              <a:t>CURSO: BASE DE DATOS II</a:t>
            </a:r>
            <a:endParaRPr sz="4800">
              <a:latin typeface="Arial"/>
              <a:ea typeface="Arial"/>
              <a:cs typeface="Arial"/>
              <a:sym typeface="Arial"/>
            </a:endParaRPr>
          </a:p>
        </p:txBody>
      </p:sp>
      <p:sp>
        <p:nvSpPr>
          <p:cNvPr id="48" name="Google Shape;48;p1"/>
          <p:cNvSpPr txBox="1"/>
          <p:nvPr/>
        </p:nvSpPr>
        <p:spPr>
          <a:xfrm>
            <a:off x="2767012" y="1644495"/>
            <a:ext cx="6629400"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s-ES" sz="1800" u="none" cap="none" strike="noStrike">
                <a:solidFill>
                  <a:srgbClr val="D1052D"/>
                </a:solidFill>
                <a:latin typeface="Calibri"/>
                <a:ea typeface="Calibri"/>
                <a:cs typeface="Calibri"/>
                <a:sym typeface="Calibri"/>
              </a:rPr>
              <a:t>PRIMERA UNIDAD DE APRENDIZAJE 3: </a:t>
            </a:r>
            <a:r>
              <a:rPr b="0" i="0" lang="es-ES" sz="1800" u="none" cap="none" strike="noStrike">
                <a:solidFill>
                  <a:schemeClr val="dk1"/>
                </a:solidFill>
                <a:latin typeface="Verdana"/>
                <a:ea typeface="Verdana"/>
                <a:cs typeface="Verdana"/>
                <a:sym typeface="Verdana"/>
              </a:rPr>
              <a:t>Bases de Datos NoSQL </a:t>
            </a:r>
            <a:endParaRPr b="0" i="0" sz="1800" u="none" cap="none" strike="noStrike">
              <a:solidFill>
                <a:schemeClr val="dk1"/>
              </a:solidFill>
              <a:latin typeface="Calibri"/>
              <a:ea typeface="Calibri"/>
              <a:cs typeface="Calibri"/>
              <a:sym typeface="Calibri"/>
            </a:endParaRPr>
          </a:p>
        </p:txBody>
      </p:sp>
      <p:sp>
        <p:nvSpPr>
          <p:cNvPr id="49" name="Google Shape;49;p1"/>
          <p:cNvSpPr txBox="1"/>
          <p:nvPr/>
        </p:nvSpPr>
        <p:spPr>
          <a:xfrm>
            <a:off x="1981200" y="2811880"/>
            <a:ext cx="8839200" cy="2605842"/>
          </a:xfrm>
          <a:prstGeom prst="rect">
            <a:avLst/>
          </a:prstGeom>
          <a:solidFill>
            <a:srgbClr val="D1052D"/>
          </a:solidFill>
          <a:ln>
            <a:noFill/>
          </a:ln>
        </p:spPr>
        <p:txBody>
          <a:bodyPr anchorCtr="0" anchor="t" bIns="45700" lIns="91425" spcFirstLastPara="1" rIns="91425" wrap="square" tIns="45700">
            <a:spAutoFit/>
          </a:bodyPr>
          <a:lstStyle/>
          <a:p>
            <a:pPr indent="0" lvl="0" marL="12700" marR="0" rtl="0" algn="ctr">
              <a:lnSpc>
                <a:spcPct val="100000"/>
              </a:lnSpc>
              <a:spcBef>
                <a:spcPts val="0"/>
              </a:spcBef>
              <a:spcAft>
                <a:spcPts val="0"/>
              </a:spcAft>
              <a:buNone/>
            </a:pPr>
            <a:r>
              <a:rPr b="1" i="0" lang="es-ES" sz="3200" u="none" cap="none" strike="noStrike">
                <a:solidFill>
                  <a:schemeClr val="lt1"/>
                </a:solidFill>
                <a:latin typeface="Arial"/>
                <a:ea typeface="Arial"/>
                <a:cs typeface="Arial"/>
                <a:sym typeface="Arial"/>
              </a:rPr>
              <a:t>SESIÓN N° 14:</a:t>
            </a:r>
            <a:endParaRPr b="1" i="0" sz="3200" u="none" cap="none" strike="noStrike">
              <a:solidFill>
                <a:schemeClr val="lt1"/>
              </a:solidFill>
              <a:latin typeface="Arial"/>
              <a:ea typeface="Arial"/>
              <a:cs typeface="Arial"/>
              <a:sym typeface="Arial"/>
            </a:endParaRPr>
          </a:p>
          <a:p>
            <a:pPr indent="0" lvl="0" marL="12700" marR="0" rtl="0" algn="l">
              <a:lnSpc>
                <a:spcPct val="100000"/>
              </a:lnSpc>
              <a:spcBef>
                <a:spcPts val="100"/>
              </a:spcBef>
              <a:spcAft>
                <a:spcPts val="0"/>
              </a:spcAft>
              <a:buNone/>
            </a:pPr>
            <a:r>
              <a:rPr b="1" i="0" lang="es-ES" sz="3200" u="none" cap="none" strike="noStrike">
                <a:solidFill>
                  <a:schemeClr val="lt1"/>
                </a:solidFill>
                <a:latin typeface="Calibri"/>
                <a:ea typeface="Calibri"/>
                <a:cs typeface="Calibri"/>
                <a:sym typeface="Calibri"/>
              </a:rPr>
              <a:t>Cassandra: </a:t>
            </a:r>
            <a:endParaRPr/>
          </a:p>
          <a:p>
            <a:pPr indent="0" lvl="0" marL="12700" marR="0" rtl="0" algn="l">
              <a:lnSpc>
                <a:spcPct val="100000"/>
              </a:lnSpc>
              <a:spcBef>
                <a:spcPts val="100"/>
              </a:spcBef>
              <a:spcAft>
                <a:spcPts val="0"/>
              </a:spcAft>
              <a:buNone/>
            </a:pPr>
            <a:r>
              <a:rPr b="0" i="0" lang="es-ES" sz="3200" u="none" cap="none" strike="noStrike">
                <a:solidFill>
                  <a:schemeClr val="lt1"/>
                </a:solidFill>
                <a:latin typeface="Calibri"/>
                <a:ea typeface="Calibri"/>
                <a:cs typeface="Calibri"/>
                <a:sym typeface="Calibri"/>
              </a:rPr>
              <a:t>BD NoSQL - Cassandra:: </a:t>
            </a:r>
            <a:endParaRPr/>
          </a:p>
          <a:p>
            <a:pPr indent="-457200" lvl="0" marL="469900" marR="0" rtl="0" algn="l">
              <a:lnSpc>
                <a:spcPct val="100000"/>
              </a:lnSpc>
              <a:spcBef>
                <a:spcPts val="100"/>
              </a:spcBef>
              <a:spcAft>
                <a:spcPts val="0"/>
              </a:spcAft>
              <a:buClr>
                <a:schemeClr val="lt1"/>
              </a:buClr>
              <a:buSzPts val="3200"/>
              <a:buFont typeface="Calibri"/>
              <a:buChar char="-"/>
            </a:pPr>
            <a:r>
              <a:rPr b="0" i="0" lang="es-ES" sz="3200" u="none" cap="none" strike="noStrike">
                <a:solidFill>
                  <a:schemeClr val="lt1"/>
                </a:solidFill>
                <a:latin typeface="Calibri"/>
                <a:ea typeface="Calibri"/>
                <a:cs typeface="Calibri"/>
                <a:sym typeface="Calibri"/>
              </a:rPr>
              <a:t>Sintaxis de consultas y funciones distintivas clave </a:t>
            </a:r>
            <a:endParaRPr/>
          </a:p>
          <a:p>
            <a:pPr indent="-457200" lvl="0" marL="469900" marR="0" rtl="0" algn="l">
              <a:lnSpc>
                <a:spcPct val="100000"/>
              </a:lnSpc>
              <a:spcBef>
                <a:spcPts val="100"/>
              </a:spcBef>
              <a:spcAft>
                <a:spcPts val="0"/>
              </a:spcAft>
              <a:buClr>
                <a:schemeClr val="lt1"/>
              </a:buClr>
              <a:buSzPts val="3200"/>
              <a:buFont typeface="Calibri"/>
              <a:buChar char="-"/>
            </a:pPr>
            <a:r>
              <a:rPr b="0" i="0" lang="es-ES" sz="3200" u="none" cap="none" strike="noStrike">
                <a:solidFill>
                  <a:schemeClr val="lt1"/>
                </a:solidFill>
                <a:latin typeface="Calibri"/>
                <a:ea typeface="Calibri"/>
                <a:cs typeface="Calibri"/>
                <a:sym typeface="Calibri"/>
              </a:rPr>
              <a:t>Administración de usuarios</a:t>
            </a:r>
            <a:endParaRPr b="0" i="0" sz="3200" u="none" cap="none" strike="noStrike">
              <a:solidFill>
                <a:schemeClr val="lt1"/>
              </a:solidFill>
              <a:latin typeface="Arial"/>
              <a:ea typeface="Arial"/>
              <a:cs typeface="Arial"/>
              <a:sym typeface="Arial"/>
            </a:endParaRPr>
          </a:p>
        </p:txBody>
      </p:sp>
      <p:sp>
        <p:nvSpPr>
          <p:cNvPr id="50" name="Google Shape;50;p1"/>
          <p:cNvSpPr txBox="1"/>
          <p:nvPr/>
        </p:nvSpPr>
        <p:spPr>
          <a:xfrm>
            <a:off x="3048000" y="5715000"/>
            <a:ext cx="6096000" cy="659155"/>
          </a:xfrm>
          <a:prstGeom prst="rect">
            <a:avLst/>
          </a:prstGeom>
          <a:noFill/>
          <a:ln>
            <a:noFill/>
          </a:ln>
        </p:spPr>
        <p:txBody>
          <a:bodyPr anchorCtr="0" anchor="t" bIns="45700" lIns="91425" spcFirstLastPara="1" rIns="91425" wrap="square" tIns="45700">
            <a:spAutoFit/>
          </a:bodyPr>
          <a:lstStyle/>
          <a:p>
            <a:pPr indent="0" lvl="0" marL="12700" marR="0" rtl="0" algn="ctr">
              <a:lnSpc>
                <a:spcPct val="100000"/>
              </a:lnSpc>
              <a:spcBef>
                <a:spcPts val="0"/>
              </a:spcBef>
              <a:spcAft>
                <a:spcPts val="0"/>
              </a:spcAft>
              <a:buNone/>
            </a:pPr>
            <a:r>
              <a:rPr b="1" i="0" lang="es-ES" sz="1800" u="none" cap="none" strike="noStrike">
                <a:solidFill>
                  <a:srgbClr val="D1052D"/>
                </a:solidFill>
                <a:latin typeface="Arial"/>
                <a:ea typeface="Arial"/>
                <a:cs typeface="Arial"/>
                <a:sym typeface="Arial"/>
              </a:rPr>
              <a:t>DOCENTES DE UTP</a:t>
            </a:r>
            <a:endParaRPr/>
          </a:p>
          <a:p>
            <a:pPr indent="0" lvl="0" marL="12700" marR="0" rtl="0" algn="ctr">
              <a:lnSpc>
                <a:spcPct val="100000"/>
              </a:lnSpc>
              <a:spcBef>
                <a:spcPts val="100"/>
              </a:spcBef>
              <a:spcAft>
                <a:spcPts val="0"/>
              </a:spcAft>
              <a:buNone/>
            </a:pPr>
            <a:r>
              <a:rPr b="1" i="0" lang="es-ES" sz="1800" u="none" cap="none" strike="noStrike">
                <a:solidFill>
                  <a:srgbClr val="D1052D"/>
                </a:solidFill>
                <a:latin typeface="Arial"/>
                <a:ea typeface="Arial"/>
                <a:cs typeface="Arial"/>
                <a:sym typeface="Arial"/>
              </a:rPr>
              <a:t>SISTEMAS</a:t>
            </a:r>
            <a:endParaRPr b="0" i="0" sz="1800" u="none" cap="none" strike="noStrike">
              <a:solidFill>
                <a:schemeClr val="dk1"/>
              </a:solidFill>
              <a:latin typeface="Arial"/>
              <a:ea typeface="Arial"/>
              <a:cs typeface="Arial"/>
              <a:sym typeface="Arial"/>
            </a:endParaRPr>
          </a:p>
        </p:txBody>
      </p:sp>
      <p:grpSp>
        <p:nvGrpSpPr>
          <p:cNvPr id="51" name="Google Shape;51;p1"/>
          <p:cNvGrpSpPr/>
          <p:nvPr/>
        </p:nvGrpSpPr>
        <p:grpSpPr>
          <a:xfrm>
            <a:off x="3681788" y="152400"/>
            <a:ext cx="8281612" cy="1295400"/>
            <a:chOff x="3681788" y="152400"/>
            <a:chExt cx="8281612" cy="1295400"/>
          </a:xfrm>
        </p:grpSpPr>
        <p:pic>
          <p:nvPicPr>
            <p:cNvPr id="52" name="Google Shape;52;p1"/>
            <p:cNvPicPr preferRelativeResize="0"/>
            <p:nvPr/>
          </p:nvPicPr>
          <p:blipFill rotWithShape="1">
            <a:blip r:embed="rId3">
              <a:alphaModFix/>
            </a:blip>
            <a:srcRect b="0" l="0" r="0" t="0"/>
            <a:stretch/>
          </p:blipFill>
          <p:spPr>
            <a:xfrm>
              <a:off x="3681788" y="370720"/>
              <a:ext cx="4828423" cy="1077080"/>
            </a:xfrm>
            <a:prstGeom prst="rect">
              <a:avLst/>
            </a:prstGeom>
            <a:noFill/>
            <a:ln>
              <a:noFill/>
            </a:ln>
          </p:spPr>
        </p:pic>
        <p:sp>
          <p:nvSpPr>
            <p:cNvPr id="53" name="Google Shape;53;p1"/>
            <p:cNvSpPr/>
            <p:nvPr/>
          </p:nvSpPr>
          <p:spPr>
            <a:xfrm>
              <a:off x="9144000" y="152400"/>
              <a:ext cx="2819400" cy="762722"/>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 name="Shape 57"/>
        <p:cNvGrpSpPr/>
        <p:nvPr/>
      </p:nvGrpSpPr>
      <p:grpSpPr>
        <a:xfrm>
          <a:off x="0" y="0"/>
          <a:ext cx="0" cy="0"/>
          <a:chOff x="0" y="0"/>
          <a:chExt cx="0" cy="0"/>
        </a:xfrm>
      </p:grpSpPr>
      <p:sp>
        <p:nvSpPr>
          <p:cNvPr id="58" name="Google Shape;58;p2"/>
          <p:cNvSpPr/>
          <p:nvPr/>
        </p:nvSpPr>
        <p:spPr>
          <a:xfrm>
            <a:off x="0" y="304801"/>
            <a:ext cx="5659755" cy="561824"/>
          </a:xfrm>
          <a:custGeom>
            <a:rect b="b" l="l" r="r" t="t"/>
            <a:pathLst>
              <a:path extrusionOk="0" h="415290" w="5659755">
                <a:moveTo>
                  <a:pt x="5590548" y="414899"/>
                </a:moveTo>
                <a:lnTo>
                  <a:pt x="6651" y="414899"/>
                </a:lnTo>
                <a:lnTo>
                  <a:pt x="0" y="413557"/>
                </a:lnTo>
                <a:lnTo>
                  <a:pt x="0" y="1342"/>
                </a:lnTo>
                <a:lnTo>
                  <a:pt x="6651" y="0"/>
                </a:lnTo>
                <a:lnTo>
                  <a:pt x="5590548" y="0"/>
                </a:lnTo>
                <a:lnTo>
                  <a:pt x="5604102" y="1340"/>
                </a:lnTo>
                <a:lnTo>
                  <a:pt x="5639445" y="20253"/>
                </a:lnTo>
                <a:lnTo>
                  <a:pt x="5658358" y="55597"/>
                </a:lnTo>
                <a:lnTo>
                  <a:pt x="5659699" y="69151"/>
                </a:lnTo>
                <a:lnTo>
                  <a:pt x="5659699" y="345748"/>
                </a:lnTo>
                <a:lnTo>
                  <a:pt x="5654265" y="372665"/>
                </a:lnTo>
                <a:lnTo>
                  <a:pt x="5639446" y="394646"/>
                </a:lnTo>
                <a:lnTo>
                  <a:pt x="5617465" y="409465"/>
                </a:lnTo>
                <a:lnTo>
                  <a:pt x="5590548" y="414899"/>
                </a:lnTo>
                <a:close/>
              </a:path>
            </a:pathLst>
          </a:custGeom>
          <a:solidFill>
            <a:srgbClr val="D1052D"/>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9" name="Google Shape;59;p2"/>
          <p:cNvSpPr txBox="1"/>
          <p:nvPr/>
        </p:nvSpPr>
        <p:spPr>
          <a:xfrm>
            <a:off x="381000" y="381000"/>
            <a:ext cx="4724400" cy="382156"/>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b="1" lang="es-ES" sz="2400">
                <a:solidFill>
                  <a:srgbClr val="FFFFFF"/>
                </a:solidFill>
                <a:latin typeface="Arial"/>
                <a:ea typeface="Arial"/>
                <a:cs typeface="Arial"/>
                <a:sym typeface="Arial"/>
              </a:rPr>
              <a:t>Motivación para el aprendizaje</a:t>
            </a:r>
            <a:endParaRPr sz="2400">
              <a:solidFill>
                <a:schemeClr val="dk1"/>
              </a:solidFill>
              <a:latin typeface="Arial"/>
              <a:ea typeface="Arial"/>
              <a:cs typeface="Arial"/>
              <a:sym typeface="Arial"/>
            </a:endParaRPr>
          </a:p>
        </p:txBody>
      </p:sp>
      <p:pic>
        <p:nvPicPr>
          <p:cNvPr id="60" name="Google Shape;60;p2"/>
          <p:cNvPicPr preferRelativeResize="0"/>
          <p:nvPr/>
        </p:nvPicPr>
        <p:blipFill rotWithShape="1">
          <a:blip r:embed="rId3">
            <a:alphaModFix/>
          </a:blip>
          <a:srcRect b="0" l="0" r="0" t="0"/>
          <a:stretch/>
        </p:blipFill>
        <p:spPr>
          <a:xfrm>
            <a:off x="5723651" y="313451"/>
            <a:ext cx="524749" cy="524749"/>
          </a:xfrm>
          <a:prstGeom prst="rect">
            <a:avLst/>
          </a:prstGeom>
          <a:noFill/>
          <a:ln>
            <a:noFill/>
          </a:ln>
        </p:spPr>
      </p:pic>
      <p:sp>
        <p:nvSpPr>
          <p:cNvPr id="61" name="Google Shape;61;p2"/>
          <p:cNvSpPr txBox="1"/>
          <p:nvPr/>
        </p:nvSpPr>
        <p:spPr>
          <a:xfrm>
            <a:off x="3886200" y="3581400"/>
            <a:ext cx="6476999" cy="295402"/>
          </a:xfrm>
          <a:prstGeom prst="rect">
            <a:avLst/>
          </a:prstGeom>
          <a:solidFill>
            <a:srgbClr val="FFFFFF"/>
          </a:solidFill>
          <a:ln>
            <a:noFill/>
          </a:ln>
        </p:spPr>
        <p:txBody>
          <a:bodyPr anchorCtr="0" anchor="t" bIns="0" lIns="0" spcFirstLastPara="1" rIns="0" wrap="square" tIns="0">
            <a:spAutoFit/>
          </a:bodyPr>
          <a:lstStyle/>
          <a:p>
            <a:pPr indent="0" lvl="0" marL="0" marR="0" rtl="0" algn="l">
              <a:lnSpc>
                <a:spcPct val="65312"/>
              </a:lnSpc>
              <a:spcBef>
                <a:spcPts val="0"/>
              </a:spcBef>
              <a:spcAft>
                <a:spcPts val="0"/>
              </a:spcAft>
              <a:buNone/>
            </a:pPr>
            <a:r>
              <a:t/>
            </a:r>
            <a:endParaRPr sz="3200">
              <a:solidFill>
                <a:schemeClr val="dk1"/>
              </a:solidFill>
              <a:latin typeface="Arial"/>
              <a:ea typeface="Arial"/>
              <a:cs typeface="Arial"/>
              <a:sym typeface="Arial"/>
            </a:endParaRPr>
          </a:p>
        </p:txBody>
      </p:sp>
      <p:sp>
        <p:nvSpPr>
          <p:cNvPr id="62" name="Google Shape;62;p2"/>
          <p:cNvSpPr txBox="1"/>
          <p:nvPr/>
        </p:nvSpPr>
        <p:spPr>
          <a:xfrm>
            <a:off x="2590800" y="2981235"/>
            <a:ext cx="7010400" cy="120032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s-ES" sz="3600">
                <a:solidFill>
                  <a:schemeClr val="dk1"/>
                </a:solidFill>
                <a:latin typeface="Arial"/>
                <a:ea typeface="Arial"/>
                <a:cs typeface="Arial"/>
                <a:sym typeface="Arial"/>
              </a:rPr>
              <a:t>Lo que debemos tener en cuenta</a:t>
            </a:r>
            <a:endParaRPr sz="3600">
              <a:solidFill>
                <a:schemeClr val="dk1"/>
              </a:solidFill>
              <a:latin typeface="Arial"/>
              <a:ea typeface="Arial"/>
              <a:cs typeface="Arial"/>
              <a:sym typeface="Arial"/>
            </a:endParaRPr>
          </a:p>
        </p:txBody>
      </p:sp>
      <p:pic>
        <p:nvPicPr>
          <p:cNvPr id="63" name="Google Shape;63;p2"/>
          <p:cNvPicPr preferRelativeResize="0"/>
          <p:nvPr/>
        </p:nvPicPr>
        <p:blipFill rotWithShape="1">
          <a:blip r:embed="rId4">
            <a:alphaModFix/>
          </a:blip>
          <a:srcRect b="0" l="0" r="0" t="0"/>
          <a:stretch/>
        </p:blipFill>
        <p:spPr>
          <a:xfrm>
            <a:off x="9753600" y="6184229"/>
            <a:ext cx="445171" cy="445171"/>
          </a:xfrm>
          <a:prstGeom prst="rect">
            <a:avLst/>
          </a:prstGeom>
          <a:noFill/>
          <a:ln>
            <a:noFill/>
          </a:ln>
        </p:spPr>
      </p:pic>
      <p:sp>
        <p:nvSpPr>
          <p:cNvPr id="64" name="Google Shape;64;p2"/>
          <p:cNvSpPr txBox="1"/>
          <p:nvPr/>
        </p:nvSpPr>
        <p:spPr>
          <a:xfrm>
            <a:off x="10198771" y="6222148"/>
            <a:ext cx="1764629" cy="400110"/>
          </a:xfrm>
          <a:prstGeom prst="rect">
            <a:avLst/>
          </a:prstGeom>
          <a:noFill/>
          <a:ln>
            <a:noFill/>
          </a:ln>
        </p:spPr>
        <p:txBody>
          <a:bodyPr anchorCtr="0" anchor="t" bIns="45700" lIns="91425" spcFirstLastPara="1" rIns="91425" wrap="square" tIns="45700">
            <a:spAutoFit/>
          </a:bodyPr>
          <a:lstStyle/>
          <a:p>
            <a:pPr indent="0" lvl="0" marL="0" marR="114300" rtl="0" algn="l">
              <a:lnSpc>
                <a:spcPct val="100000"/>
              </a:lnSpc>
              <a:spcBef>
                <a:spcPts val="0"/>
              </a:spcBef>
              <a:spcAft>
                <a:spcPts val="0"/>
              </a:spcAft>
              <a:buNone/>
            </a:pPr>
            <a:r>
              <a:rPr b="1" lang="es-ES" sz="2000">
                <a:solidFill>
                  <a:schemeClr val="dk1"/>
                </a:solidFill>
                <a:latin typeface="Arial"/>
                <a:ea typeface="Arial"/>
                <a:cs typeface="Arial"/>
                <a:sym typeface="Arial"/>
              </a:rPr>
              <a:t>5 minutos</a:t>
            </a:r>
            <a:endParaRPr sz="2000">
              <a:solidFill>
                <a:schemeClr val="dk1"/>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sp>
        <p:nvSpPr>
          <p:cNvPr id="69" name="Google Shape;69;p3"/>
          <p:cNvSpPr/>
          <p:nvPr/>
        </p:nvSpPr>
        <p:spPr>
          <a:xfrm>
            <a:off x="0" y="304801"/>
            <a:ext cx="5659755" cy="561824"/>
          </a:xfrm>
          <a:custGeom>
            <a:rect b="b" l="l" r="r" t="t"/>
            <a:pathLst>
              <a:path extrusionOk="0" h="415290" w="5659755">
                <a:moveTo>
                  <a:pt x="5590548" y="414899"/>
                </a:moveTo>
                <a:lnTo>
                  <a:pt x="6651" y="414899"/>
                </a:lnTo>
                <a:lnTo>
                  <a:pt x="0" y="413557"/>
                </a:lnTo>
                <a:lnTo>
                  <a:pt x="0" y="1342"/>
                </a:lnTo>
                <a:lnTo>
                  <a:pt x="6651" y="0"/>
                </a:lnTo>
                <a:lnTo>
                  <a:pt x="5590548" y="0"/>
                </a:lnTo>
                <a:lnTo>
                  <a:pt x="5604102" y="1340"/>
                </a:lnTo>
                <a:lnTo>
                  <a:pt x="5639445" y="20253"/>
                </a:lnTo>
                <a:lnTo>
                  <a:pt x="5658358" y="55597"/>
                </a:lnTo>
                <a:lnTo>
                  <a:pt x="5659699" y="69151"/>
                </a:lnTo>
                <a:lnTo>
                  <a:pt x="5659699" y="345748"/>
                </a:lnTo>
                <a:lnTo>
                  <a:pt x="5654265" y="372665"/>
                </a:lnTo>
                <a:lnTo>
                  <a:pt x="5639446" y="394646"/>
                </a:lnTo>
                <a:lnTo>
                  <a:pt x="5617465" y="409465"/>
                </a:lnTo>
                <a:lnTo>
                  <a:pt x="5590548" y="414899"/>
                </a:lnTo>
                <a:close/>
              </a:path>
            </a:pathLst>
          </a:custGeom>
          <a:solidFill>
            <a:srgbClr val="D1052D"/>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0" name="Google Shape;70;p3"/>
          <p:cNvSpPr txBox="1"/>
          <p:nvPr/>
        </p:nvSpPr>
        <p:spPr>
          <a:xfrm>
            <a:off x="381000" y="381000"/>
            <a:ext cx="4724400" cy="382156"/>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b="1" lang="es-ES" sz="2400">
                <a:solidFill>
                  <a:srgbClr val="FFFFFF"/>
                </a:solidFill>
                <a:latin typeface="Arial"/>
                <a:ea typeface="Arial"/>
                <a:cs typeface="Arial"/>
                <a:sym typeface="Arial"/>
              </a:rPr>
              <a:t>Motivación para el aprendizaje</a:t>
            </a:r>
            <a:endParaRPr sz="2400">
              <a:solidFill>
                <a:schemeClr val="dk1"/>
              </a:solidFill>
              <a:latin typeface="Arial"/>
              <a:ea typeface="Arial"/>
              <a:cs typeface="Arial"/>
              <a:sym typeface="Arial"/>
            </a:endParaRPr>
          </a:p>
        </p:txBody>
      </p:sp>
      <p:pic>
        <p:nvPicPr>
          <p:cNvPr id="71" name="Google Shape;71;p3"/>
          <p:cNvPicPr preferRelativeResize="0"/>
          <p:nvPr/>
        </p:nvPicPr>
        <p:blipFill rotWithShape="1">
          <a:blip r:embed="rId3">
            <a:alphaModFix/>
          </a:blip>
          <a:srcRect b="0" l="0" r="0" t="0"/>
          <a:stretch/>
        </p:blipFill>
        <p:spPr>
          <a:xfrm>
            <a:off x="5723651" y="313451"/>
            <a:ext cx="524749" cy="524749"/>
          </a:xfrm>
          <a:prstGeom prst="rect">
            <a:avLst/>
          </a:prstGeom>
          <a:noFill/>
          <a:ln>
            <a:noFill/>
          </a:ln>
        </p:spPr>
      </p:pic>
      <p:sp>
        <p:nvSpPr>
          <p:cNvPr id="72" name="Google Shape;72;p3"/>
          <p:cNvSpPr/>
          <p:nvPr/>
        </p:nvSpPr>
        <p:spPr>
          <a:xfrm>
            <a:off x="250631" y="2362200"/>
            <a:ext cx="11607665" cy="83099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s-ES" sz="4800" cap="none">
                <a:solidFill>
                  <a:srgbClr val="262626"/>
                </a:solidFill>
                <a:latin typeface="Calibri"/>
                <a:ea typeface="Calibri"/>
                <a:cs typeface="Calibri"/>
                <a:sym typeface="Calibri"/>
              </a:rPr>
              <a:t>¿Enfoque de consulta relacional o columnar?</a:t>
            </a:r>
            <a:endParaRPr/>
          </a:p>
        </p:txBody>
      </p:sp>
      <p:sp>
        <p:nvSpPr>
          <p:cNvPr id="73" name="Google Shape;73;p3"/>
          <p:cNvSpPr txBox="1"/>
          <p:nvPr/>
        </p:nvSpPr>
        <p:spPr>
          <a:xfrm>
            <a:off x="3200400" y="4109730"/>
            <a:ext cx="6096000" cy="40006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Clr>
                <a:schemeClr val="dk1"/>
              </a:buClr>
              <a:buSzPts val="2000"/>
              <a:buFont typeface="Calibri"/>
              <a:buNone/>
            </a:pPr>
            <a:r>
              <a:rPr b="0" i="0" lang="es-ES" sz="2000" u="none" cap="none" strike="noStrike">
                <a:solidFill>
                  <a:schemeClr val="dk1"/>
                </a:solidFill>
                <a:latin typeface="Calibri"/>
                <a:ea typeface="Calibri"/>
                <a:cs typeface="Calibri"/>
                <a:sym typeface="Calibri"/>
              </a:rPr>
              <a:t>https://youtu.be/5LTs-G308wY?feature=shared</a:t>
            </a:r>
            <a:endParaRPr b="0" i="0" sz="20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4"/>
          <p:cNvSpPr/>
          <p:nvPr/>
        </p:nvSpPr>
        <p:spPr>
          <a:xfrm>
            <a:off x="0" y="304801"/>
            <a:ext cx="5659755" cy="561824"/>
          </a:xfrm>
          <a:custGeom>
            <a:rect b="b" l="l" r="r" t="t"/>
            <a:pathLst>
              <a:path extrusionOk="0" h="415290" w="5659755">
                <a:moveTo>
                  <a:pt x="5590548" y="414899"/>
                </a:moveTo>
                <a:lnTo>
                  <a:pt x="6651" y="414899"/>
                </a:lnTo>
                <a:lnTo>
                  <a:pt x="0" y="413557"/>
                </a:lnTo>
                <a:lnTo>
                  <a:pt x="0" y="1342"/>
                </a:lnTo>
                <a:lnTo>
                  <a:pt x="6651" y="0"/>
                </a:lnTo>
                <a:lnTo>
                  <a:pt x="5590548" y="0"/>
                </a:lnTo>
                <a:lnTo>
                  <a:pt x="5604102" y="1340"/>
                </a:lnTo>
                <a:lnTo>
                  <a:pt x="5639445" y="20253"/>
                </a:lnTo>
                <a:lnTo>
                  <a:pt x="5658358" y="55597"/>
                </a:lnTo>
                <a:lnTo>
                  <a:pt x="5659699" y="69151"/>
                </a:lnTo>
                <a:lnTo>
                  <a:pt x="5659699" y="345748"/>
                </a:lnTo>
                <a:lnTo>
                  <a:pt x="5654265" y="372665"/>
                </a:lnTo>
                <a:lnTo>
                  <a:pt x="5639446" y="394646"/>
                </a:lnTo>
                <a:lnTo>
                  <a:pt x="5617465" y="409465"/>
                </a:lnTo>
                <a:lnTo>
                  <a:pt x="5590548" y="414899"/>
                </a:lnTo>
                <a:close/>
              </a:path>
            </a:pathLst>
          </a:custGeom>
          <a:solidFill>
            <a:srgbClr val="D1052D"/>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9" name="Google Shape;79;p4"/>
          <p:cNvSpPr txBox="1"/>
          <p:nvPr/>
        </p:nvSpPr>
        <p:spPr>
          <a:xfrm>
            <a:off x="381000" y="381000"/>
            <a:ext cx="4724400" cy="382156"/>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b="1" lang="es-ES" sz="2400">
                <a:solidFill>
                  <a:srgbClr val="FFFFFF"/>
                </a:solidFill>
                <a:latin typeface="Arial"/>
                <a:ea typeface="Arial"/>
                <a:cs typeface="Arial"/>
                <a:sym typeface="Arial"/>
              </a:rPr>
              <a:t>Recordando los aprendizajes</a:t>
            </a:r>
            <a:endParaRPr sz="2400">
              <a:solidFill>
                <a:schemeClr val="dk1"/>
              </a:solidFill>
              <a:latin typeface="Arial"/>
              <a:ea typeface="Arial"/>
              <a:cs typeface="Arial"/>
              <a:sym typeface="Arial"/>
            </a:endParaRPr>
          </a:p>
        </p:txBody>
      </p:sp>
      <p:pic>
        <p:nvPicPr>
          <p:cNvPr id="80" name="Google Shape;80;p4"/>
          <p:cNvPicPr preferRelativeResize="0"/>
          <p:nvPr/>
        </p:nvPicPr>
        <p:blipFill rotWithShape="1">
          <a:blip r:embed="rId3">
            <a:alphaModFix/>
          </a:blip>
          <a:srcRect b="0" l="0" r="0" t="0"/>
          <a:stretch/>
        </p:blipFill>
        <p:spPr>
          <a:xfrm>
            <a:off x="5723651" y="313451"/>
            <a:ext cx="524749" cy="524749"/>
          </a:xfrm>
          <a:prstGeom prst="rect">
            <a:avLst/>
          </a:prstGeom>
          <a:noFill/>
          <a:ln>
            <a:noFill/>
          </a:ln>
        </p:spPr>
      </p:pic>
      <p:sp>
        <p:nvSpPr>
          <p:cNvPr id="81" name="Google Shape;81;p4"/>
          <p:cNvSpPr txBox="1"/>
          <p:nvPr/>
        </p:nvSpPr>
        <p:spPr>
          <a:xfrm>
            <a:off x="3886200" y="3581400"/>
            <a:ext cx="6476999" cy="295402"/>
          </a:xfrm>
          <a:prstGeom prst="rect">
            <a:avLst/>
          </a:prstGeom>
          <a:solidFill>
            <a:srgbClr val="FFFFFF"/>
          </a:solidFill>
          <a:ln>
            <a:noFill/>
          </a:ln>
        </p:spPr>
        <p:txBody>
          <a:bodyPr anchorCtr="0" anchor="t" bIns="0" lIns="0" spcFirstLastPara="1" rIns="0" wrap="square" tIns="0">
            <a:spAutoFit/>
          </a:bodyPr>
          <a:lstStyle/>
          <a:p>
            <a:pPr indent="0" lvl="0" marL="0" marR="0" rtl="0" algn="l">
              <a:lnSpc>
                <a:spcPct val="65312"/>
              </a:lnSpc>
              <a:spcBef>
                <a:spcPts val="0"/>
              </a:spcBef>
              <a:spcAft>
                <a:spcPts val="0"/>
              </a:spcAft>
              <a:buNone/>
            </a:pPr>
            <a:r>
              <a:t/>
            </a:r>
            <a:endParaRPr sz="3200">
              <a:solidFill>
                <a:schemeClr val="dk1"/>
              </a:solidFill>
              <a:latin typeface="Arial"/>
              <a:ea typeface="Arial"/>
              <a:cs typeface="Arial"/>
              <a:sym typeface="Arial"/>
            </a:endParaRPr>
          </a:p>
        </p:txBody>
      </p:sp>
      <p:sp>
        <p:nvSpPr>
          <p:cNvPr id="82" name="Google Shape;82;p4"/>
          <p:cNvSpPr txBox="1"/>
          <p:nvPr/>
        </p:nvSpPr>
        <p:spPr>
          <a:xfrm>
            <a:off x="2590800" y="2981235"/>
            <a:ext cx="7010400" cy="120032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s-ES" sz="3600">
                <a:solidFill>
                  <a:schemeClr val="dk1"/>
                </a:solidFill>
                <a:latin typeface="Arial"/>
                <a:ea typeface="Arial"/>
                <a:cs typeface="Arial"/>
                <a:sym typeface="Arial"/>
              </a:rPr>
              <a:t>¿Qué vimos en la sesión anterior?</a:t>
            </a:r>
            <a:endParaRPr sz="3600">
              <a:solidFill>
                <a:schemeClr val="dk1"/>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p5"/>
          <p:cNvSpPr/>
          <p:nvPr/>
        </p:nvSpPr>
        <p:spPr>
          <a:xfrm>
            <a:off x="0" y="304801"/>
            <a:ext cx="5659755" cy="561824"/>
          </a:xfrm>
          <a:custGeom>
            <a:rect b="b" l="l" r="r" t="t"/>
            <a:pathLst>
              <a:path extrusionOk="0" h="415290" w="5659755">
                <a:moveTo>
                  <a:pt x="5590548" y="414899"/>
                </a:moveTo>
                <a:lnTo>
                  <a:pt x="6651" y="414899"/>
                </a:lnTo>
                <a:lnTo>
                  <a:pt x="0" y="413557"/>
                </a:lnTo>
                <a:lnTo>
                  <a:pt x="0" y="1342"/>
                </a:lnTo>
                <a:lnTo>
                  <a:pt x="6651" y="0"/>
                </a:lnTo>
                <a:lnTo>
                  <a:pt x="5590548" y="0"/>
                </a:lnTo>
                <a:lnTo>
                  <a:pt x="5604102" y="1340"/>
                </a:lnTo>
                <a:lnTo>
                  <a:pt x="5639445" y="20253"/>
                </a:lnTo>
                <a:lnTo>
                  <a:pt x="5658358" y="55597"/>
                </a:lnTo>
                <a:lnTo>
                  <a:pt x="5659699" y="69151"/>
                </a:lnTo>
                <a:lnTo>
                  <a:pt x="5659699" y="345748"/>
                </a:lnTo>
                <a:lnTo>
                  <a:pt x="5654265" y="372665"/>
                </a:lnTo>
                <a:lnTo>
                  <a:pt x="5639446" y="394646"/>
                </a:lnTo>
                <a:lnTo>
                  <a:pt x="5617465" y="409465"/>
                </a:lnTo>
                <a:lnTo>
                  <a:pt x="5590548" y="414899"/>
                </a:lnTo>
                <a:close/>
              </a:path>
            </a:pathLst>
          </a:custGeom>
          <a:solidFill>
            <a:srgbClr val="D1052D"/>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8" name="Google Shape;88;p5"/>
          <p:cNvSpPr txBox="1"/>
          <p:nvPr/>
        </p:nvSpPr>
        <p:spPr>
          <a:xfrm>
            <a:off x="381000" y="381000"/>
            <a:ext cx="4724400" cy="382156"/>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b="1" lang="es-ES" sz="2400">
                <a:solidFill>
                  <a:srgbClr val="FFFFFF"/>
                </a:solidFill>
                <a:latin typeface="Arial"/>
                <a:ea typeface="Arial"/>
                <a:cs typeface="Arial"/>
                <a:sym typeface="Arial"/>
              </a:rPr>
              <a:t>Recordando los aprendizajes</a:t>
            </a:r>
            <a:endParaRPr sz="2400">
              <a:solidFill>
                <a:schemeClr val="dk1"/>
              </a:solidFill>
              <a:latin typeface="Arial"/>
              <a:ea typeface="Arial"/>
              <a:cs typeface="Arial"/>
              <a:sym typeface="Arial"/>
            </a:endParaRPr>
          </a:p>
        </p:txBody>
      </p:sp>
      <p:pic>
        <p:nvPicPr>
          <p:cNvPr id="89" name="Google Shape;89;p5"/>
          <p:cNvPicPr preferRelativeResize="0"/>
          <p:nvPr/>
        </p:nvPicPr>
        <p:blipFill rotWithShape="1">
          <a:blip r:embed="rId3">
            <a:alphaModFix/>
          </a:blip>
          <a:srcRect b="0" l="0" r="0" t="0"/>
          <a:stretch/>
        </p:blipFill>
        <p:spPr>
          <a:xfrm>
            <a:off x="5723651" y="313451"/>
            <a:ext cx="524749" cy="524749"/>
          </a:xfrm>
          <a:prstGeom prst="rect">
            <a:avLst/>
          </a:prstGeom>
          <a:noFill/>
          <a:ln>
            <a:noFill/>
          </a:ln>
        </p:spPr>
      </p:pic>
      <p:pic>
        <p:nvPicPr>
          <p:cNvPr id="90" name="Google Shape;90;p5"/>
          <p:cNvPicPr preferRelativeResize="0"/>
          <p:nvPr/>
        </p:nvPicPr>
        <p:blipFill rotWithShape="1">
          <a:blip r:embed="rId4">
            <a:alphaModFix/>
          </a:blip>
          <a:srcRect b="0" l="0" r="0" t="0"/>
          <a:stretch/>
        </p:blipFill>
        <p:spPr>
          <a:xfrm>
            <a:off x="114300" y="1080751"/>
            <a:ext cx="5981700" cy="2992172"/>
          </a:xfrm>
          <a:prstGeom prst="rect">
            <a:avLst/>
          </a:prstGeom>
          <a:noFill/>
          <a:ln>
            <a:noFill/>
          </a:ln>
        </p:spPr>
      </p:pic>
      <p:pic>
        <p:nvPicPr>
          <p:cNvPr id="91" name="Google Shape;91;p5"/>
          <p:cNvPicPr preferRelativeResize="0"/>
          <p:nvPr/>
        </p:nvPicPr>
        <p:blipFill rotWithShape="1">
          <a:blip r:embed="rId5">
            <a:alphaModFix/>
          </a:blip>
          <a:srcRect b="0" l="0" r="0" t="0"/>
          <a:stretch/>
        </p:blipFill>
        <p:spPr>
          <a:xfrm>
            <a:off x="114300" y="4072923"/>
            <a:ext cx="6297748" cy="2452421"/>
          </a:xfrm>
          <a:prstGeom prst="rect">
            <a:avLst/>
          </a:prstGeom>
          <a:noFill/>
          <a:ln>
            <a:noFill/>
          </a:ln>
        </p:spPr>
      </p:pic>
      <p:pic>
        <p:nvPicPr>
          <p:cNvPr id="92" name="Google Shape;92;p5"/>
          <p:cNvPicPr preferRelativeResize="0"/>
          <p:nvPr/>
        </p:nvPicPr>
        <p:blipFill rotWithShape="1">
          <a:blip r:embed="rId6">
            <a:alphaModFix/>
          </a:blip>
          <a:srcRect b="0" l="0" r="0" t="0"/>
          <a:stretch/>
        </p:blipFill>
        <p:spPr>
          <a:xfrm>
            <a:off x="5963264" y="1160209"/>
            <a:ext cx="5981700" cy="2671391"/>
          </a:xfrm>
          <a:prstGeom prst="rect">
            <a:avLst/>
          </a:prstGeom>
          <a:noFill/>
          <a:ln>
            <a:noFill/>
          </a:ln>
        </p:spPr>
      </p:pic>
      <p:pic>
        <p:nvPicPr>
          <p:cNvPr id="93" name="Google Shape;93;p5"/>
          <p:cNvPicPr preferRelativeResize="0"/>
          <p:nvPr/>
        </p:nvPicPr>
        <p:blipFill rotWithShape="1">
          <a:blip r:embed="rId7">
            <a:alphaModFix/>
          </a:blip>
          <a:srcRect b="0" l="0" r="0" t="0"/>
          <a:stretch/>
        </p:blipFill>
        <p:spPr>
          <a:xfrm>
            <a:off x="6096000" y="4072923"/>
            <a:ext cx="6108700" cy="2473726"/>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6"/>
          <p:cNvSpPr/>
          <p:nvPr/>
        </p:nvSpPr>
        <p:spPr>
          <a:xfrm>
            <a:off x="0" y="304801"/>
            <a:ext cx="5659755" cy="561824"/>
          </a:xfrm>
          <a:custGeom>
            <a:rect b="b" l="l" r="r" t="t"/>
            <a:pathLst>
              <a:path extrusionOk="0" h="415290" w="5659755">
                <a:moveTo>
                  <a:pt x="5590548" y="414899"/>
                </a:moveTo>
                <a:lnTo>
                  <a:pt x="6651" y="414899"/>
                </a:lnTo>
                <a:lnTo>
                  <a:pt x="0" y="413557"/>
                </a:lnTo>
                <a:lnTo>
                  <a:pt x="0" y="1342"/>
                </a:lnTo>
                <a:lnTo>
                  <a:pt x="6651" y="0"/>
                </a:lnTo>
                <a:lnTo>
                  <a:pt x="5590548" y="0"/>
                </a:lnTo>
                <a:lnTo>
                  <a:pt x="5604102" y="1340"/>
                </a:lnTo>
                <a:lnTo>
                  <a:pt x="5639445" y="20253"/>
                </a:lnTo>
                <a:lnTo>
                  <a:pt x="5658358" y="55597"/>
                </a:lnTo>
                <a:lnTo>
                  <a:pt x="5659699" y="69151"/>
                </a:lnTo>
                <a:lnTo>
                  <a:pt x="5659699" y="345748"/>
                </a:lnTo>
                <a:lnTo>
                  <a:pt x="5654265" y="372665"/>
                </a:lnTo>
                <a:lnTo>
                  <a:pt x="5639446" y="394646"/>
                </a:lnTo>
                <a:lnTo>
                  <a:pt x="5617465" y="409465"/>
                </a:lnTo>
                <a:lnTo>
                  <a:pt x="5590548" y="414899"/>
                </a:lnTo>
                <a:close/>
              </a:path>
            </a:pathLst>
          </a:custGeom>
          <a:solidFill>
            <a:srgbClr val="D1052D"/>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9" name="Google Shape;99;p6"/>
          <p:cNvSpPr txBox="1"/>
          <p:nvPr/>
        </p:nvSpPr>
        <p:spPr>
          <a:xfrm>
            <a:off x="381000" y="381000"/>
            <a:ext cx="4724400" cy="382156"/>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b="1" lang="es-ES" sz="2400">
                <a:solidFill>
                  <a:srgbClr val="FFFFFF"/>
                </a:solidFill>
                <a:latin typeface="Arial"/>
                <a:ea typeface="Arial"/>
                <a:cs typeface="Arial"/>
                <a:sym typeface="Arial"/>
              </a:rPr>
              <a:t>Logro de la sesión</a:t>
            </a:r>
            <a:endParaRPr sz="2400">
              <a:solidFill>
                <a:schemeClr val="dk1"/>
              </a:solidFill>
              <a:latin typeface="Arial"/>
              <a:ea typeface="Arial"/>
              <a:cs typeface="Arial"/>
              <a:sym typeface="Arial"/>
            </a:endParaRPr>
          </a:p>
        </p:txBody>
      </p:sp>
      <p:sp>
        <p:nvSpPr>
          <p:cNvPr id="100" name="Google Shape;100;p6"/>
          <p:cNvSpPr txBox="1"/>
          <p:nvPr/>
        </p:nvSpPr>
        <p:spPr>
          <a:xfrm>
            <a:off x="3886200" y="3581400"/>
            <a:ext cx="6476999" cy="295402"/>
          </a:xfrm>
          <a:prstGeom prst="rect">
            <a:avLst/>
          </a:prstGeom>
          <a:solidFill>
            <a:srgbClr val="FFFFFF"/>
          </a:solidFill>
          <a:ln>
            <a:noFill/>
          </a:ln>
        </p:spPr>
        <p:txBody>
          <a:bodyPr anchorCtr="0" anchor="t" bIns="0" lIns="0" spcFirstLastPara="1" rIns="0" wrap="square" tIns="0">
            <a:spAutoFit/>
          </a:bodyPr>
          <a:lstStyle/>
          <a:p>
            <a:pPr indent="0" lvl="0" marL="0" marR="0" rtl="0" algn="l">
              <a:lnSpc>
                <a:spcPct val="65312"/>
              </a:lnSpc>
              <a:spcBef>
                <a:spcPts val="0"/>
              </a:spcBef>
              <a:spcAft>
                <a:spcPts val="0"/>
              </a:spcAft>
              <a:buNone/>
            </a:pPr>
            <a:r>
              <a:t/>
            </a:r>
            <a:endParaRPr sz="3200">
              <a:solidFill>
                <a:schemeClr val="dk1"/>
              </a:solidFill>
              <a:latin typeface="Arial"/>
              <a:ea typeface="Arial"/>
              <a:cs typeface="Arial"/>
              <a:sym typeface="Arial"/>
            </a:endParaRPr>
          </a:p>
        </p:txBody>
      </p:sp>
      <p:sp>
        <p:nvSpPr>
          <p:cNvPr id="101" name="Google Shape;101;p6"/>
          <p:cNvSpPr txBox="1"/>
          <p:nvPr/>
        </p:nvSpPr>
        <p:spPr>
          <a:xfrm>
            <a:off x="2552700" y="4394580"/>
            <a:ext cx="7086600" cy="304698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s-ES" sz="3200">
                <a:solidFill>
                  <a:schemeClr val="dk1"/>
                </a:solidFill>
                <a:latin typeface="Arial"/>
                <a:ea typeface="Arial"/>
                <a:cs typeface="Arial"/>
                <a:sym typeface="Arial"/>
              </a:rPr>
              <a:t>Al final de la sesión el estudiante comprende los fundamentos y uso de  bases de datos no relacional Cassandra con CQL</a:t>
            </a:r>
            <a:endParaRPr/>
          </a:p>
          <a:p>
            <a:pPr indent="0" lvl="0" marL="0" marR="0" rtl="0" algn="ctr">
              <a:spcBef>
                <a:spcPts val="0"/>
              </a:spcBef>
              <a:spcAft>
                <a:spcPts val="0"/>
              </a:spcAft>
              <a:buNone/>
            </a:pPr>
            <a:r>
              <a:t/>
            </a:r>
            <a:endParaRPr sz="3200">
              <a:solidFill>
                <a:schemeClr val="dk1"/>
              </a:solidFill>
              <a:latin typeface="Arial"/>
              <a:ea typeface="Arial"/>
              <a:cs typeface="Arial"/>
              <a:sym typeface="Arial"/>
            </a:endParaRPr>
          </a:p>
          <a:p>
            <a:pPr indent="0" lvl="0" marL="0" marR="0" rtl="0" algn="ctr">
              <a:spcBef>
                <a:spcPts val="0"/>
              </a:spcBef>
              <a:spcAft>
                <a:spcPts val="0"/>
              </a:spcAft>
              <a:buNone/>
            </a:pPr>
            <a:r>
              <a:rPr lang="es-ES" sz="3200">
                <a:solidFill>
                  <a:schemeClr val="dk1"/>
                </a:solidFill>
                <a:latin typeface="Arial"/>
                <a:ea typeface="Arial"/>
                <a:cs typeface="Arial"/>
                <a:sym typeface="Arial"/>
              </a:rPr>
              <a:t>.</a:t>
            </a:r>
            <a:endParaRPr sz="3200">
              <a:solidFill>
                <a:schemeClr val="dk1"/>
              </a:solidFill>
              <a:latin typeface="Arial"/>
              <a:ea typeface="Arial"/>
              <a:cs typeface="Arial"/>
              <a:sym typeface="Arial"/>
            </a:endParaRPr>
          </a:p>
        </p:txBody>
      </p:sp>
      <p:pic>
        <p:nvPicPr>
          <p:cNvPr id="102" name="Google Shape;102;p6"/>
          <p:cNvPicPr preferRelativeResize="0"/>
          <p:nvPr/>
        </p:nvPicPr>
        <p:blipFill rotWithShape="1">
          <a:blip r:embed="rId3">
            <a:alphaModFix/>
          </a:blip>
          <a:srcRect b="0" l="0" r="0" t="0"/>
          <a:stretch/>
        </p:blipFill>
        <p:spPr>
          <a:xfrm>
            <a:off x="5783622" y="292547"/>
            <a:ext cx="559075" cy="559062"/>
          </a:xfrm>
          <a:prstGeom prst="rect">
            <a:avLst/>
          </a:prstGeom>
          <a:noFill/>
          <a:ln>
            <a:noFill/>
          </a:ln>
        </p:spPr>
      </p:pic>
      <p:pic>
        <p:nvPicPr>
          <p:cNvPr id="103" name="Google Shape;103;p6"/>
          <p:cNvPicPr preferRelativeResize="0"/>
          <p:nvPr/>
        </p:nvPicPr>
        <p:blipFill rotWithShape="1">
          <a:blip r:embed="rId4">
            <a:alphaModFix/>
          </a:blip>
          <a:srcRect b="0" l="0" r="0" t="0"/>
          <a:stretch/>
        </p:blipFill>
        <p:spPr>
          <a:xfrm>
            <a:off x="1078272" y="1308643"/>
            <a:ext cx="9410700" cy="28956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7"/>
          <p:cNvSpPr/>
          <p:nvPr/>
        </p:nvSpPr>
        <p:spPr>
          <a:xfrm>
            <a:off x="0" y="304801"/>
            <a:ext cx="5659755" cy="561824"/>
          </a:xfrm>
          <a:custGeom>
            <a:rect b="b" l="l" r="r" t="t"/>
            <a:pathLst>
              <a:path extrusionOk="0" h="415290" w="5659755">
                <a:moveTo>
                  <a:pt x="5590548" y="414899"/>
                </a:moveTo>
                <a:lnTo>
                  <a:pt x="6651" y="414899"/>
                </a:lnTo>
                <a:lnTo>
                  <a:pt x="0" y="413557"/>
                </a:lnTo>
                <a:lnTo>
                  <a:pt x="0" y="1342"/>
                </a:lnTo>
                <a:lnTo>
                  <a:pt x="6651" y="0"/>
                </a:lnTo>
                <a:lnTo>
                  <a:pt x="5590548" y="0"/>
                </a:lnTo>
                <a:lnTo>
                  <a:pt x="5604102" y="1340"/>
                </a:lnTo>
                <a:lnTo>
                  <a:pt x="5639445" y="20253"/>
                </a:lnTo>
                <a:lnTo>
                  <a:pt x="5658358" y="55597"/>
                </a:lnTo>
                <a:lnTo>
                  <a:pt x="5659699" y="69151"/>
                </a:lnTo>
                <a:lnTo>
                  <a:pt x="5659699" y="345748"/>
                </a:lnTo>
                <a:lnTo>
                  <a:pt x="5654265" y="372665"/>
                </a:lnTo>
                <a:lnTo>
                  <a:pt x="5639446" y="394646"/>
                </a:lnTo>
                <a:lnTo>
                  <a:pt x="5617465" y="409465"/>
                </a:lnTo>
                <a:lnTo>
                  <a:pt x="5590548" y="414899"/>
                </a:lnTo>
                <a:close/>
              </a:path>
            </a:pathLst>
          </a:custGeom>
          <a:solidFill>
            <a:srgbClr val="D1052D"/>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9" name="Google Shape;109;p7"/>
          <p:cNvSpPr txBox="1"/>
          <p:nvPr/>
        </p:nvSpPr>
        <p:spPr>
          <a:xfrm>
            <a:off x="381000" y="381000"/>
            <a:ext cx="4724400" cy="382156"/>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b="1" lang="es-ES" sz="2400">
                <a:solidFill>
                  <a:srgbClr val="FFFFFF"/>
                </a:solidFill>
                <a:latin typeface="Arial"/>
                <a:ea typeface="Arial"/>
                <a:cs typeface="Arial"/>
                <a:sym typeface="Arial"/>
              </a:rPr>
              <a:t>Importancia de la sesión</a:t>
            </a:r>
            <a:endParaRPr sz="2400">
              <a:solidFill>
                <a:schemeClr val="dk1"/>
              </a:solidFill>
              <a:latin typeface="Arial"/>
              <a:ea typeface="Arial"/>
              <a:cs typeface="Arial"/>
              <a:sym typeface="Arial"/>
            </a:endParaRPr>
          </a:p>
        </p:txBody>
      </p:sp>
      <p:sp>
        <p:nvSpPr>
          <p:cNvPr id="110" name="Google Shape;110;p7"/>
          <p:cNvSpPr txBox="1"/>
          <p:nvPr/>
        </p:nvSpPr>
        <p:spPr>
          <a:xfrm>
            <a:off x="3886200" y="3581400"/>
            <a:ext cx="6476999" cy="295402"/>
          </a:xfrm>
          <a:prstGeom prst="rect">
            <a:avLst/>
          </a:prstGeom>
          <a:solidFill>
            <a:srgbClr val="FFFFFF"/>
          </a:solidFill>
          <a:ln>
            <a:noFill/>
          </a:ln>
        </p:spPr>
        <p:txBody>
          <a:bodyPr anchorCtr="0" anchor="t" bIns="0" lIns="0" spcFirstLastPara="1" rIns="0" wrap="square" tIns="0">
            <a:spAutoFit/>
          </a:bodyPr>
          <a:lstStyle/>
          <a:p>
            <a:pPr indent="0" lvl="0" marL="0" marR="0" rtl="0" algn="l">
              <a:lnSpc>
                <a:spcPct val="65312"/>
              </a:lnSpc>
              <a:spcBef>
                <a:spcPts val="0"/>
              </a:spcBef>
              <a:spcAft>
                <a:spcPts val="0"/>
              </a:spcAft>
              <a:buNone/>
            </a:pPr>
            <a:r>
              <a:t/>
            </a:r>
            <a:endParaRPr sz="3200">
              <a:solidFill>
                <a:schemeClr val="dk1"/>
              </a:solidFill>
              <a:latin typeface="Arial"/>
              <a:ea typeface="Arial"/>
              <a:cs typeface="Arial"/>
              <a:sym typeface="Arial"/>
            </a:endParaRPr>
          </a:p>
        </p:txBody>
      </p:sp>
      <p:sp>
        <p:nvSpPr>
          <p:cNvPr id="111" name="Google Shape;111;p7"/>
          <p:cNvSpPr txBox="1"/>
          <p:nvPr/>
        </p:nvSpPr>
        <p:spPr>
          <a:xfrm>
            <a:off x="1371600" y="1166842"/>
            <a:ext cx="8991599" cy="452431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s-ES" sz="3200">
                <a:solidFill>
                  <a:schemeClr val="dk1"/>
                </a:solidFill>
                <a:latin typeface="Arial"/>
                <a:ea typeface="Arial"/>
                <a:cs typeface="Arial"/>
                <a:sym typeface="Arial"/>
              </a:rPr>
              <a:t>Apache Cassandra es una base de datos NoSQL diseñada para manejar grandes cantidades de datos a través de muchos servidores sin un punto único de falla. Tiene una sintaxis y funcionalidades específicas que la distinguen de otras bases de datos. Vamos a desglosar algunos aspectos clave, incluyendo la sintaxis de consultas, funciones distintivas y la administración de usuarios.</a:t>
            </a:r>
            <a:endParaRPr/>
          </a:p>
        </p:txBody>
      </p:sp>
      <p:pic>
        <p:nvPicPr>
          <p:cNvPr id="112" name="Google Shape;112;p7"/>
          <p:cNvPicPr preferRelativeResize="0"/>
          <p:nvPr/>
        </p:nvPicPr>
        <p:blipFill rotWithShape="1">
          <a:blip r:embed="rId3">
            <a:alphaModFix/>
          </a:blip>
          <a:srcRect b="0" l="0" r="0" t="0"/>
          <a:stretch/>
        </p:blipFill>
        <p:spPr>
          <a:xfrm>
            <a:off x="5817875" y="304800"/>
            <a:ext cx="506725" cy="561823"/>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8"/>
          <p:cNvSpPr txBox="1"/>
          <p:nvPr/>
        </p:nvSpPr>
        <p:spPr>
          <a:xfrm>
            <a:off x="1966912" y="2890391"/>
            <a:ext cx="9005888" cy="1595309"/>
          </a:xfrm>
          <a:prstGeom prst="rect">
            <a:avLst/>
          </a:prstGeom>
          <a:solidFill>
            <a:srgbClr val="D1052D"/>
          </a:solidFill>
          <a:ln cap="flat" cmpd="sng" w="9525">
            <a:solidFill>
              <a:srgbClr val="7C5F9F"/>
            </a:solidFill>
            <a:prstDash val="solid"/>
            <a:round/>
            <a:headEnd len="sm" w="sm" type="none"/>
            <a:tailEnd len="sm" w="sm" type="none"/>
          </a:ln>
          <a:effectLst>
            <a:outerShdw blurRad="40000" rotWithShape="0" dir="5400000" dist="20000">
              <a:srgbClr val="000000">
                <a:alpha val="37647"/>
              </a:srgbClr>
            </a:outerShdw>
          </a:effectLst>
        </p:spPr>
        <p:txBody>
          <a:bodyPr anchorCtr="0" anchor="t" bIns="45700" lIns="91425" spcFirstLastPara="1" rIns="91425" wrap="square" tIns="45700">
            <a:spAutoFit/>
          </a:bodyPr>
          <a:lstStyle/>
          <a:p>
            <a:pPr indent="0" lvl="0" marL="12700" marR="0" rtl="0" algn="l">
              <a:lnSpc>
                <a:spcPct val="100000"/>
              </a:lnSpc>
              <a:spcBef>
                <a:spcPts val="0"/>
              </a:spcBef>
              <a:spcAft>
                <a:spcPts val="0"/>
              </a:spcAft>
              <a:buNone/>
            </a:pPr>
            <a:r>
              <a:rPr b="1" lang="es-ES" sz="3200">
                <a:solidFill>
                  <a:schemeClr val="lt1"/>
                </a:solidFill>
                <a:latin typeface="Calibri"/>
                <a:ea typeface="Calibri"/>
                <a:cs typeface="Calibri"/>
                <a:sym typeface="Calibri"/>
              </a:rPr>
              <a:t>Cassandra: </a:t>
            </a:r>
            <a:endParaRPr/>
          </a:p>
          <a:p>
            <a:pPr indent="-457200" lvl="0" marL="469900" marR="0" rtl="0" algn="l">
              <a:lnSpc>
                <a:spcPct val="100000"/>
              </a:lnSpc>
              <a:spcBef>
                <a:spcPts val="100"/>
              </a:spcBef>
              <a:spcAft>
                <a:spcPts val="0"/>
              </a:spcAft>
              <a:buClr>
                <a:schemeClr val="lt1"/>
              </a:buClr>
              <a:buSzPts val="3200"/>
              <a:buFont typeface="Calibri"/>
              <a:buChar char="-"/>
            </a:pPr>
            <a:r>
              <a:rPr lang="es-ES" sz="3200">
                <a:solidFill>
                  <a:schemeClr val="lt1"/>
                </a:solidFill>
                <a:latin typeface="Calibri"/>
                <a:ea typeface="Calibri"/>
                <a:cs typeface="Calibri"/>
                <a:sym typeface="Calibri"/>
              </a:rPr>
              <a:t>Sintaxis de consultas y funciones distintivas clave </a:t>
            </a:r>
            <a:endParaRPr/>
          </a:p>
          <a:p>
            <a:pPr indent="-457200" lvl="0" marL="469900" marR="0" rtl="0" algn="l">
              <a:lnSpc>
                <a:spcPct val="100000"/>
              </a:lnSpc>
              <a:spcBef>
                <a:spcPts val="100"/>
              </a:spcBef>
              <a:spcAft>
                <a:spcPts val="0"/>
              </a:spcAft>
              <a:buClr>
                <a:schemeClr val="lt1"/>
              </a:buClr>
              <a:buSzPts val="3200"/>
              <a:buFont typeface="Calibri"/>
              <a:buChar char="-"/>
            </a:pPr>
            <a:r>
              <a:rPr lang="es-ES" sz="3200">
                <a:solidFill>
                  <a:schemeClr val="lt1"/>
                </a:solidFill>
                <a:latin typeface="Calibri"/>
                <a:ea typeface="Calibri"/>
                <a:cs typeface="Calibri"/>
                <a:sym typeface="Calibri"/>
              </a:rPr>
              <a:t>Administración de usuarios</a:t>
            </a:r>
            <a:endParaRPr sz="3200">
              <a:solidFill>
                <a:schemeClr val="lt1"/>
              </a:solidFill>
              <a:latin typeface="Arial"/>
              <a:ea typeface="Arial"/>
              <a:cs typeface="Arial"/>
              <a:sym typeface="Arial"/>
            </a:endParaRPr>
          </a:p>
        </p:txBody>
      </p:sp>
      <p:sp>
        <p:nvSpPr>
          <p:cNvPr id="118" name="Google Shape;118;p8"/>
          <p:cNvSpPr txBox="1"/>
          <p:nvPr/>
        </p:nvSpPr>
        <p:spPr>
          <a:xfrm>
            <a:off x="4076700" y="1991427"/>
            <a:ext cx="4038600" cy="646331"/>
          </a:xfrm>
          <a:prstGeom prst="rect">
            <a:avLst/>
          </a:prstGeom>
          <a:noFill/>
          <a:ln>
            <a:noFill/>
          </a:ln>
        </p:spPr>
        <p:txBody>
          <a:bodyPr anchorCtr="0" anchor="t" bIns="45700" lIns="91425" spcFirstLastPara="1" rIns="91425" wrap="square" tIns="45700">
            <a:spAutoFit/>
          </a:bodyPr>
          <a:lstStyle/>
          <a:p>
            <a:pPr indent="0" lvl="0" marL="12700" marR="0" rtl="0" algn="ctr">
              <a:lnSpc>
                <a:spcPct val="100000"/>
              </a:lnSpc>
              <a:spcBef>
                <a:spcPts val="0"/>
              </a:spcBef>
              <a:spcAft>
                <a:spcPts val="0"/>
              </a:spcAft>
              <a:buNone/>
            </a:pPr>
            <a:r>
              <a:rPr b="1" lang="es-ES" sz="3600">
                <a:solidFill>
                  <a:srgbClr val="000000"/>
                </a:solidFill>
                <a:latin typeface="Arial"/>
                <a:ea typeface="Arial"/>
                <a:cs typeface="Arial"/>
                <a:sym typeface="Arial"/>
              </a:rPr>
              <a:t>SESIÓN N° 14:</a:t>
            </a:r>
            <a:endParaRPr b="1" sz="3600">
              <a:solidFill>
                <a:srgbClr val="000000"/>
              </a:solidFill>
              <a:latin typeface="Arial"/>
              <a:ea typeface="Arial"/>
              <a:cs typeface="Arial"/>
              <a:sym typeface="Arial"/>
            </a:endParaRPr>
          </a:p>
        </p:txBody>
      </p:sp>
      <p:sp>
        <p:nvSpPr>
          <p:cNvPr id="119" name="Google Shape;119;p8"/>
          <p:cNvSpPr/>
          <p:nvPr/>
        </p:nvSpPr>
        <p:spPr>
          <a:xfrm>
            <a:off x="0" y="304801"/>
            <a:ext cx="5659755" cy="561824"/>
          </a:xfrm>
          <a:custGeom>
            <a:rect b="b" l="l" r="r" t="t"/>
            <a:pathLst>
              <a:path extrusionOk="0" h="415290" w="5659755">
                <a:moveTo>
                  <a:pt x="5590548" y="414899"/>
                </a:moveTo>
                <a:lnTo>
                  <a:pt x="6651" y="414899"/>
                </a:lnTo>
                <a:lnTo>
                  <a:pt x="0" y="413557"/>
                </a:lnTo>
                <a:lnTo>
                  <a:pt x="0" y="1342"/>
                </a:lnTo>
                <a:lnTo>
                  <a:pt x="6651" y="0"/>
                </a:lnTo>
                <a:lnTo>
                  <a:pt x="5590548" y="0"/>
                </a:lnTo>
                <a:lnTo>
                  <a:pt x="5604102" y="1340"/>
                </a:lnTo>
                <a:lnTo>
                  <a:pt x="5639445" y="20253"/>
                </a:lnTo>
                <a:lnTo>
                  <a:pt x="5658358" y="55597"/>
                </a:lnTo>
                <a:lnTo>
                  <a:pt x="5659699" y="69151"/>
                </a:lnTo>
                <a:lnTo>
                  <a:pt x="5659699" y="345748"/>
                </a:lnTo>
                <a:lnTo>
                  <a:pt x="5654265" y="372665"/>
                </a:lnTo>
                <a:lnTo>
                  <a:pt x="5639446" y="394646"/>
                </a:lnTo>
                <a:lnTo>
                  <a:pt x="5617465" y="409465"/>
                </a:lnTo>
                <a:lnTo>
                  <a:pt x="5590548" y="414899"/>
                </a:lnTo>
                <a:close/>
              </a:path>
            </a:pathLst>
          </a:custGeom>
          <a:solidFill>
            <a:srgbClr val="D1052D"/>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0" name="Google Shape;120;p8"/>
          <p:cNvSpPr txBox="1"/>
          <p:nvPr/>
        </p:nvSpPr>
        <p:spPr>
          <a:xfrm>
            <a:off x="381000" y="381000"/>
            <a:ext cx="4724400" cy="382156"/>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b="1" lang="es-ES" sz="2400">
                <a:solidFill>
                  <a:srgbClr val="FFFFFF"/>
                </a:solidFill>
                <a:latin typeface="Arial"/>
                <a:ea typeface="Arial"/>
                <a:cs typeface="Arial"/>
                <a:sym typeface="Arial"/>
              </a:rPr>
              <a:t>Temario</a:t>
            </a:r>
            <a:endParaRPr sz="2400">
              <a:solidFill>
                <a:schemeClr val="dk1"/>
              </a:solidFill>
              <a:latin typeface="Arial"/>
              <a:ea typeface="Arial"/>
              <a:cs typeface="Arial"/>
              <a:sym typeface="Arial"/>
            </a:endParaRPr>
          </a:p>
        </p:txBody>
      </p:sp>
      <p:pic>
        <p:nvPicPr>
          <p:cNvPr id="121" name="Google Shape;121;p8"/>
          <p:cNvPicPr preferRelativeResize="0"/>
          <p:nvPr/>
        </p:nvPicPr>
        <p:blipFill rotWithShape="1">
          <a:blip r:embed="rId3">
            <a:alphaModFix/>
          </a:blip>
          <a:srcRect b="0" l="0" r="0" t="0"/>
          <a:stretch/>
        </p:blipFill>
        <p:spPr>
          <a:xfrm>
            <a:off x="5723651" y="313451"/>
            <a:ext cx="524749" cy="524749"/>
          </a:xfrm>
          <a:prstGeom prst="rect">
            <a:avLst/>
          </a:prstGeom>
          <a:noFill/>
          <a:ln>
            <a:noFill/>
          </a:ln>
        </p:spPr>
      </p:pic>
      <p:sp>
        <p:nvSpPr>
          <p:cNvPr id="122" name="Google Shape;122;p8"/>
          <p:cNvSpPr txBox="1"/>
          <p:nvPr/>
        </p:nvSpPr>
        <p:spPr>
          <a:xfrm>
            <a:off x="365760" y="973304"/>
            <a:ext cx="5357891"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ES" sz="2000">
                <a:solidFill>
                  <a:schemeClr val="dk1"/>
                </a:solidFill>
                <a:latin typeface="Arial"/>
                <a:ea typeface="Arial"/>
                <a:cs typeface="Arial"/>
                <a:sym typeface="Arial"/>
              </a:rPr>
              <a:t>¡Que no se te escape nada de tu clase!:</a:t>
            </a:r>
            <a:endParaRPr sz="2000">
              <a:solidFill>
                <a:schemeClr val="dk1"/>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9"/>
          <p:cNvSpPr txBox="1"/>
          <p:nvPr/>
        </p:nvSpPr>
        <p:spPr>
          <a:xfrm>
            <a:off x="811160" y="152400"/>
            <a:ext cx="8256639" cy="73862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lang="es-ES" sz="2400">
                <a:solidFill>
                  <a:srgbClr val="C00000"/>
                </a:solidFill>
                <a:latin typeface="Calibri"/>
                <a:ea typeface="Calibri"/>
                <a:cs typeface="Calibri"/>
                <a:sym typeface="Calibri"/>
              </a:rPr>
              <a:t>Base de datos: Cassandra – </a:t>
            </a:r>
            <a:r>
              <a:rPr lang="es-ES" sz="2400">
                <a:solidFill>
                  <a:srgbClr val="C00000"/>
                </a:solidFill>
                <a:latin typeface="Calibri"/>
                <a:ea typeface="Calibri"/>
                <a:cs typeface="Calibri"/>
                <a:sym typeface="Calibri"/>
              </a:rPr>
              <a:t>Sintaxis de Consultas en Cassandra </a:t>
            </a:r>
            <a:endParaRPr/>
          </a:p>
          <a:p>
            <a:pPr indent="0" lvl="0" marL="0" marR="0" rtl="0" algn="l">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p:txBody>
      </p:sp>
      <p:pic>
        <p:nvPicPr>
          <p:cNvPr id="128" name="Google Shape;128;p9"/>
          <p:cNvPicPr preferRelativeResize="0"/>
          <p:nvPr/>
        </p:nvPicPr>
        <p:blipFill rotWithShape="1">
          <a:blip r:embed="rId3">
            <a:alphaModFix/>
          </a:blip>
          <a:srcRect b="0" l="0" r="0" t="0"/>
          <a:stretch/>
        </p:blipFill>
        <p:spPr>
          <a:xfrm>
            <a:off x="9247241" y="152400"/>
            <a:ext cx="2483508" cy="553998"/>
          </a:xfrm>
          <a:prstGeom prst="rect">
            <a:avLst/>
          </a:prstGeom>
          <a:noFill/>
          <a:ln>
            <a:noFill/>
          </a:ln>
        </p:spPr>
      </p:pic>
      <p:sp>
        <p:nvSpPr>
          <p:cNvPr id="129" name="Google Shape;129;p9"/>
          <p:cNvSpPr txBox="1"/>
          <p:nvPr/>
        </p:nvSpPr>
        <p:spPr>
          <a:xfrm>
            <a:off x="265471" y="680053"/>
            <a:ext cx="10962103" cy="544764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ES" sz="2400">
                <a:solidFill>
                  <a:schemeClr val="dk1"/>
                </a:solidFill>
                <a:latin typeface="Calibri"/>
                <a:ea typeface="Calibri"/>
                <a:cs typeface="Calibri"/>
                <a:sym typeface="Calibri"/>
              </a:rPr>
              <a:t>Cassandra usa CQL (Cassandra Query Language), que es similar a SQL pero adaptado para el modelo de datos de Cassandra.</a:t>
            </a:r>
            <a:endParaRPr/>
          </a:p>
          <a:p>
            <a:pPr indent="0" lvl="0" marL="0" marR="0" rtl="0" algn="l">
              <a:spcBef>
                <a:spcPts val="0"/>
              </a:spcBef>
              <a:spcAft>
                <a:spcPts val="0"/>
              </a:spcAft>
              <a:buNone/>
            </a:pPr>
            <a:r>
              <a:rPr lang="es-ES" sz="2400">
                <a:solidFill>
                  <a:schemeClr val="dk1"/>
                </a:solidFill>
                <a:latin typeface="Calibri"/>
                <a:ea typeface="Calibri"/>
                <a:cs typeface="Calibri"/>
                <a:sym typeface="Calibri"/>
              </a:rPr>
              <a:t>1. Creación de una Keyspace:</a:t>
            </a:r>
            <a:endParaRPr/>
          </a:p>
          <a:p>
            <a:pPr indent="0" lvl="0" marL="0" marR="0" rtl="0" algn="l">
              <a:spcBef>
                <a:spcPts val="0"/>
              </a:spcBef>
              <a:spcAft>
                <a:spcPts val="0"/>
              </a:spcAft>
              <a:buNone/>
            </a:pPr>
            <a:r>
              <a:rPr lang="es-ES" sz="2400">
                <a:solidFill>
                  <a:schemeClr val="dk1"/>
                </a:solidFill>
                <a:latin typeface="Calibri"/>
                <a:ea typeface="Calibri"/>
                <a:cs typeface="Calibri"/>
                <a:sym typeface="Calibri"/>
              </a:rPr>
              <a:t> </a:t>
            </a:r>
            <a:endParaRPr/>
          </a:p>
          <a:p>
            <a:pPr indent="0" lvl="0" marL="0" marR="0" rtl="0" algn="l">
              <a:spcBef>
                <a:spcPts val="0"/>
              </a:spcBef>
              <a:spcAft>
                <a:spcPts val="0"/>
              </a:spcAft>
              <a:buNone/>
            </a:pPr>
            <a:r>
              <a:rPr lang="es-ES" sz="2400">
                <a:solidFill>
                  <a:schemeClr val="dk1"/>
                </a:solidFill>
                <a:latin typeface="Calibri"/>
                <a:ea typeface="Calibri"/>
                <a:cs typeface="Calibri"/>
                <a:sym typeface="Calibri"/>
              </a:rPr>
              <a:t>CREATE KEYSPACE nombre_del_keyspace</a:t>
            </a:r>
            <a:endParaRPr/>
          </a:p>
          <a:p>
            <a:pPr indent="0" lvl="0" marL="0" marR="0" rtl="0" algn="l">
              <a:spcBef>
                <a:spcPts val="0"/>
              </a:spcBef>
              <a:spcAft>
                <a:spcPts val="0"/>
              </a:spcAft>
              <a:buNone/>
            </a:pPr>
            <a:r>
              <a:rPr lang="es-ES" sz="2400">
                <a:solidFill>
                  <a:schemeClr val="dk1"/>
                </a:solidFill>
                <a:latin typeface="Calibri"/>
                <a:ea typeface="Calibri"/>
                <a:cs typeface="Calibri"/>
                <a:sym typeface="Calibri"/>
              </a:rPr>
              <a:t>WITH REPLICATION = {</a:t>
            </a:r>
            <a:endParaRPr sz="2400">
              <a:solidFill>
                <a:schemeClr val="dk1"/>
              </a:solidFill>
              <a:latin typeface="Calibri"/>
              <a:ea typeface="Calibri"/>
              <a:cs typeface="Calibri"/>
              <a:sym typeface="Calibri"/>
            </a:endParaRPr>
          </a:p>
          <a:p>
            <a:pPr indent="0" lvl="0" marL="0" marR="0" rtl="0" algn="l">
              <a:spcBef>
                <a:spcPts val="0"/>
              </a:spcBef>
              <a:spcAft>
                <a:spcPts val="0"/>
              </a:spcAft>
              <a:buNone/>
            </a:pPr>
            <a:r>
              <a:rPr lang="es-ES" sz="2400">
                <a:solidFill>
                  <a:schemeClr val="dk1"/>
                </a:solidFill>
                <a:latin typeface="Calibri"/>
                <a:ea typeface="Calibri"/>
                <a:cs typeface="Calibri"/>
                <a:sym typeface="Calibri"/>
              </a:rPr>
              <a:t>  'class': 'SimpleStrategy',</a:t>
            </a:r>
            <a:endParaRPr sz="2400">
              <a:solidFill>
                <a:schemeClr val="dk1"/>
              </a:solidFill>
              <a:latin typeface="Calibri"/>
              <a:ea typeface="Calibri"/>
              <a:cs typeface="Calibri"/>
              <a:sym typeface="Calibri"/>
            </a:endParaRPr>
          </a:p>
          <a:p>
            <a:pPr indent="0" lvl="0" marL="0" marR="0" rtl="0" algn="l">
              <a:spcBef>
                <a:spcPts val="0"/>
              </a:spcBef>
              <a:spcAft>
                <a:spcPts val="0"/>
              </a:spcAft>
              <a:buNone/>
            </a:pPr>
            <a:r>
              <a:rPr lang="es-ES" sz="2400">
                <a:solidFill>
                  <a:schemeClr val="dk1"/>
                </a:solidFill>
                <a:latin typeface="Calibri"/>
                <a:ea typeface="Calibri"/>
                <a:cs typeface="Calibri"/>
                <a:sym typeface="Calibri"/>
              </a:rPr>
              <a:t>  'replication_factor': 3</a:t>
            </a:r>
            <a:endParaRPr sz="2400">
              <a:solidFill>
                <a:schemeClr val="dk1"/>
              </a:solidFill>
              <a:latin typeface="Calibri"/>
              <a:ea typeface="Calibri"/>
              <a:cs typeface="Calibri"/>
              <a:sym typeface="Calibri"/>
            </a:endParaRPr>
          </a:p>
          <a:p>
            <a:pPr indent="0" lvl="0" marL="0" marR="0" rtl="0" algn="l">
              <a:spcBef>
                <a:spcPts val="0"/>
              </a:spcBef>
              <a:spcAft>
                <a:spcPts val="0"/>
              </a:spcAft>
              <a:buNone/>
            </a:pPr>
            <a:r>
              <a:rPr lang="es-ES" sz="2400">
                <a:solidFill>
                  <a:schemeClr val="dk1"/>
                </a:solidFill>
                <a:latin typeface="Calibri"/>
                <a:ea typeface="Calibri"/>
                <a:cs typeface="Calibri"/>
                <a:sym typeface="Calibri"/>
              </a:rPr>
              <a:t>};</a:t>
            </a:r>
            <a:endParaRPr/>
          </a:p>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a:p>
            <a:pPr indent="0" lvl="0" marL="0" marR="0" rtl="0" algn="l">
              <a:spcBef>
                <a:spcPts val="0"/>
              </a:spcBef>
              <a:spcAft>
                <a:spcPts val="0"/>
              </a:spcAft>
              <a:buNone/>
            </a:pPr>
            <a:r>
              <a:rPr lang="es-ES" sz="2400">
                <a:solidFill>
                  <a:schemeClr val="dk1"/>
                </a:solidFill>
                <a:latin typeface="Calibri"/>
                <a:ea typeface="Calibri"/>
                <a:cs typeface="Calibri"/>
                <a:sym typeface="Calibri"/>
              </a:rPr>
              <a:t>- `SimpleStrategy` es adecuado para entornos de desarrollo o pruebas. Para producción, se recomienda `NetworkTopologyStrategy`.</a:t>
            </a:r>
            <a:endParaRPr/>
          </a:p>
          <a:p>
            <a:pPr indent="0" lvl="0" marL="0" marR="0" rtl="0" algn="l">
              <a:spcBef>
                <a:spcPts val="0"/>
              </a:spcBef>
              <a:spcAft>
                <a:spcPts val="0"/>
              </a:spcAft>
              <a:buNone/>
            </a:pPr>
            <a:r>
              <a:rPr lang="es-ES" sz="2400">
                <a:solidFill>
                  <a:schemeClr val="dk1"/>
                </a:solidFill>
                <a:latin typeface="Calibri"/>
                <a:ea typeface="Calibri"/>
                <a:cs typeface="Calibri"/>
                <a:sym typeface="Calibri"/>
              </a:rPr>
              <a:t> </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130" name="Google Shape;130;p9"/>
          <p:cNvPicPr preferRelativeResize="0"/>
          <p:nvPr/>
        </p:nvPicPr>
        <p:blipFill rotWithShape="1">
          <a:blip r:embed="rId4">
            <a:alphaModFix/>
          </a:blip>
          <a:srcRect b="0" l="0" r="0" t="0"/>
          <a:stretch/>
        </p:blipFill>
        <p:spPr>
          <a:xfrm>
            <a:off x="8506127" y="4876800"/>
            <a:ext cx="2973034" cy="1669473"/>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10"/>
          <p:cNvSpPr txBox="1"/>
          <p:nvPr/>
        </p:nvSpPr>
        <p:spPr>
          <a:xfrm>
            <a:off x="811160" y="152400"/>
            <a:ext cx="8256639" cy="73862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lang="es-ES" sz="2400">
                <a:solidFill>
                  <a:srgbClr val="C00000"/>
                </a:solidFill>
                <a:latin typeface="Calibri"/>
                <a:ea typeface="Calibri"/>
                <a:cs typeface="Calibri"/>
                <a:sym typeface="Calibri"/>
              </a:rPr>
              <a:t>Base de datos: Cassandra – </a:t>
            </a:r>
            <a:r>
              <a:rPr lang="es-ES" sz="2400">
                <a:solidFill>
                  <a:srgbClr val="C00000"/>
                </a:solidFill>
                <a:latin typeface="Calibri"/>
                <a:ea typeface="Calibri"/>
                <a:cs typeface="Calibri"/>
                <a:sym typeface="Calibri"/>
              </a:rPr>
              <a:t>Sintaxis de Consultas en Cassandra </a:t>
            </a:r>
            <a:endParaRPr/>
          </a:p>
          <a:p>
            <a:pPr indent="0" lvl="0" marL="0" marR="0" rtl="0" algn="l">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p:txBody>
      </p:sp>
      <p:pic>
        <p:nvPicPr>
          <p:cNvPr id="136" name="Google Shape;136;p10"/>
          <p:cNvPicPr preferRelativeResize="0"/>
          <p:nvPr/>
        </p:nvPicPr>
        <p:blipFill rotWithShape="1">
          <a:blip r:embed="rId3">
            <a:alphaModFix/>
          </a:blip>
          <a:srcRect b="0" l="0" r="0" t="0"/>
          <a:stretch/>
        </p:blipFill>
        <p:spPr>
          <a:xfrm>
            <a:off x="9247241" y="152400"/>
            <a:ext cx="2483508" cy="553998"/>
          </a:xfrm>
          <a:prstGeom prst="rect">
            <a:avLst/>
          </a:prstGeom>
          <a:noFill/>
          <a:ln>
            <a:noFill/>
          </a:ln>
        </p:spPr>
      </p:pic>
      <p:sp>
        <p:nvSpPr>
          <p:cNvPr id="137" name="Google Shape;137;p10"/>
          <p:cNvSpPr txBox="1"/>
          <p:nvPr/>
        </p:nvSpPr>
        <p:spPr>
          <a:xfrm>
            <a:off x="265471" y="680053"/>
            <a:ext cx="10962103" cy="535531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ES" sz="2400">
                <a:solidFill>
                  <a:schemeClr val="dk1"/>
                </a:solidFill>
                <a:latin typeface="Calibri"/>
                <a:ea typeface="Calibri"/>
                <a:cs typeface="Calibri"/>
                <a:sym typeface="Calibri"/>
              </a:rPr>
              <a:t>2. Creación de una Tabla:</a:t>
            </a:r>
            <a:endParaRPr/>
          </a:p>
          <a:p>
            <a:pPr indent="0" lvl="0" marL="0" marR="0" rtl="0" algn="l">
              <a:spcBef>
                <a:spcPts val="0"/>
              </a:spcBef>
              <a:spcAft>
                <a:spcPts val="0"/>
              </a:spcAft>
              <a:buNone/>
            </a:pPr>
            <a:r>
              <a:rPr lang="es-ES" sz="2400">
                <a:solidFill>
                  <a:schemeClr val="dk1"/>
                </a:solidFill>
                <a:latin typeface="Calibri"/>
                <a:ea typeface="Calibri"/>
                <a:cs typeface="Calibri"/>
                <a:sym typeface="Calibri"/>
              </a:rPr>
              <a:t>CREATE TABLE nombre_del_keyspace.nombre_de_la_tabla (</a:t>
            </a:r>
            <a:endParaRPr/>
          </a:p>
          <a:p>
            <a:pPr indent="0" lvl="0" marL="0" marR="0" rtl="0" algn="l">
              <a:spcBef>
                <a:spcPts val="0"/>
              </a:spcBef>
              <a:spcAft>
                <a:spcPts val="0"/>
              </a:spcAft>
              <a:buNone/>
            </a:pPr>
            <a:r>
              <a:rPr lang="es-ES" sz="2400">
                <a:solidFill>
                  <a:schemeClr val="dk1"/>
                </a:solidFill>
                <a:latin typeface="Calibri"/>
                <a:ea typeface="Calibri"/>
                <a:cs typeface="Calibri"/>
                <a:sym typeface="Calibri"/>
              </a:rPr>
              <a:t>  id UUID PRIMARY KEY,</a:t>
            </a:r>
            <a:endParaRPr/>
          </a:p>
          <a:p>
            <a:pPr indent="0" lvl="0" marL="0" marR="0" rtl="0" algn="l">
              <a:spcBef>
                <a:spcPts val="0"/>
              </a:spcBef>
              <a:spcAft>
                <a:spcPts val="0"/>
              </a:spcAft>
              <a:buNone/>
            </a:pPr>
            <a:r>
              <a:rPr lang="es-ES" sz="2400">
                <a:solidFill>
                  <a:schemeClr val="dk1"/>
                </a:solidFill>
                <a:latin typeface="Calibri"/>
                <a:ea typeface="Calibri"/>
                <a:cs typeface="Calibri"/>
                <a:sym typeface="Calibri"/>
              </a:rPr>
              <a:t>  nombre TEXT,</a:t>
            </a:r>
            <a:endParaRPr/>
          </a:p>
          <a:p>
            <a:pPr indent="0" lvl="0" marL="0" marR="0" rtl="0" algn="l">
              <a:spcBef>
                <a:spcPts val="0"/>
              </a:spcBef>
              <a:spcAft>
                <a:spcPts val="0"/>
              </a:spcAft>
              <a:buNone/>
            </a:pPr>
            <a:r>
              <a:rPr lang="es-ES" sz="2400">
                <a:solidFill>
                  <a:schemeClr val="dk1"/>
                </a:solidFill>
                <a:latin typeface="Calibri"/>
                <a:ea typeface="Calibri"/>
                <a:cs typeface="Calibri"/>
                <a:sym typeface="Calibri"/>
              </a:rPr>
              <a:t>  edad INT</a:t>
            </a:r>
            <a:endParaRPr/>
          </a:p>
          <a:p>
            <a:pPr indent="0" lvl="0" marL="0" marR="0" rtl="0" algn="l">
              <a:spcBef>
                <a:spcPts val="0"/>
              </a:spcBef>
              <a:spcAft>
                <a:spcPts val="0"/>
              </a:spcAft>
              <a:buNone/>
            </a:pPr>
            <a:r>
              <a:rPr lang="es-ES" sz="2400">
                <a:solidFill>
                  <a:schemeClr val="dk1"/>
                </a:solidFill>
                <a:latin typeface="Calibri"/>
                <a:ea typeface="Calibri"/>
                <a:cs typeface="Calibri"/>
                <a:sym typeface="Calibri"/>
              </a:rPr>
              <a:t>);</a:t>
            </a:r>
            <a:endParaRPr/>
          </a:p>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a:p>
            <a:pPr indent="0" lvl="0" marL="0" marR="0" rtl="0" algn="l">
              <a:spcBef>
                <a:spcPts val="0"/>
              </a:spcBef>
              <a:spcAft>
                <a:spcPts val="0"/>
              </a:spcAft>
              <a:buNone/>
            </a:pPr>
            <a:r>
              <a:rPr lang="es-ES" sz="2400">
                <a:solidFill>
                  <a:schemeClr val="dk1"/>
                </a:solidFill>
                <a:latin typeface="Calibri"/>
                <a:ea typeface="Calibri"/>
                <a:cs typeface="Calibri"/>
                <a:sym typeface="Calibri"/>
              </a:rPr>
              <a:t>- `PRIMARY KEY` en Cassandra incluye la partición y las claves de clustering.</a:t>
            </a:r>
            <a:endParaRPr/>
          </a:p>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a:p>
            <a:pPr indent="0" lvl="0" marL="0" marR="0" rtl="0" algn="l">
              <a:spcBef>
                <a:spcPts val="0"/>
              </a:spcBef>
              <a:spcAft>
                <a:spcPts val="0"/>
              </a:spcAft>
              <a:buNone/>
            </a:pPr>
            <a:r>
              <a:rPr lang="es-ES" sz="2400">
                <a:solidFill>
                  <a:schemeClr val="dk1"/>
                </a:solidFill>
                <a:latin typeface="Calibri"/>
                <a:ea typeface="Calibri"/>
                <a:cs typeface="Calibri"/>
                <a:sym typeface="Calibri"/>
              </a:rPr>
              <a:t>3. Inserción de Datos:</a:t>
            </a:r>
            <a:endParaRPr/>
          </a:p>
          <a:p>
            <a:pPr indent="0" lvl="0" marL="0" marR="0" rtl="0" algn="l">
              <a:spcBef>
                <a:spcPts val="0"/>
              </a:spcBef>
              <a:spcAft>
                <a:spcPts val="0"/>
              </a:spcAft>
              <a:buNone/>
            </a:pPr>
            <a:r>
              <a:rPr lang="es-ES" sz="2400">
                <a:solidFill>
                  <a:schemeClr val="dk1"/>
                </a:solidFill>
                <a:latin typeface="Calibri"/>
                <a:ea typeface="Calibri"/>
                <a:cs typeface="Calibri"/>
                <a:sym typeface="Calibri"/>
              </a:rPr>
              <a:t>INSERT INTO nombre_del_keyspace.nombre_de_la_tabla (id, nombre, edad)</a:t>
            </a:r>
            <a:endParaRPr/>
          </a:p>
          <a:p>
            <a:pPr indent="0" lvl="0" marL="0" marR="0" rtl="0" algn="l">
              <a:spcBef>
                <a:spcPts val="0"/>
              </a:spcBef>
              <a:spcAft>
                <a:spcPts val="0"/>
              </a:spcAft>
              <a:buNone/>
            </a:pPr>
            <a:r>
              <a:rPr lang="es-ES" sz="2400">
                <a:solidFill>
                  <a:schemeClr val="dk1"/>
                </a:solidFill>
                <a:latin typeface="Calibri"/>
                <a:ea typeface="Calibri"/>
                <a:cs typeface="Calibri"/>
                <a:sym typeface="Calibri"/>
              </a:rPr>
              <a:t>VALUES (uuid(), 'Juan', 30);</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138" name="Google Shape;138;p10"/>
          <p:cNvPicPr preferRelativeResize="0"/>
          <p:nvPr/>
        </p:nvPicPr>
        <p:blipFill rotWithShape="1">
          <a:blip r:embed="rId4">
            <a:alphaModFix/>
          </a:blip>
          <a:srcRect b="0" l="0" r="0" t="0"/>
          <a:stretch/>
        </p:blipFill>
        <p:spPr>
          <a:xfrm>
            <a:off x="8610600" y="4797443"/>
            <a:ext cx="3336043" cy="1873316"/>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11"/>
          <p:cNvSpPr txBox="1"/>
          <p:nvPr/>
        </p:nvSpPr>
        <p:spPr>
          <a:xfrm>
            <a:off x="811160" y="152400"/>
            <a:ext cx="8256639" cy="73862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lang="es-ES" sz="2400">
                <a:solidFill>
                  <a:srgbClr val="C00000"/>
                </a:solidFill>
                <a:latin typeface="Calibri"/>
                <a:ea typeface="Calibri"/>
                <a:cs typeface="Calibri"/>
                <a:sym typeface="Calibri"/>
              </a:rPr>
              <a:t>Base de datos: Cassandra – </a:t>
            </a:r>
            <a:r>
              <a:rPr lang="es-ES" sz="2400">
                <a:solidFill>
                  <a:srgbClr val="C00000"/>
                </a:solidFill>
                <a:latin typeface="Calibri"/>
                <a:ea typeface="Calibri"/>
                <a:cs typeface="Calibri"/>
                <a:sym typeface="Calibri"/>
              </a:rPr>
              <a:t>Sintaxis de Consultas en Cassandra </a:t>
            </a:r>
            <a:endParaRPr/>
          </a:p>
          <a:p>
            <a:pPr indent="0" lvl="0" marL="0" marR="0" rtl="0" algn="l">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p:txBody>
      </p:sp>
      <p:pic>
        <p:nvPicPr>
          <p:cNvPr id="144" name="Google Shape;144;p11"/>
          <p:cNvPicPr preferRelativeResize="0"/>
          <p:nvPr/>
        </p:nvPicPr>
        <p:blipFill rotWithShape="1">
          <a:blip r:embed="rId3">
            <a:alphaModFix/>
          </a:blip>
          <a:srcRect b="0" l="0" r="0" t="0"/>
          <a:stretch/>
        </p:blipFill>
        <p:spPr>
          <a:xfrm>
            <a:off x="9247241" y="152400"/>
            <a:ext cx="2483508" cy="553998"/>
          </a:xfrm>
          <a:prstGeom prst="rect">
            <a:avLst/>
          </a:prstGeom>
          <a:noFill/>
          <a:ln>
            <a:noFill/>
          </a:ln>
        </p:spPr>
      </p:pic>
      <p:sp>
        <p:nvSpPr>
          <p:cNvPr id="145" name="Google Shape;145;p11"/>
          <p:cNvSpPr txBox="1"/>
          <p:nvPr/>
        </p:nvSpPr>
        <p:spPr>
          <a:xfrm>
            <a:off x="265471" y="680053"/>
            <a:ext cx="10962103" cy="563231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ES" sz="2400">
                <a:solidFill>
                  <a:schemeClr val="dk1"/>
                </a:solidFill>
                <a:latin typeface="Calibri"/>
                <a:ea typeface="Calibri"/>
                <a:cs typeface="Calibri"/>
                <a:sym typeface="Calibri"/>
              </a:rPr>
              <a:t>4. Consulta de Datos:</a:t>
            </a:r>
            <a:endParaRPr/>
          </a:p>
          <a:p>
            <a:pPr indent="0" lvl="0" marL="0" marR="0" rtl="0" algn="l">
              <a:spcBef>
                <a:spcPts val="0"/>
              </a:spcBef>
              <a:spcAft>
                <a:spcPts val="0"/>
              </a:spcAft>
              <a:buNone/>
            </a:pPr>
            <a:r>
              <a:rPr lang="es-ES" sz="2400">
                <a:solidFill>
                  <a:schemeClr val="dk1"/>
                </a:solidFill>
                <a:latin typeface="Calibri"/>
                <a:ea typeface="Calibri"/>
                <a:cs typeface="Calibri"/>
                <a:sym typeface="Calibri"/>
              </a:rPr>
              <a:t>SELECT * FROM nombre_del_keyspace.nombre_de_la_tabla WHERE id = some_uuid;</a:t>
            </a:r>
            <a:endParaRPr/>
          </a:p>
          <a:p>
            <a:pPr indent="0" lvl="0" marL="0" marR="0" rtl="0" algn="l">
              <a:spcBef>
                <a:spcPts val="0"/>
              </a:spcBef>
              <a:spcAft>
                <a:spcPts val="0"/>
              </a:spcAft>
              <a:buNone/>
            </a:pPr>
            <a:r>
              <a:rPr lang="es-ES" sz="2400">
                <a:solidFill>
                  <a:schemeClr val="dk1"/>
                </a:solidFill>
                <a:latin typeface="Calibri"/>
                <a:ea typeface="Calibri"/>
                <a:cs typeface="Calibri"/>
                <a:sym typeface="Calibri"/>
              </a:rPr>
              <a:t> - Nota: Las consultas en Cassandra deben ser realizadas por la clave de partición. Las búsquedas secundarias pueden requerir índices o estructuras adicionales.</a:t>
            </a:r>
            <a:endParaRPr/>
          </a:p>
          <a:p>
            <a:pPr indent="0" lvl="0" marL="0" marR="0" rtl="0" algn="l">
              <a:spcBef>
                <a:spcPts val="0"/>
              </a:spcBef>
              <a:spcAft>
                <a:spcPts val="0"/>
              </a:spcAft>
              <a:buNone/>
            </a:pPr>
            <a:r>
              <a:rPr lang="es-ES" sz="2400">
                <a:solidFill>
                  <a:schemeClr val="dk1"/>
                </a:solidFill>
                <a:latin typeface="Calibri"/>
                <a:ea typeface="Calibri"/>
                <a:cs typeface="Calibri"/>
                <a:sym typeface="Calibri"/>
              </a:rPr>
              <a:t> </a:t>
            </a:r>
            <a:endParaRPr/>
          </a:p>
          <a:p>
            <a:pPr indent="0" lvl="0" marL="0" marR="0" rtl="0" algn="l">
              <a:spcBef>
                <a:spcPts val="0"/>
              </a:spcBef>
              <a:spcAft>
                <a:spcPts val="0"/>
              </a:spcAft>
              <a:buNone/>
            </a:pPr>
            <a:r>
              <a:rPr lang="es-ES" sz="2400">
                <a:solidFill>
                  <a:schemeClr val="dk1"/>
                </a:solidFill>
                <a:latin typeface="Calibri"/>
                <a:ea typeface="Calibri"/>
                <a:cs typeface="Calibri"/>
                <a:sym typeface="Calibri"/>
              </a:rPr>
              <a:t>5. Actualización de Datos:</a:t>
            </a:r>
            <a:endParaRPr/>
          </a:p>
          <a:p>
            <a:pPr indent="0" lvl="0" marL="0" marR="0" rtl="0" algn="l">
              <a:spcBef>
                <a:spcPts val="0"/>
              </a:spcBef>
              <a:spcAft>
                <a:spcPts val="0"/>
              </a:spcAft>
              <a:buNone/>
            </a:pPr>
            <a:r>
              <a:rPr lang="es-ES" sz="2400">
                <a:solidFill>
                  <a:schemeClr val="dk1"/>
                </a:solidFill>
                <a:latin typeface="Calibri"/>
                <a:ea typeface="Calibri"/>
                <a:cs typeface="Calibri"/>
                <a:sym typeface="Calibri"/>
              </a:rPr>
              <a:t>UPDATE nombre_del_keyspace.nombre_de_la_tabla</a:t>
            </a:r>
            <a:endParaRPr/>
          </a:p>
          <a:p>
            <a:pPr indent="0" lvl="0" marL="0" marR="0" rtl="0" algn="l">
              <a:spcBef>
                <a:spcPts val="0"/>
              </a:spcBef>
              <a:spcAft>
                <a:spcPts val="0"/>
              </a:spcAft>
              <a:buNone/>
            </a:pPr>
            <a:r>
              <a:rPr lang="es-ES" sz="2400">
                <a:solidFill>
                  <a:schemeClr val="dk1"/>
                </a:solidFill>
                <a:latin typeface="Calibri"/>
                <a:ea typeface="Calibri"/>
                <a:cs typeface="Calibri"/>
                <a:sym typeface="Calibri"/>
              </a:rPr>
              <a:t>SET edad = 31</a:t>
            </a:r>
            <a:endParaRPr sz="2400">
              <a:solidFill>
                <a:schemeClr val="dk1"/>
              </a:solidFill>
              <a:latin typeface="Calibri"/>
              <a:ea typeface="Calibri"/>
              <a:cs typeface="Calibri"/>
              <a:sym typeface="Calibri"/>
            </a:endParaRPr>
          </a:p>
          <a:p>
            <a:pPr indent="0" lvl="0" marL="0" marR="0" rtl="0" algn="l">
              <a:spcBef>
                <a:spcPts val="0"/>
              </a:spcBef>
              <a:spcAft>
                <a:spcPts val="0"/>
              </a:spcAft>
              <a:buNone/>
            </a:pPr>
            <a:r>
              <a:rPr lang="es-ES" sz="2400">
                <a:solidFill>
                  <a:schemeClr val="dk1"/>
                </a:solidFill>
                <a:latin typeface="Calibri"/>
                <a:ea typeface="Calibri"/>
                <a:cs typeface="Calibri"/>
                <a:sym typeface="Calibri"/>
              </a:rPr>
              <a:t>WHERE id = some_uuid;</a:t>
            </a:r>
            <a:endParaRPr sz="24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a:p>
            <a:pPr indent="0" lvl="0" marL="0" marR="0" rtl="0" algn="l">
              <a:spcBef>
                <a:spcPts val="0"/>
              </a:spcBef>
              <a:spcAft>
                <a:spcPts val="0"/>
              </a:spcAft>
              <a:buNone/>
            </a:pPr>
            <a:r>
              <a:rPr lang="es-ES" sz="2400">
                <a:solidFill>
                  <a:schemeClr val="dk1"/>
                </a:solidFill>
                <a:latin typeface="Calibri"/>
                <a:ea typeface="Calibri"/>
                <a:cs typeface="Calibri"/>
                <a:sym typeface="Calibri"/>
              </a:rPr>
              <a:t> 6. Eliminación de Datos:</a:t>
            </a:r>
            <a:endParaRPr/>
          </a:p>
          <a:p>
            <a:pPr indent="0" lvl="0" marL="0" marR="0" rtl="0" algn="l">
              <a:spcBef>
                <a:spcPts val="0"/>
              </a:spcBef>
              <a:spcAft>
                <a:spcPts val="0"/>
              </a:spcAft>
              <a:buNone/>
            </a:pPr>
            <a:r>
              <a:rPr lang="es-ES" sz="2400">
                <a:solidFill>
                  <a:schemeClr val="dk1"/>
                </a:solidFill>
                <a:latin typeface="Calibri"/>
                <a:ea typeface="Calibri"/>
                <a:cs typeface="Calibri"/>
                <a:sym typeface="Calibri"/>
              </a:rPr>
              <a:t>DELETE FROM nombre_del_keyspace.nombre_de_la_tabla</a:t>
            </a:r>
            <a:endParaRPr/>
          </a:p>
          <a:p>
            <a:pPr indent="0" lvl="0" marL="0" marR="0" rtl="0" algn="l">
              <a:spcBef>
                <a:spcPts val="0"/>
              </a:spcBef>
              <a:spcAft>
                <a:spcPts val="0"/>
              </a:spcAft>
              <a:buNone/>
            </a:pPr>
            <a:r>
              <a:rPr lang="es-ES" sz="2400">
                <a:solidFill>
                  <a:schemeClr val="dk1"/>
                </a:solidFill>
                <a:latin typeface="Calibri"/>
                <a:ea typeface="Calibri"/>
                <a:cs typeface="Calibri"/>
                <a:sym typeface="Calibri"/>
              </a:rPr>
              <a:t>WHERE id = some_uuid;</a:t>
            </a:r>
            <a:endParaRPr/>
          </a:p>
          <a:p>
            <a:pPr indent="0" lvl="0" marL="0" marR="0" rtl="0" algn="l">
              <a:spcBef>
                <a:spcPts val="0"/>
              </a:spcBef>
              <a:spcAft>
                <a:spcPts val="0"/>
              </a:spcAft>
              <a:buNone/>
            </a:pPr>
            <a:r>
              <a:rPr lang="es-ES" sz="2400">
                <a:solidFill>
                  <a:schemeClr val="dk1"/>
                </a:solidFill>
                <a:latin typeface="Calibri"/>
                <a:ea typeface="Calibri"/>
                <a:cs typeface="Calibri"/>
                <a:sym typeface="Calibri"/>
              </a:rPr>
              <a:t>7. Eliminación de una Tabla:</a:t>
            </a:r>
            <a:endParaRPr/>
          </a:p>
          <a:p>
            <a:pPr indent="0" lvl="0" marL="0" marR="0" rtl="0" algn="l">
              <a:spcBef>
                <a:spcPts val="0"/>
              </a:spcBef>
              <a:spcAft>
                <a:spcPts val="0"/>
              </a:spcAft>
              <a:buNone/>
            </a:pPr>
            <a:r>
              <a:rPr lang="es-ES" sz="2400">
                <a:solidFill>
                  <a:schemeClr val="dk1"/>
                </a:solidFill>
                <a:latin typeface="Calibri"/>
                <a:ea typeface="Calibri"/>
                <a:cs typeface="Calibri"/>
                <a:sym typeface="Calibri"/>
              </a:rPr>
              <a:t>DROP TABLE nombre_del_keyspace.nombre_de_la_tabla;</a:t>
            </a:r>
            <a:endParaRPr/>
          </a:p>
        </p:txBody>
      </p:sp>
      <p:pic>
        <p:nvPicPr>
          <p:cNvPr id="146" name="Google Shape;146;p11"/>
          <p:cNvPicPr preferRelativeResize="0"/>
          <p:nvPr/>
        </p:nvPicPr>
        <p:blipFill rotWithShape="1">
          <a:blip r:embed="rId4">
            <a:alphaModFix/>
          </a:blip>
          <a:srcRect b="0" l="0" r="0" t="0"/>
          <a:stretch/>
        </p:blipFill>
        <p:spPr>
          <a:xfrm>
            <a:off x="8458200" y="4659606"/>
            <a:ext cx="3097162" cy="173917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12"/>
          <p:cNvSpPr txBox="1"/>
          <p:nvPr/>
        </p:nvSpPr>
        <p:spPr>
          <a:xfrm>
            <a:off x="811160" y="152400"/>
            <a:ext cx="8256639" cy="73862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lang="es-ES" sz="2400">
                <a:solidFill>
                  <a:srgbClr val="C00000"/>
                </a:solidFill>
                <a:latin typeface="Calibri"/>
                <a:ea typeface="Calibri"/>
                <a:cs typeface="Calibri"/>
                <a:sym typeface="Calibri"/>
              </a:rPr>
              <a:t>Base de datos: Cassandra – </a:t>
            </a:r>
            <a:r>
              <a:rPr lang="es-ES" sz="2400">
                <a:solidFill>
                  <a:srgbClr val="C00000"/>
                </a:solidFill>
                <a:latin typeface="Calibri"/>
                <a:ea typeface="Calibri"/>
                <a:cs typeface="Calibri"/>
                <a:sym typeface="Calibri"/>
              </a:rPr>
              <a:t>Funciones Distintivas Clave </a:t>
            </a:r>
            <a:endParaRPr/>
          </a:p>
          <a:p>
            <a:pPr indent="0" lvl="0" marL="0" marR="0" rtl="0" algn="l">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p:txBody>
      </p:sp>
      <p:pic>
        <p:nvPicPr>
          <p:cNvPr id="152" name="Google Shape;152;p12"/>
          <p:cNvPicPr preferRelativeResize="0"/>
          <p:nvPr/>
        </p:nvPicPr>
        <p:blipFill rotWithShape="1">
          <a:blip r:embed="rId3">
            <a:alphaModFix/>
          </a:blip>
          <a:srcRect b="0" l="0" r="0" t="0"/>
          <a:stretch/>
        </p:blipFill>
        <p:spPr>
          <a:xfrm>
            <a:off x="9247241" y="152400"/>
            <a:ext cx="2483508" cy="553998"/>
          </a:xfrm>
          <a:prstGeom prst="rect">
            <a:avLst/>
          </a:prstGeom>
          <a:noFill/>
          <a:ln>
            <a:noFill/>
          </a:ln>
        </p:spPr>
      </p:pic>
      <p:sp>
        <p:nvSpPr>
          <p:cNvPr id="153" name="Google Shape;153;p12"/>
          <p:cNvSpPr txBox="1"/>
          <p:nvPr/>
        </p:nvSpPr>
        <p:spPr>
          <a:xfrm>
            <a:off x="265471" y="680053"/>
            <a:ext cx="10962103" cy="621708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ES" sz="2000">
                <a:solidFill>
                  <a:schemeClr val="dk1"/>
                </a:solidFill>
                <a:latin typeface="Calibri"/>
                <a:ea typeface="Calibri"/>
                <a:cs typeface="Calibri"/>
                <a:sym typeface="Calibri"/>
              </a:rPr>
              <a:t>1. Modelado de Datos:</a:t>
            </a:r>
            <a:endParaRPr/>
          </a:p>
          <a:p>
            <a:pPr indent="0" lvl="0" marL="0" marR="0" rtl="0" algn="l">
              <a:spcBef>
                <a:spcPts val="0"/>
              </a:spcBef>
              <a:spcAft>
                <a:spcPts val="0"/>
              </a:spcAft>
              <a:buNone/>
            </a:pPr>
            <a:r>
              <a:rPr lang="es-ES" sz="2000">
                <a:solidFill>
                  <a:schemeClr val="dk1"/>
                </a:solidFill>
                <a:latin typeface="Calibri"/>
                <a:ea typeface="Calibri"/>
                <a:cs typeface="Calibri"/>
                <a:sym typeface="Calibri"/>
              </a:rPr>
              <a:t>   - Cassandra utiliza un modelo de datos basado en columnas y no en filas. Los datos se organizan en "column families", que son análogas a las tablas en bases de datos relacionales.</a:t>
            </a:r>
            <a:endParaRPr/>
          </a:p>
          <a:p>
            <a:pPr indent="0" lvl="0" marL="0" marR="0" rtl="0" algn="l">
              <a:spcBef>
                <a:spcPts val="0"/>
              </a:spcBef>
              <a:spcAft>
                <a:spcPts val="0"/>
              </a:spcAft>
              <a:buNone/>
            </a:pPr>
            <a:r>
              <a:rPr lang="es-ES" sz="2000">
                <a:solidFill>
                  <a:schemeClr val="dk1"/>
                </a:solidFill>
                <a:latin typeface="Calibri"/>
                <a:ea typeface="Calibri"/>
                <a:cs typeface="Calibri"/>
                <a:sym typeface="Calibri"/>
              </a:rPr>
              <a:t> </a:t>
            </a:r>
            <a:endParaRPr/>
          </a:p>
          <a:p>
            <a:pPr indent="0" lvl="0" marL="0" marR="0" rtl="0" algn="l">
              <a:spcBef>
                <a:spcPts val="0"/>
              </a:spcBef>
              <a:spcAft>
                <a:spcPts val="0"/>
              </a:spcAft>
              <a:buNone/>
            </a:pPr>
            <a:r>
              <a:rPr lang="es-ES" sz="2000">
                <a:solidFill>
                  <a:schemeClr val="dk1"/>
                </a:solidFill>
                <a:latin typeface="Calibri"/>
                <a:ea typeface="Calibri"/>
                <a:cs typeface="Calibri"/>
                <a:sym typeface="Calibri"/>
              </a:rPr>
              <a:t>2. Clustering:</a:t>
            </a:r>
            <a:endParaRPr/>
          </a:p>
          <a:p>
            <a:pPr indent="0" lvl="0" marL="0" marR="0" rtl="0" algn="l">
              <a:spcBef>
                <a:spcPts val="0"/>
              </a:spcBef>
              <a:spcAft>
                <a:spcPts val="0"/>
              </a:spcAft>
              <a:buNone/>
            </a:pPr>
            <a:r>
              <a:rPr lang="es-ES" sz="2000">
                <a:solidFill>
                  <a:schemeClr val="dk1"/>
                </a:solidFill>
                <a:latin typeface="Calibri"/>
                <a:ea typeface="Calibri"/>
                <a:cs typeface="Calibri"/>
                <a:sym typeface="Calibri"/>
              </a:rPr>
              <a:t>   - Las tablas en Cassandra pueden tener claves de clustering que definen el orden de los datos dentro de una partición.</a:t>
            </a:r>
            <a:endParaRPr/>
          </a:p>
          <a:p>
            <a:pPr indent="0" lvl="0" marL="0" marR="0" rtl="0" algn="l">
              <a:spcBef>
                <a:spcPts val="0"/>
              </a:spcBef>
              <a:spcAft>
                <a:spcPts val="0"/>
              </a:spcAft>
              <a:buNone/>
            </a:pPr>
            <a:r>
              <a:rPr lang="es-ES" sz="2000">
                <a:solidFill>
                  <a:schemeClr val="dk1"/>
                </a:solidFill>
                <a:latin typeface="Calibri"/>
                <a:ea typeface="Calibri"/>
                <a:cs typeface="Calibri"/>
                <a:sym typeface="Calibri"/>
              </a:rPr>
              <a:t> </a:t>
            </a:r>
            <a:endParaRPr/>
          </a:p>
          <a:p>
            <a:pPr indent="0" lvl="0" marL="0" marR="0" rtl="0" algn="l">
              <a:spcBef>
                <a:spcPts val="0"/>
              </a:spcBef>
              <a:spcAft>
                <a:spcPts val="0"/>
              </a:spcAft>
              <a:buNone/>
            </a:pPr>
            <a:r>
              <a:rPr lang="es-ES" sz="2000">
                <a:solidFill>
                  <a:schemeClr val="dk1"/>
                </a:solidFill>
                <a:latin typeface="Calibri"/>
                <a:ea typeface="Calibri"/>
                <a:cs typeface="Calibri"/>
                <a:sym typeface="Calibri"/>
              </a:rPr>
              <a:t>3. Escalabilidad Horizontal:</a:t>
            </a:r>
            <a:endParaRPr/>
          </a:p>
          <a:p>
            <a:pPr indent="0" lvl="0" marL="0" marR="0" rtl="0" algn="l">
              <a:spcBef>
                <a:spcPts val="0"/>
              </a:spcBef>
              <a:spcAft>
                <a:spcPts val="0"/>
              </a:spcAft>
              <a:buNone/>
            </a:pPr>
            <a:r>
              <a:rPr lang="es-ES" sz="2000">
                <a:solidFill>
                  <a:schemeClr val="dk1"/>
                </a:solidFill>
                <a:latin typeface="Calibri"/>
                <a:ea typeface="Calibri"/>
                <a:cs typeface="Calibri"/>
                <a:sym typeface="Calibri"/>
              </a:rPr>
              <a:t>   - Cassandra está diseñada para ser escalable horizontalmente, lo que significa que se pueden añadir más nodos para aumentar el rendimiento y la capacidad.</a:t>
            </a:r>
            <a:endParaRPr/>
          </a:p>
          <a:p>
            <a:pPr indent="0" lvl="0" marL="0" marR="0" rtl="0" algn="l">
              <a:spcBef>
                <a:spcPts val="0"/>
              </a:spcBef>
              <a:spcAft>
                <a:spcPts val="0"/>
              </a:spcAft>
              <a:buNone/>
            </a:pPr>
            <a:r>
              <a:rPr lang="es-ES" sz="2000">
                <a:solidFill>
                  <a:schemeClr val="dk1"/>
                </a:solidFill>
                <a:latin typeface="Calibri"/>
                <a:ea typeface="Calibri"/>
                <a:cs typeface="Calibri"/>
                <a:sym typeface="Calibri"/>
              </a:rPr>
              <a:t> </a:t>
            </a:r>
            <a:endParaRPr/>
          </a:p>
          <a:p>
            <a:pPr indent="0" lvl="0" marL="0" marR="0" rtl="0" algn="l">
              <a:spcBef>
                <a:spcPts val="0"/>
              </a:spcBef>
              <a:spcAft>
                <a:spcPts val="0"/>
              </a:spcAft>
              <a:buNone/>
            </a:pPr>
            <a:r>
              <a:rPr lang="es-ES" sz="2000">
                <a:solidFill>
                  <a:schemeClr val="dk1"/>
                </a:solidFill>
                <a:latin typeface="Calibri"/>
                <a:ea typeface="Calibri"/>
                <a:cs typeface="Calibri"/>
                <a:sym typeface="Calibri"/>
              </a:rPr>
              <a:t>4. Consistencia Eventual:</a:t>
            </a:r>
            <a:endParaRPr/>
          </a:p>
          <a:p>
            <a:pPr indent="0" lvl="0" marL="0" marR="0" rtl="0" algn="l">
              <a:spcBef>
                <a:spcPts val="0"/>
              </a:spcBef>
              <a:spcAft>
                <a:spcPts val="0"/>
              </a:spcAft>
              <a:buNone/>
            </a:pPr>
            <a:r>
              <a:rPr lang="es-ES" sz="2000">
                <a:solidFill>
                  <a:schemeClr val="dk1"/>
                </a:solidFill>
                <a:latin typeface="Calibri"/>
                <a:ea typeface="Calibri"/>
                <a:cs typeface="Calibri"/>
                <a:sym typeface="Calibri"/>
              </a:rPr>
              <a:t>   - Cassandra ofrece opciones de consistencia configurables (e.g., QUORUM, ONE, ALL) para gestionar la consistencia y disponibilidad.</a:t>
            </a:r>
            <a:endParaRPr/>
          </a:p>
          <a:p>
            <a:pPr indent="0" lvl="0" marL="0" marR="0" rtl="0" algn="l">
              <a:spcBef>
                <a:spcPts val="0"/>
              </a:spcBef>
              <a:spcAft>
                <a:spcPts val="0"/>
              </a:spcAft>
              <a:buNone/>
            </a:pPr>
            <a:r>
              <a:rPr lang="es-ES" sz="2000">
                <a:solidFill>
                  <a:schemeClr val="dk1"/>
                </a:solidFill>
                <a:latin typeface="Calibri"/>
                <a:ea typeface="Calibri"/>
                <a:cs typeface="Calibri"/>
                <a:sym typeface="Calibri"/>
              </a:rPr>
              <a:t> </a:t>
            </a:r>
            <a:endParaRPr/>
          </a:p>
          <a:p>
            <a:pPr indent="0" lvl="0" marL="0" marR="0" rtl="0" algn="l">
              <a:spcBef>
                <a:spcPts val="0"/>
              </a:spcBef>
              <a:spcAft>
                <a:spcPts val="0"/>
              </a:spcAft>
              <a:buNone/>
            </a:pPr>
            <a:r>
              <a:rPr lang="es-ES" sz="2000">
                <a:solidFill>
                  <a:schemeClr val="dk1"/>
                </a:solidFill>
                <a:latin typeface="Calibri"/>
                <a:ea typeface="Calibri"/>
                <a:cs typeface="Calibri"/>
                <a:sym typeface="Calibri"/>
              </a:rPr>
              <a:t>5. Replica y Recuperación:</a:t>
            </a:r>
            <a:endParaRPr/>
          </a:p>
          <a:p>
            <a:pPr indent="0" lvl="0" marL="0" marR="0" rtl="0" algn="l">
              <a:spcBef>
                <a:spcPts val="0"/>
              </a:spcBef>
              <a:spcAft>
                <a:spcPts val="0"/>
              </a:spcAft>
              <a:buNone/>
            </a:pPr>
            <a:r>
              <a:rPr lang="es-ES" sz="2000">
                <a:solidFill>
                  <a:schemeClr val="dk1"/>
                </a:solidFill>
                <a:latin typeface="Calibri"/>
                <a:ea typeface="Calibri"/>
                <a:cs typeface="Calibri"/>
                <a:sym typeface="Calibri"/>
              </a:rPr>
              <a:t>   - Los datos se replican en múltiples nodos, lo que garantiza la disponibilidad y la tolerancia a fallos.</a:t>
            </a:r>
            <a:endParaRPr/>
          </a:p>
          <a:p>
            <a:pPr indent="0" lvl="0" marL="0" marR="0" rtl="0" algn="l">
              <a:spcBef>
                <a:spcPts val="0"/>
              </a:spcBef>
              <a:spcAft>
                <a:spcPts val="0"/>
              </a:spcAft>
              <a:buNone/>
            </a:pPr>
            <a:r>
              <a:rPr lang="es-ES" sz="2000">
                <a:solidFill>
                  <a:schemeClr val="dk1"/>
                </a:solidFill>
                <a:latin typeface="Calibri"/>
                <a:ea typeface="Calibri"/>
                <a:cs typeface="Calibri"/>
                <a:sym typeface="Calibri"/>
              </a:rPr>
              <a:t> </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13"/>
          <p:cNvSpPr txBox="1"/>
          <p:nvPr/>
        </p:nvSpPr>
        <p:spPr>
          <a:xfrm>
            <a:off x="811160" y="152400"/>
            <a:ext cx="8256639" cy="73862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lang="es-ES" sz="2400">
                <a:solidFill>
                  <a:srgbClr val="C00000"/>
                </a:solidFill>
                <a:latin typeface="Calibri"/>
                <a:ea typeface="Calibri"/>
                <a:cs typeface="Calibri"/>
                <a:sym typeface="Calibri"/>
              </a:rPr>
              <a:t>Base de datos: Cassandra – </a:t>
            </a:r>
            <a:r>
              <a:rPr lang="es-ES" sz="2400">
                <a:solidFill>
                  <a:srgbClr val="C00000"/>
                </a:solidFill>
                <a:latin typeface="Calibri"/>
                <a:ea typeface="Calibri"/>
                <a:cs typeface="Calibri"/>
                <a:sym typeface="Calibri"/>
              </a:rPr>
              <a:t>Administración de Usuarios</a:t>
            </a:r>
            <a:endParaRPr/>
          </a:p>
          <a:p>
            <a:pPr indent="0" lvl="0" marL="0" marR="0" rtl="0" algn="l">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p:txBody>
      </p:sp>
      <p:pic>
        <p:nvPicPr>
          <p:cNvPr id="159" name="Google Shape;159;p13"/>
          <p:cNvPicPr preferRelativeResize="0"/>
          <p:nvPr/>
        </p:nvPicPr>
        <p:blipFill rotWithShape="1">
          <a:blip r:embed="rId3">
            <a:alphaModFix/>
          </a:blip>
          <a:srcRect b="0" l="0" r="0" t="0"/>
          <a:stretch/>
        </p:blipFill>
        <p:spPr>
          <a:xfrm>
            <a:off x="9247241" y="152400"/>
            <a:ext cx="2483508" cy="553998"/>
          </a:xfrm>
          <a:prstGeom prst="rect">
            <a:avLst/>
          </a:prstGeom>
          <a:noFill/>
          <a:ln>
            <a:noFill/>
          </a:ln>
        </p:spPr>
      </p:pic>
      <p:sp>
        <p:nvSpPr>
          <p:cNvPr id="160" name="Google Shape;160;p13"/>
          <p:cNvSpPr txBox="1"/>
          <p:nvPr/>
        </p:nvSpPr>
        <p:spPr>
          <a:xfrm>
            <a:off x="265471" y="680053"/>
            <a:ext cx="10962103" cy="563231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ES" sz="2400">
                <a:solidFill>
                  <a:schemeClr val="dk1"/>
                </a:solidFill>
                <a:latin typeface="Calibri"/>
                <a:ea typeface="Calibri"/>
                <a:cs typeface="Calibri"/>
                <a:sym typeface="Calibri"/>
              </a:rPr>
              <a:t>1. Creación de Usuarios:</a:t>
            </a:r>
            <a:endParaRPr/>
          </a:p>
          <a:p>
            <a:pPr indent="0" lvl="0" marL="0" marR="0" rtl="0" algn="l">
              <a:spcBef>
                <a:spcPts val="0"/>
              </a:spcBef>
              <a:spcAft>
                <a:spcPts val="0"/>
              </a:spcAft>
              <a:buNone/>
            </a:pPr>
            <a:r>
              <a:rPr lang="es-ES" sz="2400">
                <a:solidFill>
                  <a:schemeClr val="dk1"/>
                </a:solidFill>
                <a:latin typeface="Calibri"/>
                <a:ea typeface="Calibri"/>
                <a:cs typeface="Calibri"/>
                <a:sym typeface="Calibri"/>
              </a:rPr>
              <a:t> CREATE USER nombre_usuario WITH PASSWORD 'contraseña' SUPERUSER;</a:t>
            </a:r>
            <a:endParaRPr/>
          </a:p>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a:p>
            <a:pPr indent="0" lvl="0" marL="0" marR="0" rtl="0" algn="l">
              <a:spcBef>
                <a:spcPts val="0"/>
              </a:spcBef>
              <a:spcAft>
                <a:spcPts val="0"/>
              </a:spcAft>
              <a:buNone/>
            </a:pPr>
            <a:r>
              <a:rPr lang="es-ES" sz="2400">
                <a:solidFill>
                  <a:schemeClr val="dk1"/>
                </a:solidFill>
                <a:latin typeface="Calibri"/>
                <a:ea typeface="Calibri"/>
                <a:cs typeface="Calibri"/>
                <a:sym typeface="Calibri"/>
              </a:rPr>
              <a:t>2. Asignación de Roles y Permisos:</a:t>
            </a:r>
            <a:endParaRPr/>
          </a:p>
          <a:p>
            <a:pPr indent="0" lvl="0" marL="0" marR="0" rtl="0" algn="l">
              <a:spcBef>
                <a:spcPts val="0"/>
              </a:spcBef>
              <a:spcAft>
                <a:spcPts val="0"/>
              </a:spcAft>
              <a:buNone/>
            </a:pPr>
            <a:r>
              <a:rPr lang="es-ES" sz="2400">
                <a:solidFill>
                  <a:schemeClr val="dk1"/>
                </a:solidFill>
                <a:latin typeface="Calibri"/>
                <a:ea typeface="Calibri"/>
                <a:cs typeface="Calibri"/>
                <a:sym typeface="Calibri"/>
              </a:rPr>
              <a:t>GRANT ALL PERMISSIONS ON KEYSPACE nombre_del_keyspace TO nombre_usuario;</a:t>
            </a:r>
            <a:endParaRPr sz="2400">
              <a:solidFill>
                <a:schemeClr val="dk1"/>
              </a:solidFill>
              <a:latin typeface="Calibri"/>
              <a:ea typeface="Calibri"/>
              <a:cs typeface="Calibri"/>
              <a:sym typeface="Calibri"/>
            </a:endParaRPr>
          </a:p>
          <a:p>
            <a:pPr indent="0" lvl="0" marL="0" marR="0" rtl="0" algn="l">
              <a:spcBef>
                <a:spcPts val="0"/>
              </a:spcBef>
              <a:spcAft>
                <a:spcPts val="0"/>
              </a:spcAft>
              <a:buNone/>
            </a:pPr>
            <a:r>
              <a:rPr lang="es-ES" sz="2400">
                <a:solidFill>
                  <a:schemeClr val="dk1"/>
                </a:solidFill>
                <a:latin typeface="Calibri"/>
                <a:ea typeface="Calibri"/>
                <a:cs typeface="Calibri"/>
                <a:sym typeface="Calibri"/>
              </a:rPr>
              <a:t>- Puedes especificar permisos más granulares, como `SELECT`, `MODIFY`, etc.</a:t>
            </a:r>
            <a:endParaRPr/>
          </a:p>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a:p>
            <a:pPr indent="0" lvl="0" marL="0" marR="0" rtl="0" algn="l">
              <a:spcBef>
                <a:spcPts val="0"/>
              </a:spcBef>
              <a:spcAft>
                <a:spcPts val="0"/>
              </a:spcAft>
              <a:buNone/>
            </a:pPr>
            <a:r>
              <a:rPr lang="es-ES" sz="2400">
                <a:solidFill>
                  <a:schemeClr val="dk1"/>
                </a:solidFill>
                <a:latin typeface="Calibri"/>
                <a:ea typeface="Calibri"/>
                <a:cs typeface="Calibri"/>
                <a:sym typeface="Calibri"/>
              </a:rPr>
              <a:t>3. Eliminación de Usuarios:</a:t>
            </a:r>
            <a:endParaRPr/>
          </a:p>
          <a:p>
            <a:pPr indent="0" lvl="0" marL="0" marR="0" rtl="0" algn="l">
              <a:spcBef>
                <a:spcPts val="0"/>
              </a:spcBef>
              <a:spcAft>
                <a:spcPts val="0"/>
              </a:spcAft>
              <a:buNone/>
            </a:pPr>
            <a:r>
              <a:rPr lang="es-ES" sz="2400">
                <a:solidFill>
                  <a:schemeClr val="dk1"/>
                </a:solidFill>
                <a:latin typeface="Calibri"/>
                <a:ea typeface="Calibri"/>
                <a:cs typeface="Calibri"/>
                <a:sym typeface="Calibri"/>
              </a:rPr>
              <a:t>DROP USER nombre_usuario;</a:t>
            </a:r>
            <a:endParaRPr/>
          </a:p>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a:p>
            <a:pPr indent="0" lvl="0" marL="0" marR="0" rtl="0" algn="l">
              <a:spcBef>
                <a:spcPts val="0"/>
              </a:spcBef>
              <a:spcAft>
                <a:spcPts val="0"/>
              </a:spcAft>
              <a:buNone/>
            </a:pPr>
            <a:r>
              <a:rPr lang="es-ES" sz="2400">
                <a:solidFill>
                  <a:schemeClr val="dk1"/>
                </a:solidFill>
                <a:latin typeface="Calibri"/>
                <a:ea typeface="Calibri"/>
                <a:cs typeface="Calibri"/>
                <a:sym typeface="Calibri"/>
              </a:rPr>
              <a:t>4. Cambio de Contraseña:</a:t>
            </a:r>
            <a:endParaRPr/>
          </a:p>
          <a:p>
            <a:pPr indent="0" lvl="0" marL="0" marR="0" rtl="0" algn="l">
              <a:spcBef>
                <a:spcPts val="0"/>
              </a:spcBef>
              <a:spcAft>
                <a:spcPts val="0"/>
              </a:spcAft>
              <a:buNone/>
            </a:pPr>
            <a:r>
              <a:rPr lang="es-ES" sz="2400">
                <a:solidFill>
                  <a:schemeClr val="dk1"/>
                </a:solidFill>
                <a:latin typeface="Calibri"/>
                <a:ea typeface="Calibri"/>
                <a:cs typeface="Calibri"/>
                <a:sym typeface="Calibri"/>
              </a:rPr>
              <a:t>ALTER USER nombre_usuario WITH PASSWORD 'nueva_contraseña’;</a:t>
            </a:r>
            <a:endParaRPr/>
          </a:p>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a:p>
            <a:pPr indent="0" lvl="0" marL="0" marR="0" rtl="0" algn="l">
              <a:spcBef>
                <a:spcPts val="0"/>
              </a:spcBef>
              <a:spcAft>
                <a:spcPts val="0"/>
              </a:spcAft>
              <a:buNone/>
            </a:pPr>
            <a:r>
              <a:rPr lang="es-ES" sz="2400">
                <a:solidFill>
                  <a:schemeClr val="dk1"/>
                </a:solidFill>
                <a:latin typeface="Calibri"/>
                <a:ea typeface="Calibri"/>
                <a:cs typeface="Calibri"/>
                <a:sym typeface="Calibri"/>
              </a:rPr>
              <a:t>5. Ver Usuarios y Roles:</a:t>
            </a:r>
            <a:endParaRPr/>
          </a:p>
          <a:p>
            <a:pPr indent="0" lvl="0" marL="0" marR="0" rtl="0" algn="l">
              <a:spcBef>
                <a:spcPts val="0"/>
              </a:spcBef>
              <a:spcAft>
                <a:spcPts val="0"/>
              </a:spcAft>
              <a:buNone/>
            </a:pPr>
            <a:r>
              <a:rPr lang="es-ES" sz="2400">
                <a:solidFill>
                  <a:schemeClr val="dk1"/>
                </a:solidFill>
                <a:latin typeface="Calibri"/>
                <a:ea typeface="Calibri"/>
                <a:cs typeface="Calibri"/>
                <a:sym typeface="Calibri"/>
              </a:rPr>
              <a:t>SELECT * FROM system_auth.roles;</a:t>
            </a:r>
            <a:endParaRPr sz="2400">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14"/>
          <p:cNvSpPr txBox="1"/>
          <p:nvPr/>
        </p:nvSpPr>
        <p:spPr>
          <a:xfrm>
            <a:off x="811160" y="152400"/>
            <a:ext cx="8256639" cy="46162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lang="es-ES" sz="2400">
                <a:solidFill>
                  <a:srgbClr val="C00000"/>
                </a:solidFill>
                <a:latin typeface="Calibri"/>
                <a:ea typeface="Calibri"/>
                <a:cs typeface="Calibri"/>
                <a:sym typeface="Calibri"/>
              </a:rPr>
              <a:t>Base de datos: Cassandra – </a:t>
            </a:r>
            <a:r>
              <a:rPr lang="es-ES" sz="2400">
                <a:solidFill>
                  <a:srgbClr val="C00000"/>
                </a:solidFill>
                <a:latin typeface="Calibri"/>
                <a:ea typeface="Calibri"/>
                <a:cs typeface="Calibri"/>
                <a:sym typeface="Calibri"/>
              </a:rPr>
              <a:t>Funciones Agregadas y de Consulta </a:t>
            </a:r>
            <a:endParaRPr sz="2400">
              <a:solidFill>
                <a:srgbClr val="C00000"/>
              </a:solidFill>
              <a:latin typeface="Calibri"/>
              <a:ea typeface="Calibri"/>
              <a:cs typeface="Calibri"/>
              <a:sym typeface="Calibri"/>
            </a:endParaRPr>
          </a:p>
        </p:txBody>
      </p:sp>
      <p:pic>
        <p:nvPicPr>
          <p:cNvPr id="166" name="Google Shape;166;p14"/>
          <p:cNvPicPr preferRelativeResize="0"/>
          <p:nvPr/>
        </p:nvPicPr>
        <p:blipFill rotWithShape="1">
          <a:blip r:embed="rId3">
            <a:alphaModFix/>
          </a:blip>
          <a:srcRect b="0" l="0" r="0" t="0"/>
          <a:stretch/>
        </p:blipFill>
        <p:spPr>
          <a:xfrm>
            <a:off x="9247241" y="152400"/>
            <a:ext cx="2483508" cy="553998"/>
          </a:xfrm>
          <a:prstGeom prst="rect">
            <a:avLst/>
          </a:prstGeom>
          <a:noFill/>
          <a:ln>
            <a:noFill/>
          </a:ln>
        </p:spPr>
      </p:pic>
      <p:sp>
        <p:nvSpPr>
          <p:cNvPr id="167" name="Google Shape;167;p14"/>
          <p:cNvSpPr txBox="1"/>
          <p:nvPr/>
        </p:nvSpPr>
        <p:spPr>
          <a:xfrm>
            <a:off x="265471" y="680053"/>
            <a:ext cx="10962103" cy="618630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ES" sz="2400">
                <a:solidFill>
                  <a:schemeClr val="dk1"/>
                </a:solidFill>
                <a:latin typeface="Calibri"/>
                <a:ea typeface="Calibri"/>
                <a:cs typeface="Calibri"/>
                <a:sym typeface="Calibri"/>
              </a:rPr>
              <a:t>1.Contar Filas:</a:t>
            </a:r>
            <a:endParaRPr/>
          </a:p>
          <a:p>
            <a:pPr indent="0" lvl="0" marL="0" marR="0" rtl="0" algn="l">
              <a:spcBef>
                <a:spcPts val="0"/>
              </a:spcBef>
              <a:spcAft>
                <a:spcPts val="0"/>
              </a:spcAft>
              <a:buNone/>
            </a:pPr>
            <a:r>
              <a:rPr lang="es-ES" sz="2400">
                <a:solidFill>
                  <a:schemeClr val="dk1"/>
                </a:solidFill>
                <a:latin typeface="Calibri"/>
                <a:ea typeface="Calibri"/>
                <a:cs typeface="Calibri"/>
                <a:sym typeface="Calibri"/>
              </a:rPr>
              <a:t>SELECT COUNT(*) FROM nombre_del_keyspace.nombre_de_la_tabla;</a:t>
            </a:r>
            <a:endParaRPr/>
          </a:p>
          <a:p>
            <a:pPr indent="0" lvl="0" marL="0" marR="0" rtl="0" algn="l">
              <a:spcBef>
                <a:spcPts val="0"/>
              </a:spcBef>
              <a:spcAft>
                <a:spcPts val="0"/>
              </a:spcAft>
              <a:buNone/>
            </a:pPr>
            <a:r>
              <a:rPr lang="es-ES" sz="2400">
                <a:solidFill>
                  <a:schemeClr val="dk1"/>
                </a:solidFill>
                <a:latin typeface="Calibri"/>
                <a:ea typeface="Calibri"/>
                <a:cs typeface="Calibri"/>
                <a:sym typeface="Calibri"/>
              </a:rPr>
              <a:t>2.Sumar Valores:</a:t>
            </a:r>
            <a:endParaRPr/>
          </a:p>
          <a:p>
            <a:pPr indent="0" lvl="0" marL="0" marR="0" rtl="0" algn="l">
              <a:spcBef>
                <a:spcPts val="0"/>
              </a:spcBef>
              <a:spcAft>
                <a:spcPts val="0"/>
              </a:spcAft>
              <a:buNone/>
            </a:pPr>
            <a:r>
              <a:rPr lang="es-ES" sz="2400">
                <a:solidFill>
                  <a:schemeClr val="dk1"/>
                </a:solidFill>
                <a:latin typeface="Calibri"/>
                <a:ea typeface="Calibri"/>
                <a:cs typeface="Calibri"/>
                <a:sym typeface="Calibri"/>
              </a:rPr>
              <a:t>SELECT SUM(edad) FROM nombre_del_keyspace.nombre_de_la_tabla;</a:t>
            </a:r>
            <a:endParaRPr/>
          </a:p>
          <a:p>
            <a:pPr indent="0" lvl="0" marL="0" marR="0" rtl="0" algn="l">
              <a:spcBef>
                <a:spcPts val="0"/>
              </a:spcBef>
              <a:spcAft>
                <a:spcPts val="0"/>
              </a:spcAft>
              <a:buNone/>
            </a:pPr>
            <a:r>
              <a:rPr lang="es-ES" sz="2400">
                <a:solidFill>
                  <a:schemeClr val="dk1"/>
                </a:solidFill>
                <a:latin typeface="Calibri"/>
                <a:ea typeface="Calibri"/>
                <a:cs typeface="Calibri"/>
                <a:sym typeface="Calibri"/>
              </a:rPr>
              <a:t>3.Clustering y Diseño de Tablas</a:t>
            </a:r>
            <a:endParaRPr/>
          </a:p>
          <a:p>
            <a:pPr indent="0" lvl="0" marL="0" marR="0" rtl="0" algn="l">
              <a:spcBef>
                <a:spcPts val="0"/>
              </a:spcBef>
              <a:spcAft>
                <a:spcPts val="0"/>
              </a:spcAft>
              <a:buNone/>
            </a:pPr>
            <a:r>
              <a:rPr lang="es-ES" sz="2400">
                <a:solidFill>
                  <a:schemeClr val="dk1"/>
                </a:solidFill>
                <a:latin typeface="Calibri"/>
                <a:ea typeface="Calibri"/>
                <a:cs typeface="Calibri"/>
                <a:sym typeface="Calibri"/>
              </a:rPr>
              <a:t> Diseño de Claves de Clustering:</a:t>
            </a:r>
            <a:endParaRPr/>
          </a:p>
          <a:p>
            <a:pPr indent="0" lvl="0" marL="0" marR="0" rtl="0" algn="l">
              <a:spcBef>
                <a:spcPts val="0"/>
              </a:spcBef>
              <a:spcAft>
                <a:spcPts val="0"/>
              </a:spcAft>
              <a:buNone/>
            </a:pPr>
            <a:r>
              <a:rPr lang="es-ES" sz="2400">
                <a:solidFill>
                  <a:schemeClr val="dk1"/>
                </a:solidFill>
                <a:latin typeface="Calibri"/>
                <a:ea typeface="Calibri"/>
                <a:cs typeface="Calibri"/>
                <a:sym typeface="Calibri"/>
              </a:rPr>
              <a:t>CREATE TABLE nombre_del_keyspace.nombre_de_la_tabla (</a:t>
            </a:r>
            <a:endParaRPr/>
          </a:p>
          <a:p>
            <a:pPr indent="0" lvl="0" marL="0" marR="0" rtl="0" algn="l">
              <a:spcBef>
                <a:spcPts val="0"/>
              </a:spcBef>
              <a:spcAft>
                <a:spcPts val="0"/>
              </a:spcAft>
              <a:buNone/>
            </a:pPr>
            <a:r>
              <a:rPr lang="es-ES" sz="2400">
                <a:solidFill>
                  <a:schemeClr val="dk1"/>
                </a:solidFill>
                <a:latin typeface="Calibri"/>
                <a:ea typeface="Calibri"/>
                <a:cs typeface="Calibri"/>
                <a:sym typeface="Calibri"/>
              </a:rPr>
              <a:t>  id UUID,</a:t>
            </a:r>
            <a:endParaRPr/>
          </a:p>
          <a:p>
            <a:pPr indent="0" lvl="0" marL="0" marR="0" rtl="0" algn="l">
              <a:spcBef>
                <a:spcPts val="0"/>
              </a:spcBef>
              <a:spcAft>
                <a:spcPts val="0"/>
              </a:spcAft>
              <a:buNone/>
            </a:pPr>
            <a:r>
              <a:rPr lang="es-ES" sz="2400">
                <a:solidFill>
                  <a:schemeClr val="dk1"/>
                </a:solidFill>
                <a:latin typeface="Calibri"/>
                <a:ea typeface="Calibri"/>
                <a:cs typeface="Calibri"/>
                <a:sym typeface="Calibri"/>
              </a:rPr>
              <a:t>  fecha TIMESTAMP,</a:t>
            </a:r>
            <a:endParaRPr/>
          </a:p>
          <a:p>
            <a:pPr indent="0" lvl="0" marL="0" marR="0" rtl="0" algn="l">
              <a:spcBef>
                <a:spcPts val="0"/>
              </a:spcBef>
              <a:spcAft>
                <a:spcPts val="0"/>
              </a:spcAft>
              <a:buNone/>
            </a:pPr>
            <a:r>
              <a:rPr lang="es-ES" sz="2400">
                <a:solidFill>
                  <a:schemeClr val="dk1"/>
                </a:solidFill>
                <a:latin typeface="Calibri"/>
                <a:ea typeface="Calibri"/>
                <a:cs typeface="Calibri"/>
                <a:sym typeface="Calibri"/>
              </a:rPr>
              <a:t>  nombre TEXT,</a:t>
            </a:r>
            <a:endParaRPr/>
          </a:p>
          <a:p>
            <a:pPr indent="0" lvl="0" marL="0" marR="0" rtl="0" algn="l">
              <a:spcBef>
                <a:spcPts val="0"/>
              </a:spcBef>
              <a:spcAft>
                <a:spcPts val="0"/>
              </a:spcAft>
              <a:buNone/>
            </a:pPr>
            <a:r>
              <a:rPr lang="es-ES" sz="2400">
                <a:solidFill>
                  <a:schemeClr val="dk1"/>
                </a:solidFill>
                <a:latin typeface="Calibri"/>
                <a:ea typeface="Calibri"/>
                <a:cs typeface="Calibri"/>
                <a:sym typeface="Calibri"/>
              </a:rPr>
              <a:t>  PRIMARY KEY (id, fecha)</a:t>
            </a:r>
            <a:endParaRPr sz="2400">
              <a:solidFill>
                <a:schemeClr val="dk1"/>
              </a:solidFill>
              <a:latin typeface="Calibri"/>
              <a:ea typeface="Calibri"/>
              <a:cs typeface="Calibri"/>
              <a:sym typeface="Calibri"/>
            </a:endParaRPr>
          </a:p>
          <a:p>
            <a:pPr indent="0" lvl="0" marL="0" marR="0" rtl="0" algn="l">
              <a:spcBef>
                <a:spcPts val="0"/>
              </a:spcBef>
              <a:spcAft>
                <a:spcPts val="0"/>
              </a:spcAft>
              <a:buNone/>
            </a:pPr>
            <a:r>
              <a:rPr lang="es-ES" sz="2400">
                <a:solidFill>
                  <a:schemeClr val="dk1"/>
                </a:solidFill>
                <a:latin typeface="Calibri"/>
                <a:ea typeface="Calibri"/>
                <a:cs typeface="Calibri"/>
                <a:sym typeface="Calibri"/>
              </a:rPr>
              <a:t>) WITH CLUSTERING ORDER BY (fecha DESC);</a:t>
            </a:r>
            <a:endParaRPr sz="2400">
              <a:solidFill>
                <a:schemeClr val="dk1"/>
              </a:solidFill>
              <a:latin typeface="Calibri"/>
              <a:ea typeface="Calibri"/>
              <a:cs typeface="Calibri"/>
              <a:sym typeface="Calibri"/>
            </a:endParaRPr>
          </a:p>
          <a:p>
            <a:pPr indent="0" lvl="0" marL="0" marR="0" rtl="0" algn="l">
              <a:spcBef>
                <a:spcPts val="0"/>
              </a:spcBef>
              <a:spcAft>
                <a:spcPts val="0"/>
              </a:spcAft>
              <a:buNone/>
            </a:pPr>
            <a:r>
              <a:rPr lang="es-ES" sz="2400">
                <a:solidFill>
                  <a:schemeClr val="dk1"/>
                </a:solidFill>
                <a:latin typeface="Calibri"/>
                <a:ea typeface="Calibri"/>
                <a:cs typeface="Calibri"/>
                <a:sym typeface="Calibri"/>
              </a:rPr>
              <a:t>- Aquí, `id` es la clave de partición y `fecha` es la clave de clustering. Los datos se ordenan por `fecha` en orden descendente.</a:t>
            </a:r>
            <a:endParaRPr/>
          </a:p>
          <a:p>
            <a:pPr indent="0" lvl="0" marL="0" marR="0" rtl="0" algn="l">
              <a:spcBef>
                <a:spcPts val="0"/>
              </a:spcBef>
              <a:spcAft>
                <a:spcPts val="0"/>
              </a:spcAft>
              <a:buNone/>
            </a:pPr>
            <a:r>
              <a:rPr lang="es-ES" sz="2400">
                <a:solidFill>
                  <a:schemeClr val="dk1"/>
                </a:solidFill>
                <a:latin typeface="Calibri"/>
                <a:ea typeface="Calibri"/>
                <a:cs typeface="Calibri"/>
                <a:sym typeface="Calibri"/>
              </a:rPr>
              <a:t> </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15"/>
          <p:cNvSpPr txBox="1"/>
          <p:nvPr/>
        </p:nvSpPr>
        <p:spPr>
          <a:xfrm>
            <a:off x="811160" y="152400"/>
            <a:ext cx="8256639" cy="46162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lang="es-ES" sz="2400">
                <a:solidFill>
                  <a:srgbClr val="C00000"/>
                </a:solidFill>
                <a:latin typeface="Calibri"/>
                <a:ea typeface="Calibri"/>
                <a:cs typeface="Calibri"/>
                <a:sym typeface="Calibri"/>
              </a:rPr>
              <a:t>Base de datos: Cassandra – </a:t>
            </a:r>
            <a:r>
              <a:rPr lang="es-ES" sz="2400">
                <a:solidFill>
                  <a:srgbClr val="C00000"/>
                </a:solidFill>
                <a:latin typeface="Calibri"/>
                <a:ea typeface="Calibri"/>
                <a:cs typeface="Calibri"/>
                <a:sym typeface="Calibri"/>
              </a:rPr>
              <a:t>Funciones Agregadas y de Consulta </a:t>
            </a:r>
            <a:endParaRPr sz="2400">
              <a:solidFill>
                <a:srgbClr val="C00000"/>
              </a:solidFill>
              <a:latin typeface="Calibri"/>
              <a:ea typeface="Calibri"/>
              <a:cs typeface="Calibri"/>
              <a:sym typeface="Calibri"/>
            </a:endParaRPr>
          </a:p>
        </p:txBody>
      </p:sp>
      <p:pic>
        <p:nvPicPr>
          <p:cNvPr id="173" name="Google Shape;173;p15"/>
          <p:cNvPicPr preferRelativeResize="0"/>
          <p:nvPr/>
        </p:nvPicPr>
        <p:blipFill rotWithShape="1">
          <a:blip r:embed="rId3">
            <a:alphaModFix/>
          </a:blip>
          <a:srcRect b="0" l="0" r="0" t="0"/>
          <a:stretch/>
        </p:blipFill>
        <p:spPr>
          <a:xfrm>
            <a:off x="9247241" y="152400"/>
            <a:ext cx="2483508" cy="553998"/>
          </a:xfrm>
          <a:prstGeom prst="rect">
            <a:avLst/>
          </a:prstGeom>
          <a:noFill/>
          <a:ln>
            <a:noFill/>
          </a:ln>
        </p:spPr>
      </p:pic>
      <p:sp>
        <p:nvSpPr>
          <p:cNvPr id="174" name="Google Shape;174;p15"/>
          <p:cNvSpPr txBox="1"/>
          <p:nvPr/>
        </p:nvSpPr>
        <p:spPr>
          <a:xfrm>
            <a:off x="265471" y="680053"/>
            <a:ext cx="10962103" cy="627864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ES" sz="1800">
                <a:solidFill>
                  <a:schemeClr val="dk1"/>
                </a:solidFill>
                <a:latin typeface="Calibri"/>
                <a:ea typeface="Calibri"/>
                <a:cs typeface="Calibri"/>
                <a:sym typeface="Calibri"/>
              </a:rPr>
              <a:t> </a:t>
            </a:r>
            <a:r>
              <a:rPr lang="es-ES" sz="2400">
                <a:solidFill>
                  <a:schemeClr val="dk1"/>
                </a:solidFill>
                <a:latin typeface="Calibri"/>
                <a:ea typeface="Calibri"/>
                <a:cs typeface="Calibri"/>
                <a:sym typeface="Calibri"/>
              </a:rPr>
              <a:t>4.Consulta de Metadatos</a:t>
            </a:r>
            <a:endParaRPr/>
          </a:p>
          <a:p>
            <a:pPr indent="0" lvl="0" marL="0" marR="0" rtl="0" algn="l">
              <a:spcBef>
                <a:spcPts val="0"/>
              </a:spcBef>
              <a:spcAft>
                <a:spcPts val="0"/>
              </a:spcAft>
              <a:buNone/>
            </a:pPr>
            <a:r>
              <a:rPr lang="es-ES" sz="2400">
                <a:solidFill>
                  <a:schemeClr val="dk1"/>
                </a:solidFill>
                <a:latin typeface="Calibri"/>
                <a:ea typeface="Calibri"/>
                <a:cs typeface="Calibri"/>
                <a:sym typeface="Calibri"/>
              </a:rPr>
              <a:t> Para ver la estructura de un Keyspace o una tabla, puedes usar las siguientes consultas:</a:t>
            </a:r>
            <a:endParaRPr/>
          </a:p>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a:p>
            <a:pPr indent="0" lvl="0" marL="0" marR="0" rtl="0" algn="l">
              <a:spcBef>
                <a:spcPts val="0"/>
              </a:spcBef>
              <a:spcAft>
                <a:spcPts val="0"/>
              </a:spcAft>
              <a:buNone/>
            </a:pPr>
            <a:r>
              <a:rPr lang="es-ES" sz="2400">
                <a:solidFill>
                  <a:schemeClr val="dk1"/>
                </a:solidFill>
                <a:latin typeface="Calibri"/>
                <a:ea typeface="Calibri"/>
                <a:cs typeface="Calibri"/>
                <a:sym typeface="Calibri"/>
              </a:rPr>
              <a:t> Mostrar Keyspaces:</a:t>
            </a:r>
            <a:endParaRPr/>
          </a:p>
          <a:p>
            <a:pPr indent="0" lvl="0" marL="0" marR="0" rtl="0" algn="l">
              <a:spcBef>
                <a:spcPts val="0"/>
              </a:spcBef>
              <a:spcAft>
                <a:spcPts val="0"/>
              </a:spcAft>
              <a:buNone/>
            </a:pPr>
            <a:r>
              <a:rPr lang="es-ES" sz="2400">
                <a:solidFill>
                  <a:schemeClr val="dk1"/>
                </a:solidFill>
                <a:latin typeface="Calibri"/>
                <a:ea typeface="Calibri"/>
                <a:cs typeface="Calibri"/>
                <a:sym typeface="Calibri"/>
              </a:rPr>
              <a:t>DESCRIBE KEYSPACES;</a:t>
            </a:r>
            <a:endParaRPr/>
          </a:p>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a:p>
            <a:pPr indent="0" lvl="0" marL="0" marR="0" rtl="0" algn="l">
              <a:spcBef>
                <a:spcPts val="0"/>
              </a:spcBef>
              <a:spcAft>
                <a:spcPts val="0"/>
              </a:spcAft>
              <a:buNone/>
            </a:pPr>
            <a:r>
              <a:rPr lang="es-ES" sz="2400">
                <a:solidFill>
                  <a:schemeClr val="dk1"/>
                </a:solidFill>
                <a:latin typeface="Calibri"/>
                <a:ea typeface="Calibri"/>
                <a:cs typeface="Calibri"/>
                <a:sym typeface="Calibri"/>
              </a:rPr>
              <a:t>Mostrar Tablas:</a:t>
            </a:r>
            <a:endParaRPr/>
          </a:p>
          <a:p>
            <a:pPr indent="0" lvl="0" marL="0" marR="0" rtl="0" algn="l">
              <a:spcBef>
                <a:spcPts val="0"/>
              </a:spcBef>
              <a:spcAft>
                <a:spcPts val="0"/>
              </a:spcAft>
              <a:buNone/>
            </a:pPr>
            <a:r>
              <a:rPr lang="es-ES" sz="2400">
                <a:solidFill>
                  <a:schemeClr val="dk1"/>
                </a:solidFill>
                <a:latin typeface="Calibri"/>
                <a:ea typeface="Calibri"/>
                <a:cs typeface="Calibri"/>
                <a:sym typeface="Calibri"/>
              </a:rPr>
              <a:t>DESCRIBE TABLE nombre_del_keyspace.nombre_de_la_tabla;</a:t>
            </a:r>
            <a:endParaRPr/>
          </a:p>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a:p>
            <a:pPr indent="0" lvl="0" marL="0" marR="0" rtl="0" algn="l">
              <a:spcBef>
                <a:spcPts val="0"/>
              </a:spcBef>
              <a:spcAft>
                <a:spcPts val="0"/>
              </a:spcAft>
              <a:buNone/>
            </a:pPr>
            <a:r>
              <a:rPr lang="es-ES" sz="2400">
                <a:solidFill>
                  <a:schemeClr val="dk1"/>
                </a:solidFill>
                <a:latin typeface="Calibri"/>
                <a:ea typeface="Calibri"/>
                <a:cs typeface="Calibri"/>
                <a:sym typeface="Calibri"/>
              </a:rPr>
              <a:t>Mostrar Esquema de la Tabla:</a:t>
            </a:r>
            <a:endParaRPr/>
          </a:p>
          <a:p>
            <a:pPr indent="0" lvl="0" marL="0" marR="0" rtl="0" algn="l">
              <a:spcBef>
                <a:spcPts val="0"/>
              </a:spcBef>
              <a:spcAft>
                <a:spcPts val="0"/>
              </a:spcAft>
              <a:buNone/>
            </a:pPr>
            <a:r>
              <a:rPr lang="es-ES" sz="2400">
                <a:solidFill>
                  <a:schemeClr val="dk1"/>
                </a:solidFill>
                <a:latin typeface="Calibri"/>
                <a:ea typeface="Calibri"/>
                <a:cs typeface="Calibri"/>
                <a:sym typeface="Calibri"/>
              </a:rPr>
              <a:t>SELECT * FROM system_schema.tables WHERE keyspace_name = 'nombre_del_keyspace';</a:t>
            </a:r>
            <a:endParaRPr sz="24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16"/>
          <p:cNvSpPr txBox="1"/>
          <p:nvPr/>
        </p:nvSpPr>
        <p:spPr>
          <a:xfrm>
            <a:off x="2630296" y="1676935"/>
            <a:ext cx="6931407" cy="1275349"/>
          </a:xfrm>
          <a:prstGeom prst="rect">
            <a:avLst/>
          </a:prstGeom>
          <a:noFill/>
          <a:ln>
            <a:noFill/>
          </a:ln>
        </p:spPr>
        <p:txBody>
          <a:bodyPr anchorCtr="0" anchor="t" bIns="0" lIns="0" spcFirstLastPara="1" rIns="0" wrap="square" tIns="43800">
            <a:spAutoFit/>
          </a:bodyPr>
          <a:lstStyle/>
          <a:p>
            <a:pPr indent="-445770" lvl="0" marL="457834" marR="5080" rtl="0" algn="ctr">
              <a:spcBef>
                <a:spcPts val="0"/>
              </a:spcBef>
              <a:spcAft>
                <a:spcPts val="0"/>
              </a:spcAft>
              <a:buNone/>
            </a:pPr>
            <a:r>
              <a:rPr b="1" lang="es-ES" sz="4000">
                <a:solidFill>
                  <a:schemeClr val="dk1"/>
                </a:solidFill>
                <a:latin typeface="Arial"/>
                <a:ea typeface="Arial"/>
                <a:cs typeface="Arial"/>
                <a:sym typeface="Arial"/>
              </a:rPr>
              <a:t>¿Qué diferencias observa entre SQL y CQL?</a:t>
            </a:r>
            <a:endParaRPr sz="4000">
              <a:solidFill>
                <a:schemeClr val="dk1"/>
              </a:solidFill>
              <a:latin typeface="Arial"/>
              <a:ea typeface="Arial"/>
              <a:cs typeface="Arial"/>
              <a:sym typeface="Arial"/>
            </a:endParaRPr>
          </a:p>
        </p:txBody>
      </p:sp>
      <p:pic>
        <p:nvPicPr>
          <p:cNvPr id="180" name="Google Shape;180;p16"/>
          <p:cNvPicPr preferRelativeResize="0"/>
          <p:nvPr/>
        </p:nvPicPr>
        <p:blipFill rotWithShape="1">
          <a:blip r:embed="rId3">
            <a:alphaModFix/>
          </a:blip>
          <a:srcRect b="0" l="0" r="0" t="0"/>
          <a:stretch/>
        </p:blipFill>
        <p:spPr>
          <a:xfrm>
            <a:off x="5334000" y="4038600"/>
            <a:ext cx="1524000" cy="15240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17"/>
          <p:cNvSpPr/>
          <p:nvPr/>
        </p:nvSpPr>
        <p:spPr>
          <a:xfrm>
            <a:off x="0" y="2819400"/>
            <a:ext cx="12192000" cy="1219200"/>
          </a:xfrm>
          <a:custGeom>
            <a:rect b="b" l="l" r="r" t="t"/>
            <a:pathLst>
              <a:path extrusionOk="0" h="700405" w="9144635">
                <a:moveTo>
                  <a:pt x="9027447" y="700199"/>
                </a:moveTo>
                <a:lnTo>
                  <a:pt x="116702" y="700199"/>
                </a:lnTo>
                <a:lnTo>
                  <a:pt x="71276" y="691028"/>
                </a:lnTo>
                <a:lnTo>
                  <a:pt x="34181" y="666018"/>
                </a:lnTo>
                <a:lnTo>
                  <a:pt x="9171" y="628923"/>
                </a:lnTo>
                <a:lnTo>
                  <a:pt x="0" y="583497"/>
                </a:lnTo>
                <a:lnTo>
                  <a:pt x="0" y="116702"/>
                </a:lnTo>
                <a:lnTo>
                  <a:pt x="9171" y="71276"/>
                </a:lnTo>
                <a:lnTo>
                  <a:pt x="34181" y="34181"/>
                </a:lnTo>
                <a:lnTo>
                  <a:pt x="71276" y="9171"/>
                </a:lnTo>
                <a:lnTo>
                  <a:pt x="116702" y="0"/>
                </a:lnTo>
                <a:lnTo>
                  <a:pt x="9027447" y="0"/>
                </a:lnTo>
                <a:lnTo>
                  <a:pt x="9072107" y="8883"/>
                </a:lnTo>
                <a:lnTo>
                  <a:pt x="9109968" y="34181"/>
                </a:lnTo>
                <a:lnTo>
                  <a:pt x="9135266" y="72042"/>
                </a:lnTo>
                <a:lnTo>
                  <a:pt x="9144149" y="116702"/>
                </a:lnTo>
                <a:lnTo>
                  <a:pt x="9144149" y="583497"/>
                </a:lnTo>
                <a:lnTo>
                  <a:pt x="9134978" y="628923"/>
                </a:lnTo>
                <a:lnTo>
                  <a:pt x="9109968" y="666018"/>
                </a:lnTo>
                <a:lnTo>
                  <a:pt x="9072873" y="691028"/>
                </a:lnTo>
                <a:lnTo>
                  <a:pt x="9027447" y="700199"/>
                </a:lnTo>
                <a:close/>
              </a:path>
            </a:pathLst>
          </a:custGeom>
          <a:solidFill>
            <a:srgbClr val="D1052D"/>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6" name="Google Shape;186;p17"/>
          <p:cNvSpPr txBox="1"/>
          <p:nvPr>
            <p:ph type="title"/>
          </p:nvPr>
        </p:nvSpPr>
        <p:spPr>
          <a:xfrm>
            <a:off x="4278672" y="3084034"/>
            <a:ext cx="3634655" cy="689932"/>
          </a:xfrm>
          <a:prstGeom prst="rect">
            <a:avLst/>
          </a:prstGeom>
          <a:noFill/>
          <a:ln>
            <a:noFill/>
          </a:ln>
        </p:spPr>
        <p:txBody>
          <a:bodyPr anchorCtr="0" anchor="t" bIns="0" lIns="0" spcFirstLastPara="1" rIns="0" wrap="square" tIns="12700">
            <a:spAutoFit/>
          </a:bodyPr>
          <a:lstStyle/>
          <a:p>
            <a:pPr indent="0" lvl="0" marL="12700" rtl="0" algn="ctr">
              <a:lnSpc>
                <a:spcPct val="100000"/>
              </a:lnSpc>
              <a:spcBef>
                <a:spcPts val="0"/>
              </a:spcBef>
              <a:spcAft>
                <a:spcPts val="0"/>
              </a:spcAft>
              <a:buNone/>
            </a:pPr>
            <a:r>
              <a:rPr b="1" lang="es-ES">
                <a:solidFill>
                  <a:schemeClr val="lt1"/>
                </a:solidFill>
                <a:latin typeface="Rubik"/>
                <a:ea typeface="Rubik"/>
                <a:cs typeface="Rubik"/>
                <a:sym typeface="Rubik"/>
              </a:rPr>
              <a:t>Caso práctico</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18"/>
          <p:cNvSpPr/>
          <p:nvPr/>
        </p:nvSpPr>
        <p:spPr>
          <a:xfrm>
            <a:off x="0" y="304801"/>
            <a:ext cx="5659755" cy="561824"/>
          </a:xfrm>
          <a:custGeom>
            <a:rect b="b" l="l" r="r" t="t"/>
            <a:pathLst>
              <a:path extrusionOk="0" h="415290" w="5659755">
                <a:moveTo>
                  <a:pt x="5590548" y="414899"/>
                </a:moveTo>
                <a:lnTo>
                  <a:pt x="6651" y="414899"/>
                </a:lnTo>
                <a:lnTo>
                  <a:pt x="0" y="413557"/>
                </a:lnTo>
                <a:lnTo>
                  <a:pt x="0" y="1342"/>
                </a:lnTo>
                <a:lnTo>
                  <a:pt x="6651" y="0"/>
                </a:lnTo>
                <a:lnTo>
                  <a:pt x="5590548" y="0"/>
                </a:lnTo>
                <a:lnTo>
                  <a:pt x="5604102" y="1340"/>
                </a:lnTo>
                <a:lnTo>
                  <a:pt x="5639445" y="20253"/>
                </a:lnTo>
                <a:lnTo>
                  <a:pt x="5658358" y="55597"/>
                </a:lnTo>
                <a:lnTo>
                  <a:pt x="5659699" y="69151"/>
                </a:lnTo>
                <a:lnTo>
                  <a:pt x="5659699" y="345748"/>
                </a:lnTo>
                <a:lnTo>
                  <a:pt x="5654265" y="372665"/>
                </a:lnTo>
                <a:lnTo>
                  <a:pt x="5639446" y="394646"/>
                </a:lnTo>
                <a:lnTo>
                  <a:pt x="5617465" y="409465"/>
                </a:lnTo>
                <a:lnTo>
                  <a:pt x="5590548" y="414899"/>
                </a:lnTo>
                <a:close/>
              </a:path>
            </a:pathLst>
          </a:custGeom>
          <a:solidFill>
            <a:srgbClr val="D1052D"/>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2" name="Google Shape;192;p18"/>
          <p:cNvSpPr txBox="1"/>
          <p:nvPr/>
        </p:nvSpPr>
        <p:spPr>
          <a:xfrm>
            <a:off x="381000" y="381000"/>
            <a:ext cx="4724400" cy="382156"/>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b="1" lang="es-ES" sz="2400">
                <a:solidFill>
                  <a:srgbClr val="FFFFFF"/>
                </a:solidFill>
                <a:latin typeface="Arial"/>
                <a:ea typeface="Arial"/>
                <a:cs typeface="Arial"/>
                <a:sym typeface="Arial"/>
              </a:rPr>
              <a:t>Caso práctico</a:t>
            </a:r>
            <a:endParaRPr sz="2400">
              <a:solidFill>
                <a:schemeClr val="dk1"/>
              </a:solidFill>
              <a:latin typeface="Arial"/>
              <a:ea typeface="Arial"/>
              <a:cs typeface="Arial"/>
              <a:sym typeface="Arial"/>
            </a:endParaRPr>
          </a:p>
        </p:txBody>
      </p:sp>
      <p:sp>
        <p:nvSpPr>
          <p:cNvPr id="193" name="Google Shape;193;p18"/>
          <p:cNvSpPr txBox="1"/>
          <p:nvPr/>
        </p:nvSpPr>
        <p:spPr>
          <a:xfrm>
            <a:off x="3886200" y="3581400"/>
            <a:ext cx="6476999" cy="295402"/>
          </a:xfrm>
          <a:prstGeom prst="rect">
            <a:avLst/>
          </a:prstGeom>
          <a:solidFill>
            <a:srgbClr val="FFFFFF"/>
          </a:solidFill>
          <a:ln>
            <a:noFill/>
          </a:ln>
        </p:spPr>
        <p:txBody>
          <a:bodyPr anchorCtr="0" anchor="t" bIns="0" lIns="0" spcFirstLastPara="1" rIns="0" wrap="square" tIns="0">
            <a:spAutoFit/>
          </a:bodyPr>
          <a:lstStyle/>
          <a:p>
            <a:pPr indent="0" lvl="0" marL="0" marR="0" rtl="0" algn="l">
              <a:lnSpc>
                <a:spcPct val="65312"/>
              </a:lnSpc>
              <a:spcBef>
                <a:spcPts val="0"/>
              </a:spcBef>
              <a:spcAft>
                <a:spcPts val="0"/>
              </a:spcAft>
              <a:buNone/>
            </a:pPr>
            <a:r>
              <a:t/>
            </a:r>
            <a:endParaRPr sz="3200">
              <a:solidFill>
                <a:schemeClr val="dk1"/>
              </a:solidFill>
              <a:latin typeface="Arial"/>
              <a:ea typeface="Arial"/>
              <a:cs typeface="Arial"/>
              <a:sym typeface="Arial"/>
            </a:endParaRPr>
          </a:p>
        </p:txBody>
      </p:sp>
      <p:pic>
        <p:nvPicPr>
          <p:cNvPr id="194" name="Google Shape;194;p18"/>
          <p:cNvPicPr preferRelativeResize="0"/>
          <p:nvPr/>
        </p:nvPicPr>
        <p:blipFill rotWithShape="1">
          <a:blip r:embed="rId3">
            <a:alphaModFix/>
          </a:blip>
          <a:srcRect b="0" l="0" r="0" t="0"/>
          <a:stretch/>
        </p:blipFill>
        <p:spPr>
          <a:xfrm>
            <a:off x="5773909" y="304800"/>
            <a:ext cx="626891" cy="561824"/>
          </a:xfrm>
          <a:prstGeom prst="rect">
            <a:avLst/>
          </a:prstGeom>
          <a:noFill/>
          <a:ln>
            <a:noFill/>
          </a:ln>
        </p:spPr>
      </p:pic>
      <p:sp>
        <p:nvSpPr>
          <p:cNvPr id="195" name="Google Shape;195;p18"/>
          <p:cNvSpPr txBox="1"/>
          <p:nvPr/>
        </p:nvSpPr>
        <p:spPr>
          <a:xfrm>
            <a:off x="620880" y="1143000"/>
            <a:ext cx="10950239" cy="4893607"/>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Clr>
                <a:schemeClr val="dk1"/>
              </a:buClr>
              <a:buSzPts val="2400"/>
              <a:buFont typeface="Calibri"/>
              <a:buNone/>
            </a:pPr>
            <a:r>
              <a:rPr lang="es-ES" sz="2400">
                <a:solidFill>
                  <a:schemeClr val="dk1"/>
                </a:solidFill>
                <a:latin typeface="Calibri"/>
                <a:ea typeface="Calibri"/>
                <a:cs typeface="Calibri"/>
                <a:sym typeface="Calibri"/>
              </a:rPr>
              <a:t>Realizar ejercicio práctico es una excelente manera de aprender y entender cómo elaborar un esquema de datos nosql orientada por columnas.Aquí tienes un ejercicio práctico detallado que puedes seguir:</a:t>
            </a:r>
            <a:endParaRPr sz="1800">
              <a:solidFill>
                <a:schemeClr val="dk1"/>
              </a:solidFill>
              <a:latin typeface="Calibri"/>
              <a:ea typeface="Calibri"/>
              <a:cs typeface="Calibri"/>
              <a:sym typeface="Calibri"/>
            </a:endParaRPr>
          </a:p>
          <a:p>
            <a:pPr indent="0" lvl="0" marL="0" marR="0" rtl="0" algn="just">
              <a:spcBef>
                <a:spcPts val="0"/>
              </a:spcBef>
              <a:spcAft>
                <a:spcPts val="0"/>
              </a:spcAft>
              <a:buClr>
                <a:schemeClr val="dk1"/>
              </a:buClr>
              <a:buSzPts val="2400"/>
              <a:buFont typeface="Calibri"/>
              <a:buNone/>
            </a:pPr>
            <a:r>
              <a:t/>
            </a:r>
            <a:endParaRPr sz="2400">
              <a:solidFill>
                <a:schemeClr val="dk1"/>
              </a:solidFill>
              <a:latin typeface="Calibri"/>
              <a:ea typeface="Calibri"/>
              <a:cs typeface="Calibri"/>
              <a:sym typeface="Calibri"/>
            </a:endParaRPr>
          </a:p>
          <a:p>
            <a:pPr indent="0" lvl="0" marL="0" marR="0" rtl="0" algn="just">
              <a:spcBef>
                <a:spcPts val="0"/>
              </a:spcBef>
              <a:spcAft>
                <a:spcPts val="0"/>
              </a:spcAft>
              <a:buClr>
                <a:schemeClr val="dk1"/>
              </a:buClr>
              <a:buSzPts val="2400"/>
              <a:buFont typeface="Calibri"/>
              <a:buNone/>
            </a:pPr>
            <a:r>
              <a:rPr b="1" lang="es-ES" sz="2400">
                <a:solidFill>
                  <a:schemeClr val="dk1"/>
                </a:solidFill>
                <a:latin typeface="Calibri"/>
                <a:ea typeface="Calibri"/>
                <a:cs typeface="Calibri"/>
                <a:sym typeface="Calibri"/>
              </a:rPr>
              <a:t>Ejercicio Práctico: </a:t>
            </a:r>
            <a:endParaRPr sz="1800">
              <a:solidFill>
                <a:schemeClr val="dk1"/>
              </a:solidFill>
              <a:latin typeface="Calibri"/>
              <a:ea typeface="Calibri"/>
              <a:cs typeface="Calibri"/>
              <a:sym typeface="Calibri"/>
            </a:endParaRPr>
          </a:p>
          <a:p>
            <a:pPr indent="0" lvl="0" marL="0" marR="0" rtl="0" algn="ctr">
              <a:spcBef>
                <a:spcPts val="0"/>
              </a:spcBef>
              <a:spcAft>
                <a:spcPts val="0"/>
              </a:spcAft>
              <a:buClr>
                <a:schemeClr val="dk1"/>
              </a:buClr>
              <a:buSzPts val="2400"/>
              <a:buFont typeface="Calibri"/>
              <a:buNone/>
            </a:pPr>
            <a:r>
              <a:rPr b="1" lang="es-ES" sz="2400">
                <a:solidFill>
                  <a:schemeClr val="dk1"/>
                </a:solidFill>
                <a:latin typeface="Calibri"/>
                <a:ea typeface="Calibri"/>
                <a:cs typeface="Calibri"/>
                <a:sym typeface="Calibri"/>
              </a:rPr>
              <a:t>Caso de Uso: Sistema de Biblioteca</a:t>
            </a:r>
            <a:endParaRPr/>
          </a:p>
          <a:p>
            <a:pPr indent="0" lvl="0" marL="0" marR="0" rtl="0" algn="ctr">
              <a:spcBef>
                <a:spcPts val="0"/>
              </a:spcBef>
              <a:spcAft>
                <a:spcPts val="0"/>
              </a:spcAft>
              <a:buClr>
                <a:schemeClr val="dk1"/>
              </a:buClr>
              <a:buSzPts val="2400"/>
              <a:buFont typeface="Calibri"/>
              <a:buNone/>
            </a:pPr>
            <a:r>
              <a:rPr b="1" lang="es-ES" sz="2400">
                <a:solidFill>
                  <a:schemeClr val="dk1"/>
                </a:solidFill>
                <a:latin typeface="Calibri"/>
                <a:ea typeface="Calibri"/>
                <a:cs typeface="Calibri"/>
                <a:sym typeface="Calibri"/>
              </a:rPr>
              <a:t>Para este caso, el esquema de datos debe manejar libros, autores, usuarios y préstamos</a:t>
            </a:r>
            <a:endParaRPr b="1" sz="2400">
              <a:solidFill>
                <a:schemeClr val="dk1"/>
              </a:solidFill>
              <a:latin typeface="Calibri"/>
              <a:ea typeface="Calibri"/>
              <a:cs typeface="Calibri"/>
              <a:sym typeface="Calibri"/>
            </a:endParaRPr>
          </a:p>
          <a:p>
            <a:pPr indent="0" lvl="0" marL="0" marR="0" rtl="0" algn="just">
              <a:spcBef>
                <a:spcPts val="0"/>
              </a:spcBef>
              <a:spcAft>
                <a:spcPts val="0"/>
              </a:spcAft>
              <a:buClr>
                <a:schemeClr val="dk1"/>
              </a:buClr>
              <a:buSzPts val="2400"/>
              <a:buFont typeface="Calibri"/>
              <a:buNone/>
            </a:pPr>
            <a:r>
              <a:rPr b="1" lang="es-ES" sz="2400">
                <a:solidFill>
                  <a:schemeClr val="dk1"/>
                </a:solidFill>
                <a:latin typeface="Calibri"/>
                <a:ea typeface="Calibri"/>
                <a:cs typeface="Calibri"/>
                <a:sym typeface="Calibri"/>
              </a:rPr>
              <a:t>Objetivos:</a:t>
            </a:r>
            <a:endParaRPr sz="1800">
              <a:solidFill>
                <a:schemeClr val="dk1"/>
              </a:solidFill>
              <a:latin typeface="Calibri"/>
              <a:ea typeface="Calibri"/>
              <a:cs typeface="Calibri"/>
              <a:sym typeface="Calibri"/>
            </a:endParaRPr>
          </a:p>
          <a:p>
            <a:pPr indent="0" lvl="0" marL="0" marR="0" rtl="0" algn="just">
              <a:spcBef>
                <a:spcPts val="0"/>
              </a:spcBef>
              <a:spcAft>
                <a:spcPts val="0"/>
              </a:spcAft>
              <a:buClr>
                <a:schemeClr val="dk1"/>
              </a:buClr>
              <a:buSzPts val="2400"/>
              <a:buFont typeface="Calibri"/>
              <a:buAutoNum type="arabicPeriod"/>
            </a:pPr>
            <a:r>
              <a:rPr lang="es-ES" sz="2400">
                <a:solidFill>
                  <a:schemeClr val="dk1"/>
                </a:solidFill>
                <a:latin typeface="Calibri"/>
                <a:ea typeface="Calibri"/>
                <a:cs typeface="Calibri"/>
                <a:sym typeface="Calibri"/>
              </a:rPr>
              <a:t>Elaborar  la sintaxis CQL de creación de la base de datos NOSql </a:t>
            </a:r>
            <a:endParaRPr sz="1800">
              <a:solidFill>
                <a:schemeClr val="dk1"/>
              </a:solidFill>
              <a:latin typeface="Calibri"/>
              <a:ea typeface="Calibri"/>
              <a:cs typeface="Calibri"/>
              <a:sym typeface="Calibri"/>
            </a:endParaRPr>
          </a:p>
          <a:p>
            <a:pPr indent="0" lvl="0" marL="0" marR="0" rtl="0" algn="just">
              <a:spcBef>
                <a:spcPts val="0"/>
              </a:spcBef>
              <a:spcAft>
                <a:spcPts val="0"/>
              </a:spcAft>
              <a:buClr>
                <a:schemeClr val="dk1"/>
              </a:buClr>
              <a:buSzPts val="2400"/>
              <a:buFont typeface="Calibri"/>
              <a:buAutoNum type="arabicPeriod"/>
            </a:pPr>
            <a:r>
              <a:rPr lang="es-ES" sz="2400">
                <a:solidFill>
                  <a:schemeClr val="dk1"/>
                </a:solidFill>
                <a:latin typeface="Calibri"/>
                <a:ea typeface="Calibri"/>
                <a:cs typeface="Calibri"/>
                <a:sym typeface="Calibri"/>
              </a:rPr>
              <a:t>Elaborar la sintaxis CQL de creación de tablas</a:t>
            </a:r>
            <a:endParaRPr sz="1800">
              <a:solidFill>
                <a:schemeClr val="dk1"/>
              </a:solidFill>
              <a:latin typeface="Calibri"/>
              <a:ea typeface="Calibri"/>
              <a:cs typeface="Calibri"/>
              <a:sym typeface="Calibri"/>
            </a:endParaRPr>
          </a:p>
          <a:p>
            <a:pPr indent="0" lvl="0" marL="0" marR="0" rtl="0" algn="just">
              <a:spcBef>
                <a:spcPts val="0"/>
              </a:spcBef>
              <a:spcAft>
                <a:spcPts val="0"/>
              </a:spcAft>
              <a:buClr>
                <a:schemeClr val="dk1"/>
              </a:buClr>
              <a:buSzPts val="2400"/>
              <a:buFont typeface="Calibri"/>
              <a:buAutoNum type="arabicPeriod"/>
            </a:pPr>
            <a:r>
              <a:rPr lang="es-ES" sz="2400">
                <a:solidFill>
                  <a:schemeClr val="dk1"/>
                </a:solidFill>
                <a:latin typeface="Calibri"/>
                <a:ea typeface="Calibri"/>
                <a:cs typeface="Calibri"/>
                <a:sym typeface="Calibri"/>
              </a:rPr>
              <a:t>Elaborar la sintaxis CQL de búsqueda de libros por títulos</a:t>
            </a:r>
            <a:endParaRPr/>
          </a:p>
          <a:p>
            <a:pPr indent="0" lvl="0" marL="0" marR="0" rtl="0" algn="just">
              <a:spcBef>
                <a:spcPts val="0"/>
              </a:spcBef>
              <a:spcAft>
                <a:spcPts val="0"/>
              </a:spcAft>
              <a:buClr>
                <a:schemeClr val="dk1"/>
              </a:buClr>
              <a:buSzPts val="2400"/>
              <a:buFont typeface="Calibri"/>
              <a:buAutoNum type="arabicPeriod"/>
            </a:pPr>
            <a:r>
              <a:rPr lang="es-ES" sz="2400">
                <a:solidFill>
                  <a:schemeClr val="dk1"/>
                </a:solidFill>
                <a:latin typeface="Calibri"/>
                <a:ea typeface="Calibri"/>
                <a:cs typeface="Calibri"/>
                <a:sym typeface="Calibri"/>
              </a:rPr>
              <a:t>Elaborar la sixtaxis CQL de búsqueda de préstamos por usuarios</a:t>
            </a:r>
            <a:endParaRPr sz="1800">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19"/>
          <p:cNvSpPr/>
          <p:nvPr/>
        </p:nvSpPr>
        <p:spPr>
          <a:xfrm>
            <a:off x="0" y="304801"/>
            <a:ext cx="5659755" cy="561824"/>
          </a:xfrm>
          <a:custGeom>
            <a:rect b="b" l="l" r="r" t="t"/>
            <a:pathLst>
              <a:path extrusionOk="0" h="415290" w="5659755">
                <a:moveTo>
                  <a:pt x="5590548" y="414899"/>
                </a:moveTo>
                <a:lnTo>
                  <a:pt x="6651" y="414899"/>
                </a:lnTo>
                <a:lnTo>
                  <a:pt x="0" y="413557"/>
                </a:lnTo>
                <a:lnTo>
                  <a:pt x="0" y="1342"/>
                </a:lnTo>
                <a:lnTo>
                  <a:pt x="6651" y="0"/>
                </a:lnTo>
                <a:lnTo>
                  <a:pt x="5590548" y="0"/>
                </a:lnTo>
                <a:lnTo>
                  <a:pt x="5604102" y="1340"/>
                </a:lnTo>
                <a:lnTo>
                  <a:pt x="5639445" y="20253"/>
                </a:lnTo>
                <a:lnTo>
                  <a:pt x="5658358" y="55597"/>
                </a:lnTo>
                <a:lnTo>
                  <a:pt x="5659699" y="69151"/>
                </a:lnTo>
                <a:lnTo>
                  <a:pt x="5659699" y="345748"/>
                </a:lnTo>
                <a:lnTo>
                  <a:pt x="5654265" y="372665"/>
                </a:lnTo>
                <a:lnTo>
                  <a:pt x="5639446" y="394646"/>
                </a:lnTo>
                <a:lnTo>
                  <a:pt x="5617465" y="409465"/>
                </a:lnTo>
                <a:lnTo>
                  <a:pt x="5590548" y="414899"/>
                </a:lnTo>
                <a:close/>
              </a:path>
            </a:pathLst>
          </a:custGeom>
          <a:solidFill>
            <a:srgbClr val="D1052D"/>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1" name="Google Shape;201;p19"/>
          <p:cNvSpPr txBox="1"/>
          <p:nvPr/>
        </p:nvSpPr>
        <p:spPr>
          <a:xfrm>
            <a:off x="381000" y="381000"/>
            <a:ext cx="4724400" cy="382156"/>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b="1" lang="es-ES" sz="2400">
                <a:solidFill>
                  <a:srgbClr val="FFFFFF"/>
                </a:solidFill>
                <a:latin typeface="Arial"/>
                <a:ea typeface="Arial"/>
                <a:cs typeface="Arial"/>
                <a:sym typeface="Arial"/>
              </a:rPr>
              <a:t>Sesión 14 Introd. Cassandra</a:t>
            </a:r>
            <a:endParaRPr sz="2400">
              <a:solidFill>
                <a:schemeClr val="dk1"/>
              </a:solidFill>
              <a:latin typeface="Arial"/>
              <a:ea typeface="Arial"/>
              <a:cs typeface="Arial"/>
              <a:sym typeface="Arial"/>
            </a:endParaRPr>
          </a:p>
        </p:txBody>
      </p:sp>
      <p:sp>
        <p:nvSpPr>
          <p:cNvPr id="202" name="Google Shape;202;p19"/>
          <p:cNvSpPr txBox="1"/>
          <p:nvPr/>
        </p:nvSpPr>
        <p:spPr>
          <a:xfrm>
            <a:off x="3886200" y="3581400"/>
            <a:ext cx="6476999" cy="295402"/>
          </a:xfrm>
          <a:prstGeom prst="rect">
            <a:avLst/>
          </a:prstGeom>
          <a:solidFill>
            <a:srgbClr val="FFFFFF"/>
          </a:solidFill>
          <a:ln>
            <a:noFill/>
          </a:ln>
        </p:spPr>
        <p:txBody>
          <a:bodyPr anchorCtr="0" anchor="t" bIns="0" lIns="0" spcFirstLastPara="1" rIns="0" wrap="square" tIns="0">
            <a:spAutoFit/>
          </a:bodyPr>
          <a:lstStyle/>
          <a:p>
            <a:pPr indent="0" lvl="0" marL="0" marR="0" rtl="0" algn="l">
              <a:lnSpc>
                <a:spcPct val="65312"/>
              </a:lnSpc>
              <a:spcBef>
                <a:spcPts val="0"/>
              </a:spcBef>
              <a:spcAft>
                <a:spcPts val="0"/>
              </a:spcAft>
              <a:buNone/>
            </a:pPr>
            <a:r>
              <a:t/>
            </a:r>
            <a:endParaRPr sz="3200">
              <a:solidFill>
                <a:schemeClr val="dk1"/>
              </a:solidFill>
              <a:latin typeface="Arial"/>
              <a:ea typeface="Arial"/>
              <a:cs typeface="Arial"/>
              <a:sym typeface="Arial"/>
            </a:endParaRPr>
          </a:p>
        </p:txBody>
      </p:sp>
      <p:pic>
        <p:nvPicPr>
          <p:cNvPr id="203" name="Google Shape;203;p19"/>
          <p:cNvPicPr preferRelativeResize="0"/>
          <p:nvPr/>
        </p:nvPicPr>
        <p:blipFill rotWithShape="1">
          <a:blip r:embed="rId3">
            <a:alphaModFix/>
          </a:blip>
          <a:srcRect b="0" l="0" r="0" t="0"/>
          <a:stretch/>
        </p:blipFill>
        <p:spPr>
          <a:xfrm>
            <a:off x="5773909" y="304800"/>
            <a:ext cx="626891" cy="561824"/>
          </a:xfrm>
          <a:prstGeom prst="rect">
            <a:avLst/>
          </a:prstGeom>
          <a:noFill/>
          <a:ln>
            <a:noFill/>
          </a:ln>
        </p:spPr>
      </p:pic>
      <p:sp>
        <p:nvSpPr>
          <p:cNvPr id="204" name="Google Shape;204;p19"/>
          <p:cNvSpPr txBox="1"/>
          <p:nvPr/>
        </p:nvSpPr>
        <p:spPr>
          <a:xfrm>
            <a:off x="2282337" y="1780300"/>
            <a:ext cx="7627325" cy="443711"/>
          </a:xfrm>
          <a:prstGeom prst="rect">
            <a:avLst/>
          </a:prstGeom>
          <a:noFill/>
          <a:ln>
            <a:noFill/>
          </a:ln>
        </p:spPr>
        <p:txBody>
          <a:bodyPr anchorCtr="0" anchor="t" bIns="0" lIns="0" spcFirstLastPara="1" rIns="0" wrap="square" tIns="12700">
            <a:spAutoFit/>
          </a:bodyPr>
          <a:lstStyle/>
          <a:p>
            <a:pPr indent="0" lvl="0" marL="12700" marR="0" rtl="0" algn="ctr">
              <a:lnSpc>
                <a:spcPct val="100000"/>
              </a:lnSpc>
              <a:spcBef>
                <a:spcPts val="0"/>
              </a:spcBef>
              <a:spcAft>
                <a:spcPts val="0"/>
              </a:spcAft>
              <a:buNone/>
            </a:pPr>
            <a:r>
              <a:rPr lang="es-ES" sz="2800">
                <a:solidFill>
                  <a:schemeClr val="dk1"/>
                </a:solidFill>
                <a:latin typeface="Arial"/>
                <a:ea typeface="Arial"/>
                <a:cs typeface="Arial"/>
                <a:sym typeface="Arial"/>
              </a:rPr>
              <a:t>¿Quién quisiera participar? (2 voluntarios)</a:t>
            </a:r>
            <a:endParaRPr/>
          </a:p>
        </p:txBody>
      </p:sp>
      <p:pic>
        <p:nvPicPr>
          <p:cNvPr id="205" name="Google Shape;205;p19"/>
          <p:cNvPicPr preferRelativeResize="0"/>
          <p:nvPr/>
        </p:nvPicPr>
        <p:blipFill rotWithShape="1">
          <a:blip r:embed="rId3">
            <a:alphaModFix/>
          </a:blip>
          <a:srcRect b="0" l="0" r="0" t="0"/>
          <a:stretch/>
        </p:blipFill>
        <p:spPr>
          <a:xfrm>
            <a:off x="4730555" y="2895600"/>
            <a:ext cx="2730890" cy="2520334"/>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20"/>
          <p:cNvSpPr/>
          <p:nvPr/>
        </p:nvSpPr>
        <p:spPr>
          <a:xfrm>
            <a:off x="0" y="304801"/>
            <a:ext cx="5659755" cy="561824"/>
          </a:xfrm>
          <a:custGeom>
            <a:rect b="b" l="l" r="r" t="t"/>
            <a:pathLst>
              <a:path extrusionOk="0" h="415290" w="5659755">
                <a:moveTo>
                  <a:pt x="5590548" y="414899"/>
                </a:moveTo>
                <a:lnTo>
                  <a:pt x="6651" y="414899"/>
                </a:lnTo>
                <a:lnTo>
                  <a:pt x="0" y="413557"/>
                </a:lnTo>
                <a:lnTo>
                  <a:pt x="0" y="1342"/>
                </a:lnTo>
                <a:lnTo>
                  <a:pt x="6651" y="0"/>
                </a:lnTo>
                <a:lnTo>
                  <a:pt x="5590548" y="0"/>
                </a:lnTo>
                <a:lnTo>
                  <a:pt x="5604102" y="1340"/>
                </a:lnTo>
                <a:lnTo>
                  <a:pt x="5639445" y="20253"/>
                </a:lnTo>
                <a:lnTo>
                  <a:pt x="5658358" y="55597"/>
                </a:lnTo>
                <a:lnTo>
                  <a:pt x="5659699" y="69151"/>
                </a:lnTo>
                <a:lnTo>
                  <a:pt x="5659699" y="345748"/>
                </a:lnTo>
                <a:lnTo>
                  <a:pt x="5654265" y="372665"/>
                </a:lnTo>
                <a:lnTo>
                  <a:pt x="5639446" y="394646"/>
                </a:lnTo>
                <a:lnTo>
                  <a:pt x="5617465" y="409465"/>
                </a:lnTo>
                <a:lnTo>
                  <a:pt x="5590548" y="414899"/>
                </a:lnTo>
                <a:close/>
              </a:path>
            </a:pathLst>
          </a:custGeom>
          <a:solidFill>
            <a:srgbClr val="D1052D"/>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1" name="Google Shape;211;p20"/>
          <p:cNvSpPr txBox="1"/>
          <p:nvPr/>
        </p:nvSpPr>
        <p:spPr>
          <a:xfrm>
            <a:off x="381000" y="381000"/>
            <a:ext cx="4724400" cy="382156"/>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b="1" lang="es-ES" sz="2400">
                <a:solidFill>
                  <a:srgbClr val="FFFFFF"/>
                </a:solidFill>
                <a:latin typeface="Arial"/>
                <a:ea typeface="Arial"/>
                <a:cs typeface="Arial"/>
                <a:sym typeface="Arial"/>
              </a:rPr>
              <a:t>Sesión 14: Introd. Cassandra</a:t>
            </a:r>
            <a:endParaRPr sz="2400">
              <a:solidFill>
                <a:schemeClr val="dk1"/>
              </a:solidFill>
              <a:latin typeface="Arial"/>
              <a:ea typeface="Arial"/>
              <a:cs typeface="Arial"/>
              <a:sym typeface="Arial"/>
            </a:endParaRPr>
          </a:p>
        </p:txBody>
      </p:sp>
      <p:sp>
        <p:nvSpPr>
          <p:cNvPr id="212" name="Google Shape;212;p20"/>
          <p:cNvSpPr txBox="1"/>
          <p:nvPr/>
        </p:nvSpPr>
        <p:spPr>
          <a:xfrm>
            <a:off x="3886200" y="3581400"/>
            <a:ext cx="6476999" cy="295402"/>
          </a:xfrm>
          <a:prstGeom prst="rect">
            <a:avLst/>
          </a:prstGeom>
          <a:solidFill>
            <a:srgbClr val="FFFFFF"/>
          </a:solidFill>
          <a:ln>
            <a:noFill/>
          </a:ln>
        </p:spPr>
        <p:txBody>
          <a:bodyPr anchorCtr="0" anchor="t" bIns="0" lIns="0" spcFirstLastPara="1" rIns="0" wrap="square" tIns="0">
            <a:spAutoFit/>
          </a:bodyPr>
          <a:lstStyle/>
          <a:p>
            <a:pPr indent="0" lvl="0" marL="0" marR="0" rtl="0" algn="l">
              <a:lnSpc>
                <a:spcPct val="65312"/>
              </a:lnSpc>
              <a:spcBef>
                <a:spcPts val="0"/>
              </a:spcBef>
              <a:spcAft>
                <a:spcPts val="0"/>
              </a:spcAft>
              <a:buNone/>
            </a:pPr>
            <a:r>
              <a:t/>
            </a:r>
            <a:endParaRPr sz="3200">
              <a:solidFill>
                <a:schemeClr val="dk1"/>
              </a:solidFill>
              <a:latin typeface="Arial"/>
              <a:ea typeface="Arial"/>
              <a:cs typeface="Arial"/>
              <a:sym typeface="Arial"/>
            </a:endParaRPr>
          </a:p>
        </p:txBody>
      </p:sp>
      <p:sp>
        <p:nvSpPr>
          <p:cNvPr id="213" name="Google Shape;213;p20"/>
          <p:cNvSpPr txBox="1"/>
          <p:nvPr/>
        </p:nvSpPr>
        <p:spPr>
          <a:xfrm>
            <a:off x="3039354" y="1831852"/>
            <a:ext cx="6096000" cy="115416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lang="es-ES" sz="3200">
                <a:solidFill>
                  <a:schemeClr val="dk1"/>
                </a:solidFill>
                <a:latin typeface="Arial"/>
                <a:ea typeface="Arial"/>
                <a:cs typeface="Arial"/>
                <a:sym typeface="Arial"/>
              </a:rPr>
              <a:t>¿Qué se les hizo más fácil?</a:t>
            </a:r>
            <a:endParaRPr/>
          </a:p>
          <a:p>
            <a:pPr indent="0" lvl="0" marL="0" marR="0" rtl="0" algn="ctr">
              <a:lnSpc>
                <a:spcPct val="100000"/>
              </a:lnSpc>
              <a:spcBef>
                <a:spcPts val="585"/>
              </a:spcBef>
              <a:spcAft>
                <a:spcPts val="0"/>
              </a:spcAft>
              <a:buNone/>
            </a:pPr>
            <a:r>
              <a:rPr lang="es-ES" sz="3200">
                <a:solidFill>
                  <a:schemeClr val="dk1"/>
                </a:solidFill>
                <a:latin typeface="Arial"/>
                <a:ea typeface="Arial"/>
                <a:cs typeface="Arial"/>
                <a:sym typeface="Arial"/>
              </a:rPr>
              <a:t>¿Qué se les hizo más retador?</a:t>
            </a:r>
            <a:endParaRPr sz="3200">
              <a:solidFill>
                <a:schemeClr val="dk1"/>
              </a:solidFill>
              <a:latin typeface="Arial"/>
              <a:ea typeface="Arial"/>
              <a:cs typeface="Arial"/>
              <a:sym typeface="Arial"/>
            </a:endParaRPr>
          </a:p>
        </p:txBody>
      </p:sp>
      <p:pic>
        <p:nvPicPr>
          <p:cNvPr id="214" name="Google Shape;214;p20"/>
          <p:cNvPicPr preferRelativeResize="0"/>
          <p:nvPr/>
        </p:nvPicPr>
        <p:blipFill rotWithShape="1">
          <a:blip r:embed="rId3">
            <a:alphaModFix/>
          </a:blip>
          <a:srcRect b="0" l="0" r="0" t="0"/>
          <a:stretch/>
        </p:blipFill>
        <p:spPr>
          <a:xfrm>
            <a:off x="4953000" y="3618011"/>
            <a:ext cx="2047300" cy="2047300"/>
          </a:xfrm>
          <a:prstGeom prst="rect">
            <a:avLst/>
          </a:prstGeom>
          <a:noFill/>
          <a:ln>
            <a:noFill/>
          </a:ln>
        </p:spPr>
      </p:pic>
      <p:pic>
        <p:nvPicPr>
          <p:cNvPr id="215" name="Google Shape;215;p20"/>
          <p:cNvPicPr preferRelativeResize="0"/>
          <p:nvPr/>
        </p:nvPicPr>
        <p:blipFill rotWithShape="1">
          <a:blip r:embed="rId3">
            <a:alphaModFix/>
          </a:blip>
          <a:srcRect b="0" l="0" r="0" t="0"/>
          <a:stretch/>
        </p:blipFill>
        <p:spPr>
          <a:xfrm>
            <a:off x="5766673" y="318461"/>
            <a:ext cx="548164" cy="548164"/>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21"/>
          <p:cNvSpPr/>
          <p:nvPr/>
        </p:nvSpPr>
        <p:spPr>
          <a:xfrm>
            <a:off x="0" y="304801"/>
            <a:ext cx="5659755" cy="561824"/>
          </a:xfrm>
          <a:custGeom>
            <a:rect b="b" l="l" r="r" t="t"/>
            <a:pathLst>
              <a:path extrusionOk="0" h="415290" w="5659755">
                <a:moveTo>
                  <a:pt x="5590548" y="414899"/>
                </a:moveTo>
                <a:lnTo>
                  <a:pt x="6651" y="414899"/>
                </a:lnTo>
                <a:lnTo>
                  <a:pt x="0" y="413557"/>
                </a:lnTo>
                <a:lnTo>
                  <a:pt x="0" y="1342"/>
                </a:lnTo>
                <a:lnTo>
                  <a:pt x="6651" y="0"/>
                </a:lnTo>
                <a:lnTo>
                  <a:pt x="5590548" y="0"/>
                </a:lnTo>
                <a:lnTo>
                  <a:pt x="5604102" y="1340"/>
                </a:lnTo>
                <a:lnTo>
                  <a:pt x="5639445" y="20253"/>
                </a:lnTo>
                <a:lnTo>
                  <a:pt x="5658358" y="55597"/>
                </a:lnTo>
                <a:lnTo>
                  <a:pt x="5659699" y="69151"/>
                </a:lnTo>
                <a:lnTo>
                  <a:pt x="5659699" y="345748"/>
                </a:lnTo>
                <a:lnTo>
                  <a:pt x="5654265" y="372665"/>
                </a:lnTo>
                <a:lnTo>
                  <a:pt x="5639446" y="394646"/>
                </a:lnTo>
                <a:lnTo>
                  <a:pt x="5617465" y="409465"/>
                </a:lnTo>
                <a:lnTo>
                  <a:pt x="5590548" y="414899"/>
                </a:lnTo>
                <a:close/>
              </a:path>
            </a:pathLst>
          </a:custGeom>
          <a:solidFill>
            <a:srgbClr val="D1052D"/>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1" name="Google Shape;221;p21"/>
          <p:cNvSpPr txBox="1"/>
          <p:nvPr/>
        </p:nvSpPr>
        <p:spPr>
          <a:xfrm>
            <a:off x="381000" y="381000"/>
            <a:ext cx="4724400" cy="382156"/>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b="1" lang="es-ES" sz="2400">
                <a:solidFill>
                  <a:srgbClr val="FFFFFF"/>
                </a:solidFill>
                <a:latin typeface="Arial"/>
                <a:ea typeface="Arial"/>
                <a:cs typeface="Arial"/>
                <a:sym typeface="Arial"/>
              </a:rPr>
              <a:t>Aprendizajes</a:t>
            </a:r>
            <a:endParaRPr sz="2400">
              <a:solidFill>
                <a:schemeClr val="dk1"/>
              </a:solidFill>
              <a:latin typeface="Arial"/>
              <a:ea typeface="Arial"/>
              <a:cs typeface="Arial"/>
              <a:sym typeface="Arial"/>
            </a:endParaRPr>
          </a:p>
        </p:txBody>
      </p:sp>
      <p:sp>
        <p:nvSpPr>
          <p:cNvPr id="222" name="Google Shape;222;p21"/>
          <p:cNvSpPr txBox="1"/>
          <p:nvPr/>
        </p:nvSpPr>
        <p:spPr>
          <a:xfrm>
            <a:off x="3886200" y="3581400"/>
            <a:ext cx="6476999" cy="295402"/>
          </a:xfrm>
          <a:prstGeom prst="rect">
            <a:avLst/>
          </a:prstGeom>
          <a:solidFill>
            <a:srgbClr val="FFFFFF"/>
          </a:solidFill>
          <a:ln>
            <a:noFill/>
          </a:ln>
        </p:spPr>
        <p:txBody>
          <a:bodyPr anchorCtr="0" anchor="t" bIns="0" lIns="0" spcFirstLastPara="1" rIns="0" wrap="square" tIns="0">
            <a:spAutoFit/>
          </a:bodyPr>
          <a:lstStyle/>
          <a:p>
            <a:pPr indent="0" lvl="0" marL="0" marR="0" rtl="0" algn="l">
              <a:lnSpc>
                <a:spcPct val="65312"/>
              </a:lnSpc>
              <a:spcBef>
                <a:spcPts val="0"/>
              </a:spcBef>
              <a:spcAft>
                <a:spcPts val="0"/>
              </a:spcAft>
              <a:buNone/>
            </a:pPr>
            <a:r>
              <a:t/>
            </a:r>
            <a:endParaRPr sz="3200">
              <a:solidFill>
                <a:schemeClr val="dk1"/>
              </a:solidFill>
              <a:latin typeface="Arial"/>
              <a:ea typeface="Arial"/>
              <a:cs typeface="Arial"/>
              <a:sym typeface="Arial"/>
            </a:endParaRPr>
          </a:p>
        </p:txBody>
      </p:sp>
      <p:sp>
        <p:nvSpPr>
          <p:cNvPr id="223" name="Google Shape;223;p21"/>
          <p:cNvSpPr txBox="1"/>
          <p:nvPr/>
        </p:nvSpPr>
        <p:spPr>
          <a:xfrm>
            <a:off x="2243577" y="3149025"/>
            <a:ext cx="7687554" cy="584775"/>
          </a:xfrm>
          <a:prstGeom prst="rect">
            <a:avLst/>
          </a:prstGeom>
          <a:noFill/>
          <a:ln>
            <a:noFill/>
          </a:ln>
        </p:spPr>
        <p:txBody>
          <a:bodyPr anchorCtr="0" anchor="t" bIns="45700" lIns="91425" spcFirstLastPara="1" rIns="91425" wrap="square" tIns="45700">
            <a:spAutoFit/>
          </a:bodyPr>
          <a:lstStyle/>
          <a:p>
            <a:pPr indent="0" lvl="0" marL="12700" marR="0" rtl="0" algn="ctr">
              <a:lnSpc>
                <a:spcPct val="100000"/>
              </a:lnSpc>
              <a:spcBef>
                <a:spcPts val="0"/>
              </a:spcBef>
              <a:spcAft>
                <a:spcPts val="0"/>
              </a:spcAft>
              <a:buNone/>
            </a:pPr>
            <a:r>
              <a:rPr b="1" lang="es-ES" sz="3200">
                <a:solidFill>
                  <a:schemeClr val="dk1"/>
                </a:solidFill>
                <a:latin typeface="Arial"/>
                <a:ea typeface="Arial"/>
                <a:cs typeface="Arial"/>
                <a:sym typeface="Arial"/>
              </a:rPr>
              <a:t>¿Qué hemos aprendido el día de hoy?</a:t>
            </a:r>
            <a:endParaRPr sz="3200">
              <a:solidFill>
                <a:schemeClr val="dk1"/>
              </a:solidFill>
              <a:latin typeface="Arial"/>
              <a:ea typeface="Arial"/>
              <a:cs typeface="Arial"/>
              <a:sym typeface="Arial"/>
            </a:endParaRPr>
          </a:p>
        </p:txBody>
      </p:sp>
      <p:pic>
        <p:nvPicPr>
          <p:cNvPr id="224" name="Google Shape;224;p21"/>
          <p:cNvPicPr preferRelativeResize="0"/>
          <p:nvPr/>
        </p:nvPicPr>
        <p:blipFill rotWithShape="1">
          <a:blip r:embed="rId3">
            <a:alphaModFix/>
          </a:blip>
          <a:srcRect b="0" l="0" r="0" t="0"/>
          <a:stretch/>
        </p:blipFill>
        <p:spPr>
          <a:xfrm>
            <a:off x="5766673" y="318461"/>
            <a:ext cx="548164" cy="548164"/>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22"/>
          <p:cNvSpPr/>
          <p:nvPr/>
        </p:nvSpPr>
        <p:spPr>
          <a:xfrm>
            <a:off x="0" y="304801"/>
            <a:ext cx="5659755" cy="561824"/>
          </a:xfrm>
          <a:custGeom>
            <a:rect b="b" l="l" r="r" t="t"/>
            <a:pathLst>
              <a:path extrusionOk="0" h="415290" w="5659755">
                <a:moveTo>
                  <a:pt x="5590548" y="414899"/>
                </a:moveTo>
                <a:lnTo>
                  <a:pt x="6651" y="414899"/>
                </a:lnTo>
                <a:lnTo>
                  <a:pt x="0" y="413557"/>
                </a:lnTo>
                <a:lnTo>
                  <a:pt x="0" y="1342"/>
                </a:lnTo>
                <a:lnTo>
                  <a:pt x="6651" y="0"/>
                </a:lnTo>
                <a:lnTo>
                  <a:pt x="5590548" y="0"/>
                </a:lnTo>
                <a:lnTo>
                  <a:pt x="5604102" y="1340"/>
                </a:lnTo>
                <a:lnTo>
                  <a:pt x="5639445" y="20253"/>
                </a:lnTo>
                <a:lnTo>
                  <a:pt x="5658358" y="55597"/>
                </a:lnTo>
                <a:lnTo>
                  <a:pt x="5659699" y="69151"/>
                </a:lnTo>
                <a:lnTo>
                  <a:pt x="5659699" y="345748"/>
                </a:lnTo>
                <a:lnTo>
                  <a:pt x="5654265" y="372665"/>
                </a:lnTo>
                <a:lnTo>
                  <a:pt x="5639446" y="394646"/>
                </a:lnTo>
                <a:lnTo>
                  <a:pt x="5617465" y="409465"/>
                </a:lnTo>
                <a:lnTo>
                  <a:pt x="5590548" y="414899"/>
                </a:lnTo>
                <a:close/>
              </a:path>
            </a:pathLst>
          </a:custGeom>
          <a:solidFill>
            <a:srgbClr val="D1052D"/>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0" name="Google Shape;230;p22"/>
          <p:cNvSpPr txBox="1"/>
          <p:nvPr/>
        </p:nvSpPr>
        <p:spPr>
          <a:xfrm>
            <a:off x="381000" y="381000"/>
            <a:ext cx="4724400" cy="382156"/>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b="1" lang="es-ES" sz="2400">
                <a:solidFill>
                  <a:srgbClr val="FFFFFF"/>
                </a:solidFill>
                <a:latin typeface="Arial"/>
                <a:ea typeface="Arial"/>
                <a:cs typeface="Arial"/>
                <a:sym typeface="Arial"/>
              </a:rPr>
              <a:t>Conclusiones</a:t>
            </a:r>
            <a:endParaRPr sz="2400">
              <a:solidFill>
                <a:schemeClr val="dk1"/>
              </a:solidFill>
              <a:latin typeface="Arial"/>
              <a:ea typeface="Arial"/>
              <a:cs typeface="Arial"/>
              <a:sym typeface="Arial"/>
            </a:endParaRPr>
          </a:p>
        </p:txBody>
      </p:sp>
      <p:sp>
        <p:nvSpPr>
          <p:cNvPr id="231" name="Google Shape;231;p22"/>
          <p:cNvSpPr txBox="1"/>
          <p:nvPr/>
        </p:nvSpPr>
        <p:spPr>
          <a:xfrm>
            <a:off x="3886200" y="3581400"/>
            <a:ext cx="6476999" cy="295402"/>
          </a:xfrm>
          <a:prstGeom prst="rect">
            <a:avLst/>
          </a:prstGeom>
          <a:solidFill>
            <a:srgbClr val="FFFFFF"/>
          </a:solidFill>
          <a:ln>
            <a:noFill/>
          </a:ln>
        </p:spPr>
        <p:txBody>
          <a:bodyPr anchorCtr="0" anchor="t" bIns="0" lIns="0" spcFirstLastPara="1" rIns="0" wrap="square" tIns="0">
            <a:spAutoFit/>
          </a:bodyPr>
          <a:lstStyle/>
          <a:p>
            <a:pPr indent="0" lvl="0" marL="0" marR="0" rtl="0" algn="l">
              <a:lnSpc>
                <a:spcPct val="65312"/>
              </a:lnSpc>
              <a:spcBef>
                <a:spcPts val="0"/>
              </a:spcBef>
              <a:spcAft>
                <a:spcPts val="0"/>
              </a:spcAft>
              <a:buNone/>
            </a:pPr>
            <a:r>
              <a:t/>
            </a:r>
            <a:endParaRPr sz="3200">
              <a:solidFill>
                <a:schemeClr val="dk1"/>
              </a:solidFill>
              <a:latin typeface="Arial"/>
              <a:ea typeface="Arial"/>
              <a:cs typeface="Arial"/>
              <a:sym typeface="Arial"/>
            </a:endParaRPr>
          </a:p>
        </p:txBody>
      </p:sp>
      <p:sp>
        <p:nvSpPr>
          <p:cNvPr id="232" name="Google Shape;232;p22"/>
          <p:cNvSpPr txBox="1"/>
          <p:nvPr/>
        </p:nvSpPr>
        <p:spPr>
          <a:xfrm>
            <a:off x="2243577" y="2644170"/>
            <a:ext cx="7687554" cy="1569660"/>
          </a:xfrm>
          <a:prstGeom prst="rect">
            <a:avLst/>
          </a:prstGeom>
          <a:noFill/>
          <a:ln>
            <a:noFill/>
          </a:ln>
        </p:spPr>
        <p:txBody>
          <a:bodyPr anchorCtr="0" anchor="t" bIns="45700" lIns="91425" spcFirstLastPara="1" rIns="91425" wrap="square" tIns="45700">
            <a:spAutoFit/>
          </a:bodyPr>
          <a:lstStyle/>
          <a:p>
            <a:pPr indent="0" lvl="0" marL="12700" marR="0" rtl="0" algn="ctr">
              <a:lnSpc>
                <a:spcPct val="100000"/>
              </a:lnSpc>
              <a:spcBef>
                <a:spcPts val="0"/>
              </a:spcBef>
              <a:spcAft>
                <a:spcPts val="0"/>
              </a:spcAft>
              <a:buNone/>
            </a:pPr>
            <a:r>
              <a:rPr lang="es-ES" sz="3200">
                <a:solidFill>
                  <a:schemeClr val="dk1"/>
                </a:solidFill>
                <a:latin typeface="Arial"/>
                <a:ea typeface="Arial"/>
                <a:cs typeface="Arial"/>
                <a:sym typeface="Arial"/>
              </a:rPr>
              <a:t>Tomar apuntes de manera eficaz ayuda a consolidar el  aprendizaje y prepararse para los exámenes.</a:t>
            </a:r>
            <a:endParaRPr/>
          </a:p>
        </p:txBody>
      </p:sp>
      <p:pic>
        <p:nvPicPr>
          <p:cNvPr id="233" name="Google Shape;233;p22"/>
          <p:cNvPicPr preferRelativeResize="0"/>
          <p:nvPr/>
        </p:nvPicPr>
        <p:blipFill rotWithShape="1">
          <a:blip r:embed="rId3">
            <a:alphaModFix/>
          </a:blip>
          <a:srcRect b="0" l="0" r="0" t="0"/>
          <a:stretch/>
        </p:blipFill>
        <p:spPr>
          <a:xfrm>
            <a:off x="5705310" y="304802"/>
            <a:ext cx="561824" cy="561824"/>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23"/>
          <p:cNvSpPr/>
          <p:nvPr/>
        </p:nvSpPr>
        <p:spPr>
          <a:xfrm>
            <a:off x="0" y="304801"/>
            <a:ext cx="5659755" cy="561824"/>
          </a:xfrm>
          <a:custGeom>
            <a:rect b="b" l="l" r="r" t="t"/>
            <a:pathLst>
              <a:path extrusionOk="0" h="415290" w="5659755">
                <a:moveTo>
                  <a:pt x="5590548" y="414899"/>
                </a:moveTo>
                <a:lnTo>
                  <a:pt x="6651" y="414899"/>
                </a:lnTo>
                <a:lnTo>
                  <a:pt x="0" y="413557"/>
                </a:lnTo>
                <a:lnTo>
                  <a:pt x="0" y="1342"/>
                </a:lnTo>
                <a:lnTo>
                  <a:pt x="6651" y="0"/>
                </a:lnTo>
                <a:lnTo>
                  <a:pt x="5590548" y="0"/>
                </a:lnTo>
                <a:lnTo>
                  <a:pt x="5604102" y="1340"/>
                </a:lnTo>
                <a:lnTo>
                  <a:pt x="5639445" y="20253"/>
                </a:lnTo>
                <a:lnTo>
                  <a:pt x="5658358" y="55597"/>
                </a:lnTo>
                <a:lnTo>
                  <a:pt x="5659699" y="69151"/>
                </a:lnTo>
                <a:lnTo>
                  <a:pt x="5659699" y="345748"/>
                </a:lnTo>
                <a:lnTo>
                  <a:pt x="5654265" y="372665"/>
                </a:lnTo>
                <a:lnTo>
                  <a:pt x="5639446" y="394646"/>
                </a:lnTo>
                <a:lnTo>
                  <a:pt x="5617465" y="409465"/>
                </a:lnTo>
                <a:lnTo>
                  <a:pt x="5590548" y="414899"/>
                </a:lnTo>
                <a:close/>
              </a:path>
            </a:pathLst>
          </a:custGeom>
          <a:solidFill>
            <a:srgbClr val="D1052D"/>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9" name="Google Shape;239;p23"/>
          <p:cNvSpPr txBox="1"/>
          <p:nvPr/>
        </p:nvSpPr>
        <p:spPr>
          <a:xfrm>
            <a:off x="381000" y="381000"/>
            <a:ext cx="4724400" cy="382156"/>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b="1" lang="es-ES" sz="2400">
                <a:solidFill>
                  <a:srgbClr val="FFFFFF"/>
                </a:solidFill>
                <a:latin typeface="Arial"/>
                <a:ea typeface="Arial"/>
                <a:cs typeface="Arial"/>
                <a:sym typeface="Arial"/>
              </a:rPr>
              <a:t>Conclusiones</a:t>
            </a:r>
            <a:endParaRPr sz="2400">
              <a:solidFill>
                <a:schemeClr val="dk1"/>
              </a:solidFill>
              <a:latin typeface="Arial"/>
              <a:ea typeface="Arial"/>
              <a:cs typeface="Arial"/>
              <a:sym typeface="Arial"/>
            </a:endParaRPr>
          </a:p>
        </p:txBody>
      </p:sp>
      <p:sp>
        <p:nvSpPr>
          <p:cNvPr id="240" name="Google Shape;240;p23"/>
          <p:cNvSpPr txBox="1"/>
          <p:nvPr/>
        </p:nvSpPr>
        <p:spPr>
          <a:xfrm>
            <a:off x="3886200" y="3581400"/>
            <a:ext cx="6476999" cy="295402"/>
          </a:xfrm>
          <a:prstGeom prst="rect">
            <a:avLst/>
          </a:prstGeom>
          <a:solidFill>
            <a:srgbClr val="FFFFFF"/>
          </a:solidFill>
          <a:ln>
            <a:noFill/>
          </a:ln>
        </p:spPr>
        <p:txBody>
          <a:bodyPr anchorCtr="0" anchor="t" bIns="0" lIns="0" spcFirstLastPara="1" rIns="0" wrap="square" tIns="0">
            <a:spAutoFit/>
          </a:bodyPr>
          <a:lstStyle/>
          <a:p>
            <a:pPr indent="0" lvl="0" marL="0" marR="0" rtl="0" algn="l">
              <a:lnSpc>
                <a:spcPct val="65312"/>
              </a:lnSpc>
              <a:spcBef>
                <a:spcPts val="0"/>
              </a:spcBef>
              <a:spcAft>
                <a:spcPts val="0"/>
              </a:spcAft>
              <a:buNone/>
            </a:pPr>
            <a:r>
              <a:t/>
            </a:r>
            <a:endParaRPr sz="3200">
              <a:solidFill>
                <a:schemeClr val="dk1"/>
              </a:solidFill>
              <a:latin typeface="Arial"/>
              <a:ea typeface="Arial"/>
              <a:cs typeface="Arial"/>
              <a:sym typeface="Arial"/>
            </a:endParaRPr>
          </a:p>
        </p:txBody>
      </p:sp>
      <p:sp>
        <p:nvSpPr>
          <p:cNvPr id="241" name="Google Shape;241;p23"/>
          <p:cNvSpPr txBox="1"/>
          <p:nvPr/>
        </p:nvSpPr>
        <p:spPr>
          <a:xfrm>
            <a:off x="533400" y="1532346"/>
            <a:ext cx="10363200" cy="4316566"/>
          </a:xfrm>
          <a:prstGeom prst="rect">
            <a:avLst/>
          </a:prstGeom>
          <a:noFill/>
          <a:ln>
            <a:noFill/>
          </a:ln>
        </p:spPr>
        <p:txBody>
          <a:bodyPr anchorCtr="0" anchor="t" bIns="45700" lIns="91425" spcFirstLastPara="1" rIns="91425" wrap="square" tIns="45700">
            <a:spAutoFit/>
          </a:bodyPr>
          <a:lstStyle/>
          <a:p>
            <a:pPr indent="0" lvl="0" marL="12700" marR="0" rtl="0" algn="l">
              <a:lnSpc>
                <a:spcPct val="100000"/>
              </a:lnSpc>
              <a:spcBef>
                <a:spcPts val="0"/>
              </a:spcBef>
              <a:spcAft>
                <a:spcPts val="0"/>
              </a:spcAft>
              <a:buNone/>
            </a:pPr>
            <a:r>
              <a:rPr lang="es-ES" sz="2000">
                <a:solidFill>
                  <a:schemeClr val="dk1"/>
                </a:solidFill>
                <a:latin typeface="Calibri"/>
                <a:ea typeface="Calibri"/>
                <a:cs typeface="Calibri"/>
                <a:sym typeface="Calibri"/>
              </a:rPr>
              <a:t>Apache Cassandra ofrece una robusta plataforma para manejar grandes volúmenes de datos con alta disponibilidad y escalabilidad. La sintaxis de CQL es accesible para aquellos familiarizados con SQL, aunque hay diferencias importantes debido al modelo de datos y el enfoque en la escalabilidad. La administración de usuarios y roles permite un control granular sobre el acceso y la seguridad en el entorno de Cassandra </a:t>
            </a:r>
            <a:endParaRPr/>
          </a:p>
          <a:p>
            <a:pPr indent="0" lvl="0" marL="12700" marR="0" rtl="0" algn="l">
              <a:lnSpc>
                <a:spcPct val="100000"/>
              </a:lnSpc>
              <a:spcBef>
                <a:spcPts val="100"/>
              </a:spcBef>
              <a:spcAft>
                <a:spcPts val="0"/>
              </a:spcAft>
              <a:buNone/>
            </a:pPr>
            <a:r>
              <a:t/>
            </a:r>
            <a:endParaRPr sz="2000">
              <a:solidFill>
                <a:schemeClr val="dk1"/>
              </a:solidFill>
              <a:latin typeface="Arial"/>
              <a:ea typeface="Arial"/>
              <a:cs typeface="Arial"/>
              <a:sym typeface="Arial"/>
            </a:endParaRPr>
          </a:p>
          <a:p>
            <a:pPr indent="0" lvl="0" marL="12700" marR="0" rtl="0" algn="l">
              <a:spcBef>
                <a:spcPts val="100"/>
              </a:spcBef>
              <a:spcAft>
                <a:spcPts val="0"/>
              </a:spcAft>
              <a:buNone/>
            </a:pPr>
            <a:r>
              <a:rPr lang="es-ES" sz="2000">
                <a:solidFill>
                  <a:schemeClr val="dk1"/>
                </a:solidFill>
                <a:latin typeface="Calibri"/>
                <a:ea typeface="Calibri"/>
                <a:cs typeface="Calibri"/>
                <a:sym typeface="Calibri"/>
              </a:rPr>
              <a:t>CQL es una interfaz poderosa pero específica para interactuar con Cassandra. Mientras que es similar a SQL en algunos aspectos, es importante entender las diferencias en el modelo de datos y en la forma en que Cassandra maneja la consistencia y la escalabilidad. La clave para usar CQL de manera efectiva es diseñar tus tablas para optimizar las consultas más comunes, dado que el modelo de datos de Cassandra es muy diferente al de las bases de datos relacionales tradicionales.</a:t>
            </a:r>
            <a:endParaRPr/>
          </a:p>
          <a:p>
            <a:pPr indent="0" lvl="0" marL="12700" marR="0" rtl="0" algn="l">
              <a:lnSpc>
                <a:spcPct val="100000"/>
              </a:lnSpc>
              <a:spcBef>
                <a:spcPts val="100"/>
              </a:spcBef>
              <a:spcAft>
                <a:spcPts val="0"/>
              </a:spcAft>
              <a:buNone/>
            </a:pPr>
            <a:r>
              <a:t/>
            </a:r>
            <a:endParaRPr sz="3200">
              <a:solidFill>
                <a:schemeClr val="dk1"/>
              </a:solidFill>
              <a:latin typeface="Arial"/>
              <a:ea typeface="Arial"/>
              <a:cs typeface="Arial"/>
              <a:sym typeface="Arial"/>
            </a:endParaRPr>
          </a:p>
        </p:txBody>
      </p:sp>
      <p:pic>
        <p:nvPicPr>
          <p:cNvPr id="242" name="Google Shape;242;p23"/>
          <p:cNvPicPr preferRelativeResize="0"/>
          <p:nvPr/>
        </p:nvPicPr>
        <p:blipFill rotWithShape="1">
          <a:blip r:embed="rId3">
            <a:alphaModFix/>
          </a:blip>
          <a:srcRect b="0" l="0" r="0" t="0"/>
          <a:stretch/>
        </p:blipFill>
        <p:spPr>
          <a:xfrm>
            <a:off x="5705310" y="304802"/>
            <a:ext cx="561824" cy="561824"/>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p24"/>
          <p:cNvSpPr/>
          <p:nvPr/>
        </p:nvSpPr>
        <p:spPr>
          <a:xfrm>
            <a:off x="0" y="304801"/>
            <a:ext cx="5659755" cy="561824"/>
          </a:xfrm>
          <a:custGeom>
            <a:rect b="b" l="l" r="r" t="t"/>
            <a:pathLst>
              <a:path extrusionOk="0" h="415290" w="5659755">
                <a:moveTo>
                  <a:pt x="5590548" y="414899"/>
                </a:moveTo>
                <a:lnTo>
                  <a:pt x="6651" y="414899"/>
                </a:lnTo>
                <a:lnTo>
                  <a:pt x="0" y="413557"/>
                </a:lnTo>
                <a:lnTo>
                  <a:pt x="0" y="1342"/>
                </a:lnTo>
                <a:lnTo>
                  <a:pt x="6651" y="0"/>
                </a:lnTo>
                <a:lnTo>
                  <a:pt x="5590548" y="0"/>
                </a:lnTo>
                <a:lnTo>
                  <a:pt x="5604102" y="1340"/>
                </a:lnTo>
                <a:lnTo>
                  <a:pt x="5639445" y="20253"/>
                </a:lnTo>
                <a:lnTo>
                  <a:pt x="5658358" y="55597"/>
                </a:lnTo>
                <a:lnTo>
                  <a:pt x="5659699" y="69151"/>
                </a:lnTo>
                <a:lnTo>
                  <a:pt x="5659699" y="345748"/>
                </a:lnTo>
                <a:lnTo>
                  <a:pt x="5654265" y="372665"/>
                </a:lnTo>
                <a:lnTo>
                  <a:pt x="5639446" y="394646"/>
                </a:lnTo>
                <a:lnTo>
                  <a:pt x="5617465" y="409465"/>
                </a:lnTo>
                <a:lnTo>
                  <a:pt x="5590548" y="414899"/>
                </a:lnTo>
                <a:close/>
              </a:path>
            </a:pathLst>
          </a:custGeom>
          <a:solidFill>
            <a:srgbClr val="D1052D"/>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8" name="Google Shape;248;p24"/>
          <p:cNvSpPr txBox="1"/>
          <p:nvPr/>
        </p:nvSpPr>
        <p:spPr>
          <a:xfrm>
            <a:off x="381000" y="381000"/>
            <a:ext cx="4724400" cy="382156"/>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b="1" lang="es-ES" sz="2400">
                <a:solidFill>
                  <a:srgbClr val="FFFFFF"/>
                </a:solidFill>
                <a:latin typeface="Arial"/>
                <a:ea typeface="Arial"/>
                <a:cs typeface="Arial"/>
                <a:sym typeface="Arial"/>
              </a:rPr>
              <a:t>Tarea</a:t>
            </a:r>
            <a:endParaRPr sz="2400">
              <a:solidFill>
                <a:schemeClr val="dk1"/>
              </a:solidFill>
              <a:latin typeface="Arial"/>
              <a:ea typeface="Arial"/>
              <a:cs typeface="Arial"/>
              <a:sym typeface="Arial"/>
            </a:endParaRPr>
          </a:p>
        </p:txBody>
      </p:sp>
      <p:sp>
        <p:nvSpPr>
          <p:cNvPr id="249" name="Google Shape;249;p24"/>
          <p:cNvSpPr txBox="1"/>
          <p:nvPr/>
        </p:nvSpPr>
        <p:spPr>
          <a:xfrm>
            <a:off x="3886200" y="3581400"/>
            <a:ext cx="6476999" cy="295402"/>
          </a:xfrm>
          <a:prstGeom prst="rect">
            <a:avLst/>
          </a:prstGeom>
          <a:solidFill>
            <a:srgbClr val="FFFFFF"/>
          </a:solidFill>
          <a:ln>
            <a:noFill/>
          </a:ln>
        </p:spPr>
        <p:txBody>
          <a:bodyPr anchorCtr="0" anchor="t" bIns="0" lIns="0" spcFirstLastPara="1" rIns="0" wrap="square" tIns="0">
            <a:spAutoFit/>
          </a:bodyPr>
          <a:lstStyle/>
          <a:p>
            <a:pPr indent="0" lvl="0" marL="0" marR="0" rtl="0" algn="l">
              <a:lnSpc>
                <a:spcPct val="65312"/>
              </a:lnSpc>
              <a:spcBef>
                <a:spcPts val="0"/>
              </a:spcBef>
              <a:spcAft>
                <a:spcPts val="0"/>
              </a:spcAft>
              <a:buNone/>
            </a:pPr>
            <a:r>
              <a:t/>
            </a:r>
            <a:endParaRPr sz="3200">
              <a:solidFill>
                <a:schemeClr val="dk1"/>
              </a:solidFill>
              <a:latin typeface="Arial"/>
              <a:ea typeface="Arial"/>
              <a:cs typeface="Arial"/>
              <a:sym typeface="Arial"/>
            </a:endParaRPr>
          </a:p>
        </p:txBody>
      </p:sp>
      <p:pic>
        <p:nvPicPr>
          <p:cNvPr id="250" name="Google Shape;250;p24"/>
          <p:cNvPicPr preferRelativeResize="0"/>
          <p:nvPr/>
        </p:nvPicPr>
        <p:blipFill rotWithShape="1">
          <a:blip r:embed="rId3">
            <a:alphaModFix/>
          </a:blip>
          <a:srcRect b="0" l="0" r="0" t="0"/>
          <a:stretch/>
        </p:blipFill>
        <p:spPr>
          <a:xfrm>
            <a:off x="5705310" y="304802"/>
            <a:ext cx="561824" cy="561824"/>
          </a:xfrm>
          <a:prstGeom prst="rect">
            <a:avLst/>
          </a:prstGeom>
          <a:noFill/>
          <a:ln>
            <a:noFill/>
          </a:ln>
        </p:spPr>
      </p:pic>
      <p:sp>
        <p:nvSpPr>
          <p:cNvPr id="251" name="Google Shape;251;p24"/>
          <p:cNvSpPr txBox="1"/>
          <p:nvPr/>
        </p:nvSpPr>
        <p:spPr>
          <a:xfrm>
            <a:off x="1055948" y="1690498"/>
            <a:ext cx="10080101" cy="2998898"/>
          </a:xfrm>
          <a:prstGeom prst="rect">
            <a:avLst/>
          </a:prstGeom>
          <a:noFill/>
          <a:ln>
            <a:noFill/>
          </a:ln>
        </p:spPr>
        <p:txBody>
          <a:bodyPr anchorCtr="0" anchor="t" bIns="0" lIns="0" spcFirstLastPara="1" rIns="0" wrap="square" tIns="43800">
            <a:spAutoFit/>
          </a:bodyPr>
          <a:lstStyle/>
          <a:p>
            <a:pPr indent="-214630" lvl="0" marL="379095" marR="5080" rtl="0" algn="l">
              <a:spcBef>
                <a:spcPts val="0"/>
              </a:spcBef>
              <a:spcAft>
                <a:spcPts val="0"/>
              </a:spcAft>
              <a:buClr>
                <a:schemeClr val="dk1"/>
              </a:buClr>
              <a:buSzPts val="2400"/>
              <a:buFont typeface="Calibri"/>
              <a:buNone/>
            </a:pPr>
            <a:r>
              <a:t/>
            </a:r>
            <a:endParaRPr sz="2400">
              <a:solidFill>
                <a:schemeClr val="dk1"/>
              </a:solidFill>
              <a:latin typeface="Arial"/>
              <a:ea typeface="Arial"/>
              <a:cs typeface="Arial"/>
              <a:sym typeface="Arial"/>
            </a:endParaRPr>
          </a:p>
          <a:p>
            <a:pPr indent="-367030" lvl="0" marL="379095" marR="5080" rtl="0" algn="l">
              <a:spcBef>
                <a:spcPts val="0"/>
              </a:spcBef>
              <a:spcAft>
                <a:spcPts val="0"/>
              </a:spcAft>
              <a:buClr>
                <a:schemeClr val="dk1"/>
              </a:buClr>
              <a:buSzPts val="2400"/>
              <a:buFont typeface="Arial"/>
              <a:buChar char="●"/>
            </a:pPr>
            <a:r>
              <a:rPr lang="es-ES" sz="2400">
                <a:solidFill>
                  <a:schemeClr val="dk1"/>
                </a:solidFill>
                <a:latin typeface="Arial"/>
                <a:ea typeface="Arial"/>
                <a:cs typeface="Arial"/>
                <a:sym typeface="Arial"/>
              </a:rPr>
              <a:t>Elabora la actividad práctica de acuerdo a la guía de laboratorio de sesión</a:t>
            </a:r>
            <a:endParaRPr/>
          </a:p>
          <a:p>
            <a:pPr indent="-214630" lvl="0" marL="379095" marR="5080" rtl="0" algn="l">
              <a:spcBef>
                <a:spcPts val="0"/>
              </a:spcBef>
              <a:spcAft>
                <a:spcPts val="0"/>
              </a:spcAft>
              <a:buClr>
                <a:schemeClr val="dk1"/>
              </a:buClr>
              <a:buSzPts val="2400"/>
              <a:buFont typeface="Calibri"/>
              <a:buNone/>
            </a:pPr>
            <a:r>
              <a:t/>
            </a:r>
            <a:endParaRPr sz="2400">
              <a:solidFill>
                <a:schemeClr val="dk1"/>
              </a:solidFill>
              <a:latin typeface="Arial"/>
              <a:ea typeface="Arial"/>
              <a:cs typeface="Arial"/>
              <a:sym typeface="Arial"/>
            </a:endParaRPr>
          </a:p>
          <a:p>
            <a:pPr indent="-367030" lvl="0" marL="379095" marR="5080" rtl="0" algn="l">
              <a:spcBef>
                <a:spcPts val="0"/>
              </a:spcBef>
              <a:spcAft>
                <a:spcPts val="0"/>
              </a:spcAft>
              <a:buClr>
                <a:schemeClr val="dk1"/>
              </a:buClr>
              <a:buSzPts val="2400"/>
              <a:buFont typeface="Arial"/>
              <a:buChar char="●"/>
            </a:pPr>
            <a:r>
              <a:rPr lang="es-ES" sz="2400">
                <a:solidFill>
                  <a:schemeClr val="dk1"/>
                </a:solidFill>
                <a:latin typeface="Arial"/>
                <a:ea typeface="Arial"/>
                <a:cs typeface="Arial"/>
                <a:sym typeface="Arial"/>
              </a:rPr>
              <a:t>Sube la actividad práctica en la  plataforma virtual de aprendizaje</a:t>
            </a:r>
            <a:endParaRPr sz="2400">
              <a:solidFill>
                <a:schemeClr val="dk1"/>
              </a:solidFill>
              <a:latin typeface="Arial"/>
              <a:ea typeface="Arial"/>
              <a:cs typeface="Arial"/>
              <a:sym typeface="Arial"/>
            </a:endParaRPr>
          </a:p>
          <a:p>
            <a:pPr indent="0" lvl="0" marL="0" marR="0" rtl="0" algn="l">
              <a:spcBef>
                <a:spcPts val="0"/>
              </a:spcBef>
              <a:spcAft>
                <a:spcPts val="0"/>
              </a:spcAft>
              <a:buClr>
                <a:schemeClr val="dk1"/>
              </a:buClr>
              <a:buSzPts val="2400"/>
              <a:buFont typeface="Arial"/>
              <a:buNone/>
            </a:pPr>
            <a:r>
              <a:t/>
            </a:r>
            <a:endParaRPr sz="2400">
              <a:solidFill>
                <a:schemeClr val="dk1"/>
              </a:solidFill>
              <a:latin typeface="Arial"/>
              <a:ea typeface="Arial"/>
              <a:cs typeface="Arial"/>
              <a:sym typeface="Arial"/>
            </a:endParaRPr>
          </a:p>
          <a:p>
            <a:pPr indent="-367030" lvl="0" marL="379095" marR="0" rtl="0" algn="l">
              <a:spcBef>
                <a:spcPts val="0"/>
              </a:spcBef>
              <a:spcAft>
                <a:spcPts val="0"/>
              </a:spcAft>
              <a:buClr>
                <a:schemeClr val="dk1"/>
              </a:buClr>
              <a:buSzPts val="2400"/>
              <a:buFont typeface="Arial"/>
              <a:buChar char="●"/>
            </a:pPr>
            <a:r>
              <a:rPr lang="es-ES" sz="2400">
                <a:solidFill>
                  <a:schemeClr val="dk1"/>
                </a:solidFill>
                <a:latin typeface="Arial"/>
                <a:ea typeface="Arial"/>
                <a:cs typeface="Arial"/>
                <a:sym typeface="Arial"/>
              </a:rPr>
              <a:t>Guarda la actividad con la siguiente etiqueta:</a:t>
            </a:r>
            <a:endParaRPr sz="2400">
              <a:solidFill>
                <a:schemeClr val="dk1"/>
              </a:solidFill>
              <a:latin typeface="Arial"/>
              <a:ea typeface="Arial"/>
              <a:cs typeface="Arial"/>
              <a:sym typeface="Arial"/>
            </a:endParaRPr>
          </a:p>
          <a:p>
            <a:pPr indent="0" lvl="0" marL="379095" marR="0" rtl="0" algn="l">
              <a:spcBef>
                <a:spcPts val="0"/>
              </a:spcBef>
              <a:spcAft>
                <a:spcPts val="0"/>
              </a:spcAft>
              <a:buNone/>
            </a:pPr>
            <a:r>
              <a:rPr b="1" i="1" lang="es-ES" sz="2400">
                <a:solidFill>
                  <a:schemeClr val="dk1"/>
                </a:solidFill>
                <a:latin typeface="Arial"/>
                <a:ea typeface="Arial"/>
                <a:cs typeface="Arial"/>
                <a:sym typeface="Arial"/>
              </a:rPr>
              <a:t>BDII_Actividad14_NombreApellido</a:t>
            </a:r>
            <a:endParaRPr sz="2400">
              <a:solidFill>
                <a:schemeClr val="dk1"/>
              </a:solidFill>
              <a:latin typeface="Arial"/>
              <a:ea typeface="Arial"/>
              <a:cs typeface="Arial"/>
              <a:sym typeface="Arial"/>
            </a:endParaRPr>
          </a:p>
        </p:txBody>
      </p:sp>
      <p:sp>
        <p:nvSpPr>
          <p:cNvPr id="252" name="Google Shape;252;p24"/>
          <p:cNvSpPr txBox="1"/>
          <p:nvPr/>
        </p:nvSpPr>
        <p:spPr>
          <a:xfrm>
            <a:off x="1243933" y="5472302"/>
            <a:ext cx="9704133" cy="369332"/>
          </a:xfrm>
          <a:prstGeom prst="rect">
            <a:avLst/>
          </a:prstGeom>
          <a:solidFill>
            <a:srgbClr val="D9EAD3"/>
          </a:solidFill>
          <a:ln>
            <a:noFill/>
          </a:ln>
        </p:spPr>
        <p:txBody>
          <a:bodyPr anchorCtr="0" anchor="t" bIns="0" lIns="0" spcFirstLastPara="1" rIns="0" wrap="square" tIns="0">
            <a:spAutoFit/>
          </a:bodyPr>
          <a:lstStyle/>
          <a:p>
            <a:pPr indent="0" lvl="0" marL="0" marR="0" rtl="0" algn="ctr">
              <a:spcBef>
                <a:spcPts val="0"/>
              </a:spcBef>
              <a:spcAft>
                <a:spcPts val="0"/>
              </a:spcAft>
              <a:buNone/>
            </a:pPr>
            <a:r>
              <a:rPr i="1" lang="es-ES" sz="2400">
                <a:solidFill>
                  <a:schemeClr val="dk1"/>
                </a:solidFill>
                <a:latin typeface="Arial"/>
                <a:ea typeface="Arial"/>
                <a:cs typeface="Arial"/>
                <a:sym typeface="Arial"/>
              </a:rPr>
              <a:t>Nota: No olvides también revisar tu plataforma UTP+Class</a:t>
            </a:r>
            <a:endParaRPr sz="2400">
              <a:solidFill>
                <a:schemeClr val="dk1"/>
              </a:solidFill>
              <a:latin typeface="Arial"/>
              <a:ea typeface="Arial"/>
              <a:cs typeface="Arial"/>
              <a:sym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p25"/>
          <p:cNvSpPr/>
          <p:nvPr/>
        </p:nvSpPr>
        <p:spPr>
          <a:xfrm>
            <a:off x="0" y="304801"/>
            <a:ext cx="5659755" cy="561824"/>
          </a:xfrm>
          <a:custGeom>
            <a:rect b="b" l="l" r="r" t="t"/>
            <a:pathLst>
              <a:path extrusionOk="0" h="415290" w="5659755">
                <a:moveTo>
                  <a:pt x="5590548" y="414899"/>
                </a:moveTo>
                <a:lnTo>
                  <a:pt x="6651" y="414899"/>
                </a:lnTo>
                <a:lnTo>
                  <a:pt x="0" y="413557"/>
                </a:lnTo>
                <a:lnTo>
                  <a:pt x="0" y="1342"/>
                </a:lnTo>
                <a:lnTo>
                  <a:pt x="6651" y="0"/>
                </a:lnTo>
                <a:lnTo>
                  <a:pt x="5590548" y="0"/>
                </a:lnTo>
                <a:lnTo>
                  <a:pt x="5604102" y="1340"/>
                </a:lnTo>
                <a:lnTo>
                  <a:pt x="5639445" y="20253"/>
                </a:lnTo>
                <a:lnTo>
                  <a:pt x="5658358" y="55597"/>
                </a:lnTo>
                <a:lnTo>
                  <a:pt x="5659699" y="69151"/>
                </a:lnTo>
                <a:lnTo>
                  <a:pt x="5659699" y="345748"/>
                </a:lnTo>
                <a:lnTo>
                  <a:pt x="5654265" y="372665"/>
                </a:lnTo>
                <a:lnTo>
                  <a:pt x="5639446" y="394646"/>
                </a:lnTo>
                <a:lnTo>
                  <a:pt x="5617465" y="409465"/>
                </a:lnTo>
                <a:lnTo>
                  <a:pt x="5590548" y="414899"/>
                </a:lnTo>
                <a:close/>
              </a:path>
            </a:pathLst>
          </a:custGeom>
          <a:solidFill>
            <a:srgbClr val="D1052D"/>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8" name="Google Shape;258;p25"/>
          <p:cNvSpPr txBox="1"/>
          <p:nvPr/>
        </p:nvSpPr>
        <p:spPr>
          <a:xfrm>
            <a:off x="381000" y="381000"/>
            <a:ext cx="4724400" cy="382156"/>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b="1" lang="es-ES" sz="2400">
                <a:solidFill>
                  <a:srgbClr val="FFFFFF"/>
                </a:solidFill>
                <a:latin typeface="Arial"/>
                <a:ea typeface="Arial"/>
                <a:cs typeface="Arial"/>
                <a:sym typeface="Arial"/>
              </a:rPr>
              <a:t>Recursos</a:t>
            </a:r>
            <a:endParaRPr sz="2400">
              <a:solidFill>
                <a:schemeClr val="dk1"/>
              </a:solidFill>
              <a:latin typeface="Arial"/>
              <a:ea typeface="Arial"/>
              <a:cs typeface="Arial"/>
              <a:sym typeface="Arial"/>
            </a:endParaRPr>
          </a:p>
        </p:txBody>
      </p:sp>
      <p:sp>
        <p:nvSpPr>
          <p:cNvPr id="259" name="Google Shape;259;p25"/>
          <p:cNvSpPr txBox="1"/>
          <p:nvPr/>
        </p:nvSpPr>
        <p:spPr>
          <a:xfrm>
            <a:off x="3886200" y="3581400"/>
            <a:ext cx="6476999" cy="295402"/>
          </a:xfrm>
          <a:prstGeom prst="rect">
            <a:avLst/>
          </a:prstGeom>
          <a:solidFill>
            <a:srgbClr val="FFFFFF"/>
          </a:solidFill>
          <a:ln>
            <a:noFill/>
          </a:ln>
        </p:spPr>
        <p:txBody>
          <a:bodyPr anchorCtr="0" anchor="t" bIns="0" lIns="0" spcFirstLastPara="1" rIns="0" wrap="square" tIns="0">
            <a:spAutoFit/>
          </a:bodyPr>
          <a:lstStyle/>
          <a:p>
            <a:pPr indent="0" lvl="0" marL="0" marR="0" rtl="0" algn="l">
              <a:lnSpc>
                <a:spcPct val="65312"/>
              </a:lnSpc>
              <a:spcBef>
                <a:spcPts val="0"/>
              </a:spcBef>
              <a:spcAft>
                <a:spcPts val="0"/>
              </a:spcAft>
              <a:buNone/>
            </a:pPr>
            <a:r>
              <a:t/>
            </a:r>
            <a:endParaRPr sz="3200">
              <a:solidFill>
                <a:schemeClr val="dk1"/>
              </a:solidFill>
              <a:latin typeface="Arial"/>
              <a:ea typeface="Arial"/>
              <a:cs typeface="Arial"/>
              <a:sym typeface="Arial"/>
            </a:endParaRPr>
          </a:p>
        </p:txBody>
      </p:sp>
      <p:pic>
        <p:nvPicPr>
          <p:cNvPr id="260" name="Google Shape;260;p25"/>
          <p:cNvPicPr preferRelativeResize="0"/>
          <p:nvPr/>
        </p:nvPicPr>
        <p:blipFill rotWithShape="1">
          <a:blip r:embed="rId3">
            <a:alphaModFix/>
          </a:blip>
          <a:srcRect b="0" l="0" r="0" t="0"/>
          <a:stretch/>
        </p:blipFill>
        <p:spPr>
          <a:xfrm>
            <a:off x="5705310" y="304802"/>
            <a:ext cx="561824" cy="561824"/>
          </a:xfrm>
          <a:prstGeom prst="rect">
            <a:avLst/>
          </a:prstGeom>
          <a:noFill/>
          <a:ln>
            <a:noFill/>
          </a:ln>
        </p:spPr>
      </p:pic>
      <p:sp>
        <p:nvSpPr>
          <p:cNvPr id="261" name="Google Shape;261;p25"/>
          <p:cNvSpPr txBox="1"/>
          <p:nvPr/>
        </p:nvSpPr>
        <p:spPr>
          <a:xfrm>
            <a:off x="946171" y="1116016"/>
            <a:ext cx="10080101" cy="4106894"/>
          </a:xfrm>
          <a:prstGeom prst="rect">
            <a:avLst/>
          </a:prstGeom>
          <a:noFill/>
          <a:ln>
            <a:noFill/>
          </a:ln>
        </p:spPr>
        <p:txBody>
          <a:bodyPr anchorCtr="0" anchor="t" bIns="0" lIns="0" spcFirstLastPara="1" rIns="0" wrap="square" tIns="43800">
            <a:spAutoFit/>
          </a:bodyPr>
          <a:lstStyle/>
          <a:p>
            <a:pPr indent="0" lvl="0" marL="12065" marR="5080" rtl="0" algn="l">
              <a:spcBef>
                <a:spcPts val="0"/>
              </a:spcBef>
              <a:spcAft>
                <a:spcPts val="0"/>
              </a:spcAft>
              <a:buNone/>
            </a:pPr>
            <a:r>
              <a:rPr lang="es-ES" sz="2400">
                <a:solidFill>
                  <a:schemeClr val="dk1"/>
                </a:solidFill>
                <a:latin typeface="Arial"/>
                <a:ea typeface="Arial"/>
                <a:cs typeface="Arial"/>
                <a:sym typeface="Arial"/>
              </a:rPr>
              <a:t>-  Bases de datos relacionales y columnares | | UPV (sf).      https://youtu.be/e_MCU2qHUI4?feature=shared</a:t>
            </a:r>
            <a:endParaRPr sz="2400">
              <a:solidFill>
                <a:schemeClr val="dk1"/>
              </a:solidFill>
              <a:latin typeface="Arial"/>
              <a:ea typeface="Arial"/>
              <a:cs typeface="Arial"/>
              <a:sym typeface="Arial"/>
            </a:endParaRPr>
          </a:p>
          <a:p>
            <a:pPr indent="-342900" lvl="0" marL="354965" marR="5080" rtl="0" algn="l">
              <a:spcBef>
                <a:spcPts val="0"/>
              </a:spcBef>
              <a:spcAft>
                <a:spcPts val="0"/>
              </a:spcAft>
              <a:buClr>
                <a:srgbClr val="222222"/>
              </a:buClr>
              <a:buSzPts val="2400"/>
              <a:buFont typeface="Arial"/>
              <a:buChar char="-"/>
            </a:pPr>
            <a:r>
              <a:rPr b="0" i="0" lang="es-ES" sz="2400">
                <a:solidFill>
                  <a:srgbClr val="222222"/>
                </a:solidFill>
                <a:latin typeface="Arial"/>
                <a:ea typeface="Arial"/>
                <a:cs typeface="Arial"/>
                <a:sym typeface="Arial"/>
              </a:rPr>
              <a:t>Escudero Romero, D. (2015). Estudio del SGBD Cassandra. https://uvadoc.uva.es/bitstream/handle/10324/15204/TFG-G1674.pdf?sequence=1&amp;isAllowed=y</a:t>
            </a:r>
            <a:endParaRPr sz="2400">
              <a:solidFill>
                <a:schemeClr val="dk1"/>
              </a:solidFill>
              <a:latin typeface="Arial"/>
              <a:ea typeface="Arial"/>
              <a:cs typeface="Arial"/>
              <a:sym typeface="Arial"/>
            </a:endParaRPr>
          </a:p>
          <a:p>
            <a:pPr indent="-342900" lvl="0" marL="354965" marR="5080" rtl="0" algn="l">
              <a:spcBef>
                <a:spcPts val="0"/>
              </a:spcBef>
              <a:spcAft>
                <a:spcPts val="0"/>
              </a:spcAft>
              <a:buClr>
                <a:schemeClr val="dk1"/>
              </a:buClr>
              <a:buSzPts val="2400"/>
              <a:buFont typeface="Arial"/>
              <a:buChar char="-"/>
            </a:pPr>
            <a:r>
              <a:rPr lang="es-ES" sz="2400">
                <a:solidFill>
                  <a:schemeClr val="dk1"/>
                </a:solidFill>
                <a:latin typeface="Arial"/>
                <a:ea typeface="Arial"/>
                <a:cs typeface="Arial"/>
                <a:sym typeface="Arial"/>
              </a:rPr>
              <a:t> Taller Apache Cassandra(2013). </a:t>
            </a:r>
            <a:r>
              <a:rPr lang="es-ES" sz="2400" u="sng">
                <a:solidFill>
                  <a:schemeClr val="dk1"/>
                </a:solidFill>
                <a:latin typeface="Arial"/>
                <a:ea typeface="Arial"/>
                <a:cs typeface="Arial"/>
                <a:sym typeface="Arial"/>
                <a:hlinkClick r:id="rId4">
                  <a:extLst>
                    <a:ext uri="{A12FA001-AC4F-418D-AE19-62706E023703}">
                      <ahyp:hlinkClr val="tx"/>
                    </a:ext>
                  </a:extLst>
                </a:hlinkClick>
              </a:rPr>
              <a:t>https://eventos.citius.usc.es/bigdata/workshops/Cassandra.pdf</a:t>
            </a:r>
            <a:endParaRPr sz="2400">
              <a:solidFill>
                <a:schemeClr val="dk1"/>
              </a:solidFill>
              <a:latin typeface="Arial"/>
              <a:ea typeface="Arial"/>
              <a:cs typeface="Arial"/>
              <a:sym typeface="Arial"/>
            </a:endParaRPr>
          </a:p>
          <a:p>
            <a:pPr indent="-342900" lvl="0" marL="354965" marR="5080" rtl="0" algn="l">
              <a:spcBef>
                <a:spcPts val="0"/>
              </a:spcBef>
              <a:spcAft>
                <a:spcPts val="0"/>
              </a:spcAft>
              <a:buClr>
                <a:srgbClr val="222222"/>
              </a:buClr>
              <a:buSzPts val="2400"/>
              <a:buFont typeface="Arial"/>
              <a:buChar char="-"/>
            </a:pPr>
            <a:r>
              <a:rPr b="0" i="0" lang="es-ES" sz="2400">
                <a:solidFill>
                  <a:srgbClr val="222222"/>
                </a:solidFill>
                <a:latin typeface="Arial"/>
                <a:ea typeface="Arial"/>
                <a:cs typeface="Arial"/>
                <a:sym typeface="Arial"/>
              </a:rPr>
              <a:t>Díaz Moreno, A. (2019). Introducción a las bases de datos NoSQL: comparativa MongoDB vs Cassandra. https://ebuah.uah.es/dspace/bitstream/handle/10017/38612/TFG_Diaz_Moreno_2019.pdf?sequence=1&amp;isAllowed=y</a:t>
            </a:r>
            <a:endParaRPr sz="2400">
              <a:solidFill>
                <a:schemeClr val="dk1"/>
              </a:solidFill>
              <a:latin typeface="Arial"/>
              <a:ea typeface="Arial"/>
              <a:cs typeface="Arial"/>
              <a:sym typeface="Arial"/>
            </a:endParaRPr>
          </a:p>
        </p:txBody>
      </p:sp>
      <p:sp>
        <p:nvSpPr>
          <p:cNvPr id="262" name="Google Shape;262;p25"/>
          <p:cNvSpPr txBox="1"/>
          <p:nvPr/>
        </p:nvSpPr>
        <p:spPr>
          <a:xfrm>
            <a:off x="1243933" y="5472302"/>
            <a:ext cx="9704133" cy="369332"/>
          </a:xfrm>
          <a:prstGeom prst="rect">
            <a:avLst/>
          </a:prstGeom>
          <a:solidFill>
            <a:srgbClr val="D9EAD3"/>
          </a:solidFill>
          <a:ln>
            <a:noFill/>
          </a:ln>
        </p:spPr>
        <p:txBody>
          <a:bodyPr anchorCtr="0" anchor="t" bIns="0" lIns="0" spcFirstLastPara="1" rIns="0" wrap="square" tIns="0">
            <a:spAutoFit/>
          </a:bodyPr>
          <a:lstStyle/>
          <a:p>
            <a:pPr indent="0" lvl="0" marL="0" marR="0" rtl="0" algn="ctr">
              <a:spcBef>
                <a:spcPts val="0"/>
              </a:spcBef>
              <a:spcAft>
                <a:spcPts val="0"/>
              </a:spcAft>
              <a:buNone/>
            </a:pPr>
            <a:r>
              <a:rPr i="1" lang="es-ES" sz="2400">
                <a:solidFill>
                  <a:schemeClr val="dk1"/>
                </a:solidFill>
                <a:latin typeface="Arial"/>
                <a:ea typeface="Arial"/>
                <a:cs typeface="Arial"/>
                <a:sym typeface="Arial"/>
              </a:rPr>
              <a:t>Nota: No olvides también revisar tu plataforma UTP+Class</a:t>
            </a:r>
            <a:endParaRPr sz="2400">
              <a:solidFill>
                <a:schemeClr val="dk1"/>
              </a:solidFill>
              <a:latin typeface="Arial"/>
              <a:ea typeface="Arial"/>
              <a:cs typeface="Arial"/>
              <a:sym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p26"/>
          <p:cNvSpPr/>
          <p:nvPr/>
        </p:nvSpPr>
        <p:spPr>
          <a:xfrm>
            <a:off x="0" y="304801"/>
            <a:ext cx="5659755" cy="561824"/>
          </a:xfrm>
          <a:custGeom>
            <a:rect b="b" l="l" r="r" t="t"/>
            <a:pathLst>
              <a:path extrusionOk="0" h="415290" w="5659755">
                <a:moveTo>
                  <a:pt x="5590548" y="414899"/>
                </a:moveTo>
                <a:lnTo>
                  <a:pt x="6651" y="414899"/>
                </a:lnTo>
                <a:lnTo>
                  <a:pt x="0" y="413557"/>
                </a:lnTo>
                <a:lnTo>
                  <a:pt x="0" y="1342"/>
                </a:lnTo>
                <a:lnTo>
                  <a:pt x="6651" y="0"/>
                </a:lnTo>
                <a:lnTo>
                  <a:pt x="5590548" y="0"/>
                </a:lnTo>
                <a:lnTo>
                  <a:pt x="5604102" y="1340"/>
                </a:lnTo>
                <a:lnTo>
                  <a:pt x="5639445" y="20253"/>
                </a:lnTo>
                <a:lnTo>
                  <a:pt x="5658358" y="55597"/>
                </a:lnTo>
                <a:lnTo>
                  <a:pt x="5659699" y="69151"/>
                </a:lnTo>
                <a:lnTo>
                  <a:pt x="5659699" y="345748"/>
                </a:lnTo>
                <a:lnTo>
                  <a:pt x="5654265" y="372665"/>
                </a:lnTo>
                <a:lnTo>
                  <a:pt x="5639446" y="394646"/>
                </a:lnTo>
                <a:lnTo>
                  <a:pt x="5617465" y="409465"/>
                </a:lnTo>
                <a:lnTo>
                  <a:pt x="5590548" y="414899"/>
                </a:lnTo>
                <a:close/>
              </a:path>
            </a:pathLst>
          </a:custGeom>
          <a:solidFill>
            <a:srgbClr val="D1052D"/>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8" name="Google Shape;268;p26"/>
          <p:cNvSpPr txBox="1"/>
          <p:nvPr/>
        </p:nvSpPr>
        <p:spPr>
          <a:xfrm>
            <a:off x="381000" y="381000"/>
            <a:ext cx="4724400" cy="382156"/>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b="1" lang="es-ES" sz="2400">
                <a:solidFill>
                  <a:srgbClr val="FFFFFF"/>
                </a:solidFill>
                <a:latin typeface="Arial"/>
                <a:ea typeface="Arial"/>
                <a:cs typeface="Arial"/>
                <a:sym typeface="Arial"/>
              </a:rPr>
              <a:t>Tarea</a:t>
            </a:r>
            <a:endParaRPr sz="2400">
              <a:solidFill>
                <a:schemeClr val="dk1"/>
              </a:solidFill>
              <a:latin typeface="Arial"/>
              <a:ea typeface="Arial"/>
              <a:cs typeface="Arial"/>
              <a:sym typeface="Arial"/>
            </a:endParaRPr>
          </a:p>
        </p:txBody>
      </p:sp>
      <p:pic>
        <p:nvPicPr>
          <p:cNvPr id="269" name="Google Shape;269;p26"/>
          <p:cNvPicPr preferRelativeResize="0"/>
          <p:nvPr/>
        </p:nvPicPr>
        <p:blipFill rotWithShape="1">
          <a:blip r:embed="rId3">
            <a:alphaModFix/>
          </a:blip>
          <a:srcRect b="0" l="0" r="0" t="0"/>
          <a:stretch/>
        </p:blipFill>
        <p:spPr>
          <a:xfrm>
            <a:off x="5705310" y="304802"/>
            <a:ext cx="561824" cy="561824"/>
          </a:xfrm>
          <a:prstGeom prst="rect">
            <a:avLst/>
          </a:prstGeom>
          <a:noFill/>
          <a:ln>
            <a:noFill/>
          </a:ln>
        </p:spPr>
      </p:pic>
      <p:sp>
        <p:nvSpPr>
          <p:cNvPr id="270" name="Google Shape;270;p26"/>
          <p:cNvSpPr txBox="1"/>
          <p:nvPr/>
        </p:nvSpPr>
        <p:spPr>
          <a:xfrm>
            <a:off x="914400" y="2828835"/>
            <a:ext cx="6096000" cy="120032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s-ES" sz="3600">
                <a:solidFill>
                  <a:schemeClr val="dk1"/>
                </a:solidFill>
                <a:latin typeface="Arial"/>
                <a:ea typeface="Arial"/>
                <a:cs typeface="Arial"/>
                <a:sym typeface="Arial"/>
              </a:rPr>
              <a:t>MUCHAS GRACIAS QUE DIOS LOS BENDIGA!!!</a:t>
            </a:r>
            <a:endParaRPr b="1" sz="3600">
              <a:solidFill>
                <a:schemeClr val="dk1"/>
              </a:solidFill>
              <a:latin typeface="Arial"/>
              <a:ea typeface="Arial"/>
              <a:cs typeface="Arial"/>
              <a:sym typeface="Arial"/>
            </a:endParaRPr>
          </a:p>
        </p:txBody>
      </p:sp>
      <p:pic>
        <p:nvPicPr>
          <p:cNvPr id="271" name="Google Shape;271;p26"/>
          <p:cNvPicPr preferRelativeResize="0"/>
          <p:nvPr/>
        </p:nvPicPr>
        <p:blipFill rotWithShape="1">
          <a:blip r:embed="rId4">
            <a:alphaModFix/>
          </a:blip>
          <a:srcRect b="0" l="0" r="0" t="0"/>
          <a:stretch/>
        </p:blipFill>
        <p:spPr>
          <a:xfrm>
            <a:off x="7467600" y="1216152"/>
            <a:ext cx="3056381" cy="4425696"/>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grpSp>
        <p:nvGrpSpPr>
          <p:cNvPr id="276" name="Google Shape;276;p27"/>
          <p:cNvGrpSpPr/>
          <p:nvPr/>
        </p:nvGrpSpPr>
        <p:grpSpPr>
          <a:xfrm>
            <a:off x="2057400" y="152400"/>
            <a:ext cx="9906000" cy="4152900"/>
            <a:chOff x="2057400" y="152400"/>
            <a:chExt cx="9906000" cy="4152900"/>
          </a:xfrm>
        </p:grpSpPr>
        <p:pic>
          <p:nvPicPr>
            <p:cNvPr id="277" name="Google Shape;277;p27"/>
            <p:cNvPicPr preferRelativeResize="0"/>
            <p:nvPr/>
          </p:nvPicPr>
          <p:blipFill rotWithShape="1">
            <a:blip r:embed="rId3">
              <a:alphaModFix/>
            </a:blip>
            <a:srcRect b="0" l="0" r="0" t="0"/>
            <a:stretch/>
          </p:blipFill>
          <p:spPr>
            <a:xfrm>
              <a:off x="2057400" y="2552700"/>
              <a:ext cx="7856700" cy="1752600"/>
            </a:xfrm>
            <a:prstGeom prst="rect">
              <a:avLst/>
            </a:prstGeom>
            <a:noFill/>
            <a:ln>
              <a:noFill/>
            </a:ln>
          </p:spPr>
        </p:pic>
        <p:sp>
          <p:nvSpPr>
            <p:cNvPr id="278" name="Google Shape;278;p27"/>
            <p:cNvSpPr/>
            <p:nvPr/>
          </p:nvSpPr>
          <p:spPr>
            <a:xfrm>
              <a:off x="9144000" y="152400"/>
              <a:ext cx="2819400" cy="762722"/>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2024-06-11T03:36:57Z</dcterms:created>
  <dc:creator>Julia</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2020-06-18T00:00:00Z</vt:filetime>
  </property>
  <property fmtid="{D5CDD505-2E9C-101B-9397-08002B2CF9AE}" pid="3" name="Creator">
    <vt:lpwstr>Microsoft® PowerPoint® para Office 365</vt:lpwstr>
  </property>
  <property fmtid="{D5CDD505-2E9C-101B-9397-08002B2CF9AE}" pid="4" name="LastSaved">
    <vt:filetime>2024-06-11T00:00:00Z</vt:filetime>
  </property>
</Properties>
</file>