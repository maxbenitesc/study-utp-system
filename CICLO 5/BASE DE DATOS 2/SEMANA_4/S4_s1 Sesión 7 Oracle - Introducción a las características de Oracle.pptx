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12192000" cy="6858000"/>
  <p:embeddedFontLst>
    <p:embeddedFont>
      <p:font typeface="Poppins"/>
      <p:regular r:id="rId33"/>
      <p:bold r:id="rId34"/>
      <p:italic r:id="rId35"/>
      <p:boldItalic r:id="rId36"/>
    </p:embeddedFont>
    <p:embeddedFont>
      <p:font typeface="Rubik"/>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1" roundtripDataSignature="AMtx7mj7m70OwT9mmN9VQFaXXFhGN2gS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ubik-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oppins-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oppins-italic.fntdata"/><Relationship Id="rId12" Type="http://schemas.openxmlformats.org/officeDocument/2006/relationships/slide" Target="slides/slide7.xml"/><Relationship Id="rId34" Type="http://schemas.openxmlformats.org/officeDocument/2006/relationships/font" Target="fonts/Poppins-bold.fntdata"/><Relationship Id="rId15" Type="http://schemas.openxmlformats.org/officeDocument/2006/relationships/slide" Target="slides/slide10.xml"/><Relationship Id="rId37" Type="http://schemas.openxmlformats.org/officeDocument/2006/relationships/font" Target="fonts/Rubik-regular.fntdata"/><Relationship Id="rId14" Type="http://schemas.openxmlformats.org/officeDocument/2006/relationships/slide" Target="slides/slide9.xml"/><Relationship Id="rId36" Type="http://schemas.openxmlformats.org/officeDocument/2006/relationships/font" Target="fonts/Poppins-boldItalic.fntdata"/><Relationship Id="rId17" Type="http://schemas.openxmlformats.org/officeDocument/2006/relationships/slide" Target="slides/slide12.xml"/><Relationship Id="rId39" Type="http://schemas.openxmlformats.org/officeDocument/2006/relationships/font" Target="fonts/Rubik-italic.fntdata"/><Relationship Id="rId16" Type="http://schemas.openxmlformats.org/officeDocument/2006/relationships/slide" Target="slides/slide11.xml"/><Relationship Id="rId38" Type="http://schemas.openxmlformats.org/officeDocument/2006/relationships/font" Target="fonts/Rubik-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7" name="Google Shape;67;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82" name="Google Shape;82;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91" name="Google Shape;91;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08" name="Google Shape;108;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27" name="Google Shape;127;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63" name="Google Shape;163;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sp>
        <p:nvSpPr>
          <p:cNvPr id="16" name="Google Shape;16;p29"/>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30"/>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3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3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32"/>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2"/>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32"/>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3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33"/>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2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youtube.com/watch?v=7jamzK0C4Eg&amp;pp=ygUpUkVGTEVYSU9OIFBBUkEgRVNUVURJU05URVMgVU5JVkVSU0lUQVJJT1M%3D" TargetMode="External"/><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hyperlink" Target="https://www.youtube.com/watch?v=N7qupl0X4Jk" TargetMode="External"/><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oracle.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hyperlink" Target="https://www.youtube.com/watch?v=_ePJqeQ-eWg&amp;list=PLgqdACsQ8US0fk-0trmKjJB8fMCKPJ1ai"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1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900112" y="1838144"/>
            <a:ext cx="10363199" cy="905056"/>
          </a:xfrm>
          <a:prstGeom prst="rect">
            <a:avLst/>
          </a:prstGeom>
          <a:noFill/>
          <a:ln>
            <a:noFill/>
          </a:ln>
        </p:spPr>
        <p:txBody>
          <a:bodyPr anchorCtr="0" anchor="t" bIns="0" lIns="0" spcFirstLastPara="1" rIns="0" wrap="square" tIns="116200">
            <a:spAutoFit/>
          </a:bodyPr>
          <a:lstStyle/>
          <a:p>
            <a:pPr indent="-3253104" lvl="0" marL="3268979" marR="5080" rtl="0" algn="ctr">
              <a:lnSpc>
                <a:spcPct val="135000"/>
              </a:lnSpc>
              <a:spcBef>
                <a:spcPts val="0"/>
              </a:spcBef>
              <a:spcAft>
                <a:spcPts val="0"/>
              </a:spcAft>
              <a:buNone/>
            </a:pPr>
            <a:r>
              <a:rPr lang="es-ES" sz="4800">
                <a:latin typeface="Arial"/>
                <a:ea typeface="Arial"/>
                <a:cs typeface="Arial"/>
                <a:sym typeface="Arial"/>
              </a:rPr>
              <a:t>CURSO: BASE DE DATOS II</a:t>
            </a:r>
            <a:endParaRPr sz="4800">
              <a:latin typeface="Arial"/>
              <a:ea typeface="Arial"/>
              <a:cs typeface="Arial"/>
              <a:sym typeface="Arial"/>
            </a:endParaRPr>
          </a:p>
        </p:txBody>
      </p:sp>
      <p:sp>
        <p:nvSpPr>
          <p:cNvPr id="48" name="Google Shape;48;p1"/>
          <p:cNvSpPr txBox="1"/>
          <p:nvPr/>
        </p:nvSpPr>
        <p:spPr>
          <a:xfrm>
            <a:off x="2767012" y="1644495"/>
            <a:ext cx="6629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u="none" cap="none" strike="noStrike">
                <a:solidFill>
                  <a:srgbClr val="D1052D"/>
                </a:solidFill>
                <a:latin typeface="Calibri"/>
                <a:ea typeface="Calibri"/>
                <a:cs typeface="Calibri"/>
                <a:sym typeface="Calibri"/>
              </a:rPr>
              <a:t>UNIDAD DE APRENDIZAJE 1: </a:t>
            </a:r>
            <a:r>
              <a:rPr b="0" i="0" lang="es-ES" sz="1800" u="none" cap="none" strike="noStrike">
                <a:solidFill>
                  <a:schemeClr val="dk1"/>
                </a:solidFill>
                <a:latin typeface="Calibri"/>
                <a:ea typeface="Calibri"/>
                <a:cs typeface="Calibri"/>
                <a:sym typeface="Calibri"/>
              </a:rPr>
              <a:t>Bases de Datos Relacionales</a:t>
            </a:r>
            <a:endParaRPr b="0" i="0" sz="1800" u="none" cap="none" strike="noStrike">
              <a:solidFill>
                <a:schemeClr val="dk1"/>
              </a:solidFill>
              <a:latin typeface="Calibri"/>
              <a:ea typeface="Calibri"/>
              <a:cs typeface="Calibri"/>
              <a:sym typeface="Calibri"/>
            </a:endParaRPr>
          </a:p>
        </p:txBody>
      </p:sp>
      <p:sp>
        <p:nvSpPr>
          <p:cNvPr id="49" name="Google Shape;49;p1"/>
          <p:cNvSpPr txBox="1"/>
          <p:nvPr/>
        </p:nvSpPr>
        <p:spPr>
          <a:xfrm>
            <a:off x="1966912" y="3179215"/>
            <a:ext cx="8258176" cy="2087751"/>
          </a:xfrm>
          <a:prstGeom prst="rect">
            <a:avLst/>
          </a:prstGeom>
          <a:solidFill>
            <a:srgbClr val="D1052D"/>
          </a:solid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3200" u="none" cap="none" strike="noStrike">
                <a:solidFill>
                  <a:schemeClr val="lt1"/>
                </a:solidFill>
                <a:latin typeface="Arial"/>
                <a:ea typeface="Arial"/>
                <a:cs typeface="Arial"/>
                <a:sym typeface="Arial"/>
              </a:rPr>
              <a:t>SEMANA 4 - SESIÓN N° 7:</a:t>
            </a:r>
            <a:endParaRPr b="1" i="0" sz="3200" u="none" cap="none" strike="noStrike">
              <a:solidFill>
                <a:schemeClr val="lt1"/>
              </a:solidFill>
              <a:latin typeface="Arial"/>
              <a:ea typeface="Arial"/>
              <a:cs typeface="Arial"/>
              <a:sym typeface="Arial"/>
            </a:endParaRPr>
          </a:p>
          <a:p>
            <a:pPr indent="0" lvl="0" marL="12700" marR="0" rtl="0" algn="l">
              <a:lnSpc>
                <a:spcPct val="100000"/>
              </a:lnSpc>
              <a:spcBef>
                <a:spcPts val="100"/>
              </a:spcBef>
              <a:spcAft>
                <a:spcPts val="0"/>
              </a:spcAft>
              <a:buNone/>
            </a:pPr>
            <a:r>
              <a:rPr b="1" i="0" lang="es-ES" sz="3200" u="none" cap="none" strike="noStrike">
                <a:solidFill>
                  <a:schemeClr val="lt1"/>
                </a:solidFill>
                <a:latin typeface="Calibri"/>
                <a:ea typeface="Calibri"/>
                <a:cs typeface="Calibri"/>
                <a:sym typeface="Calibri"/>
              </a:rPr>
              <a:t>Oracle: </a:t>
            </a:r>
            <a:endParaRPr/>
          </a:p>
          <a:p>
            <a:pPr indent="0" lvl="0" marL="12700" marR="0" rtl="0" algn="l">
              <a:lnSpc>
                <a:spcPct val="100000"/>
              </a:lnSpc>
              <a:spcBef>
                <a:spcPts val="100"/>
              </a:spcBef>
              <a:spcAft>
                <a:spcPts val="0"/>
              </a:spcAft>
              <a:buNone/>
            </a:pPr>
            <a:r>
              <a:rPr b="0" i="0" lang="es-ES" sz="3200" u="none" cap="none" strike="noStrike">
                <a:solidFill>
                  <a:schemeClr val="lt1"/>
                </a:solidFill>
                <a:latin typeface="Calibri"/>
                <a:ea typeface="Calibri"/>
                <a:cs typeface="Calibri"/>
                <a:sym typeface="Calibri"/>
              </a:rPr>
              <a:t>-Introducción a las características de Oracle </a:t>
            </a:r>
            <a:endParaRPr/>
          </a:p>
          <a:p>
            <a:pPr indent="0" lvl="0" marL="12700" marR="0" rtl="0" algn="l">
              <a:lnSpc>
                <a:spcPct val="100000"/>
              </a:lnSpc>
              <a:spcBef>
                <a:spcPts val="100"/>
              </a:spcBef>
              <a:spcAft>
                <a:spcPts val="0"/>
              </a:spcAft>
              <a:buNone/>
            </a:pPr>
            <a:r>
              <a:rPr b="0" i="0" lang="es-ES" sz="3200" u="none" cap="none" strike="noStrike">
                <a:solidFill>
                  <a:schemeClr val="lt1"/>
                </a:solidFill>
                <a:latin typeface="Calibri"/>
                <a:ea typeface="Calibri"/>
                <a:cs typeface="Calibri"/>
                <a:sym typeface="Calibri"/>
              </a:rPr>
              <a:t>-Instalación de la Herramienta</a:t>
            </a:r>
            <a:endParaRPr b="0" i="0" sz="3200" u="none" cap="none" strike="noStrike">
              <a:solidFill>
                <a:schemeClr val="lt1"/>
              </a:solidFill>
              <a:latin typeface="Arial"/>
              <a:ea typeface="Arial"/>
              <a:cs typeface="Arial"/>
              <a:sym typeface="Arial"/>
            </a:endParaRPr>
          </a:p>
        </p:txBody>
      </p:sp>
      <p:sp>
        <p:nvSpPr>
          <p:cNvPr id="50" name="Google Shape;50;p1"/>
          <p:cNvSpPr txBox="1"/>
          <p:nvPr/>
        </p:nvSpPr>
        <p:spPr>
          <a:xfrm>
            <a:off x="3048000" y="5715000"/>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1800" u="none" cap="none" strike="noStrike">
                <a:solidFill>
                  <a:srgbClr val="D1052D"/>
                </a:solidFill>
                <a:latin typeface="Arial"/>
                <a:ea typeface="Arial"/>
                <a:cs typeface="Arial"/>
                <a:sym typeface="Arial"/>
              </a:rPr>
              <a:t>DOCENTES DE UTP</a:t>
            </a:r>
            <a:endParaRPr/>
          </a:p>
          <a:p>
            <a:pPr indent="0" lvl="0" marL="12700" marR="0" rtl="0" algn="ctr">
              <a:lnSpc>
                <a:spcPct val="100000"/>
              </a:lnSpc>
              <a:spcBef>
                <a:spcPts val="100"/>
              </a:spcBef>
              <a:spcAft>
                <a:spcPts val="0"/>
              </a:spcAft>
              <a:buNone/>
            </a:pPr>
            <a:r>
              <a:rPr b="1" i="0" lang="es-ES" sz="1800" u="none" cap="none" strike="noStrike">
                <a:solidFill>
                  <a:srgbClr val="D1052D"/>
                </a:solidFill>
                <a:latin typeface="Arial"/>
                <a:ea typeface="Arial"/>
                <a:cs typeface="Arial"/>
                <a:sym typeface="Arial"/>
              </a:rPr>
              <a:t>SISTEMAS</a:t>
            </a:r>
            <a:endParaRPr b="0" i="0" sz="1800" u="none" cap="none" strike="noStrike">
              <a:solidFill>
                <a:schemeClr val="dk1"/>
              </a:solidFill>
              <a:latin typeface="Arial"/>
              <a:ea typeface="Arial"/>
              <a:cs typeface="Arial"/>
              <a:sym typeface="Arial"/>
            </a:endParaRPr>
          </a:p>
        </p:txBody>
      </p:sp>
      <p:grpSp>
        <p:nvGrpSpPr>
          <p:cNvPr id="51" name="Google Shape;51;p1"/>
          <p:cNvGrpSpPr/>
          <p:nvPr/>
        </p:nvGrpSpPr>
        <p:grpSpPr>
          <a:xfrm>
            <a:off x="3681788" y="152400"/>
            <a:ext cx="8281612" cy="1295400"/>
            <a:chOff x="3681788" y="152400"/>
            <a:chExt cx="8281612" cy="1295400"/>
          </a:xfrm>
        </p:grpSpPr>
        <p:pic>
          <p:nvPicPr>
            <p:cNvPr id="52" name="Google Shape;52;p1"/>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53" name="Google Shape;53;p1"/>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0" name="Google Shape;60;p2"/>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61" name="Google Shape;61;p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2" name="Google Shape;62;p2"/>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3" name="Google Shape;63;p2"/>
          <p:cNvPicPr preferRelativeResize="0"/>
          <p:nvPr/>
        </p:nvPicPr>
        <p:blipFill rotWithShape="1">
          <a:blip r:embed="rId4">
            <a:alphaModFix/>
          </a:blip>
          <a:srcRect b="0" l="0" r="0" t="0"/>
          <a:stretch/>
        </p:blipFill>
        <p:spPr>
          <a:xfrm>
            <a:off x="9753600" y="6184229"/>
            <a:ext cx="445171" cy="445171"/>
          </a:xfrm>
          <a:prstGeom prst="rect">
            <a:avLst/>
          </a:prstGeom>
          <a:noFill/>
          <a:ln>
            <a:noFill/>
          </a:ln>
        </p:spPr>
      </p:pic>
      <p:sp>
        <p:nvSpPr>
          <p:cNvPr id="64" name="Google Shape;64;p2"/>
          <p:cNvSpPr txBox="1"/>
          <p:nvPr/>
        </p:nvSpPr>
        <p:spPr>
          <a:xfrm>
            <a:off x="10198771" y="6222148"/>
            <a:ext cx="1764629" cy="400110"/>
          </a:xfrm>
          <a:prstGeom prst="rect">
            <a:avLst/>
          </a:prstGeom>
          <a:noFill/>
          <a:ln>
            <a:noFill/>
          </a:ln>
        </p:spPr>
        <p:txBody>
          <a:bodyPr anchorCtr="0" anchor="t" bIns="45700" lIns="91425" spcFirstLastPara="1" rIns="91425" wrap="square" tIns="45700">
            <a:spAutoFit/>
          </a:bodyPr>
          <a:lstStyle/>
          <a:p>
            <a:pPr indent="0" lvl="0" marL="0" marR="114300" rtl="0" algn="l">
              <a:lnSpc>
                <a:spcPct val="100000"/>
              </a:lnSpc>
              <a:spcBef>
                <a:spcPts val="0"/>
              </a:spcBef>
              <a:spcAft>
                <a:spcPts val="0"/>
              </a:spcAft>
              <a:buNone/>
            </a:pPr>
            <a:r>
              <a:rPr b="1" lang="es-ES" sz="2000">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nvSpPr>
        <p:spPr>
          <a:xfrm>
            <a:off x="3048000" y="4953000"/>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Calibri"/>
              <a:buNone/>
            </a:pPr>
            <a:r>
              <a:rPr lang="es-ES" sz="1800" u="sng">
                <a:solidFill>
                  <a:schemeClr val="dk1"/>
                </a:solidFill>
                <a:latin typeface="Calibri"/>
                <a:ea typeface="Calibri"/>
                <a:cs typeface="Calibri"/>
                <a:sym typeface="Calibri"/>
                <a:hlinkClick r:id="rId3">
                  <a:extLst>
                    <a:ext uri="{A12FA001-AC4F-418D-AE19-62706E023703}">
                      <ahyp:hlinkClr val="tx"/>
                    </a:ext>
                  </a:extLst>
                </a:hlinkClick>
              </a:rPr>
              <a:t>https://www.youtube.com/watch?v=7jamzK0C4Eg&amp;pp=ygUpUkVGTEVYSU9OIFBBUkEgRVNUVURJU05URVMgVU5JVkVSU0lUQVJJT1M%3D</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descr="Yo Puedo, yo Quiero, yo voy a Lograrlo 6. 14&quot;X9. 21&quot; , 120 Páginas:  Planificador de Comidas Diarias y Saludables, Planea tu Dieta" id="70" name="Google Shape;70;p3"/>
          <p:cNvPicPr preferRelativeResize="0"/>
          <p:nvPr/>
        </p:nvPicPr>
        <p:blipFill rotWithShape="1">
          <a:blip r:embed="rId4">
            <a:alphaModFix/>
          </a:blip>
          <a:srcRect b="32663" l="0" r="0" t="14002"/>
          <a:stretch/>
        </p:blipFill>
        <p:spPr>
          <a:xfrm>
            <a:off x="4076700" y="1447800"/>
            <a:ext cx="4038600" cy="32308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77" name="Google Shape;77;p4"/>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78" name="Google Shape;78;p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79" name="Google Shape;79;p4"/>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85" name="Google Shape;85;p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400"/>
              <a:buFont typeface="Arial"/>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6" name="Google Shape;86;p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7" name="Google Shape;87;p5"/>
          <p:cNvSpPr txBox="1"/>
          <p:nvPr/>
        </p:nvSpPr>
        <p:spPr>
          <a:xfrm>
            <a:off x="3049191" y="5638800"/>
            <a:ext cx="6093600" cy="646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Calibri"/>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https://www.youtube.com/watch?v=N7qupl0X4Jk</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88" name="Google Shape;88;p5"/>
          <p:cNvPicPr preferRelativeResize="0"/>
          <p:nvPr/>
        </p:nvPicPr>
        <p:blipFill rotWithShape="1">
          <a:blip r:embed="rId5">
            <a:alphaModFix/>
          </a:blip>
          <a:srcRect b="0" l="0" r="0" t="0"/>
          <a:stretch/>
        </p:blipFill>
        <p:spPr>
          <a:xfrm>
            <a:off x="2714625" y="1333207"/>
            <a:ext cx="6725589" cy="419158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94" name="Google Shape;94;p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400"/>
              <a:buFont typeface="Arial"/>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95" name="Google Shape;95;p6"/>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96" name="Google Shape;96;p6"/>
          <p:cNvSpPr txBox="1"/>
          <p:nvPr/>
        </p:nvSpPr>
        <p:spPr>
          <a:xfrm>
            <a:off x="1866900" y="1905000"/>
            <a:ext cx="8458199" cy="37856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400"/>
              <a:buFont typeface="Calibri"/>
              <a:buNone/>
            </a:pPr>
            <a:r>
              <a:rPr lang="es-ES" sz="2400">
                <a:solidFill>
                  <a:schemeClr val="dk1"/>
                </a:solidFill>
                <a:latin typeface="Calibri"/>
                <a:ea typeface="Calibri"/>
                <a:cs typeface="Calibri"/>
                <a:sym typeface="Calibri"/>
              </a:rPr>
              <a:t>¿Qué opinas sobre el tema tratado en el video?</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rPr lang="es-ES" sz="2400">
                <a:solidFill>
                  <a:schemeClr val="dk1"/>
                </a:solidFill>
                <a:latin typeface="Calibri"/>
                <a:ea typeface="Calibri"/>
                <a:cs typeface="Calibri"/>
                <a:sym typeface="Calibri"/>
              </a:rPr>
              <a:t>¿Qué implicaciones podría tener la situación presentada en el video en la actualidad?</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rPr lang="es-ES" sz="2400">
                <a:solidFill>
                  <a:schemeClr val="dk1"/>
                </a:solidFill>
                <a:latin typeface="Calibri"/>
                <a:ea typeface="Calibri"/>
                <a:cs typeface="Calibri"/>
                <a:sym typeface="Calibri"/>
              </a:rPr>
              <a:t>¿Cómo se relaciona el contenido del video con tu experiencias personales?</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rPr lang="es-ES" sz="2400">
                <a:solidFill>
                  <a:schemeClr val="dk1"/>
                </a:solidFill>
                <a:latin typeface="Calibri"/>
                <a:ea typeface="Calibri"/>
                <a:cs typeface="Calibri"/>
                <a:sym typeface="Calibri"/>
              </a:rPr>
              <a:t>¿Cómo aplicarías lo aprendido en el video a una situación práctica en tu comunidad o entorno?</a:t>
            </a:r>
            <a:endParaRPr sz="2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103" name="Google Shape;103;p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04" name="Google Shape;104;p7"/>
          <p:cNvSpPr txBox="1"/>
          <p:nvPr/>
        </p:nvSpPr>
        <p:spPr>
          <a:xfrm>
            <a:off x="2721192" y="2397948"/>
            <a:ext cx="7086600" cy="206210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3200">
                <a:solidFill>
                  <a:schemeClr val="dk1"/>
                </a:solidFill>
                <a:latin typeface="Arial"/>
                <a:ea typeface="Arial"/>
                <a:cs typeface="Arial"/>
                <a:sym typeface="Arial"/>
              </a:rPr>
              <a:t>Al finalizar la unidad el participante comprende los fundamentos y uso de otras bases de datos relacionales y aplica a situaciones reales.</a:t>
            </a:r>
            <a:endParaRPr sz="3200">
              <a:solidFill>
                <a:schemeClr val="dk1"/>
              </a:solidFill>
              <a:latin typeface="Arial"/>
              <a:ea typeface="Arial"/>
              <a:cs typeface="Arial"/>
              <a:sym typeface="Arial"/>
            </a:endParaRPr>
          </a:p>
        </p:txBody>
      </p:sp>
      <p:pic>
        <p:nvPicPr>
          <p:cNvPr id="105" name="Google Shape;105;p7"/>
          <p:cNvPicPr preferRelativeResize="0"/>
          <p:nvPr/>
        </p:nvPicPr>
        <p:blipFill rotWithShape="1">
          <a:blip r:embed="rId3">
            <a:alphaModFix/>
          </a:blip>
          <a:srcRect b="0" l="0" r="0" t="0"/>
          <a:stretch/>
        </p:blipFill>
        <p:spPr>
          <a:xfrm>
            <a:off x="5783622" y="292547"/>
            <a:ext cx="559075" cy="5590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1" name="Google Shape;111;p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400"/>
              <a:buFont typeface="Arial"/>
              <a:buNone/>
            </a:pPr>
            <a:r>
              <a:rPr b="1" lang="es-ES"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12" name="Google Shape;112;p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1"/>
              </a:lnSpc>
              <a:spcBef>
                <a:spcPts val="0"/>
              </a:spcBef>
              <a:spcAft>
                <a:spcPts val="0"/>
              </a:spcAft>
              <a:buClr>
                <a:schemeClr val="dk1"/>
              </a:buClr>
              <a:buSzPts val="3200"/>
              <a:buFont typeface="Calibri"/>
              <a:buNone/>
            </a:pPr>
            <a:r>
              <a:t/>
            </a:r>
            <a:endParaRPr sz="3200">
              <a:solidFill>
                <a:schemeClr val="dk1"/>
              </a:solidFill>
              <a:latin typeface="Arial"/>
              <a:ea typeface="Arial"/>
              <a:cs typeface="Arial"/>
              <a:sym typeface="Arial"/>
            </a:endParaRPr>
          </a:p>
        </p:txBody>
      </p:sp>
      <p:pic>
        <p:nvPicPr>
          <p:cNvPr id="113" name="Google Shape;113;p8"/>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
        <p:nvSpPr>
          <p:cNvPr id="114" name="Google Shape;114;p8"/>
          <p:cNvSpPr txBox="1"/>
          <p:nvPr/>
        </p:nvSpPr>
        <p:spPr>
          <a:xfrm>
            <a:off x="1308737" y="2174829"/>
            <a:ext cx="9525000" cy="310854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800"/>
              <a:buFont typeface="Calibri"/>
              <a:buNone/>
            </a:pPr>
            <a:r>
              <a:rPr b="1" lang="es-ES" sz="2800">
                <a:solidFill>
                  <a:schemeClr val="dk1"/>
                </a:solidFill>
                <a:latin typeface="Calibri"/>
                <a:ea typeface="Calibri"/>
                <a:cs typeface="Calibri"/>
                <a:sym typeface="Calibri"/>
              </a:rPr>
              <a:t>Desarrollo de Habilidades Técnicas</a:t>
            </a:r>
            <a:r>
              <a:rPr lang="es-ES" sz="2800">
                <a:solidFill>
                  <a:schemeClr val="dk1"/>
                </a:solidFill>
                <a:latin typeface="Calibri"/>
                <a:ea typeface="Calibri"/>
                <a:cs typeface="Calibri"/>
                <a:sym typeface="Calibri"/>
              </a:rPr>
              <a:t>: Conocer Oracle y su instalación fomenta el desarrollo de habilidades técnicas en bases de datos, fundamentales en la era digital.</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800"/>
              <a:buFont typeface="Calibri"/>
              <a:buNone/>
            </a:pPr>
            <a:r>
              <a:t/>
            </a:r>
            <a:endParaRPr sz="2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800"/>
              <a:buFont typeface="Calibri"/>
              <a:buNone/>
            </a:pPr>
            <a:r>
              <a:rPr b="1" lang="es-ES" sz="2800">
                <a:solidFill>
                  <a:schemeClr val="dk1"/>
                </a:solidFill>
                <a:latin typeface="Calibri"/>
                <a:ea typeface="Calibri"/>
                <a:cs typeface="Calibri"/>
                <a:sym typeface="Calibri"/>
              </a:rPr>
              <a:t>Demanda Laboral</a:t>
            </a:r>
            <a:r>
              <a:rPr lang="es-ES" sz="2800">
                <a:solidFill>
                  <a:schemeClr val="dk1"/>
                </a:solidFill>
                <a:latin typeface="Calibri"/>
                <a:ea typeface="Calibri"/>
                <a:cs typeface="Calibri"/>
                <a:sym typeface="Calibri"/>
              </a:rPr>
              <a:t>: Oracle es ampliamente utilizado en la industria, y el conocimiento de esta herramienta puede aumentar significativamente las oportunidades de empleo.</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txBox="1"/>
          <p:nvPr/>
        </p:nvSpPr>
        <p:spPr>
          <a:xfrm>
            <a:off x="1966912" y="2890391"/>
            <a:ext cx="8258176" cy="1582484"/>
          </a:xfrm>
          <a:prstGeom prst="rect">
            <a:avLst/>
          </a:prstGeom>
          <a:solidFill>
            <a:srgbClr val="D1052D"/>
          </a:soli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ES" sz="3200">
                <a:solidFill>
                  <a:schemeClr val="lt1"/>
                </a:solidFill>
                <a:latin typeface="Calibri"/>
                <a:ea typeface="Calibri"/>
                <a:cs typeface="Calibri"/>
                <a:sym typeface="Calibri"/>
              </a:rPr>
              <a:t>Oracle: </a:t>
            </a:r>
            <a:endParaRPr/>
          </a:p>
          <a:p>
            <a:pPr indent="-457200" lvl="0" marL="469900" marR="0" rtl="0" algn="l">
              <a:lnSpc>
                <a:spcPct val="100000"/>
              </a:lnSpc>
              <a:spcBef>
                <a:spcPts val="100"/>
              </a:spcBef>
              <a:spcAft>
                <a:spcPts val="0"/>
              </a:spcAft>
              <a:buClr>
                <a:schemeClr val="lt1"/>
              </a:buClr>
              <a:buSzPts val="3200"/>
              <a:buFont typeface="Calibri"/>
              <a:buChar char="-"/>
            </a:pPr>
            <a:r>
              <a:rPr lang="es-ES" sz="3200">
                <a:solidFill>
                  <a:schemeClr val="lt1"/>
                </a:solidFill>
                <a:latin typeface="Calibri"/>
                <a:ea typeface="Calibri"/>
                <a:cs typeface="Calibri"/>
                <a:sym typeface="Calibri"/>
              </a:rPr>
              <a:t>Introducción a las características de Oracle </a:t>
            </a:r>
            <a:endParaRPr/>
          </a:p>
          <a:p>
            <a:pPr indent="-457200" lvl="0" marL="469900" marR="0" rtl="0" algn="l">
              <a:lnSpc>
                <a:spcPct val="100000"/>
              </a:lnSpc>
              <a:spcBef>
                <a:spcPts val="100"/>
              </a:spcBef>
              <a:spcAft>
                <a:spcPts val="0"/>
              </a:spcAft>
              <a:buClr>
                <a:schemeClr val="lt1"/>
              </a:buClr>
              <a:buSzPts val="3200"/>
              <a:buFont typeface="Calibri"/>
              <a:buChar char="-"/>
            </a:pPr>
            <a:r>
              <a:rPr lang="es-ES" sz="3200">
                <a:solidFill>
                  <a:schemeClr val="lt1"/>
                </a:solidFill>
                <a:latin typeface="Calibri"/>
                <a:ea typeface="Calibri"/>
                <a:cs typeface="Calibri"/>
                <a:sym typeface="Calibri"/>
              </a:rPr>
              <a:t>Instalación de la Herramienta</a:t>
            </a:r>
            <a:endParaRPr sz="3200">
              <a:solidFill>
                <a:schemeClr val="lt1"/>
              </a:solidFill>
              <a:latin typeface="Arial"/>
              <a:ea typeface="Arial"/>
              <a:cs typeface="Arial"/>
              <a:sym typeface="Arial"/>
            </a:endParaRPr>
          </a:p>
        </p:txBody>
      </p:sp>
      <p:sp>
        <p:nvSpPr>
          <p:cNvPr id="120" name="Google Shape;120;p9"/>
          <p:cNvSpPr txBox="1"/>
          <p:nvPr/>
        </p:nvSpPr>
        <p:spPr>
          <a:xfrm>
            <a:off x="4076700" y="1991427"/>
            <a:ext cx="4038600" cy="646331"/>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600">
                <a:solidFill>
                  <a:srgbClr val="000000"/>
                </a:solidFill>
                <a:latin typeface="Arial"/>
                <a:ea typeface="Arial"/>
                <a:cs typeface="Arial"/>
                <a:sym typeface="Arial"/>
              </a:rPr>
              <a:t>SESIÓN N° 7:</a:t>
            </a:r>
            <a:endParaRPr b="1" sz="3600">
              <a:solidFill>
                <a:srgbClr val="000000"/>
              </a:solidFill>
              <a:latin typeface="Arial"/>
              <a:ea typeface="Arial"/>
              <a:cs typeface="Arial"/>
              <a:sym typeface="Arial"/>
            </a:endParaRPr>
          </a:p>
        </p:txBody>
      </p:sp>
      <p:sp>
        <p:nvSpPr>
          <p:cNvPr id="121" name="Google Shape;121;p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23" name="Google Shape;123;p9"/>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24" name="Google Shape;124;p9"/>
          <p:cNvSpPr txBox="1"/>
          <p:nvPr/>
        </p:nvSpPr>
        <p:spPr>
          <a:xfrm>
            <a:off x="365760" y="973304"/>
            <a:ext cx="53578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txBox="1"/>
          <p:nvPr/>
        </p:nvSpPr>
        <p:spPr>
          <a:xfrm>
            <a:off x="876300" y="1089088"/>
            <a:ext cx="10439400" cy="70784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020202"/>
              </a:buClr>
              <a:buSzPts val="2000"/>
              <a:buFont typeface="Poppins"/>
              <a:buNone/>
            </a:pPr>
            <a:r>
              <a:rPr b="1" i="0" lang="es-ES" sz="2000">
                <a:solidFill>
                  <a:srgbClr val="020202"/>
                </a:solidFill>
                <a:latin typeface="Poppins"/>
                <a:ea typeface="Poppins"/>
                <a:cs typeface="Poppins"/>
                <a:sym typeface="Poppins"/>
              </a:rPr>
              <a:t>¿Qué es </a:t>
            </a:r>
            <a:r>
              <a:rPr b="1" lang="es-ES" sz="2000">
                <a:solidFill>
                  <a:srgbClr val="020202"/>
                </a:solidFill>
                <a:latin typeface="Poppins"/>
                <a:ea typeface="Poppins"/>
                <a:cs typeface="Poppins"/>
                <a:sym typeface="Poppins"/>
              </a:rPr>
              <a:t>Oracle</a:t>
            </a:r>
            <a:r>
              <a:rPr b="1" i="0" lang="es-ES" sz="2000">
                <a:solidFill>
                  <a:srgbClr val="020202"/>
                </a:solidFill>
                <a:latin typeface="Poppins"/>
                <a:ea typeface="Poppins"/>
                <a:cs typeface="Poppins"/>
                <a:sym typeface="Poppins"/>
              </a:rPr>
              <a:t>?</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000"/>
              <a:buFont typeface="Calibri"/>
              <a:buNone/>
            </a:pPr>
            <a:r>
              <a:t/>
            </a:r>
            <a:endParaRPr b="1" i="0" sz="2000">
              <a:solidFill>
                <a:srgbClr val="020202"/>
              </a:solidFill>
              <a:latin typeface="Poppins"/>
              <a:ea typeface="Poppins"/>
              <a:cs typeface="Poppins"/>
              <a:sym typeface="Poppins"/>
            </a:endParaRPr>
          </a:p>
        </p:txBody>
      </p:sp>
      <p:sp>
        <p:nvSpPr>
          <p:cNvPr id="130" name="Google Shape;130;p10"/>
          <p:cNvSpPr txBox="1"/>
          <p:nvPr/>
        </p:nvSpPr>
        <p:spPr>
          <a:xfrm>
            <a:off x="846992" y="1425426"/>
            <a:ext cx="10468708" cy="397031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Oracle es una compañía multinacional de tecnología informática, conocida principalmente por sus productos de software y servicios relacionados con bases de datos. Fundada en 1977 por Larry Ellison, Bob Miner y Ed Oates, la empresa ha crecido hasta convertirse en una de las más grandes y reconocidas en el ámbito de la tecnología.</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800">
                <a:solidFill>
                  <a:schemeClr val="dk1"/>
                </a:solidFill>
                <a:latin typeface="Calibri"/>
                <a:ea typeface="Calibri"/>
                <a:cs typeface="Calibri"/>
                <a:sym typeface="Calibri"/>
              </a:rPr>
              <a:t>Principales productos y servicios de Oracle:</a:t>
            </a:r>
            <a:endParaRPr sz="1800">
              <a:solidFill>
                <a:schemeClr val="dk1"/>
              </a:solidFill>
              <a:latin typeface="Calibri"/>
              <a:ea typeface="Calibri"/>
              <a:cs typeface="Calibri"/>
              <a:sym typeface="Calibri"/>
            </a:endParaRPr>
          </a:p>
          <a:p>
            <a:pPr indent="-114300" lvl="0" marL="0" marR="0" rtl="0" algn="just">
              <a:spcBef>
                <a:spcPts val="0"/>
              </a:spcBef>
              <a:spcAft>
                <a:spcPts val="0"/>
              </a:spcAft>
              <a:buClr>
                <a:schemeClr val="dk1"/>
              </a:buClr>
              <a:buSzPts val="1800"/>
              <a:buFont typeface="Calibri"/>
              <a:buAutoNum type="arabicPeriod"/>
            </a:pPr>
            <a:r>
              <a:rPr b="1" lang="es-ES" sz="1800">
                <a:solidFill>
                  <a:schemeClr val="dk1"/>
                </a:solidFill>
                <a:latin typeface="Calibri"/>
                <a:ea typeface="Calibri"/>
                <a:cs typeface="Calibri"/>
                <a:sym typeface="Calibri"/>
              </a:rPr>
              <a:t>Oracle Database</a:t>
            </a:r>
            <a:r>
              <a:rPr lang="es-ES" sz="1800">
                <a:solidFill>
                  <a:schemeClr val="dk1"/>
                </a:solidFill>
                <a:latin typeface="Calibri"/>
                <a:ea typeface="Calibri"/>
                <a:cs typeface="Calibri"/>
                <a:sym typeface="Calibri"/>
              </a:rPr>
              <a:t>: Es uno de los sistemas de gestión de bases de datos más populares y robustos en el mercado, utilizado ampliamente en empresas de todos los tamaños para manejar grandes volúmenes de datos de manera eficiente y segura.</a:t>
            </a:r>
            <a:endParaRPr/>
          </a:p>
          <a:p>
            <a:pPr indent="0" lvl="0" marL="0" marR="0" rtl="0" algn="just">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114300" lvl="0" marL="0" marR="0" rtl="0" algn="just">
              <a:spcBef>
                <a:spcPts val="0"/>
              </a:spcBef>
              <a:spcAft>
                <a:spcPts val="0"/>
              </a:spcAft>
              <a:buClr>
                <a:schemeClr val="dk1"/>
              </a:buClr>
              <a:buSzPts val="1800"/>
              <a:buFont typeface="Calibri"/>
              <a:buAutoNum type="arabicPeriod"/>
            </a:pPr>
            <a:r>
              <a:rPr b="1" lang="es-ES" sz="1800">
                <a:solidFill>
                  <a:schemeClr val="dk1"/>
                </a:solidFill>
                <a:latin typeface="Calibri"/>
                <a:ea typeface="Calibri"/>
                <a:cs typeface="Calibri"/>
                <a:sym typeface="Calibri"/>
              </a:rPr>
              <a:t>Oracle Cloud</a:t>
            </a:r>
            <a:r>
              <a:rPr lang="es-ES" sz="1800">
                <a:solidFill>
                  <a:schemeClr val="dk1"/>
                </a:solidFill>
                <a:latin typeface="Calibri"/>
                <a:ea typeface="Calibri"/>
                <a:cs typeface="Calibri"/>
                <a:sym typeface="Calibri"/>
              </a:rPr>
              <a:t>: Ofrece una variedad de servicios en la nube, incluyendo infraestructura como servicio (IaaS), plataforma como servicio (PaaS) y software como servicio (SaaS). Esto permite a las empresas ejecutar aplicaciones, almacenar datos y utilizar herramientas de desarrollo en un entorno escalable y flexible.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txBox="1"/>
          <p:nvPr>
            <p:ph type="title"/>
          </p:nvPr>
        </p:nvSpPr>
        <p:spPr>
          <a:xfrm>
            <a:off x="916939" y="609676"/>
            <a:ext cx="10358120" cy="49244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s-ES" sz="3200"/>
              <a:t>Introducción a las características de Oracle Database 23C</a:t>
            </a:r>
            <a:endParaRPr b="1" sz="3200"/>
          </a:p>
        </p:txBody>
      </p:sp>
      <p:sp>
        <p:nvSpPr>
          <p:cNvPr id="136" name="Google Shape;136;p11"/>
          <p:cNvSpPr txBox="1"/>
          <p:nvPr>
            <p:ph idx="1" type="body"/>
          </p:nvPr>
        </p:nvSpPr>
        <p:spPr>
          <a:xfrm>
            <a:off x="916939" y="1318022"/>
            <a:ext cx="10358100" cy="4678200"/>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s-ES" sz="1600"/>
              <a:t>Oracle Database 23C es la última versión de la base de datos insignia de Oracle, diseñada para satisfacer las crecientes demandas del entorno empresarial moderno. Esta versión incorpora una serie de innovaciones y mejoras significativas que abordan la gestión de datos, la seguridad, el rendimiento y la facilidad de uso, consolidando su posición como una de las bases de datos más avanzadas y confiables del mercado. A continuación, se presenta una introducción a algunas de las características clave de Oracle Database 23C.</a:t>
            </a:r>
            <a:endParaRPr/>
          </a:p>
          <a:p>
            <a:pPr indent="0" lvl="0" marL="0" rtl="0" algn="just">
              <a:spcBef>
                <a:spcPts val="0"/>
              </a:spcBef>
              <a:spcAft>
                <a:spcPts val="0"/>
              </a:spcAft>
              <a:buNone/>
            </a:pPr>
            <a:r>
              <a:t/>
            </a:r>
            <a:endParaRPr sz="1600"/>
          </a:p>
          <a:p>
            <a:pPr indent="0" lvl="0" marL="0" rtl="0" algn="just">
              <a:spcBef>
                <a:spcPts val="0"/>
              </a:spcBef>
              <a:spcAft>
                <a:spcPts val="0"/>
              </a:spcAft>
              <a:buNone/>
            </a:pPr>
            <a:r>
              <a:rPr b="1" lang="es-ES" sz="1600"/>
              <a:t>Gestión de Datos Automatizada</a:t>
            </a:r>
            <a:endParaRPr/>
          </a:p>
          <a:p>
            <a:pPr indent="0" lvl="0" marL="0" rtl="0" algn="just">
              <a:spcBef>
                <a:spcPts val="0"/>
              </a:spcBef>
              <a:spcAft>
                <a:spcPts val="0"/>
              </a:spcAft>
              <a:buNone/>
            </a:pPr>
            <a:r>
              <a:rPr lang="es-ES" sz="1600"/>
              <a:t>Oracle Database 23C introduce capacidades avanzadas de automatización que simplifican la administración de la base de datos. Las características de Autonomía incluyen el aprovisionamiento automatizado, el ajuste y la reparación sin intervención humana, lo que reduce significativamente la carga de trabajo de los administradores de bases de datos (DBAs) y minimiza el riesgo de errores humanos. La base de datos autónoma se adapta dinámicamente a las condiciones cambiantes de la carga de trabajo, optimizando el rendimiento y la eficiencia operativa.</a:t>
            </a:r>
            <a:endParaRPr/>
          </a:p>
          <a:p>
            <a:pPr indent="0" lvl="0" marL="0" rtl="0" algn="just">
              <a:spcBef>
                <a:spcPts val="0"/>
              </a:spcBef>
              <a:spcAft>
                <a:spcPts val="0"/>
              </a:spcAft>
              <a:buNone/>
            </a:pPr>
            <a:r>
              <a:t/>
            </a:r>
            <a:endParaRPr sz="1600"/>
          </a:p>
          <a:p>
            <a:pPr indent="0" lvl="0" marL="0" rtl="0" algn="just">
              <a:spcBef>
                <a:spcPts val="0"/>
              </a:spcBef>
              <a:spcAft>
                <a:spcPts val="0"/>
              </a:spcAft>
              <a:buNone/>
            </a:pPr>
            <a:r>
              <a:rPr b="1" lang="es-ES" sz="1600"/>
              <a:t>Seguridad Mejorada</a:t>
            </a:r>
            <a:endParaRPr/>
          </a:p>
          <a:p>
            <a:pPr indent="0" lvl="0" marL="0" rtl="0" algn="just">
              <a:spcBef>
                <a:spcPts val="0"/>
              </a:spcBef>
              <a:spcAft>
                <a:spcPts val="0"/>
              </a:spcAft>
              <a:buNone/>
            </a:pPr>
            <a:r>
              <a:rPr lang="es-ES" sz="1600"/>
              <a:t>La seguridad sigue siendo una prioridad fundamental en Oracle Database 23C. Esta versión ofrece mejoras en la protección de datos con cifrado mejorado, autenticación avanzada y controles de acceso más robustos. Además, incorpora capacidades avanzadas de detección y respuesta a amenazas, lo que permite identificar y mitigar rápidamente las vulnerabilidades de seguridad. Las auditorías mejoradas y el seguimiento en tiempo real aseguran el cumplimiento normativo y fortalecen la postura de seguridad de la organización.</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2"/>
          <p:cNvSpPr txBox="1"/>
          <p:nvPr>
            <p:ph type="title"/>
          </p:nvPr>
        </p:nvSpPr>
        <p:spPr>
          <a:xfrm>
            <a:off x="920950" y="838200"/>
            <a:ext cx="10358120" cy="49244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s-ES" sz="3200"/>
              <a:t>Introducción a las características de Oracle Database 23C</a:t>
            </a:r>
            <a:endParaRPr b="1" sz="3200"/>
          </a:p>
        </p:txBody>
      </p:sp>
      <p:sp>
        <p:nvSpPr>
          <p:cNvPr id="142" name="Google Shape;142;p12"/>
          <p:cNvSpPr txBox="1"/>
          <p:nvPr>
            <p:ph idx="1" type="body"/>
          </p:nvPr>
        </p:nvSpPr>
        <p:spPr>
          <a:xfrm>
            <a:off x="916939" y="1508565"/>
            <a:ext cx="10358120" cy="4739759"/>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b="1" lang="es-ES" sz="1400"/>
              <a:t>Rendimiento y Escalabilidad</a:t>
            </a:r>
            <a:endParaRPr/>
          </a:p>
          <a:p>
            <a:pPr indent="0" lvl="0" marL="0" rtl="0" algn="just">
              <a:spcBef>
                <a:spcPts val="0"/>
              </a:spcBef>
              <a:spcAft>
                <a:spcPts val="0"/>
              </a:spcAft>
              <a:buNone/>
            </a:pPr>
            <a:r>
              <a:rPr lang="es-ES" sz="1400"/>
              <a:t>Oracle Database 23C ha sido diseñada para ofrecer un rendimiento superior y una escalabilidad robusta, capaces de manejar cargas de trabajo intensivas y volúmenes de datos masivos. Las optimizaciones de rendimiento incluyen mejoras en el procesamiento paralelo, la compresión avanzada de datos y la gestión eficiente de la memoria. Estas características aseguran que las aplicaciones críticas funcionen sin interrupciones, proporcionando tiempos de respuesta rápidos y una experiencia de usuario fluida, incluso en entornos de alta demanda.</a:t>
            </a:r>
            <a:endParaRPr/>
          </a:p>
          <a:p>
            <a:pPr indent="0" lvl="0" marL="0" rtl="0" algn="just">
              <a:spcBef>
                <a:spcPts val="0"/>
              </a:spcBef>
              <a:spcAft>
                <a:spcPts val="0"/>
              </a:spcAft>
              <a:buNone/>
            </a:pPr>
            <a:r>
              <a:t/>
            </a:r>
            <a:endParaRPr sz="1400"/>
          </a:p>
          <a:p>
            <a:pPr indent="0" lvl="0" marL="0" rtl="0" algn="just">
              <a:spcBef>
                <a:spcPts val="0"/>
              </a:spcBef>
              <a:spcAft>
                <a:spcPts val="0"/>
              </a:spcAft>
              <a:buNone/>
            </a:pPr>
            <a:r>
              <a:rPr lang="es-ES" sz="1400"/>
              <a:t> </a:t>
            </a:r>
            <a:r>
              <a:rPr b="1" lang="es-ES" sz="1400"/>
              <a:t>Facilidad de Uso y Desarrollo</a:t>
            </a:r>
            <a:endParaRPr/>
          </a:p>
          <a:p>
            <a:pPr indent="0" lvl="0" marL="0" rtl="0" algn="just">
              <a:spcBef>
                <a:spcPts val="0"/>
              </a:spcBef>
              <a:spcAft>
                <a:spcPts val="0"/>
              </a:spcAft>
              <a:buNone/>
            </a:pPr>
            <a:r>
              <a:rPr lang="es-ES" sz="1400"/>
              <a:t>La usabilidad es un foco importante en Oracle Database 23C, con nuevas herramientas y características que facilitan el desarrollo y la administración de aplicaciones. Las interfaces de usuario mejoradas, junto con el soporte ampliado para lenguajes de programación modernos y marcos de desarrollo, permiten a los desarrolladores crear y desplegar aplicaciones de manera más eficiente. Además, la integración simplificada con otros servicios y plataformas en la nube de Oracle permite una gestión de datos más coherente y centralizada.</a:t>
            </a:r>
            <a:endParaRPr/>
          </a:p>
          <a:p>
            <a:pPr indent="0" lvl="0" marL="0" rtl="0" algn="just">
              <a:spcBef>
                <a:spcPts val="0"/>
              </a:spcBef>
              <a:spcAft>
                <a:spcPts val="0"/>
              </a:spcAft>
              <a:buNone/>
            </a:pPr>
            <a:r>
              <a:t/>
            </a:r>
            <a:endParaRPr sz="1400"/>
          </a:p>
          <a:p>
            <a:pPr indent="0" lvl="0" marL="0" rtl="0" algn="just">
              <a:spcBef>
                <a:spcPts val="0"/>
              </a:spcBef>
              <a:spcAft>
                <a:spcPts val="0"/>
              </a:spcAft>
              <a:buNone/>
            </a:pPr>
            <a:r>
              <a:rPr b="1" lang="es-ES" sz="1400"/>
              <a:t> Innovaciones en Inteligencia Artificial y Machine Learning</a:t>
            </a:r>
            <a:endParaRPr b="1" sz="1400"/>
          </a:p>
          <a:p>
            <a:pPr indent="0" lvl="0" marL="0" rtl="0" algn="just">
              <a:spcBef>
                <a:spcPts val="0"/>
              </a:spcBef>
              <a:spcAft>
                <a:spcPts val="0"/>
              </a:spcAft>
              <a:buNone/>
            </a:pPr>
            <a:r>
              <a:rPr lang="es-ES" sz="1400"/>
              <a:t>Oracle Database 23C también se destaca por su integración de capacidades de inteligencia artificial (IA) y machine learning (ML). Estas herramientas permiten la automatización de análisis de datos avanzados, proporcionando insights en tiempo real y predicciones precisas. Los modelos de ML se pueden entrenar y desplegar directamente dentro de la base de datos, eliminando la necesidad de mover datos a plataformas externas y acelerando el tiempo de obtención de valor.</a:t>
            </a:r>
            <a:endParaRPr/>
          </a:p>
          <a:p>
            <a:pPr indent="0" lvl="0" marL="0" rtl="0" algn="just">
              <a:spcBef>
                <a:spcPts val="0"/>
              </a:spcBef>
              <a:spcAft>
                <a:spcPts val="0"/>
              </a:spcAft>
              <a:buNone/>
            </a:pPr>
            <a:r>
              <a:t/>
            </a:r>
            <a:endParaRPr sz="1400"/>
          </a:p>
          <a:p>
            <a:pPr indent="0" lvl="0" marL="0" rtl="0" algn="just">
              <a:spcBef>
                <a:spcPts val="0"/>
              </a:spcBef>
              <a:spcAft>
                <a:spcPts val="0"/>
              </a:spcAft>
              <a:buNone/>
            </a:pPr>
            <a:r>
              <a:rPr lang="es-ES" sz="1400"/>
              <a:t>En resumen, Oracle Database 23C ofrece un conjunto completo de características avanzadas que abordan las necesidades críticas de las organizaciones modernas en términos de gestión de datos, seguridad, rendimiento y desarrollo. Con estas mejoras, Oracle continúa liderando la innovación en tecnología de bases de datos, proporcionando a las empresas las herramientas necesarias para gestionar y aprovechar al máximo sus activos de datos.</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Instalación del Oracle</a:t>
            </a:r>
            <a:endParaRPr/>
          </a:p>
        </p:txBody>
      </p:sp>
      <p:sp>
        <p:nvSpPr>
          <p:cNvPr id="148" name="Google Shape;148;p13"/>
          <p:cNvSpPr txBox="1"/>
          <p:nvPr>
            <p:ph idx="1" type="body"/>
          </p:nvPr>
        </p:nvSpPr>
        <p:spPr>
          <a:xfrm>
            <a:off x="916939" y="1306906"/>
            <a:ext cx="10358120" cy="526297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Para descargar Oracle Database, puedes seguir estos pasos:</a:t>
            </a:r>
            <a:endParaRPr/>
          </a:p>
          <a:p>
            <a:pPr indent="-114300" lvl="0" marL="0" rtl="0" algn="just">
              <a:spcBef>
                <a:spcPts val="0"/>
              </a:spcBef>
              <a:spcAft>
                <a:spcPts val="0"/>
              </a:spcAft>
              <a:buClr>
                <a:schemeClr val="dk1"/>
              </a:buClr>
              <a:buSzPts val="1800"/>
              <a:buFont typeface="Calibri"/>
              <a:buAutoNum type="arabicPeriod"/>
            </a:pPr>
            <a:r>
              <a:rPr b="1" lang="es-ES"/>
              <a:t>Visita el sitio web oficial de Oracle</a:t>
            </a:r>
            <a:r>
              <a:rPr lang="es-ES"/>
              <a:t>:</a:t>
            </a:r>
            <a:endParaRPr/>
          </a:p>
          <a:p>
            <a:pPr indent="0" lvl="1" marL="457200" rtl="0" algn="just">
              <a:spcBef>
                <a:spcPts val="0"/>
              </a:spcBef>
              <a:spcAft>
                <a:spcPts val="0"/>
              </a:spcAft>
              <a:buNone/>
            </a:pPr>
            <a:r>
              <a:rPr lang="es-ES"/>
              <a:t>Ve al sitio web oficial de Oracle en </a:t>
            </a:r>
            <a:r>
              <a:rPr lang="es-ES" u="sng">
                <a:solidFill>
                  <a:schemeClr val="hlink"/>
                </a:solidFill>
                <a:hlinkClick r:id="rId3"/>
              </a:rPr>
              <a:t>www.oracle.com</a:t>
            </a:r>
            <a:r>
              <a:rPr lang="es-ES"/>
              <a:t>.</a:t>
            </a:r>
            <a:endParaRPr/>
          </a:p>
          <a:p>
            <a:pPr indent="-114300" lvl="0" marL="0" rtl="0" algn="just">
              <a:spcBef>
                <a:spcPts val="0"/>
              </a:spcBef>
              <a:spcAft>
                <a:spcPts val="0"/>
              </a:spcAft>
              <a:buClr>
                <a:schemeClr val="dk1"/>
              </a:buClr>
              <a:buSzPts val="1800"/>
              <a:buFont typeface="Calibri"/>
              <a:buAutoNum type="arabicPeriod"/>
            </a:pPr>
            <a:r>
              <a:rPr b="1" lang="es-ES"/>
              <a:t>Navega a la sección de productos</a:t>
            </a:r>
            <a:r>
              <a:rPr lang="es-ES"/>
              <a:t>:</a:t>
            </a:r>
            <a:endParaRPr/>
          </a:p>
          <a:p>
            <a:pPr indent="0" lvl="1" marL="457200" rtl="0" algn="just">
              <a:spcBef>
                <a:spcPts val="0"/>
              </a:spcBef>
              <a:spcAft>
                <a:spcPts val="0"/>
              </a:spcAft>
              <a:buNone/>
            </a:pPr>
            <a:r>
              <a:rPr lang="es-ES"/>
              <a:t>En el menú principal, selecciona "Products" y luego busca "Databases".</a:t>
            </a:r>
            <a:endParaRPr/>
          </a:p>
          <a:p>
            <a:pPr indent="-114300" lvl="0" marL="0" rtl="0" algn="just">
              <a:spcBef>
                <a:spcPts val="0"/>
              </a:spcBef>
              <a:spcAft>
                <a:spcPts val="0"/>
              </a:spcAft>
              <a:buClr>
                <a:schemeClr val="dk1"/>
              </a:buClr>
              <a:buSzPts val="1800"/>
              <a:buFont typeface="Calibri"/>
              <a:buAutoNum type="arabicPeriod"/>
            </a:pPr>
            <a:r>
              <a:rPr b="1" lang="es-ES"/>
              <a:t>Selecciona la versión de Oracle Database</a:t>
            </a:r>
            <a:r>
              <a:rPr lang="es-ES"/>
              <a:t>:</a:t>
            </a:r>
            <a:endParaRPr/>
          </a:p>
          <a:p>
            <a:pPr indent="0" lvl="1" marL="457200" rtl="0" algn="just">
              <a:spcBef>
                <a:spcPts val="0"/>
              </a:spcBef>
              <a:spcAft>
                <a:spcPts val="0"/>
              </a:spcAft>
              <a:buNone/>
            </a:pPr>
            <a:r>
              <a:rPr lang="es-ES"/>
              <a:t>Haz clic en "Oracle Database" y luego en la versión específica que deseas descargar. Oracle ofrece varias versiones, incluyendo Oracle Database 19c y Oracle Database 21c.</a:t>
            </a:r>
            <a:endParaRPr/>
          </a:p>
          <a:p>
            <a:pPr indent="-114300" lvl="0" marL="0" rtl="0" algn="just">
              <a:spcBef>
                <a:spcPts val="0"/>
              </a:spcBef>
              <a:spcAft>
                <a:spcPts val="0"/>
              </a:spcAft>
              <a:buClr>
                <a:schemeClr val="dk1"/>
              </a:buClr>
              <a:buSzPts val="1800"/>
              <a:buFont typeface="Calibri"/>
              <a:buAutoNum type="arabicPeriod"/>
            </a:pPr>
            <a:r>
              <a:rPr b="1" lang="es-ES"/>
              <a:t>Descargas</a:t>
            </a:r>
            <a:r>
              <a:rPr lang="es-ES"/>
              <a:t>:</a:t>
            </a:r>
            <a:endParaRPr/>
          </a:p>
          <a:p>
            <a:pPr indent="0" lvl="1" marL="457200" rtl="0" algn="just">
              <a:spcBef>
                <a:spcPts val="0"/>
              </a:spcBef>
              <a:spcAft>
                <a:spcPts val="0"/>
              </a:spcAft>
              <a:buNone/>
            </a:pPr>
            <a:r>
              <a:rPr lang="es-ES"/>
              <a:t>Dentro de la página de la versión de Oracle Database, busca la sección de "Downloads". Aquí encontrarás las opciones de descarga para diferentes sistemas operativos (Linux, Windows, etc.).</a:t>
            </a:r>
            <a:endParaRPr/>
          </a:p>
          <a:p>
            <a:pPr indent="-114300" lvl="0" marL="0" rtl="0" algn="just">
              <a:spcBef>
                <a:spcPts val="0"/>
              </a:spcBef>
              <a:spcAft>
                <a:spcPts val="0"/>
              </a:spcAft>
              <a:buClr>
                <a:schemeClr val="dk1"/>
              </a:buClr>
              <a:buSzPts val="1800"/>
              <a:buFont typeface="Calibri"/>
              <a:buAutoNum type="arabicPeriod"/>
            </a:pPr>
            <a:r>
              <a:rPr b="1" lang="es-ES"/>
              <a:t>Iniciar sesión o crear una cuenta</a:t>
            </a:r>
            <a:r>
              <a:rPr lang="es-ES"/>
              <a:t>:</a:t>
            </a:r>
            <a:endParaRPr/>
          </a:p>
          <a:p>
            <a:pPr indent="0" lvl="1" marL="457200" rtl="0" algn="just">
              <a:spcBef>
                <a:spcPts val="0"/>
              </a:spcBef>
              <a:spcAft>
                <a:spcPts val="0"/>
              </a:spcAft>
              <a:buNone/>
            </a:pPr>
            <a:r>
              <a:rPr lang="es-ES"/>
              <a:t>Para descargar el software, necesitarás iniciar sesión con tu cuenta de Oracle. Si no tienes una cuenta, deberás crear una. Esto es gratuito y solo requiere proporcionar algunos datos básicos.</a:t>
            </a:r>
            <a:endParaRPr/>
          </a:p>
          <a:p>
            <a:pPr indent="-114300" lvl="0" marL="0" rtl="0" algn="just">
              <a:spcBef>
                <a:spcPts val="0"/>
              </a:spcBef>
              <a:spcAft>
                <a:spcPts val="0"/>
              </a:spcAft>
              <a:buClr>
                <a:schemeClr val="dk1"/>
              </a:buClr>
              <a:buSzPts val="1800"/>
              <a:buFont typeface="Calibri"/>
              <a:buAutoNum type="arabicPeriod"/>
            </a:pPr>
            <a:r>
              <a:rPr b="1" lang="es-ES"/>
              <a:t>Descarga e instalación</a:t>
            </a:r>
            <a:r>
              <a:rPr lang="es-ES"/>
              <a:t>:</a:t>
            </a:r>
            <a:endParaRPr/>
          </a:p>
          <a:p>
            <a:pPr indent="0" lvl="1" marL="457200" rtl="0" algn="just">
              <a:spcBef>
                <a:spcPts val="0"/>
              </a:spcBef>
              <a:spcAft>
                <a:spcPts val="0"/>
              </a:spcAft>
              <a:buNone/>
            </a:pPr>
            <a:r>
              <a:rPr lang="es-ES"/>
              <a:t>Una vez iniciada la sesión, selecciona el archivo adecuado para tu sistema operativo y sigue las instrucciones para descargarlo. Después de la descarga, sigue las guías de instalación proporcionadas para instalar Oracle Database en tu sistema.</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Ventajas</a:t>
            </a:r>
            <a:endParaRPr/>
          </a:p>
        </p:txBody>
      </p:sp>
      <p:sp>
        <p:nvSpPr>
          <p:cNvPr id="154" name="Google Shape;154;p14"/>
          <p:cNvSpPr txBox="1"/>
          <p:nvPr>
            <p:ph idx="1" type="body"/>
          </p:nvPr>
        </p:nvSpPr>
        <p:spPr>
          <a:xfrm>
            <a:off x="916939" y="1793493"/>
            <a:ext cx="10358120" cy="3323987"/>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s-ES"/>
              <a:t>Oracle Database es una de las soluciones de bases de datos más avanzadas y utilizadas en el ámbito empresarial. Ofrece una serie de ventajas que lo hacen destacar frente a otras opciones. A continuación, se detallan algunas de las principales ventajas de Oracle Database:</a:t>
            </a:r>
            <a:endParaRPr/>
          </a:p>
          <a:p>
            <a:pPr indent="-114300" lvl="0" marL="0" rtl="0" algn="just">
              <a:spcBef>
                <a:spcPts val="0"/>
              </a:spcBef>
              <a:spcAft>
                <a:spcPts val="0"/>
              </a:spcAft>
              <a:buClr>
                <a:schemeClr val="dk1"/>
              </a:buClr>
              <a:buSzPts val="1800"/>
              <a:buFont typeface="Calibri"/>
              <a:buAutoNum type="arabicPeriod"/>
            </a:pPr>
            <a:r>
              <a:rPr b="1" lang="es-ES"/>
              <a:t>Rendimiento y escalabilidad</a:t>
            </a:r>
            <a:r>
              <a:rPr lang="es-ES"/>
              <a:t>:</a:t>
            </a:r>
            <a:endParaRPr/>
          </a:p>
          <a:p>
            <a:pPr indent="-285750" lvl="1" marL="742950" rtl="0" algn="just">
              <a:spcBef>
                <a:spcPts val="0"/>
              </a:spcBef>
              <a:spcAft>
                <a:spcPts val="0"/>
              </a:spcAft>
              <a:buSzPts val="1800"/>
              <a:buFont typeface="Calibri"/>
              <a:buAutoNum type="arabicPeriod"/>
            </a:pPr>
            <a:r>
              <a:rPr lang="es-ES"/>
              <a:t>Oracle Database está diseñado para manejar grandes volúmenes de datos y transacciones de alto rendimiento. Su arquitectura soporta la escalabilidad vertical y horizontal, lo que permite crecer conforme aumentan las necesidades de la empresa.</a:t>
            </a:r>
            <a:endParaRPr/>
          </a:p>
          <a:p>
            <a:pPr indent="-114300" lvl="0" marL="0" rtl="0" algn="just">
              <a:spcBef>
                <a:spcPts val="0"/>
              </a:spcBef>
              <a:spcAft>
                <a:spcPts val="0"/>
              </a:spcAft>
              <a:buClr>
                <a:schemeClr val="dk1"/>
              </a:buClr>
              <a:buSzPts val="1800"/>
              <a:buFont typeface="Calibri"/>
              <a:buAutoNum type="arabicPeriod"/>
            </a:pPr>
            <a:r>
              <a:rPr b="1" lang="es-ES"/>
              <a:t>Seguridad avanzada</a:t>
            </a:r>
            <a:r>
              <a:rPr lang="es-ES"/>
              <a:t>:</a:t>
            </a:r>
            <a:endParaRPr/>
          </a:p>
          <a:p>
            <a:pPr indent="-285750" lvl="1" marL="742950" rtl="0" algn="just">
              <a:spcBef>
                <a:spcPts val="0"/>
              </a:spcBef>
              <a:spcAft>
                <a:spcPts val="0"/>
              </a:spcAft>
              <a:buSzPts val="1800"/>
              <a:buFont typeface="Calibri"/>
              <a:buAutoNum type="arabicPeriod"/>
            </a:pPr>
            <a:r>
              <a:rPr lang="es-ES"/>
              <a:t>Proporciona robustas características de seguridad, incluyendo cifrado de datos en reposo y en tránsito, auditoría detallada, control de acceso basado en roles, y la capacidad de definir políticas de seguridad granular a nivel de columna y fila.</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Desventajas</a:t>
            </a:r>
            <a:endParaRPr/>
          </a:p>
        </p:txBody>
      </p:sp>
      <p:sp>
        <p:nvSpPr>
          <p:cNvPr id="160" name="Google Shape;160;p15"/>
          <p:cNvSpPr txBox="1"/>
          <p:nvPr>
            <p:ph idx="1" type="body"/>
          </p:nvPr>
        </p:nvSpPr>
        <p:spPr>
          <a:xfrm>
            <a:off x="916939" y="1793493"/>
            <a:ext cx="10358120" cy="3600986"/>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s-ES"/>
              <a:t>Aunque Oracle Database ofrece numerosas ventajas, también presenta algunas desventajas que es importante considerar:</a:t>
            </a:r>
            <a:endParaRPr/>
          </a:p>
          <a:p>
            <a:pPr indent="-114300" lvl="0" marL="0" rtl="0" algn="just">
              <a:spcBef>
                <a:spcPts val="0"/>
              </a:spcBef>
              <a:spcAft>
                <a:spcPts val="0"/>
              </a:spcAft>
              <a:buClr>
                <a:schemeClr val="dk1"/>
              </a:buClr>
              <a:buSzPts val="1800"/>
              <a:buFont typeface="Calibri"/>
              <a:buAutoNum type="arabicPeriod"/>
            </a:pPr>
            <a:r>
              <a:rPr b="1" lang="es-ES"/>
              <a:t>Costo elevado</a:t>
            </a:r>
            <a:r>
              <a:rPr lang="es-ES"/>
              <a:t>:</a:t>
            </a:r>
            <a:endParaRPr/>
          </a:p>
          <a:p>
            <a:pPr indent="-285750" lvl="1" marL="742950" rtl="0" algn="just">
              <a:spcBef>
                <a:spcPts val="0"/>
              </a:spcBef>
              <a:spcAft>
                <a:spcPts val="0"/>
              </a:spcAft>
              <a:buSzPts val="1800"/>
              <a:buFont typeface="Calibri"/>
              <a:buAutoNum type="arabicPeriod"/>
            </a:pPr>
            <a:r>
              <a:rPr lang="es-ES"/>
              <a:t>Oracle Database es conocido por sus altos costos de licenciamiento y soporte. Esto puede ser un obstáculo significativo para pequeñas y medianas empresas o proyectos con presupuestos limitados.</a:t>
            </a:r>
            <a:endParaRPr/>
          </a:p>
          <a:p>
            <a:pPr indent="-114300" lvl="0" marL="0" rtl="0" algn="just">
              <a:spcBef>
                <a:spcPts val="0"/>
              </a:spcBef>
              <a:spcAft>
                <a:spcPts val="0"/>
              </a:spcAft>
              <a:buClr>
                <a:schemeClr val="dk1"/>
              </a:buClr>
              <a:buSzPts val="1800"/>
              <a:buFont typeface="Calibri"/>
              <a:buAutoNum type="arabicPeriod"/>
            </a:pPr>
            <a:r>
              <a:rPr b="1" lang="es-ES"/>
              <a:t>Complejidad de administración</a:t>
            </a:r>
            <a:r>
              <a:rPr lang="es-ES"/>
              <a:t>:</a:t>
            </a:r>
            <a:endParaRPr/>
          </a:p>
          <a:p>
            <a:pPr indent="-285750" lvl="1" marL="742950" rtl="0" algn="just">
              <a:spcBef>
                <a:spcPts val="0"/>
              </a:spcBef>
              <a:spcAft>
                <a:spcPts val="0"/>
              </a:spcAft>
              <a:buSzPts val="1800"/>
              <a:buFont typeface="Calibri"/>
              <a:buAutoNum type="arabicPeriod"/>
            </a:pPr>
            <a:r>
              <a:rPr lang="es-ES"/>
              <a:t>La administración de Oracle Database puede ser compleja y requerir un alto nivel de conocimientos técnicos. Esto incluye la instalación, configuración, ajuste de rendimiento y resolución de problemas, lo que puede implicar la necesidad de contratar personal especializado.</a:t>
            </a:r>
            <a:endParaRPr/>
          </a:p>
          <a:p>
            <a:pPr indent="-114300" lvl="0" marL="0" rtl="0" algn="just">
              <a:spcBef>
                <a:spcPts val="0"/>
              </a:spcBef>
              <a:spcAft>
                <a:spcPts val="0"/>
              </a:spcAft>
              <a:buClr>
                <a:schemeClr val="dk1"/>
              </a:buClr>
              <a:buSzPts val="1800"/>
              <a:buFont typeface="Calibri"/>
              <a:buAutoNum type="arabicPeriod"/>
            </a:pPr>
            <a:r>
              <a:rPr b="1" lang="es-ES"/>
              <a:t>Requerimientos de hardware</a:t>
            </a:r>
            <a:r>
              <a:rPr lang="es-ES"/>
              <a:t>:</a:t>
            </a:r>
            <a:endParaRPr/>
          </a:p>
          <a:p>
            <a:pPr indent="-285750" lvl="1" marL="742950" rtl="0" algn="just">
              <a:spcBef>
                <a:spcPts val="0"/>
              </a:spcBef>
              <a:spcAft>
                <a:spcPts val="0"/>
              </a:spcAft>
              <a:buSzPts val="1800"/>
              <a:buFont typeface="Calibri"/>
              <a:buAutoNum type="arabicPeriod"/>
            </a:pPr>
            <a:r>
              <a:rPr lang="es-ES"/>
              <a:t>Oracle Database puede requerir un hardware robusto para funcionar de manera óptima, lo que puede aumentar los costos de infraestructura y mantenimiento.</a:t>
            </a:r>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nvSpPr>
        <p:spPr>
          <a:xfrm>
            <a:off x="1409700" y="1532145"/>
            <a:ext cx="9372600" cy="2506440"/>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Clr>
                <a:schemeClr val="dk1"/>
              </a:buClr>
              <a:buSzPts val="4000"/>
              <a:buFont typeface="Arial"/>
              <a:buNone/>
            </a:pPr>
            <a:r>
              <a:rPr b="1" lang="es-ES" sz="4000">
                <a:solidFill>
                  <a:schemeClr val="dk1"/>
                </a:solidFill>
                <a:latin typeface="Arial"/>
                <a:ea typeface="Arial"/>
                <a:cs typeface="Arial"/>
                <a:sym typeface="Arial"/>
              </a:rPr>
              <a:t>¿Crees que Oracle es una buena opción para gestionar bases de datos en proyectos profesionales? ¿Por qué?</a:t>
            </a:r>
            <a:endParaRPr sz="4000">
              <a:solidFill>
                <a:schemeClr val="dk1"/>
              </a:solidFill>
              <a:latin typeface="Arial"/>
              <a:ea typeface="Arial"/>
              <a:cs typeface="Arial"/>
              <a:sym typeface="Arial"/>
            </a:endParaRPr>
          </a:p>
        </p:txBody>
      </p:sp>
      <p:pic>
        <p:nvPicPr>
          <p:cNvPr id="166" name="Google Shape;166;p16"/>
          <p:cNvPicPr preferRelativeResize="0"/>
          <p:nvPr/>
        </p:nvPicPr>
        <p:blipFill rotWithShape="1">
          <a:blip r:embed="rId3">
            <a:alphaModFix/>
          </a:blip>
          <a:srcRect b="0" l="0" r="0" t="0"/>
          <a:stretch/>
        </p:blipFill>
        <p:spPr>
          <a:xfrm>
            <a:off x="5334000" y="4343400"/>
            <a:ext cx="1524000" cy="1524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7"/>
          <p:cNvSpPr txBox="1"/>
          <p:nvPr>
            <p:ph idx="1" type="body"/>
          </p:nvPr>
        </p:nvSpPr>
        <p:spPr>
          <a:xfrm>
            <a:off x="533400" y="152400"/>
            <a:ext cx="10358120" cy="6093976"/>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s-ES"/>
              <a:t>Sí, Oracle es una excelente opción para gestionar bases de datos en proyectos profesionales. Aquí hay algunas razones por las cuales Oracle es altamente valorado en el ámbito profesional:</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s-ES"/>
              <a:t>1. Rendimiento y Escalabilidad: Oracle Database es conocido por su alto rendimiento y capacidad para manejar grandes volúmenes de datos. Es escalable, lo que significa que puede crecer con las necesidades de tu empresa, desde pequeñas aplicaciones hasta grandes sistemas empresariales.</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s-ES"/>
              <a:t>2. Fiabilidad y Disponibilidad: Oracle ofrece características avanzadas de recuperación ante desastres y alta disponibilidad. Su arquitectura RAC (Real Application Clusters) permite distribuir la carga de trabajo en múltiples servidores, asegurando que el sistema siga funcionando incluso si uno de los servidores falla.</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s-ES"/>
              <a:t>3. Seguridad: Oracle tiene una robusta suite de seguridad que incluye cifrado de datos, control de acceso, auditoría y cumplimiento normativo. Esto es esencial para proteger datos sensibles y cumplir con las regulaciones legales.</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s-ES"/>
              <a:t>4. Características Avanzadas: Oracle Database incluye numerosas características avanzadas, como soporte para JSON, XML, y análisis de datos en tiempo real. También soporta procedimientos almacenados, triggers, y otras funcionalidades que permiten una gestión avanzada de la base de datos.</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s-ES"/>
              <a:t>5. Soporte y Comunidad: Oracle ofrece soporte técnico de alta calidad y cuenta con una vasta comunidad de usuarios y desarrolladores. Esto facilita la resolución de problemas y el acceso a recursos y documentación.</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p:nvPr/>
        </p:nvSpPr>
        <p:spPr>
          <a:xfrm>
            <a:off x="0" y="2819400"/>
            <a:ext cx="12192000" cy="1219200"/>
          </a:xfrm>
          <a:custGeom>
            <a:rect b="b" l="l" r="r" t="t"/>
            <a:pathLst>
              <a:path extrusionOk="0" h="700405" w="914463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8"/>
          <p:cNvSpPr txBox="1"/>
          <p:nvPr>
            <p:ph type="title"/>
          </p:nvPr>
        </p:nvSpPr>
        <p:spPr>
          <a:xfrm>
            <a:off x="3549036" y="3084034"/>
            <a:ext cx="5093927"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s-ES">
                <a:solidFill>
                  <a:schemeClr val="lt1"/>
                </a:solidFill>
                <a:latin typeface="Rubik"/>
                <a:ea typeface="Rubik"/>
                <a:cs typeface="Rubik"/>
                <a:sym typeface="Rubik"/>
              </a:rPr>
              <a:t>Caso práctico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184" name="Google Shape;184;p1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185" name="Google Shape;185;p19"/>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186" name="Google Shape;186;p19"/>
          <p:cNvSpPr txBox="1"/>
          <p:nvPr/>
        </p:nvSpPr>
        <p:spPr>
          <a:xfrm>
            <a:off x="1828800" y="1905000"/>
            <a:ext cx="739139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Sistema de Gestión de Inventarios para una Tienda en Línea</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Descripción del Proyecto</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Vamos a desarrollar un sistema de gestión de inventarios para una tienda en línea utilizando Oracle Database. Este sistema debe permitir la administración de productos, categorías, proveedores y pedidos. Además, debe ser capaz de generar reportes sobre el estado del inventario.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2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Nombre de la sesión</a:t>
            </a:r>
            <a:endParaRPr sz="2400">
              <a:solidFill>
                <a:schemeClr val="dk1"/>
              </a:solidFill>
              <a:latin typeface="Arial"/>
              <a:ea typeface="Arial"/>
              <a:cs typeface="Arial"/>
              <a:sym typeface="Arial"/>
            </a:endParaRPr>
          </a:p>
        </p:txBody>
      </p:sp>
      <p:sp>
        <p:nvSpPr>
          <p:cNvPr id="193" name="Google Shape;193;p2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194" name="Google Shape;194;p20"/>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195" name="Google Shape;195;p20"/>
          <p:cNvSpPr txBox="1"/>
          <p:nvPr/>
        </p:nvSpPr>
        <p:spPr>
          <a:xfrm>
            <a:off x="2282337" y="1780300"/>
            <a:ext cx="7627325" cy="44371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None/>
            </a:pPr>
            <a:r>
              <a:rPr lang="es-ES" sz="2800">
                <a:solidFill>
                  <a:schemeClr val="dk1"/>
                </a:solidFill>
                <a:latin typeface="Arial"/>
                <a:ea typeface="Arial"/>
                <a:cs typeface="Arial"/>
                <a:sym typeface="Arial"/>
              </a:rPr>
              <a:t>¿Quién quisiera participar? (2 voluntarios)</a:t>
            </a:r>
            <a:endParaRPr/>
          </a:p>
        </p:txBody>
      </p:sp>
      <p:pic>
        <p:nvPicPr>
          <p:cNvPr id="196" name="Google Shape;196;p20"/>
          <p:cNvPicPr preferRelativeResize="0"/>
          <p:nvPr/>
        </p:nvPicPr>
        <p:blipFill rotWithShape="1">
          <a:blip r:embed="rId3">
            <a:alphaModFix/>
          </a:blip>
          <a:srcRect b="0" l="0" r="0" t="0"/>
          <a:stretch/>
        </p:blipFill>
        <p:spPr>
          <a:xfrm>
            <a:off x="4730555" y="2895600"/>
            <a:ext cx="2730890" cy="252033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2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Nombre de la sesión</a:t>
            </a:r>
            <a:endParaRPr sz="2400">
              <a:solidFill>
                <a:schemeClr val="dk1"/>
              </a:solidFill>
              <a:latin typeface="Arial"/>
              <a:ea typeface="Arial"/>
              <a:cs typeface="Arial"/>
              <a:sym typeface="Arial"/>
            </a:endParaRPr>
          </a:p>
        </p:txBody>
      </p:sp>
      <p:sp>
        <p:nvSpPr>
          <p:cNvPr id="203" name="Google Shape;203;p2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04" name="Google Shape;204;p21"/>
          <p:cNvSpPr txBox="1"/>
          <p:nvPr/>
        </p:nvSpPr>
        <p:spPr>
          <a:xfrm>
            <a:off x="3039354" y="1831852"/>
            <a:ext cx="6096000"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ES" sz="3200">
                <a:solidFill>
                  <a:schemeClr val="dk1"/>
                </a:solidFill>
                <a:latin typeface="Arial"/>
                <a:ea typeface="Arial"/>
                <a:cs typeface="Arial"/>
                <a:sym typeface="Arial"/>
              </a:rPr>
              <a:t>¿Qué se les hizo más fácil?</a:t>
            </a:r>
            <a:endParaRPr/>
          </a:p>
          <a:p>
            <a:pPr indent="0" lvl="0" marL="0" marR="0" rtl="0" algn="ctr">
              <a:lnSpc>
                <a:spcPct val="100000"/>
              </a:lnSpc>
              <a:spcBef>
                <a:spcPts val="585"/>
              </a:spcBef>
              <a:spcAft>
                <a:spcPts val="0"/>
              </a:spcAft>
              <a:buNone/>
            </a:pPr>
            <a:r>
              <a:rPr lang="es-ES"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205" name="Google Shape;205;p21"/>
          <p:cNvPicPr preferRelativeResize="0"/>
          <p:nvPr/>
        </p:nvPicPr>
        <p:blipFill rotWithShape="1">
          <a:blip r:embed="rId3">
            <a:alphaModFix/>
          </a:blip>
          <a:srcRect b="0" l="0" r="0" t="0"/>
          <a:stretch/>
        </p:blipFill>
        <p:spPr>
          <a:xfrm>
            <a:off x="4953000" y="3618011"/>
            <a:ext cx="2047300" cy="2047300"/>
          </a:xfrm>
          <a:prstGeom prst="rect">
            <a:avLst/>
          </a:prstGeom>
          <a:noFill/>
          <a:ln>
            <a:noFill/>
          </a:ln>
        </p:spPr>
      </p:pic>
      <p:pic>
        <p:nvPicPr>
          <p:cNvPr id="206" name="Google Shape;206;p21"/>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2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Aprendizajes</a:t>
            </a:r>
            <a:endParaRPr sz="2400">
              <a:solidFill>
                <a:schemeClr val="dk1"/>
              </a:solidFill>
              <a:latin typeface="Arial"/>
              <a:ea typeface="Arial"/>
              <a:cs typeface="Arial"/>
              <a:sym typeface="Arial"/>
            </a:endParaRPr>
          </a:p>
        </p:txBody>
      </p:sp>
      <p:sp>
        <p:nvSpPr>
          <p:cNvPr id="213" name="Google Shape;213;p2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14" name="Google Shape;214;p22"/>
          <p:cNvSpPr txBox="1"/>
          <p:nvPr/>
        </p:nvSpPr>
        <p:spPr>
          <a:xfrm>
            <a:off x="2243577" y="3149025"/>
            <a:ext cx="7687554" cy="58477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200">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215" name="Google Shape;215;p22"/>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Resumen</a:t>
            </a:r>
            <a:endParaRPr/>
          </a:p>
        </p:txBody>
      </p:sp>
      <p:sp>
        <p:nvSpPr>
          <p:cNvPr id="221" name="Google Shape;221;p23"/>
          <p:cNvSpPr txBox="1"/>
          <p:nvPr>
            <p:ph idx="1" type="body"/>
          </p:nvPr>
        </p:nvSpPr>
        <p:spPr>
          <a:xfrm>
            <a:off x="916939" y="1793493"/>
            <a:ext cx="10358120" cy="2769989"/>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s-ES"/>
              <a:t>Oracle Corporation es una empresa multinacional de tecnología informática que se especializa en el desarrollo y comercialización de software y hardware, principalmente conocido por su sistema de gestión de bases de datos (SGBD) Oracle Database. Fundada en 1977 por Larry Ellison, Bob Miner y Ed Oates, Oracle se ha consolidado como uno de los líderes en el mercado de bases de datos y soluciones empresariales.</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s-ES"/>
              <a:t>Oracle es una opción sólida y confiable para la gestión de bases de datos en proyectos profesionales. Ofrece un conjunto completo de características que garantizan rendimiento, seguridad, escalabilidad y alta disponibilidad, lo que lo hace adecuado para una amplia variedad de aplicaciones y entornos empresariales. Su continua innovación y su robusto ecosistema de soporte aseguran que las organizaciones puedan confiar en Oracle para manejar sus necesidades de datos más críticas.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2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28" name="Google Shape;228;p2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29" name="Google Shape;229;p24"/>
          <p:cNvSpPr txBox="1"/>
          <p:nvPr/>
        </p:nvSpPr>
        <p:spPr>
          <a:xfrm>
            <a:off x="2243577" y="2644170"/>
            <a:ext cx="7687554" cy="156966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lang="es-ES"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230" name="Google Shape;230;p24"/>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2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237" name="Google Shape;237;p2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38" name="Google Shape;238;p25"/>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39" name="Google Shape;239;p25"/>
          <p:cNvSpPr txBox="1"/>
          <p:nvPr/>
        </p:nvSpPr>
        <p:spPr>
          <a:xfrm>
            <a:off x="946171" y="1538098"/>
            <a:ext cx="10080101" cy="2998898"/>
          </a:xfrm>
          <a:prstGeom prst="rect">
            <a:avLst/>
          </a:prstGeom>
          <a:noFill/>
          <a:ln>
            <a:noFill/>
          </a:ln>
        </p:spPr>
        <p:txBody>
          <a:bodyPr anchorCtr="0" anchor="t" bIns="0" lIns="0" spcFirstLastPara="1" rIns="0" wrap="square" tIns="43800">
            <a:spAutoFit/>
          </a:bodyPr>
          <a:lstStyle/>
          <a:p>
            <a:pPr indent="-342900" lvl="0" marL="35496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Videos</a:t>
            </a:r>
            <a:endParaRPr/>
          </a:p>
          <a:p>
            <a:pPr indent="-190500" lvl="0" marL="35496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chemeClr val="dk1"/>
              </a:buClr>
              <a:buSzPts val="2400"/>
              <a:buFont typeface="Arial"/>
              <a:buChar char="-"/>
            </a:pPr>
            <a:r>
              <a:rPr b="1" lang="es-ES" sz="2400">
                <a:solidFill>
                  <a:schemeClr val="dk1"/>
                </a:solidFill>
                <a:latin typeface="Arial"/>
                <a:ea typeface="Arial"/>
                <a:cs typeface="Arial"/>
                <a:sym typeface="Arial"/>
              </a:rPr>
              <a:t>Video 1: </a:t>
            </a:r>
            <a:endParaRPr/>
          </a:p>
          <a:p>
            <a:pPr indent="-342900" lvl="0" marL="354965" marR="5080" rtl="0" algn="l">
              <a:spcBef>
                <a:spcPts val="0"/>
              </a:spcBef>
              <a:spcAft>
                <a:spcPts val="0"/>
              </a:spcAft>
              <a:buClr>
                <a:schemeClr val="dk1"/>
              </a:buClr>
              <a:buSzPts val="2400"/>
              <a:buFont typeface="Arial"/>
              <a:buChar char="-"/>
            </a:pPr>
            <a:r>
              <a:rPr lang="es-ES" sz="2400" u="sng">
                <a:solidFill>
                  <a:schemeClr val="dk1"/>
                </a:solidFill>
                <a:latin typeface="Arial"/>
                <a:ea typeface="Arial"/>
                <a:cs typeface="Arial"/>
                <a:sym typeface="Arial"/>
                <a:hlinkClick r:id="rId4">
                  <a:extLst>
                    <a:ext uri="{A12FA001-AC4F-418D-AE19-62706E023703}">
                      <ahyp:hlinkClr val="tx"/>
                    </a:ext>
                  </a:extLst>
                </a:hlinkClick>
              </a:rPr>
              <a:t>https://www.youtube.com/watch?v=_ePJqeQ-eWg&amp;list=PLgqdACsQ8US0fk-0trmKjJB8fMCKPJ1ai</a:t>
            </a:r>
            <a:endParaRPr sz="2400">
              <a:solidFill>
                <a:schemeClr val="dk1"/>
              </a:solidFill>
              <a:latin typeface="Arial"/>
              <a:ea typeface="Arial"/>
              <a:cs typeface="Arial"/>
              <a:sym typeface="Arial"/>
            </a:endParaRPr>
          </a:p>
          <a:p>
            <a:pPr indent="-190500" lvl="0" marL="35496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Páginas web:</a:t>
            </a:r>
            <a:endParaRPr/>
          </a:p>
          <a:p>
            <a:pPr indent="-342900" lvl="0" marL="35496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https://es.wikipedia.org/wiki/Oracle_Corporation</a:t>
            </a:r>
            <a:endParaRPr/>
          </a:p>
        </p:txBody>
      </p:sp>
      <p:sp>
        <p:nvSpPr>
          <p:cNvPr id="240" name="Google Shape;240;p25"/>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2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247" name="Google Shape;247;p26"/>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48" name="Google Shape;248;p26"/>
          <p:cNvSpPr txBox="1"/>
          <p:nvPr/>
        </p:nvSpPr>
        <p:spPr>
          <a:xfrm>
            <a:off x="914400" y="2828835"/>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MUCHAS GRACIAS QUE DIOS LOS BENDIGA!!!</a:t>
            </a:r>
            <a:endParaRPr b="1" sz="3600">
              <a:solidFill>
                <a:schemeClr val="dk1"/>
              </a:solidFill>
              <a:latin typeface="Arial"/>
              <a:ea typeface="Arial"/>
              <a:cs typeface="Arial"/>
              <a:sym typeface="Arial"/>
            </a:endParaRPr>
          </a:p>
        </p:txBody>
      </p:sp>
      <p:pic>
        <p:nvPicPr>
          <p:cNvPr id="249" name="Google Shape;249;p26"/>
          <p:cNvPicPr preferRelativeResize="0"/>
          <p:nvPr/>
        </p:nvPicPr>
        <p:blipFill rotWithShape="1">
          <a:blip r:embed="rId4">
            <a:alphaModFix/>
          </a:blip>
          <a:srcRect b="0" l="0" r="0" t="0"/>
          <a:stretch/>
        </p:blipFill>
        <p:spPr>
          <a:xfrm>
            <a:off x="7467600" y="1216152"/>
            <a:ext cx="3056381" cy="442569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grpSp>
        <p:nvGrpSpPr>
          <p:cNvPr id="254" name="Google Shape;254;p27"/>
          <p:cNvGrpSpPr/>
          <p:nvPr/>
        </p:nvGrpSpPr>
        <p:grpSpPr>
          <a:xfrm>
            <a:off x="2057400" y="152400"/>
            <a:ext cx="9906000" cy="4152900"/>
            <a:chOff x="2057400" y="152400"/>
            <a:chExt cx="9906000" cy="4152900"/>
          </a:xfrm>
        </p:grpSpPr>
        <p:pic>
          <p:nvPicPr>
            <p:cNvPr id="255" name="Google Shape;255;p27"/>
            <p:cNvPicPr preferRelativeResize="0"/>
            <p:nvPr/>
          </p:nvPicPr>
          <p:blipFill rotWithShape="1">
            <a:blip r:embed="rId3">
              <a:alphaModFix/>
            </a:blip>
            <a:srcRect b="0" l="0" r="0" t="0"/>
            <a:stretch/>
          </p:blipFill>
          <p:spPr>
            <a:xfrm>
              <a:off x="2057400" y="2552700"/>
              <a:ext cx="7856700" cy="1752600"/>
            </a:xfrm>
            <a:prstGeom prst="rect">
              <a:avLst/>
            </a:prstGeom>
            <a:noFill/>
            <a:ln>
              <a:noFill/>
            </a:ln>
          </p:spPr>
        </p:pic>
        <p:sp>
          <p:nvSpPr>
            <p:cNvPr id="256" name="Google Shape;256;p27"/>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