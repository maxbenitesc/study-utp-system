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07" r:id="rId4"/>
    <p:sldId id="308" r:id="rId5"/>
    <p:sldId id="309" r:id="rId6"/>
    <p:sldId id="298" r:id="rId7"/>
    <p:sldId id="297" r:id="rId8"/>
    <p:sldId id="312" r:id="rId9"/>
    <p:sldId id="313" r:id="rId10"/>
    <p:sldId id="314" r:id="rId11"/>
    <p:sldId id="310" r:id="rId12"/>
    <p:sldId id="311" r:id="rId13"/>
    <p:sldId id="275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E79C3-AE97-49C5-89BD-3C4A9E7E9188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49C51-E0D2-4739-895A-B28EB82655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70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31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670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736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353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151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20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219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560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660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793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4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19326404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80082706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3152511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08188408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2437299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19B92-A47C-458E-AE74-CC7A1303C729}" type="datetimeFigureOut">
              <a:rPr lang="es-PE" smtClean="0"/>
              <a:t>30/09/2024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598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y </a:t>
            </a:r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es-ES" sz="6000" dirty="0">
                <a:latin typeface="+mj-lt"/>
                <a:ea typeface="+mj-ea"/>
                <a:cs typeface="+mj-cs"/>
              </a:rPr>
              <a:t>Listas </a:t>
            </a:r>
            <a:r>
              <a:rPr lang="es-ES" sz="6000" dirty="0" smtClean="0">
                <a:latin typeface="+mj-lt"/>
                <a:ea typeface="+mj-ea"/>
                <a:cs typeface="+mj-cs"/>
              </a:rPr>
              <a:t>Enlazadas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s-ES" sz="6000" dirty="0" smtClean="0">
                <a:latin typeface="+mj-lt"/>
                <a:ea typeface="+mj-ea"/>
                <a:cs typeface="+mj-cs"/>
              </a:rPr>
              <a:t>Búsqueda </a:t>
            </a:r>
            <a:r>
              <a:rPr lang="es-ES" sz="6000" dirty="0">
                <a:latin typeface="+mj-lt"/>
                <a:ea typeface="+mj-ea"/>
                <a:cs typeface="+mj-cs"/>
              </a:rPr>
              <a:t>- Ordenamiento</a:t>
            </a:r>
            <a:endParaRPr lang="es-ES" sz="60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25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Logro de aprendizaje</a:t>
            </a: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65049933-C646-4019-B9E2-D4157419C3D7}"/>
              </a:ext>
            </a:extLst>
          </p:cNvPr>
          <p:cNvSpPr/>
          <p:nvPr/>
        </p:nvSpPr>
        <p:spPr>
          <a:xfrm>
            <a:off x="2053804" y="2788720"/>
            <a:ext cx="7580773" cy="2425148"/>
          </a:xfrm>
          <a:prstGeom prst="round2DiagRect">
            <a:avLst/>
          </a:prstGeom>
          <a:solidFill>
            <a:srgbClr val="00206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2400" dirty="0">
                <a:solidFill>
                  <a:schemeClr val="bg1"/>
                </a:solidFill>
              </a:rPr>
              <a:t>Al finalizar la sesión el estudiante </a:t>
            </a:r>
            <a:r>
              <a:rPr lang="es-ES" sz="2400" dirty="0" smtClean="0">
                <a:solidFill>
                  <a:schemeClr val="bg1"/>
                </a:solidFill>
              </a:rPr>
              <a:t>utilizará </a:t>
            </a:r>
            <a:r>
              <a:rPr lang="es-ES" sz="2400" dirty="0">
                <a:solidFill>
                  <a:schemeClr val="bg1"/>
                </a:solidFill>
              </a:rPr>
              <a:t>adecuadamente </a:t>
            </a:r>
            <a:r>
              <a:rPr lang="es-ES" sz="2400" dirty="0" smtClean="0">
                <a:solidFill>
                  <a:schemeClr val="bg1"/>
                </a:solidFill>
              </a:rPr>
              <a:t>las operaciones </a:t>
            </a:r>
            <a:r>
              <a:rPr lang="es-ES" sz="2400" dirty="0" smtClean="0">
                <a:solidFill>
                  <a:schemeClr val="bg1"/>
                </a:solidFill>
              </a:rPr>
              <a:t>de búsqueda con </a:t>
            </a:r>
            <a:r>
              <a:rPr lang="es-ES" sz="2400" dirty="0" smtClean="0">
                <a:solidFill>
                  <a:schemeClr val="bg1"/>
                </a:solidFill>
              </a:rPr>
              <a:t>Listas Enlazadas para desarrollar </a:t>
            </a:r>
            <a:r>
              <a:rPr lang="es-PE" sz="2400" dirty="0"/>
              <a:t>soluciones algorítmicas</a:t>
            </a:r>
            <a:r>
              <a:rPr lang="es-ES" sz="2400" dirty="0" smtClean="0">
                <a:solidFill>
                  <a:schemeClr val="bg1"/>
                </a:solidFill>
              </a:rPr>
              <a:t> </a:t>
            </a:r>
            <a:r>
              <a:rPr lang="es-ES" sz="2400" dirty="0">
                <a:solidFill>
                  <a:schemeClr val="bg1"/>
                </a:solidFill>
              </a:rPr>
              <a:t>en java.</a:t>
            </a:r>
          </a:p>
          <a:p>
            <a:pPr algn="just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49356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 smtClean="0">
                <a:solidFill>
                  <a:schemeClr val="tx1"/>
                </a:solidFill>
              </a:rPr>
              <a:t>Dudas sobre la clase anterior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100883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r>
              <a:rPr lang="es-PE" altLang="es-MX" sz="2800" dirty="0" smtClean="0">
                <a:solidFill>
                  <a:schemeClr val="tx1"/>
                </a:solidFill>
              </a:rPr>
              <a:t>Punteros:</a:t>
            </a: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Un puntero puede apuntar a 2 nodos a la vez? </a:t>
            </a: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Un puntero puede apuntar a 2 nodos en diferentes momentos?</a:t>
            </a:r>
          </a:p>
          <a:p>
            <a:pPr algn="just" fontAlgn="auto">
              <a:spcAft>
                <a:spcPts val="0"/>
              </a:spcAft>
            </a:pPr>
            <a:endParaRPr lang="es-PE" altLang="es-MX" sz="2800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</a:pPr>
            <a:endParaRPr lang="es-PE" altLang="es-MX" sz="2800" dirty="0" smtClean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altLang="es-MX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51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Conocimientos previos: </a:t>
            </a:r>
            <a:r>
              <a:rPr lang="es-PE" dirty="0" smtClean="0">
                <a:solidFill>
                  <a:schemeClr val="tx1"/>
                </a:solidFill>
              </a:rPr>
              <a:t>Búsquedas secuenciales - Listas </a:t>
            </a:r>
            <a:r>
              <a:rPr lang="es-PE" dirty="0" smtClean="0">
                <a:solidFill>
                  <a:schemeClr val="tx1"/>
                </a:solidFill>
              </a:rPr>
              <a:t>Enlazadas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Indique un ejemplo de una </a:t>
            </a:r>
            <a:r>
              <a:rPr lang="es-PE" altLang="es-MX" sz="2800" dirty="0" smtClean="0">
                <a:solidFill>
                  <a:schemeClr val="tx1"/>
                </a:solidFill>
              </a:rPr>
              <a:t>búsqueda secuencial (uno a uno) de un valor u objeto cualquiera</a:t>
            </a:r>
            <a:endParaRPr lang="es-PE" altLang="es-MX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88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 smtClean="0">
                <a:solidFill>
                  <a:schemeClr val="tx1"/>
                </a:solidFill>
              </a:rPr>
              <a:t>Utilidad del tema: </a:t>
            </a:r>
            <a:r>
              <a:rPr lang="es-PE" dirty="0" smtClean="0">
                <a:solidFill>
                  <a:schemeClr val="tx1"/>
                </a:solidFill>
              </a:rPr>
              <a:t>Búsqueda - Listas </a:t>
            </a:r>
            <a:r>
              <a:rPr lang="es-PE" dirty="0" smtClean="0">
                <a:solidFill>
                  <a:schemeClr val="tx1"/>
                </a:solidFill>
              </a:rPr>
              <a:t>enlazadas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r>
              <a:rPr lang="es-PE" altLang="es-MX" sz="2800" dirty="0" smtClean="0">
                <a:solidFill>
                  <a:schemeClr val="tx1"/>
                </a:solidFill>
              </a:rPr>
              <a:t>Porque es importante:</a:t>
            </a: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Permiten generar listas de elementos en forma secuencial </a:t>
            </a: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Permiten generar listas de elementos de manera dinámica </a:t>
            </a:r>
          </a:p>
        </p:txBody>
      </p:sp>
    </p:spTree>
    <p:extLst>
      <p:ext uri="{BB962C8B-B14F-4D97-AF65-F5344CB8AC3E}">
        <p14:creationId xmlns:p14="http://schemas.microsoft.com/office/powerpoint/2010/main" val="48662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Búsqueda en Listas </a:t>
            </a:r>
            <a:r>
              <a:rPr lang="es-ES_tradnl" altLang="es-ES" dirty="0" smtClean="0"/>
              <a:t>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152774" y="182662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43276" y="1894223"/>
            <a:ext cx="10520412" cy="417931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/>
              <a:t>La operación búsqueda de un elemento en una </a:t>
            </a:r>
            <a:r>
              <a:rPr lang="es-ES" dirty="0" smtClean="0"/>
              <a:t>lista enlazada, consiste en recorrer </a:t>
            </a:r>
            <a:r>
              <a:rPr lang="es-ES" dirty="0"/>
              <a:t>la lista hasta encontrar el nodo con el </a:t>
            </a:r>
            <a:r>
              <a:rPr lang="es-ES" dirty="0" smtClean="0"/>
              <a:t>valor buscado.</a:t>
            </a:r>
          </a:p>
          <a:p>
            <a:pPr eaLnBrk="1" hangingPunct="1"/>
            <a:r>
              <a:rPr lang="es-ES" dirty="0" smtClean="0"/>
              <a:t>Una </a:t>
            </a:r>
            <a:r>
              <a:rPr lang="es-ES" dirty="0"/>
              <a:t>vez encontrado el nodo, </a:t>
            </a:r>
            <a:r>
              <a:rPr lang="es-ES" dirty="0" smtClean="0"/>
              <a:t>devolver la </a:t>
            </a:r>
            <a:r>
              <a:rPr lang="es-ES" dirty="0"/>
              <a:t>referencia a ese nodo (en caso negativo, devuelve </a:t>
            </a:r>
            <a:r>
              <a:rPr lang="es-ES" dirty="0" err="1"/>
              <a:t>null</a:t>
            </a:r>
            <a:r>
              <a:rPr lang="es-ES" dirty="0"/>
              <a:t>). </a:t>
            </a:r>
            <a:endParaRPr lang="es-ES" dirty="0" smtClean="0"/>
          </a:p>
          <a:p>
            <a:pPr eaLnBrk="1" hangingPunct="1"/>
            <a:r>
              <a:rPr lang="es-ES" dirty="0" smtClean="0"/>
              <a:t>Otro forma es </a:t>
            </a:r>
            <a:r>
              <a:rPr lang="es-ES" dirty="0"/>
              <a:t>que el método devuelve true si encuentra el nodo con el elemento y false si no está en la lista .</a:t>
            </a:r>
            <a:endParaRPr lang="es-PE" altLang="es-PE" dirty="0" smtClean="0"/>
          </a:p>
        </p:txBody>
      </p:sp>
    </p:spTree>
    <p:extLst>
      <p:ext uri="{BB962C8B-B14F-4D97-AF65-F5344CB8AC3E}">
        <p14:creationId xmlns:p14="http://schemas.microsoft.com/office/powerpoint/2010/main" val="310352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7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5618"/>
            <a:ext cx="10515600" cy="1325563"/>
          </a:xfrm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/>
              <a:t>Búsqueda en Listas Enlazadas</a:t>
            </a:r>
            <a:endParaRPr lang="en-US" altLang="es-E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38200" y="1274690"/>
            <a:ext cx="10721741" cy="34031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buClr>
                <a:schemeClr val="tx1"/>
              </a:buClr>
              <a:buNone/>
            </a:pPr>
            <a:r>
              <a:rPr lang="es-ES" sz="2800" dirty="0"/>
              <a:t>El método </a:t>
            </a:r>
            <a:r>
              <a:rPr lang="es-ES" sz="2800" dirty="0" smtClean="0"/>
              <a:t>es el siguiente:</a:t>
            </a:r>
          </a:p>
          <a:p>
            <a:pPr marL="0" indent="0" algn="just" eaLnBrk="1" hangingPunct="1">
              <a:buClr>
                <a:schemeClr val="tx1"/>
              </a:buClr>
              <a:buNone/>
            </a:pPr>
            <a:r>
              <a:rPr lang="es-ES" sz="2800" dirty="0" smtClean="0"/>
              <a:t>Usar una referencia (p) para </a:t>
            </a:r>
            <a:r>
              <a:rPr lang="es-ES" sz="2800" dirty="0"/>
              <a:t>recorrer la lista, nodo a nodo. </a:t>
            </a:r>
            <a:endParaRPr lang="es-ES" sz="2800" dirty="0" smtClean="0"/>
          </a:p>
          <a:p>
            <a:pPr marL="0" indent="0" algn="just" eaLnBrk="1" hangingPunct="1">
              <a:buClr>
                <a:schemeClr val="tx1"/>
              </a:buClr>
              <a:buNone/>
            </a:pPr>
            <a:r>
              <a:rPr lang="es-ES" sz="2800" dirty="0" smtClean="0"/>
              <a:t>El </a:t>
            </a:r>
            <a:r>
              <a:rPr lang="es-ES" sz="2800" dirty="0"/>
              <a:t>bucle de búsqueda inicializa </a:t>
            </a:r>
            <a:r>
              <a:rPr lang="es-ES" sz="2800" dirty="0" smtClean="0"/>
              <a:t>p al </a:t>
            </a:r>
            <a:r>
              <a:rPr lang="es-ES" sz="2800" dirty="0"/>
              <a:t>nodo </a:t>
            </a:r>
            <a:r>
              <a:rPr lang="es-ES" sz="2800" dirty="0" smtClean="0"/>
              <a:t>inicio y compara </a:t>
            </a:r>
            <a:r>
              <a:rPr lang="es-ES" sz="2800" dirty="0"/>
              <a:t>el nodo referenciado por </a:t>
            </a:r>
            <a:r>
              <a:rPr lang="es-ES" sz="2800" dirty="0" smtClean="0"/>
              <a:t>p </a:t>
            </a:r>
            <a:r>
              <a:rPr lang="es-ES" sz="2800" dirty="0"/>
              <a:t>con el elemento buscado si coincide la búsqueda, termina, en caso contrario; </a:t>
            </a:r>
            <a:r>
              <a:rPr lang="es-ES" sz="2800" dirty="0" smtClean="0"/>
              <a:t>p </a:t>
            </a:r>
            <a:r>
              <a:rPr lang="es-ES" sz="2800" dirty="0"/>
              <a:t>avanza al siguiente nodo. </a:t>
            </a:r>
            <a:endParaRPr lang="es-ES" sz="2800" dirty="0" smtClean="0"/>
          </a:p>
          <a:p>
            <a:pPr marL="0" indent="0" algn="just" eaLnBrk="1" hangingPunct="1">
              <a:buClr>
                <a:schemeClr val="tx1"/>
              </a:buClr>
              <a:buNone/>
            </a:pPr>
            <a:r>
              <a:rPr lang="es-ES" sz="2800" dirty="0" smtClean="0"/>
              <a:t>La búsqueda </a:t>
            </a:r>
            <a:r>
              <a:rPr lang="es-ES" sz="2800" dirty="0"/>
              <a:t>termina cuando se encuentra el nodo, o bien cuando se ha recorrido la lista, y entonces </a:t>
            </a:r>
            <a:r>
              <a:rPr lang="es-ES" sz="2800" dirty="0" err="1"/>
              <a:t>indice</a:t>
            </a:r>
            <a:r>
              <a:rPr lang="es-ES" sz="2800" dirty="0"/>
              <a:t> toma el valor </a:t>
            </a:r>
            <a:r>
              <a:rPr lang="es-ES" sz="2800" dirty="0" err="1"/>
              <a:t>null</a:t>
            </a:r>
            <a:r>
              <a:rPr lang="es-ES" sz="2800" dirty="0"/>
              <a:t>. </a:t>
            </a:r>
            <a:endParaRPr lang="es-PE" altLang="es-PE" sz="2800" i="1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464" y="4976812"/>
            <a:ext cx="706755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Búsqueda en Listas </a:t>
            </a:r>
            <a:r>
              <a:rPr lang="es-ES_tradnl" altLang="es-ES" dirty="0" smtClean="0"/>
              <a:t>Enlazadas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152774" y="182662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43276" y="1894223"/>
            <a:ext cx="10520412" cy="417931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 smtClean="0"/>
              <a:t>Búsqueda en una lista con datos no ordenados</a:t>
            </a:r>
          </a:p>
          <a:p>
            <a:pPr eaLnBrk="1" hangingPunct="1"/>
            <a:r>
              <a:rPr lang="es-ES" dirty="0"/>
              <a:t>Búsqueda en una lista con </a:t>
            </a:r>
            <a:r>
              <a:rPr lang="es-ES" dirty="0" smtClean="0"/>
              <a:t>datos ordenados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153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Listas Enlazadas Ordenadas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152774" y="182662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43276" y="1894223"/>
            <a:ext cx="10520412" cy="417931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/>
              <a:t>Los elementos de una lista tienen la propiedad de estar ordenados de forma lineal según las posiciones que ocupan en la misma</a:t>
            </a:r>
            <a:r>
              <a:rPr lang="es-ES" dirty="0" smtClean="0"/>
              <a:t>.</a:t>
            </a:r>
          </a:p>
          <a:p>
            <a:pPr eaLnBrk="1" hangingPunct="1"/>
            <a:r>
              <a:rPr lang="es-ES" dirty="0" smtClean="0"/>
              <a:t>Es </a:t>
            </a:r>
            <a:r>
              <a:rPr lang="es-ES" dirty="0"/>
              <a:t>posible mantener una lista enlazada ordenada según el dato asociado a cada nodo</a:t>
            </a:r>
            <a:r>
              <a:rPr lang="es-ES" dirty="0" smtClean="0"/>
              <a:t>. </a:t>
            </a:r>
            <a:r>
              <a:rPr lang="es-ES" dirty="0"/>
              <a:t>La forma de insertar un elemento en una lista ordenada es determinar, en primer lugar, la posición de inserción </a:t>
            </a:r>
            <a:r>
              <a:rPr lang="es-ES" dirty="0" smtClean="0"/>
              <a:t>y luego realizar los enlaces correspondientes.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567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18949" y="162995"/>
            <a:ext cx="10515600" cy="1325563"/>
          </a:xfrm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_tradnl" altLang="es-ES" dirty="0" smtClean="0"/>
              <a:t>Listas Enlazadas Ordenadas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152774" y="182662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23512" y="1488558"/>
            <a:ext cx="11242307" cy="3293794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 smtClean="0"/>
              <a:t>La forma de insertar nodos con valores ordenados consiste en buscar la ubicación donde insertar el nodo.</a:t>
            </a:r>
          </a:p>
          <a:p>
            <a:pPr eaLnBrk="1" hangingPunct="1"/>
            <a:r>
              <a:rPr lang="es-ES" dirty="0" smtClean="0"/>
              <a:t>Por ejemplo, para insertar el nodo con el valor de X,   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961" y="3858477"/>
            <a:ext cx="65055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9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Resumiendo</a:t>
            </a: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PE" sz="2800" dirty="0" smtClean="0">
                <a:solidFill>
                  <a:schemeClr val="tx1"/>
                </a:solidFill>
              </a:rPr>
              <a:t>Los punteros almacenan direcciones de memoria que hacen referencia a un valor.</a:t>
            </a:r>
            <a:endParaRPr lang="es-PE" sz="28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Los nodos son estructuras que contienen uno o varios valores y uno o varios punteros. 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Las listas enlazadas, esta compuesta de uno o mas nodos.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La lista enlazada puede estar vacía, significa que no tiene nodos </a:t>
            </a:r>
            <a:endParaRPr lang="es-E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705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Cierre de la </a:t>
            </a:r>
            <a:r>
              <a:rPr lang="es-PE" dirty="0" smtClean="0">
                <a:solidFill>
                  <a:schemeClr val="tx1"/>
                </a:solidFill>
              </a:rPr>
              <a:t>clase</a:t>
            </a:r>
            <a:endParaRPr lang="es-PE" dirty="0">
              <a:solidFill>
                <a:schemeClr val="tx1"/>
              </a:solidFill>
            </a:endParaRPr>
          </a:p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PE" sz="2800" dirty="0">
                <a:solidFill>
                  <a:schemeClr val="tx1"/>
                </a:solidFill>
              </a:rPr>
              <a:t>Responder lo siguiente: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¿El puntero puede contener un nombre?____________</a:t>
            </a:r>
            <a:endParaRPr lang="es-E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¿El nodo puede almacenar a un puntero </a:t>
            </a:r>
            <a:r>
              <a:rPr lang="es-ES" sz="2800" dirty="0">
                <a:solidFill>
                  <a:schemeClr val="tx1"/>
                </a:solidFill>
              </a:rPr>
              <a:t>?____________</a:t>
            </a:r>
          </a:p>
          <a:p>
            <a:pPr>
              <a:lnSpc>
                <a:spcPct val="150000"/>
              </a:lnSpc>
              <a:defRPr/>
            </a:pPr>
            <a:endParaRPr lang="es-E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89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1628775"/>
            <a:ext cx="10969388" cy="4537075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/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PE" altLang="es-PE" sz="6000" b="1" dirty="0" smtClean="0"/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84636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100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482</Words>
  <Application>Microsoft Office PowerPoint</Application>
  <PresentationFormat>Panorámica</PresentationFormat>
  <Paragraphs>53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Verdana</vt:lpstr>
      <vt:lpstr>Tema de Office</vt:lpstr>
      <vt:lpstr>Algoritmos y Estructuras de Datos</vt:lpstr>
      <vt:lpstr>Logro de aprendizaje</vt:lpstr>
      <vt:lpstr>Presentación de PowerPoint</vt:lpstr>
      <vt:lpstr>Presentación de PowerPoint</vt:lpstr>
      <vt:lpstr>Presentación de PowerPoint</vt:lpstr>
      <vt:lpstr>Búsqueda en Listas Enlazadas</vt:lpstr>
      <vt:lpstr>Búsqueda en Listas Enlazadas</vt:lpstr>
      <vt:lpstr>Búsqueda en Listas Enlazadas</vt:lpstr>
      <vt:lpstr>Listas Enlazadas Ordenadas</vt:lpstr>
      <vt:lpstr>Listas Enlazadas Ordenadas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y Estructuras de Datos</dc:title>
  <dc:creator>Administrador</dc:creator>
  <cp:lastModifiedBy>Lizardo Silva Ubaldo</cp:lastModifiedBy>
  <cp:revision>29</cp:revision>
  <dcterms:created xsi:type="dcterms:W3CDTF">2020-10-14T15:31:04Z</dcterms:created>
  <dcterms:modified xsi:type="dcterms:W3CDTF">2024-09-30T17:17:18Z</dcterms:modified>
</cp:coreProperties>
</file>