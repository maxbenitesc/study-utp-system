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Playfair Display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iAya8MZ6Zx+n4cQRFidJ+CTIl6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6.xml"/><Relationship Id="rId33" Type="http://schemas.openxmlformats.org/officeDocument/2006/relationships/font" Target="fonts/PlayfairDisplay-regular.fntdata"/><Relationship Id="rId10" Type="http://schemas.openxmlformats.org/officeDocument/2006/relationships/slide" Target="slides/slide5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8.xml"/><Relationship Id="rId35" Type="http://schemas.openxmlformats.org/officeDocument/2006/relationships/font" Target="fonts/PlayfairDisplay-italic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bold.fntdata"/><Relationship Id="rId15" Type="http://schemas.openxmlformats.org/officeDocument/2006/relationships/slide" Target="slides/slide10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386f9a3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8386f9a3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386f9a37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8386f9a37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386f9a37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8386f9a37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386f9a37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8386f9a37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386f9a37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8386f9a37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3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5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0" name="Google Shape;30;p27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" name="Google Shape;31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p3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" name="Google Shape;50;p3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1" name="Google Shape;51;p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5" name="Google Shape;5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maldonadoq/programming/tree/utp/Web%20Programming/cs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w6287A04TGQnLk-0nLsrjH-IfUeZt2Wj/view" TargetMode="External"/><Relationship Id="rId4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386f9a377_0_0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63" name="Google Shape;63;g38386f9a377_0_0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64" name="Google Shape;64;g38386f9a37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Estilos CSS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p2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Modelo de texto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Modelo de caja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Animaciones, transiciones y transformación con CSS</a:t>
            </a:r>
            <a:endParaRPr b="1" sz="5000"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07 - Sesión 07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311700" y="1278250"/>
            <a:ext cx="4908900" cy="24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Uso de redes sociales y aplicaciones móviles: Familiarizados con </a:t>
            </a:r>
            <a:r>
              <a:rPr b="1" lang="es-419" sz="1700"/>
              <a:t>efectos visuales</a:t>
            </a:r>
            <a:r>
              <a:rPr lang="es-419" sz="1700"/>
              <a:t> como botones que cambian de color, imágenes que giran, menús que se despliegan suavemente y pantallas que se deslizan.</a:t>
            </a:r>
            <a:endParaRPr sz="1700"/>
          </a:p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Conocimientos técnicos previos requeridos: Manejo de </a:t>
            </a:r>
            <a:r>
              <a:rPr b="1" lang="es-419" sz="1700"/>
              <a:t>HTML</a:t>
            </a:r>
            <a:r>
              <a:rPr lang="es-419" sz="1700"/>
              <a:t> y </a:t>
            </a:r>
            <a:r>
              <a:rPr b="1" lang="es-419" sz="1700"/>
              <a:t>CSS</a:t>
            </a:r>
            <a:r>
              <a:rPr lang="es-419" sz="1700"/>
              <a:t>.</a:t>
            </a:r>
            <a:endParaRPr sz="1700"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724" y="821250"/>
            <a:ext cx="2735149" cy="1750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9750" y="2810425"/>
            <a:ext cx="2337077" cy="186157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6425" y="3636075"/>
            <a:ext cx="3448601" cy="1220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pic>
        <p:nvPicPr>
          <p:cNvPr id="95" name="Google Shape;95;p5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525" y="1513525"/>
            <a:ext cx="2492000" cy="2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>
            <p:ph idx="1" type="body"/>
          </p:nvPr>
        </p:nvSpPr>
        <p:spPr>
          <a:xfrm>
            <a:off x="481250" y="1687925"/>
            <a:ext cx="50619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s-419"/>
              <a:t>Al finalizar la sesión, el estudiante:</a:t>
            </a:r>
            <a:endParaRPr/>
          </a:p>
          <a:p>
            <a:pPr indent="-33432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Aplica propiedades de CSS para realizar transiciones, transformaciones y animaciones en elementos HTML, comprendiendo su utilidad en la mejora de la experiencia de usuario en sitios web.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464100" y="1147225"/>
            <a:ext cx="51939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400"/>
              <a:t>¿Para qué sirve esto en la vida real?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Mejora la interacción y </a:t>
            </a:r>
            <a:r>
              <a:rPr b="1" lang="es-419" sz="1400"/>
              <a:t>experiencia de usuario</a:t>
            </a:r>
            <a:r>
              <a:rPr lang="es-419" sz="1400"/>
              <a:t> (UX) en sitios web y aplicaciones móviles.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Se usa en interfaces </a:t>
            </a:r>
            <a:r>
              <a:rPr b="1" lang="es-419" sz="1400"/>
              <a:t>profesionales</a:t>
            </a:r>
            <a:r>
              <a:rPr lang="es-419" sz="1400"/>
              <a:t> como formularios con efectos de validación, banners animados o botones interactivos.</a:t>
            </a:r>
            <a:endParaRPr sz="1400"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464100" y="2804300"/>
            <a:ext cx="51939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Dominar animaciones y transiciones es fundamental para diseñadores </a:t>
            </a:r>
            <a:r>
              <a:rPr b="1" lang="es-419" sz="1400"/>
              <a:t>front-end</a:t>
            </a:r>
            <a:r>
              <a:rPr lang="es-419" sz="1400"/>
              <a:t>, desarrolladores web y freelancers que crean páginas atractivas y modernas.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Estas técnicas son </a:t>
            </a:r>
            <a:r>
              <a:rPr b="1" lang="es-419" sz="1400"/>
              <a:t>valoradas</a:t>
            </a:r>
            <a:r>
              <a:rPr lang="es-419" sz="1400"/>
              <a:t> en la industria de desarrollo web, donde se destaca la estética y fluidez del sitio.</a:t>
            </a:r>
            <a:endParaRPr sz="1400"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625" y="1569975"/>
            <a:ext cx="2852000" cy="2852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Animaciones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Transiciones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Transformación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¿Qué es una animación?</a:t>
            </a:r>
            <a:endParaRPr/>
          </a:p>
        </p:txBody>
      </p:sp>
      <p:sp>
        <p:nvSpPr>
          <p:cNvPr id="116" name="Google Shape;116;p8"/>
          <p:cNvSpPr txBox="1"/>
          <p:nvPr>
            <p:ph idx="4294967295" type="body"/>
          </p:nvPr>
        </p:nvSpPr>
        <p:spPr>
          <a:xfrm>
            <a:off x="311700" y="1225225"/>
            <a:ext cx="8520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500"/>
              <a:t>Son pequeños </a:t>
            </a:r>
            <a:r>
              <a:rPr b="1" lang="es-419" sz="1500"/>
              <a:t>cambios</a:t>
            </a:r>
            <a:r>
              <a:rPr lang="es-419" sz="1500"/>
              <a:t> en el contenido o aspecto visual de una página, de modo que sea más amigable su visualización. Pueden ser </a:t>
            </a:r>
            <a:r>
              <a:rPr b="1" lang="es-419" sz="1500"/>
              <a:t>sencillas</a:t>
            </a:r>
            <a:r>
              <a:rPr lang="es-419" sz="1500"/>
              <a:t>, como cambiar el color o tamaño de una imagen, así como animaciones más </a:t>
            </a:r>
            <a:r>
              <a:rPr b="1" lang="es-419" sz="1500"/>
              <a:t>complejas</a:t>
            </a:r>
            <a:r>
              <a:rPr lang="es-419" sz="1500"/>
              <a:t>, como por ejemplo </a:t>
            </a:r>
            <a:r>
              <a:rPr b="1" lang="es-419" sz="1500"/>
              <a:t>transformaciones</a:t>
            </a:r>
            <a:r>
              <a:rPr lang="es-419" sz="1500"/>
              <a:t>.</a:t>
            </a:r>
            <a:endParaRPr sz="15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419" sz="1500"/>
              <a:t>En las animaciones hay dos conceptos básicos importantes:</a:t>
            </a:r>
            <a:endParaRPr sz="1500"/>
          </a:p>
        </p:txBody>
      </p:sp>
      <p:sp>
        <p:nvSpPr>
          <p:cNvPr id="117" name="Google Shape;117;p8"/>
          <p:cNvSpPr txBox="1"/>
          <p:nvPr>
            <p:ph idx="4294967295" type="body"/>
          </p:nvPr>
        </p:nvSpPr>
        <p:spPr>
          <a:xfrm>
            <a:off x="311700" y="2426975"/>
            <a:ext cx="8520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s-419" sz="1500"/>
              <a:t>Estado</a:t>
            </a:r>
            <a:r>
              <a:rPr lang="es-419" sz="1500"/>
              <a:t>: Es el estado inicial en el que se encuentra un elemento de la web 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s-419" sz="1500"/>
              <a:t>Transición</a:t>
            </a:r>
            <a:r>
              <a:rPr lang="es-419" sz="1500"/>
              <a:t>: Es el paso que se realiza entre un estado concreto a otro estado diferente.</a:t>
            </a:r>
            <a:endParaRPr sz="1500"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5287" y="3286650"/>
            <a:ext cx="5793423" cy="16972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idx="4294967295" type="body"/>
          </p:nvPr>
        </p:nvSpPr>
        <p:spPr>
          <a:xfrm>
            <a:off x="311700" y="1141600"/>
            <a:ext cx="8520600" cy="67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 sz="1400"/>
              <a:t>Mejorar la </a:t>
            </a:r>
            <a:r>
              <a:rPr b="1" lang="es-419" sz="1400"/>
              <a:t>experiencia</a:t>
            </a:r>
            <a:r>
              <a:rPr lang="es-419" sz="1400"/>
              <a:t> del usuario: El usuario sentirá que su estancia en la web es más satisfactoria y agradable, por lo que preferirá continuar su navegación.</a:t>
            </a:r>
            <a:endParaRPr sz="1400"/>
          </a:p>
        </p:txBody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Propósito de una animación</a:t>
            </a:r>
            <a:endParaRPr/>
          </a:p>
        </p:txBody>
      </p:sp>
      <p:sp>
        <p:nvSpPr>
          <p:cNvPr id="125" name="Google Shape;125;p9"/>
          <p:cNvSpPr txBox="1"/>
          <p:nvPr>
            <p:ph idx="4294967295" type="body"/>
          </p:nvPr>
        </p:nvSpPr>
        <p:spPr>
          <a:xfrm>
            <a:off x="311700" y="3808300"/>
            <a:ext cx="5416500" cy="10095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 sz="1400"/>
              <a:t>Crear </a:t>
            </a:r>
            <a:r>
              <a:rPr b="1" lang="es-419" sz="1400"/>
              <a:t>narrativas</a:t>
            </a:r>
            <a:r>
              <a:rPr lang="es-419" sz="1400"/>
              <a:t> o efectos visuales: Por último, las animaciones se pueden utilizar para crear narrativas, historias, decorar la página o simplemente dotar de elementos atractivos a una web.</a:t>
            </a:r>
            <a:endParaRPr sz="1400"/>
          </a:p>
        </p:txBody>
      </p:sp>
      <p:sp>
        <p:nvSpPr>
          <p:cNvPr id="126" name="Google Shape;126;p9"/>
          <p:cNvSpPr txBox="1"/>
          <p:nvPr>
            <p:ph idx="4294967295" type="body"/>
          </p:nvPr>
        </p:nvSpPr>
        <p:spPr>
          <a:xfrm>
            <a:off x="311700" y="1894900"/>
            <a:ext cx="8520600" cy="677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s-419" sz="1400"/>
              <a:t>Guiar o dirigir</a:t>
            </a:r>
            <a:r>
              <a:rPr lang="es-419" sz="1400"/>
              <a:t> la atención del usuario: Las animaciones son buenas para llamar la atención del usuario y poner el foco en una parte concreta a la que debe darle prioridad.</a:t>
            </a:r>
            <a:endParaRPr sz="1400"/>
          </a:p>
        </p:txBody>
      </p:sp>
      <p:sp>
        <p:nvSpPr>
          <p:cNvPr id="127" name="Google Shape;127;p9"/>
          <p:cNvSpPr txBox="1"/>
          <p:nvPr>
            <p:ph idx="4294967295" type="body"/>
          </p:nvPr>
        </p:nvSpPr>
        <p:spPr>
          <a:xfrm>
            <a:off x="311700" y="2648200"/>
            <a:ext cx="5416500" cy="108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s-419" sz="1400"/>
              <a:t>Retroalimentar</a:t>
            </a:r>
            <a:r>
              <a:rPr lang="es-419" sz="1400"/>
              <a:t> las acciones del usuario: Las animaciones permiten dar feedback al usuario para saber si está haciendo lo correcto o, por el contrario, se ha equivocado o ha hecho algo que no debe hacer.</a:t>
            </a:r>
            <a:endParaRPr sz="1400"/>
          </a:p>
        </p:txBody>
      </p:sp>
      <p:pic>
        <p:nvPicPr>
          <p:cNvPr descr="a phone screen displays a nike shoe and a select size button (proporcionada por Tenor)"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4950" y="2648200"/>
            <a:ext cx="2987350" cy="2169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4294967295" type="body"/>
          </p:nvPr>
        </p:nvSpPr>
        <p:spPr>
          <a:xfrm>
            <a:off x="311700" y="1294000"/>
            <a:ext cx="8520600" cy="171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500"/>
              <a:t>Para que el ojo humano pueda percibir una animación se necesitan observar varios </a:t>
            </a:r>
            <a:r>
              <a:rPr b="1" lang="es-419" sz="1500"/>
              <a:t>fotogramas</a:t>
            </a:r>
            <a:r>
              <a:rPr lang="es-419" sz="1500"/>
              <a:t>. En los navegadores, el papel de un fotograma lo toma el estado que revisamos. Como </a:t>
            </a:r>
            <a:r>
              <a:rPr b="1" lang="es-419" sz="1500"/>
              <a:t>no sería práctico</a:t>
            </a:r>
            <a:r>
              <a:rPr lang="es-419" sz="1500"/>
              <a:t> definir múltiples fotogramas para percibir la animación, lo que se hace es definir una serie de fotogramas</a:t>
            </a:r>
            <a:r>
              <a:rPr b="1" lang="es-419" sz="1500"/>
              <a:t> clave</a:t>
            </a:r>
            <a:r>
              <a:rPr lang="es-419" sz="1500"/>
              <a:t> y el navegador irá generando los fotogramas </a:t>
            </a:r>
            <a:r>
              <a:rPr b="1" lang="es-419" sz="1500"/>
              <a:t>intermedios</a:t>
            </a:r>
            <a:r>
              <a:rPr lang="es-419" sz="1500"/>
              <a:t> que ocurren durante la transición de un estado a otro.</a:t>
            </a:r>
            <a:endParaRPr sz="1500"/>
          </a:p>
        </p:txBody>
      </p:sp>
      <p:sp>
        <p:nvSpPr>
          <p:cNvPr id="134" name="Google Shape;134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Animación en CSS</a:t>
            </a:r>
            <a:endParaRPr/>
          </a:p>
        </p:txBody>
      </p:sp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839" y="3270175"/>
            <a:ext cx="6456325" cy="12862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idx="4294967295" type="body"/>
          </p:nvPr>
        </p:nvSpPr>
        <p:spPr>
          <a:xfrm>
            <a:off x="1753175" y="1335825"/>
            <a:ext cx="1696500" cy="319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Transiciones</a:t>
            </a:r>
            <a:endParaRPr b="1" sz="1500"/>
          </a:p>
        </p:txBody>
      </p:sp>
      <p:sp>
        <p:nvSpPr>
          <p:cNvPr id="141" name="Google Shape;141;p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Tipos de animaciones</a:t>
            </a:r>
            <a:endParaRPr/>
          </a:p>
        </p:txBody>
      </p:sp>
      <p:sp>
        <p:nvSpPr>
          <p:cNvPr id="142" name="Google Shape;142;p11"/>
          <p:cNvSpPr txBox="1"/>
          <p:nvPr>
            <p:ph idx="4294967295" type="body"/>
          </p:nvPr>
        </p:nvSpPr>
        <p:spPr>
          <a:xfrm>
            <a:off x="1138775" y="1731529"/>
            <a:ext cx="2925300" cy="6831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Una animación simple, desde un estado inicial a un estado final.</a:t>
            </a:r>
            <a:endParaRPr sz="1300"/>
          </a:p>
        </p:txBody>
      </p:sp>
      <p:sp>
        <p:nvSpPr>
          <p:cNvPr id="143" name="Google Shape;143;p11"/>
          <p:cNvSpPr txBox="1"/>
          <p:nvPr>
            <p:ph idx="4294967295" type="body"/>
          </p:nvPr>
        </p:nvSpPr>
        <p:spPr>
          <a:xfrm>
            <a:off x="1164599" y="2632644"/>
            <a:ext cx="2105100" cy="319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Trayectos animados</a:t>
            </a:r>
            <a:endParaRPr b="1" sz="1500"/>
          </a:p>
        </p:txBody>
      </p:sp>
      <p:sp>
        <p:nvSpPr>
          <p:cNvPr id="144" name="Google Shape;144;p11"/>
          <p:cNvSpPr txBox="1"/>
          <p:nvPr>
            <p:ph idx="4294967295" type="body"/>
          </p:nvPr>
        </p:nvSpPr>
        <p:spPr>
          <a:xfrm>
            <a:off x="402175" y="3028349"/>
            <a:ext cx="3630000" cy="68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Movimiento de un elemento a lo largo de un trayecto o ruta.</a:t>
            </a:r>
            <a:endParaRPr sz="1300"/>
          </a:p>
        </p:txBody>
      </p:sp>
      <p:sp>
        <p:nvSpPr>
          <p:cNvPr id="145" name="Google Shape;145;p11"/>
          <p:cNvSpPr txBox="1"/>
          <p:nvPr>
            <p:ph idx="4294967295" type="body"/>
          </p:nvPr>
        </p:nvSpPr>
        <p:spPr>
          <a:xfrm>
            <a:off x="5869300" y="1093500"/>
            <a:ext cx="1696500" cy="319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Animaciones</a:t>
            </a:r>
            <a:endParaRPr b="1" sz="1500"/>
          </a:p>
        </p:txBody>
      </p:sp>
      <p:sp>
        <p:nvSpPr>
          <p:cNvPr id="146" name="Google Shape;146;p11"/>
          <p:cNvSpPr txBox="1"/>
          <p:nvPr>
            <p:ph idx="4294967295" type="body"/>
          </p:nvPr>
        </p:nvSpPr>
        <p:spPr>
          <a:xfrm>
            <a:off x="5254900" y="1489205"/>
            <a:ext cx="2925300" cy="683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Una animación más compleja, con 2 o más estados.</a:t>
            </a:r>
            <a:endParaRPr sz="1300"/>
          </a:p>
        </p:txBody>
      </p:sp>
      <p:sp>
        <p:nvSpPr>
          <p:cNvPr id="147" name="Google Shape;147;p11"/>
          <p:cNvSpPr txBox="1"/>
          <p:nvPr>
            <p:ph idx="4294967295" type="body"/>
          </p:nvPr>
        </p:nvSpPr>
        <p:spPr>
          <a:xfrm>
            <a:off x="5667126" y="3635158"/>
            <a:ext cx="2736000" cy="319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Animaciones de scroll</a:t>
            </a:r>
            <a:endParaRPr b="1" sz="1500"/>
          </a:p>
        </p:txBody>
      </p:sp>
      <p:sp>
        <p:nvSpPr>
          <p:cNvPr id="148" name="Google Shape;148;p11"/>
          <p:cNvSpPr txBox="1"/>
          <p:nvPr>
            <p:ph idx="4294967295" type="body"/>
          </p:nvPr>
        </p:nvSpPr>
        <p:spPr>
          <a:xfrm>
            <a:off x="2254923" y="3794911"/>
            <a:ext cx="1799100" cy="319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View Transition</a:t>
            </a:r>
            <a:endParaRPr b="1" sz="1500"/>
          </a:p>
        </p:txBody>
      </p:sp>
      <p:sp>
        <p:nvSpPr>
          <p:cNvPr id="149" name="Google Shape;149;p11"/>
          <p:cNvSpPr txBox="1"/>
          <p:nvPr>
            <p:ph idx="4294967295" type="body"/>
          </p:nvPr>
        </p:nvSpPr>
        <p:spPr>
          <a:xfrm>
            <a:off x="1603400" y="4190615"/>
            <a:ext cx="3102000" cy="6831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Animación de vistas, al cambiar de una página a otra.</a:t>
            </a:r>
            <a:endParaRPr sz="1300"/>
          </a:p>
        </p:txBody>
      </p:sp>
      <p:sp>
        <p:nvSpPr>
          <p:cNvPr id="150" name="Google Shape;150;p11"/>
          <p:cNvSpPr txBox="1"/>
          <p:nvPr>
            <p:ph idx="4294967295" type="body"/>
          </p:nvPr>
        </p:nvSpPr>
        <p:spPr>
          <a:xfrm>
            <a:off x="5111750" y="4030863"/>
            <a:ext cx="3846600" cy="68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Animación controlada por desplazamiento de ratón.</a:t>
            </a:r>
            <a:endParaRPr sz="1300"/>
          </a:p>
        </p:txBody>
      </p:sp>
      <p:sp>
        <p:nvSpPr>
          <p:cNvPr id="151" name="Google Shape;151;p11"/>
          <p:cNvSpPr txBox="1"/>
          <p:nvPr>
            <p:ph idx="4294967295" type="body"/>
          </p:nvPr>
        </p:nvSpPr>
        <p:spPr>
          <a:xfrm>
            <a:off x="5282133" y="2364329"/>
            <a:ext cx="1825200" cy="319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WebAnimations</a:t>
            </a:r>
            <a:endParaRPr b="1" sz="1500"/>
          </a:p>
        </p:txBody>
      </p:sp>
      <p:sp>
        <p:nvSpPr>
          <p:cNvPr id="152" name="Google Shape;152;p11"/>
          <p:cNvSpPr txBox="1"/>
          <p:nvPr>
            <p:ph idx="4294967295" type="body"/>
          </p:nvPr>
        </p:nvSpPr>
        <p:spPr>
          <a:xfrm>
            <a:off x="4621075" y="2760034"/>
            <a:ext cx="3147600" cy="6831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Animaciones nativas complejas, creadas desde Javascript.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Ejemplos prácticos</a:t>
            </a:r>
            <a:endParaRPr/>
          </a:p>
        </p:txBody>
      </p:sp>
      <p:sp>
        <p:nvSpPr>
          <p:cNvPr id="158" name="Google Shape;158;p12"/>
          <p:cNvSpPr txBox="1"/>
          <p:nvPr>
            <p:ph idx="4294967295" type="body"/>
          </p:nvPr>
        </p:nvSpPr>
        <p:spPr>
          <a:xfrm>
            <a:off x="1371750" y="2020901"/>
            <a:ext cx="6400500" cy="1001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2500" u="sng">
                <a:solidFill>
                  <a:schemeClr val="hlink"/>
                </a:solidFill>
                <a:hlinkClick r:id="rId3"/>
              </a:rPr>
              <a:t>Taller de Programación Web</a:t>
            </a:r>
            <a:endParaRPr b="1"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Transiciones</a:t>
            </a:r>
            <a:endParaRPr/>
          </a:p>
        </p:txBody>
      </p:sp>
      <p:sp>
        <p:nvSpPr>
          <p:cNvPr id="164" name="Google Shape;164;p13"/>
          <p:cNvSpPr txBox="1"/>
          <p:nvPr>
            <p:ph idx="4294967295" type="body"/>
          </p:nvPr>
        </p:nvSpPr>
        <p:spPr>
          <a:xfrm>
            <a:off x="457500" y="1277950"/>
            <a:ext cx="3400200" cy="1169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Las transiciones son los cambios de un estado a otro.</a:t>
            </a:r>
            <a:endParaRPr/>
          </a:p>
        </p:txBody>
      </p:sp>
      <p:pic>
        <p:nvPicPr>
          <p:cNvPr id="165" name="Google Shape;165;p13"/>
          <p:cNvPicPr preferRelativeResize="0"/>
          <p:nvPr/>
        </p:nvPicPr>
        <p:blipFill rotWithShape="1">
          <a:blip r:embed="rId3">
            <a:alphaModFix/>
          </a:blip>
          <a:srcRect b="0" l="22054" r="22293" t="0"/>
          <a:stretch/>
        </p:blipFill>
        <p:spPr>
          <a:xfrm>
            <a:off x="457500" y="2565213"/>
            <a:ext cx="3600502" cy="18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3"/>
          <p:cNvPicPr preferRelativeResize="0"/>
          <p:nvPr/>
        </p:nvPicPr>
        <p:blipFill rotWithShape="1">
          <a:blip r:embed="rId4">
            <a:alphaModFix/>
          </a:blip>
          <a:srcRect b="0" l="18016" r="20724" t="0"/>
          <a:stretch/>
        </p:blipFill>
        <p:spPr>
          <a:xfrm>
            <a:off x="4572000" y="2255825"/>
            <a:ext cx="3942999" cy="251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3"/>
          <p:cNvSpPr/>
          <p:nvPr/>
        </p:nvSpPr>
        <p:spPr>
          <a:xfrm>
            <a:off x="4157675" y="315925"/>
            <a:ext cx="2000100" cy="1959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.element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.element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b="0" i="0" lang="es-419" sz="1229" u="none" cap="none" strike="noStrike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hover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blue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transition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68" name="Google Shape;168;p13"/>
          <p:cNvCxnSpPr>
            <a:endCxn id="167" idx="2"/>
          </p:cNvCxnSpPr>
          <p:nvPr/>
        </p:nvCxnSpPr>
        <p:spPr>
          <a:xfrm rot="10800000">
            <a:off x="5157725" y="2275225"/>
            <a:ext cx="938400" cy="6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13"/>
          <p:cNvSpPr/>
          <p:nvPr/>
        </p:nvSpPr>
        <p:spPr>
          <a:xfrm>
            <a:off x="6538925" y="163525"/>
            <a:ext cx="2317800" cy="2176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.element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.element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:not(:</a:t>
            </a:r>
            <a:r>
              <a:rPr b="0" i="0" lang="es-419" sz="1229" u="none" cap="none" strike="noStrike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hover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blue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transition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70" name="Google Shape;170;p13"/>
          <p:cNvCxnSpPr>
            <a:endCxn id="169" idx="2"/>
          </p:cNvCxnSpPr>
          <p:nvPr/>
        </p:nvCxnSpPr>
        <p:spPr>
          <a:xfrm flipH="1" rot="10800000">
            <a:off x="6667325" y="2340025"/>
            <a:ext cx="1030500" cy="129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Desencadenante de la transición</a:t>
            </a:r>
            <a:endParaRPr/>
          </a:p>
        </p:txBody>
      </p:sp>
      <p:sp>
        <p:nvSpPr>
          <p:cNvPr id="176" name="Google Shape;176;p14"/>
          <p:cNvSpPr txBox="1"/>
          <p:nvPr>
            <p:ph idx="4294967295" type="body"/>
          </p:nvPr>
        </p:nvSpPr>
        <p:spPr>
          <a:xfrm>
            <a:off x="825500" y="1898225"/>
            <a:ext cx="3508200" cy="83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Cuando mueves el ratón (o dispositivo apuntador) sobre un elemento.</a:t>
            </a:r>
            <a:endParaRPr sz="1300"/>
          </a:p>
        </p:txBody>
      </p:sp>
      <p:sp>
        <p:nvSpPr>
          <p:cNvPr id="177" name="Google Shape;177;p14"/>
          <p:cNvSpPr txBox="1"/>
          <p:nvPr>
            <p:ph idx="4294967295" type="body"/>
          </p:nvPr>
        </p:nvSpPr>
        <p:spPr>
          <a:xfrm>
            <a:off x="767300" y="3400000"/>
            <a:ext cx="3756000" cy="10926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Cuando estás pulsando con el ratón (o dispositivo apuntador) sobre un elemento.</a:t>
            </a:r>
            <a:endParaRPr sz="1300"/>
          </a:p>
        </p:txBody>
      </p:sp>
      <p:sp>
        <p:nvSpPr>
          <p:cNvPr id="178" name="Google Shape;178;p14"/>
          <p:cNvSpPr txBox="1"/>
          <p:nvPr>
            <p:ph idx="4294967295" type="body"/>
          </p:nvPr>
        </p:nvSpPr>
        <p:spPr>
          <a:xfrm>
            <a:off x="5103825" y="2220525"/>
            <a:ext cx="3413100" cy="99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Cuando un elemento gana el foco (por ejemplo, entrar en un campo de texto &lt;input&gt;).</a:t>
            </a:r>
            <a:endParaRPr sz="1400"/>
          </a:p>
        </p:txBody>
      </p:sp>
      <p:sp>
        <p:nvSpPr>
          <p:cNvPr id="179" name="Google Shape;179;p14"/>
          <p:cNvSpPr txBox="1"/>
          <p:nvPr>
            <p:ph idx="4294967295" type="body"/>
          </p:nvPr>
        </p:nvSpPr>
        <p:spPr>
          <a:xfrm>
            <a:off x="1731350" y="1502525"/>
            <a:ext cx="1696500" cy="3195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:hover</a:t>
            </a:r>
            <a:endParaRPr b="1" sz="1500"/>
          </a:p>
        </p:txBody>
      </p:sp>
      <p:sp>
        <p:nvSpPr>
          <p:cNvPr id="180" name="Google Shape;180;p14"/>
          <p:cNvSpPr txBox="1"/>
          <p:nvPr>
            <p:ph idx="4294967295" type="body"/>
          </p:nvPr>
        </p:nvSpPr>
        <p:spPr>
          <a:xfrm>
            <a:off x="5962125" y="1822025"/>
            <a:ext cx="1696500" cy="3195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:focus</a:t>
            </a:r>
            <a:endParaRPr b="1" sz="1500"/>
          </a:p>
        </p:txBody>
      </p:sp>
      <p:sp>
        <p:nvSpPr>
          <p:cNvPr id="181" name="Google Shape;181;p14"/>
          <p:cNvSpPr txBox="1"/>
          <p:nvPr>
            <p:ph idx="4294967295" type="body"/>
          </p:nvPr>
        </p:nvSpPr>
        <p:spPr>
          <a:xfrm>
            <a:off x="1731350" y="3004300"/>
            <a:ext cx="1696500" cy="3195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1500"/>
              <a:t>:active</a:t>
            </a:r>
            <a:endParaRPr b="1"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Transformaciones</a:t>
            </a:r>
            <a:endParaRPr/>
          </a:p>
        </p:txBody>
      </p:sp>
      <p:sp>
        <p:nvSpPr>
          <p:cNvPr id="187" name="Google Shape;187;p15"/>
          <p:cNvSpPr txBox="1"/>
          <p:nvPr>
            <p:ph idx="4294967295" type="body"/>
          </p:nvPr>
        </p:nvSpPr>
        <p:spPr>
          <a:xfrm>
            <a:off x="457500" y="1277950"/>
            <a:ext cx="8229000" cy="1095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es-419"/>
              <a:t>Estas transformaciones se pueden efectuar en CSS mediante la propiedad </a:t>
            </a:r>
            <a:r>
              <a:rPr b="1" lang="es-419"/>
              <a:t>transform</a:t>
            </a:r>
            <a:r>
              <a:rPr lang="es-419"/>
              <a:t> que permite recibir una función de transformación determinada, la cual será aplicada en el elemento HTML en cuestión seleccionado mediante CSS. </a:t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457500" y="3620725"/>
            <a:ext cx="5225700" cy="1296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.element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2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skyblue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0" i="0" lang="es-419" sz="12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transform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translate(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rotate(</a:t>
            </a:r>
            <a:r>
              <a:rPr b="0" i="0" lang="es-419" sz="12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45deg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457500" y="2571750"/>
            <a:ext cx="5225700" cy="93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"element"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075" y="2601913"/>
            <a:ext cx="3202465" cy="23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3086" y="485674"/>
            <a:ext cx="5237826" cy="417215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386f9a377_0_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Animaciones</a:t>
            </a:r>
            <a:endParaRPr/>
          </a:p>
        </p:txBody>
      </p:sp>
      <p:sp>
        <p:nvSpPr>
          <p:cNvPr id="201" name="Google Shape;201;g38386f9a377_0_123"/>
          <p:cNvSpPr txBox="1"/>
          <p:nvPr>
            <p:ph idx="4294967295" type="body"/>
          </p:nvPr>
        </p:nvSpPr>
        <p:spPr>
          <a:xfrm>
            <a:off x="457500" y="1277950"/>
            <a:ext cx="8229000" cy="1095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s-419"/>
              <a:t>Una animación permite que un elemento cambie gradualmente de un estilo a otro.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s-419"/>
              <a:t>Para que podamos percibir una animación, se debe crear una </a:t>
            </a:r>
            <a:r>
              <a:rPr b="1" lang="es-419"/>
              <a:t>secuencia de imágenes (aproximadamente 30-60 fotogramas por segundo)</a:t>
            </a:r>
            <a:r>
              <a:rPr lang="es-419"/>
              <a:t> para generar el efecto de movimiento que conocemos como </a:t>
            </a:r>
            <a:r>
              <a:rPr b="1" lang="es-419"/>
              <a:t>animación</a:t>
            </a:r>
            <a:r>
              <a:rPr lang="es-419"/>
              <a:t>.</a:t>
            </a:r>
            <a:endParaRPr/>
          </a:p>
        </p:txBody>
      </p:sp>
      <p:pic>
        <p:nvPicPr>
          <p:cNvPr id="202" name="Google Shape;202;g38386f9a377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00" y="2503976"/>
            <a:ext cx="2786301" cy="18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8386f9a377_0_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5250" y="3928350"/>
            <a:ext cx="6174175" cy="10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386f9a377_0_1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Animaciones</a:t>
            </a:r>
            <a:endParaRPr/>
          </a:p>
        </p:txBody>
      </p:sp>
      <p:sp>
        <p:nvSpPr>
          <p:cNvPr id="209" name="Google Shape;209;g38386f9a377_0_133"/>
          <p:cNvSpPr/>
          <p:nvPr/>
        </p:nvSpPr>
        <p:spPr>
          <a:xfrm>
            <a:off x="457500" y="2329800"/>
            <a:ext cx="4704000" cy="258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.element {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  width: 100px;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  height: 100px;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  animation: change-color 1.5s infinite;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@keyframes change-color {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from {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background: red;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}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to {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background: green;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}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lang="es-419" sz="12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29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g38386f9a377_0_133"/>
          <p:cNvSpPr/>
          <p:nvPr/>
        </p:nvSpPr>
        <p:spPr>
          <a:xfrm>
            <a:off x="457500" y="1147225"/>
            <a:ext cx="5225700" cy="93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"element"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11" name="Google Shape;211;g38386f9a377_0_133" title="Grabación de pantalla 2025-09-25 a la(s) 10.58.4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000" y="2213625"/>
            <a:ext cx="22098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386f9a377_0_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  <p:sp>
        <p:nvSpPr>
          <p:cNvPr id="223" name="Google Shape;223;g38386f9a377_0_65"/>
          <p:cNvSpPr txBox="1"/>
          <p:nvPr/>
        </p:nvSpPr>
        <p:spPr>
          <a:xfrm>
            <a:off x="225450" y="1944100"/>
            <a:ext cx="8419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Integrar animaciones, transiciones y transformaciones en su proyecto final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57750" y="1478625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225450" y="1944100"/>
            <a:ext cx="5751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Animaciones dentro de CSS, transiciones y transformaciones.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2182825" y="2725600"/>
            <a:ext cx="66123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¿Cuál es la diferencia entre una transición y una animación en CSS?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386f9a377_0_59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242" name="Google Shape;242;g38386f9a377_0_59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243" name="Google Shape;243;g38386f9a377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