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y="6858000" cx="12192000"/>
  <p:notesSz cx="12192000" cy="6858000"/>
  <p:embeddedFontLst>
    <p:embeddedFont>
      <p:font typeface="Rubik"/>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79" roundtripDataSignature="AMtx7mj76RU2EWRrkFwceOOJ07cziqv0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Rubik-regular.fntdata"/><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Rubik-italic.fntdata"/><Relationship Id="rId32" Type="http://schemas.openxmlformats.org/officeDocument/2006/relationships/slide" Target="slides/slide27.xml"/><Relationship Id="rId76" Type="http://schemas.openxmlformats.org/officeDocument/2006/relationships/font" Target="fonts/Rubik-bold.fntdata"/><Relationship Id="rId35" Type="http://schemas.openxmlformats.org/officeDocument/2006/relationships/slide" Target="slides/slide30.xml"/><Relationship Id="rId79" Type="http://customschemas.google.com/relationships/presentationmetadata" Target="metadata"/><Relationship Id="rId34" Type="http://schemas.openxmlformats.org/officeDocument/2006/relationships/slide" Target="slides/slide29.xml"/><Relationship Id="rId78" Type="http://schemas.openxmlformats.org/officeDocument/2006/relationships/font" Target="fonts/Rubik-bold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4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4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4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4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4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4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5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5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5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5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5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5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5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5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5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5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5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6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6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6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6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6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6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6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6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6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6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6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6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6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6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6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6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6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71"/>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1"/>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7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72"/>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2"/>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7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7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7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7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74"/>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4"/>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74"/>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7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75"/>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7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70"/>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0"/>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7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6.png"/><Relationship Id="rId4" Type="http://schemas.openxmlformats.org/officeDocument/2006/relationships/image" Target="../media/image10.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u="none" cap="none" strike="noStrike">
                <a:solidFill>
                  <a:srgbClr val="D1052D"/>
                </a:solidFill>
                <a:latin typeface="Calibri"/>
                <a:ea typeface="Calibri"/>
                <a:cs typeface="Calibri"/>
                <a:sym typeface="Calibri"/>
              </a:rPr>
              <a:t>PRIMERA UNIDAD DE APRENDIZAJE 2: </a:t>
            </a:r>
            <a:r>
              <a:rPr b="0" i="0" lang="es-ES" sz="1800" u="none" cap="none" strike="noStrike">
                <a:solidFill>
                  <a:schemeClr val="dk1"/>
                </a:solidFill>
                <a:latin typeface="Calibri"/>
                <a:ea typeface="Calibri"/>
                <a:cs typeface="Calibri"/>
                <a:sym typeface="Calibri"/>
              </a:rPr>
              <a:t>Bases de Datos Distribuidas</a:t>
            </a:r>
            <a:endParaRPr b="0" i="0" sz="1800" u="none" cap="none" strike="noStrike">
              <a:solidFill>
                <a:schemeClr val="dk1"/>
              </a:solidFill>
              <a:latin typeface="Calibri"/>
              <a:ea typeface="Calibri"/>
              <a:cs typeface="Calibri"/>
              <a:sym typeface="Calibri"/>
            </a:endParaRPr>
          </a:p>
        </p:txBody>
      </p:sp>
      <p:sp>
        <p:nvSpPr>
          <p:cNvPr id="49" name="Google Shape;49;p1"/>
          <p:cNvSpPr txBox="1"/>
          <p:nvPr/>
        </p:nvSpPr>
        <p:spPr>
          <a:xfrm>
            <a:off x="1966912" y="3179215"/>
            <a:ext cx="8258176" cy="1090042"/>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3200" u="none" cap="none" strike="noStrike">
                <a:solidFill>
                  <a:schemeClr val="lt1"/>
                </a:solidFill>
                <a:latin typeface="Arial"/>
                <a:ea typeface="Arial"/>
                <a:cs typeface="Arial"/>
                <a:sym typeface="Arial"/>
              </a:rPr>
              <a:t>SESIÓN N° 7:</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ES" sz="3200" u="none" cap="none" strike="noStrike">
                <a:solidFill>
                  <a:schemeClr val="lt1"/>
                </a:solidFill>
                <a:latin typeface="Calibri"/>
                <a:ea typeface="Calibri"/>
                <a:cs typeface="Calibri"/>
                <a:sym typeface="Calibri"/>
              </a:rPr>
              <a:t>Diseño de Base de Datos Distribuidas</a:t>
            </a:r>
            <a:endParaRPr b="0" i="0" sz="3200" u="none" cap="none" strike="noStrik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ES"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ES"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1" name="Google Shape;71;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72" name="Google Shape;72;p3"/>
          <p:cNvSpPr/>
          <p:nvPr/>
        </p:nvSpPr>
        <p:spPr>
          <a:xfrm>
            <a:off x="880625" y="1600200"/>
            <a:ext cx="10210800" cy="392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3200">
                <a:solidFill>
                  <a:schemeClr val="dk1"/>
                </a:solidFill>
                <a:latin typeface="Calibri"/>
                <a:ea typeface="Calibri"/>
                <a:cs typeface="Calibri"/>
                <a:sym typeface="Calibri"/>
              </a:rPr>
              <a:t>En la era digital actual, los datos son el nuevo oro.</a:t>
            </a:r>
            <a:endParaRPr/>
          </a:p>
          <a:p>
            <a:pPr indent="0" lvl="0" marL="0" marR="0" rtl="0" algn="just">
              <a:spcBef>
                <a:spcPts val="0"/>
              </a:spcBef>
              <a:spcAft>
                <a:spcPts val="0"/>
              </a:spcAft>
              <a:buNone/>
            </a:pPr>
            <a:r>
              <a:t/>
            </a:r>
            <a:endParaRPr sz="3200">
              <a:solidFill>
                <a:schemeClr val="dk1"/>
              </a:solidFill>
              <a:latin typeface="Calibri"/>
              <a:ea typeface="Calibri"/>
              <a:cs typeface="Calibri"/>
              <a:sym typeface="Calibri"/>
            </a:endParaRPr>
          </a:p>
          <a:p>
            <a:pPr indent="0" lvl="0" marL="0" marR="0" rtl="0" algn="just">
              <a:spcBef>
                <a:spcPts val="0"/>
              </a:spcBef>
              <a:spcAft>
                <a:spcPts val="0"/>
              </a:spcAft>
              <a:buNone/>
            </a:pPr>
            <a:r>
              <a:rPr lang="es-ES" sz="3200">
                <a:solidFill>
                  <a:schemeClr val="dk1"/>
                </a:solidFill>
                <a:latin typeface="Calibri"/>
                <a:ea typeface="Calibri"/>
                <a:cs typeface="Calibri"/>
                <a:sym typeface="Calibri"/>
              </a:rPr>
              <a:t>Cada clic, cada publicación, cada transacción genera datos que pueden ser utilizados para tomar decisiones informadas, impulsar innovaciones y mejorar experiencias; pero </a:t>
            </a:r>
            <a:r>
              <a:rPr b="1" lang="es-ES" sz="3200">
                <a:solidFill>
                  <a:schemeClr val="dk1"/>
                </a:solidFill>
                <a:latin typeface="Calibri"/>
                <a:ea typeface="Calibri"/>
                <a:cs typeface="Calibri"/>
                <a:sym typeface="Calibri"/>
              </a:rPr>
              <a:t>¿cómo manejamos eficientemente estos enormes volúmenes de datos?</a:t>
            </a:r>
            <a:endParaRPr b="1" sz="3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9" name="Google Shape;79;p4"/>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0" name="Google Shape;80;p4"/>
          <p:cNvSpPr/>
          <p:nvPr/>
        </p:nvSpPr>
        <p:spPr>
          <a:xfrm>
            <a:off x="880625" y="1600200"/>
            <a:ext cx="10210800" cy="392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4800">
                <a:solidFill>
                  <a:schemeClr val="dk1"/>
                </a:solidFill>
                <a:latin typeface="Calibri"/>
                <a:ea typeface="Calibri"/>
                <a:cs typeface="Calibri"/>
                <a:sym typeface="Calibri"/>
              </a:rPr>
              <a:t>A través de los  Sistemas de Bases de Datos Distribuidos.</a:t>
            </a:r>
            <a:endParaRPr b="1" sz="4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87" name="Google Shape;87;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8" name="Google Shape;88;p5"/>
          <p:cNvSpPr/>
          <p:nvPr/>
        </p:nvSpPr>
        <p:spPr>
          <a:xfrm>
            <a:off x="554354" y="1466850"/>
            <a:ext cx="11104245" cy="447675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lang="es-ES" sz="3200">
                <a:solidFill>
                  <a:schemeClr val="dk1"/>
                </a:solidFill>
                <a:latin typeface="Calibri"/>
                <a:ea typeface="Calibri"/>
                <a:cs typeface="Calibri"/>
                <a:sym typeface="Calibri"/>
              </a:rPr>
              <a:t>Estos sistemas nos permiten almacenar, procesar y acceder a datos desde múltiples ubicaciones, mejorando la velocidad, la escalabilidad y la disponibilidad.</a:t>
            </a:r>
            <a:endParaRPr/>
          </a:p>
          <a:p>
            <a:pPr indent="0" lvl="0" marL="0" marR="0" rtl="0" algn="just">
              <a:spcBef>
                <a:spcPts val="0"/>
              </a:spcBef>
              <a:spcAft>
                <a:spcPts val="0"/>
              </a:spcAft>
              <a:buNone/>
            </a:pPr>
            <a:r>
              <a:t/>
            </a:r>
            <a:endParaRPr sz="3200">
              <a:solidFill>
                <a:schemeClr val="dk1"/>
              </a:solidFill>
              <a:latin typeface="Calibri"/>
              <a:ea typeface="Calibri"/>
              <a:cs typeface="Calibri"/>
              <a:sym typeface="Calibri"/>
            </a:endParaRPr>
          </a:p>
          <a:p>
            <a:pPr indent="0" lvl="0" marL="0" marR="0" rtl="0" algn="just">
              <a:spcBef>
                <a:spcPts val="0"/>
              </a:spcBef>
              <a:spcAft>
                <a:spcPts val="0"/>
              </a:spcAft>
              <a:buNone/>
            </a:pPr>
            <a:r>
              <a:rPr lang="es-ES" sz="3200">
                <a:solidFill>
                  <a:schemeClr val="dk1"/>
                </a:solidFill>
                <a:latin typeface="Calibri"/>
                <a:ea typeface="Calibri"/>
                <a:cs typeface="Calibri"/>
                <a:sym typeface="Calibri"/>
              </a:rPr>
              <a:t>Aprender esta tecnología nos convierte en arquitectos de la información, capaces de construir y mantener las infraestructuras que alimentan nuestro mundo digital.</a:t>
            </a:r>
            <a:endParaRPr b="1"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95" name="Google Shape;95;p6"/>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96" name="Google Shape;96;p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97" name="Google Shape;97;p6"/>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104" name="Google Shape;104;p7"/>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05" name="Google Shape;105;p7"/>
          <p:cNvSpPr/>
          <p:nvPr/>
        </p:nvSpPr>
        <p:spPr>
          <a:xfrm>
            <a:off x="554354" y="1466850"/>
            <a:ext cx="11104245" cy="4476750"/>
          </a:xfrm>
          <a:prstGeom prst="rect">
            <a:avLst/>
          </a:prstGeom>
          <a:noFill/>
          <a:ln>
            <a:noFill/>
          </a:ln>
        </p:spPr>
        <p:txBody>
          <a:bodyPr anchorCtr="0" anchor="ctr" bIns="45700" lIns="91425" spcFirstLastPara="1" rIns="91425" wrap="square" tIns="45700">
            <a:noAutofit/>
          </a:bodyPr>
          <a:lstStyle/>
          <a:p>
            <a:pPr indent="-457200" lvl="0" marL="457200" marR="0" rtl="0" algn="just">
              <a:spcBef>
                <a:spcPts val="0"/>
              </a:spcBef>
              <a:spcAft>
                <a:spcPts val="0"/>
              </a:spcAft>
              <a:buClr>
                <a:schemeClr val="dk1"/>
              </a:buClr>
              <a:buSzPts val="3200"/>
              <a:buFont typeface="Arial"/>
              <a:buChar char="•"/>
            </a:pPr>
            <a:r>
              <a:rPr b="1" lang="es-ES" sz="3200">
                <a:solidFill>
                  <a:schemeClr val="dk1"/>
                </a:solidFill>
                <a:latin typeface="Calibri"/>
                <a:ea typeface="Calibri"/>
                <a:cs typeface="Calibri"/>
                <a:sym typeface="Calibri"/>
              </a:rPr>
              <a:t>¿Diferencias entre SQL Server y Oracle?</a:t>
            </a:r>
            <a:endParaRPr/>
          </a:p>
          <a:p>
            <a:pPr indent="-254000" lvl="0" marL="457200" marR="0" rtl="0" algn="just">
              <a:spcBef>
                <a:spcPts val="0"/>
              </a:spcBef>
              <a:spcAft>
                <a:spcPts val="0"/>
              </a:spcAft>
              <a:buClr>
                <a:schemeClr val="dk1"/>
              </a:buClr>
              <a:buSzPts val="3200"/>
              <a:buFont typeface="Arial"/>
              <a:buNone/>
            </a:pPr>
            <a:r>
              <a:t/>
            </a:r>
            <a:endParaRPr b="1" sz="3200">
              <a:solidFill>
                <a:schemeClr val="dk1"/>
              </a:solidFill>
              <a:latin typeface="Calibri"/>
              <a:ea typeface="Calibri"/>
              <a:cs typeface="Calibri"/>
              <a:sym typeface="Calibri"/>
            </a:endParaRPr>
          </a:p>
          <a:p>
            <a:pPr indent="-457200" lvl="0" marL="457200" marR="0" rtl="0" algn="just">
              <a:spcBef>
                <a:spcPts val="0"/>
              </a:spcBef>
              <a:spcAft>
                <a:spcPts val="0"/>
              </a:spcAft>
              <a:buClr>
                <a:schemeClr val="dk1"/>
              </a:buClr>
              <a:buSzPts val="3200"/>
              <a:buFont typeface="Arial"/>
              <a:buChar char="•"/>
            </a:pPr>
            <a:r>
              <a:rPr b="1" lang="es-ES" sz="3200">
                <a:solidFill>
                  <a:schemeClr val="dk1"/>
                </a:solidFill>
                <a:latin typeface="Calibri"/>
                <a:ea typeface="Calibri"/>
                <a:cs typeface="Calibri"/>
                <a:sym typeface="Calibri"/>
              </a:rPr>
              <a:t>¿Cuáles son las diferencias clave entre los procedimientos almacenados en Oracle y SQL Server?</a:t>
            </a:r>
            <a:endParaRPr b="1" sz="3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112" name="Google Shape;112;p8"/>
          <p:cNvSpPr txBox="1"/>
          <p:nvPr/>
        </p:nvSpPr>
        <p:spPr>
          <a:xfrm>
            <a:off x="381000" y="1143000"/>
            <a:ext cx="11277600" cy="223984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Arial"/>
                <a:ea typeface="Arial"/>
                <a:cs typeface="Arial"/>
                <a:sym typeface="Arial"/>
              </a:rPr>
              <a:t>Logro Específico de Aprendizaje – Unidad 2:</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Al finalizar la unidad el participante aplica los conceptos de bases de datos distribuidas para una gestión adecuada de la información.</a:t>
            </a:r>
            <a:endParaRPr sz="2400">
              <a:solidFill>
                <a:schemeClr val="dk1"/>
              </a:solidFill>
              <a:latin typeface="Arial"/>
              <a:ea typeface="Arial"/>
              <a:cs typeface="Arial"/>
              <a:sym typeface="Arial"/>
            </a:endParaRPr>
          </a:p>
        </p:txBody>
      </p:sp>
      <p:pic>
        <p:nvPicPr>
          <p:cNvPr id="113" name="Google Shape;113;p8"/>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sp>
        <p:nvSpPr>
          <p:cNvPr id="114" name="Google Shape;114;p8"/>
          <p:cNvSpPr txBox="1"/>
          <p:nvPr/>
        </p:nvSpPr>
        <p:spPr>
          <a:xfrm>
            <a:off x="381000" y="3581400"/>
            <a:ext cx="11277600" cy="279384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Arial"/>
                <a:ea typeface="Arial"/>
                <a:cs typeface="Arial"/>
                <a:sym typeface="Arial"/>
              </a:rPr>
              <a:t>Logro Sesión 07</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Al finalizar la sesión, el estudiante podrá diseñar un sistema de bases de datos distribuidos  para el manejo eficiente de grandes volúmenes de datos a través de lecciones teóricas y casos prácticos.</a:t>
            </a:r>
            <a:endParaRPr sz="2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21" name="Google Shape;121;p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22" name="Google Shape;122;p9"/>
          <p:cNvSpPr txBox="1"/>
          <p:nvPr/>
        </p:nvSpPr>
        <p:spPr>
          <a:xfrm>
            <a:off x="365760" y="1076483"/>
            <a:ext cx="11049000" cy="500983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Arial"/>
                <a:ea typeface="Arial"/>
                <a:cs typeface="Arial"/>
                <a:sym typeface="Arial"/>
              </a:rPr>
              <a:t>Formación Personal:</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2400"/>
              <a:buFont typeface="Arial"/>
              <a:buChar char="•"/>
            </a:pPr>
            <a:r>
              <a:rPr b="1" lang="es-ES" sz="2400">
                <a:solidFill>
                  <a:schemeClr val="dk1"/>
                </a:solidFill>
                <a:latin typeface="Arial"/>
                <a:ea typeface="Arial"/>
                <a:cs typeface="Arial"/>
                <a:sym typeface="Arial"/>
              </a:rPr>
              <a:t>Resolución de Problemas: </a:t>
            </a:r>
            <a:r>
              <a:rPr lang="es-ES" sz="2400">
                <a:solidFill>
                  <a:schemeClr val="dk1"/>
                </a:solidFill>
                <a:latin typeface="Arial"/>
                <a:ea typeface="Arial"/>
                <a:cs typeface="Arial"/>
                <a:sym typeface="Arial"/>
              </a:rPr>
              <a:t>El diseño de bases de datos distribuidas implica la resolución de problemas complejos y desafiantes, lo que ayuda a desarrollar habilidades de pensamiento crítico y analítico.</a:t>
            </a:r>
            <a:endParaRPr/>
          </a:p>
          <a:p>
            <a:pPr indent="-285750" lvl="0" marL="285750" marR="0" rtl="0" algn="just">
              <a:lnSpc>
                <a:spcPct val="150000"/>
              </a:lnSpc>
              <a:spcBef>
                <a:spcPts val="0"/>
              </a:spcBef>
              <a:spcAft>
                <a:spcPts val="0"/>
              </a:spcAft>
              <a:buClr>
                <a:schemeClr val="dk1"/>
              </a:buClr>
              <a:buSzPts val="2400"/>
              <a:buFont typeface="Arial"/>
              <a:buChar char="•"/>
            </a:pPr>
            <a:r>
              <a:rPr b="1" lang="es-ES" sz="2400">
                <a:solidFill>
                  <a:schemeClr val="dk1"/>
                </a:solidFill>
                <a:latin typeface="Arial"/>
                <a:ea typeface="Arial"/>
                <a:cs typeface="Arial"/>
                <a:sym typeface="Arial"/>
              </a:rPr>
              <a:t>Aprendizaje Autónomo: </a:t>
            </a:r>
            <a:r>
              <a:rPr lang="es-ES" sz="2400">
                <a:solidFill>
                  <a:schemeClr val="dk1"/>
                </a:solidFill>
                <a:latin typeface="Arial"/>
                <a:ea typeface="Arial"/>
                <a:cs typeface="Arial"/>
                <a:sym typeface="Arial"/>
              </a:rPr>
              <a:t>Dado que el campo de las bases de datos distribuidas está en constante evolución, los estudiantes deben aprender a mantenerse al día con las últimas tendencias y tecnologías, fomentando el aprendizaje autónomo y la adaptabilidad</a:t>
            </a:r>
            <a:endParaRPr/>
          </a:p>
        </p:txBody>
      </p:sp>
      <p:pic>
        <p:nvPicPr>
          <p:cNvPr id="123" name="Google Shape;123;p9"/>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1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30" name="Google Shape;130;p1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31" name="Google Shape;131;p10"/>
          <p:cNvSpPr txBox="1"/>
          <p:nvPr/>
        </p:nvSpPr>
        <p:spPr>
          <a:xfrm>
            <a:off x="396240" y="1275640"/>
            <a:ext cx="11049000" cy="461151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1800">
                <a:solidFill>
                  <a:schemeClr val="dk1"/>
                </a:solidFill>
                <a:latin typeface="Arial"/>
                <a:ea typeface="Arial"/>
                <a:cs typeface="Arial"/>
                <a:sym typeface="Arial"/>
              </a:rPr>
              <a:t>Formación Profesional:</a:t>
            </a:r>
            <a:endParaRPr/>
          </a:p>
          <a:p>
            <a:pPr indent="0" lvl="0" marL="0" marR="0" rtl="0" algn="just">
              <a:lnSpc>
                <a:spcPct val="150000"/>
              </a:lnSpc>
              <a:spcBef>
                <a:spcPts val="0"/>
              </a:spcBef>
              <a:spcAft>
                <a:spcPts val="0"/>
              </a:spcAft>
              <a:buNone/>
            </a:pPr>
            <a:r>
              <a:t/>
            </a:r>
            <a:endParaRPr sz="1800">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800"/>
              <a:buFont typeface="Arial"/>
              <a:buChar char="•"/>
            </a:pPr>
            <a:r>
              <a:rPr b="1" lang="es-ES" sz="1800">
                <a:solidFill>
                  <a:schemeClr val="dk1"/>
                </a:solidFill>
                <a:latin typeface="Arial"/>
                <a:ea typeface="Arial"/>
                <a:cs typeface="Arial"/>
                <a:sym typeface="Arial"/>
              </a:rPr>
              <a:t>Habilidades Técnicas: </a:t>
            </a:r>
            <a:r>
              <a:rPr lang="es-ES" sz="1800">
                <a:solidFill>
                  <a:schemeClr val="dk1"/>
                </a:solidFill>
                <a:latin typeface="Arial"/>
                <a:ea typeface="Arial"/>
                <a:cs typeface="Arial"/>
                <a:sym typeface="Arial"/>
              </a:rPr>
              <a:t>El diseño de bases de datos distribuidas es una habilidad técnica muy demandada en muchas industrias, desde la tecnología hasta las finanzas , la salud y demás sectores. Dominar este tema puede abrir una amplia gama de oportunidades laborales.</a:t>
            </a:r>
            <a:endParaRPr/>
          </a:p>
          <a:p>
            <a:pPr indent="-285750" lvl="0" marL="285750" marR="0" rtl="0" algn="just">
              <a:lnSpc>
                <a:spcPct val="150000"/>
              </a:lnSpc>
              <a:spcBef>
                <a:spcPts val="0"/>
              </a:spcBef>
              <a:spcAft>
                <a:spcPts val="0"/>
              </a:spcAft>
              <a:buClr>
                <a:schemeClr val="dk1"/>
              </a:buClr>
              <a:buSzPts val="1800"/>
              <a:buFont typeface="Arial"/>
              <a:buChar char="•"/>
            </a:pPr>
            <a:r>
              <a:rPr b="1" lang="es-ES" sz="1800">
                <a:solidFill>
                  <a:schemeClr val="dk1"/>
                </a:solidFill>
                <a:latin typeface="Arial"/>
                <a:ea typeface="Arial"/>
                <a:cs typeface="Arial"/>
                <a:sym typeface="Arial"/>
              </a:rPr>
              <a:t>Gestión de Datos: </a:t>
            </a:r>
            <a:r>
              <a:rPr lang="es-ES" sz="1800">
                <a:solidFill>
                  <a:schemeClr val="dk1"/>
                </a:solidFill>
                <a:latin typeface="Arial"/>
                <a:ea typeface="Arial"/>
                <a:cs typeface="Arial"/>
                <a:sym typeface="Arial"/>
              </a:rPr>
              <a:t>En la era digital actual, la capacidad de gestionar eficientemente grandes volúmenes de datos es esencial, los sistemas de bases de datos distribuidos son fundamentales para esto, ya que permiten el almacenamiento, procesamiento y acceso eficiente a los datos en múltiples ubicaciones.</a:t>
            </a:r>
            <a:endParaRPr/>
          </a:p>
          <a:p>
            <a:pPr indent="-285750" lvl="0" marL="285750" marR="0" rtl="0" algn="just">
              <a:lnSpc>
                <a:spcPct val="150000"/>
              </a:lnSpc>
              <a:spcBef>
                <a:spcPts val="0"/>
              </a:spcBef>
              <a:spcAft>
                <a:spcPts val="0"/>
              </a:spcAft>
              <a:buClr>
                <a:schemeClr val="dk1"/>
              </a:buClr>
              <a:buSzPts val="1800"/>
              <a:buFont typeface="Arial"/>
              <a:buChar char="•"/>
            </a:pPr>
            <a:r>
              <a:rPr b="1" lang="es-ES" sz="1800">
                <a:solidFill>
                  <a:schemeClr val="dk1"/>
                </a:solidFill>
                <a:latin typeface="Arial"/>
                <a:ea typeface="Arial"/>
                <a:cs typeface="Arial"/>
                <a:sym typeface="Arial"/>
              </a:rPr>
              <a:t>Trabajo en Equipo: </a:t>
            </a:r>
            <a:r>
              <a:rPr lang="es-ES" sz="1800">
                <a:solidFill>
                  <a:schemeClr val="dk1"/>
                </a:solidFill>
                <a:latin typeface="Arial"/>
                <a:ea typeface="Arial"/>
                <a:cs typeface="Arial"/>
                <a:sym typeface="Arial"/>
              </a:rPr>
              <a:t>El diseño de bases de datos distribuidas a menudo requiere trabajo en equipo, ya que los proyectos suelen ser grandes y complejos, es importante desarrollar habilidades de colaboración y comunicación.</a:t>
            </a:r>
            <a:endParaRPr/>
          </a:p>
        </p:txBody>
      </p:sp>
      <p:pic>
        <p:nvPicPr>
          <p:cNvPr id="132" name="Google Shape;132;p10"/>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1"/>
          <p:cNvSpPr txBox="1"/>
          <p:nvPr/>
        </p:nvSpPr>
        <p:spPr>
          <a:xfrm>
            <a:off x="1966912" y="2890391"/>
            <a:ext cx="8258176" cy="584775"/>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3200">
                <a:solidFill>
                  <a:schemeClr val="lt1"/>
                </a:solidFill>
                <a:latin typeface="Calibri"/>
                <a:ea typeface="Calibri"/>
                <a:cs typeface="Calibri"/>
                <a:sym typeface="Calibri"/>
              </a:rPr>
              <a:t>Diseño de Base de Datos Distribuidas</a:t>
            </a:r>
            <a:endParaRPr sz="3200">
              <a:solidFill>
                <a:schemeClr val="lt1"/>
              </a:solidFill>
              <a:latin typeface="Arial"/>
              <a:ea typeface="Arial"/>
              <a:cs typeface="Arial"/>
              <a:sym typeface="Arial"/>
            </a:endParaRPr>
          </a:p>
        </p:txBody>
      </p:sp>
      <p:sp>
        <p:nvSpPr>
          <p:cNvPr id="138" name="Google Shape;138;p11"/>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600">
                <a:solidFill>
                  <a:srgbClr val="000000"/>
                </a:solidFill>
                <a:latin typeface="Arial"/>
                <a:ea typeface="Arial"/>
                <a:cs typeface="Arial"/>
                <a:sym typeface="Arial"/>
              </a:rPr>
              <a:t>SESIÓN N° 7:</a:t>
            </a:r>
            <a:endParaRPr b="1" sz="3600">
              <a:solidFill>
                <a:srgbClr val="000000"/>
              </a:solidFill>
              <a:latin typeface="Arial"/>
              <a:ea typeface="Arial"/>
              <a:cs typeface="Arial"/>
              <a:sym typeface="Arial"/>
            </a:endParaRPr>
          </a:p>
        </p:txBody>
      </p:sp>
      <p:sp>
        <p:nvSpPr>
          <p:cNvPr id="139" name="Google Shape;139;p1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1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41" name="Google Shape;141;p11"/>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42" name="Google Shape;142;p11"/>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12"/>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Introducción a las Bases de Datos Distribuidas</a:t>
            </a:r>
            <a:endParaRPr sz="1800">
              <a:solidFill>
                <a:schemeClr val="dk1"/>
              </a:solidFill>
              <a:latin typeface="Arial"/>
              <a:ea typeface="Arial"/>
              <a:cs typeface="Arial"/>
              <a:sym typeface="Arial"/>
            </a:endParaRPr>
          </a:p>
        </p:txBody>
      </p:sp>
      <p:sp>
        <p:nvSpPr>
          <p:cNvPr id="149" name="Google Shape;149;p1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50" name="Google Shape;150;p12"/>
          <p:cNvSpPr txBox="1"/>
          <p:nvPr/>
        </p:nvSpPr>
        <p:spPr>
          <a:xfrm>
            <a:off x="396240" y="1275640"/>
            <a:ext cx="11049000" cy="4190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2000">
                <a:solidFill>
                  <a:schemeClr val="dk1"/>
                </a:solidFill>
                <a:latin typeface="Arial"/>
                <a:ea typeface="Arial"/>
                <a:cs typeface="Arial"/>
                <a:sym typeface="Arial"/>
              </a:rPr>
              <a:t>Las Bases  de  Datos  Distribuidas  (BDD)  son  la  unión  de  dos  conceptos  que,  en principio, pueden parecer opuestos: los Sistemas Gestores de Bases de Datos (SGBD) y, por otro lado, los sistemas en red.</a:t>
            </a:r>
            <a:endParaRPr/>
          </a:p>
          <a:p>
            <a:pPr indent="0" lvl="0" marL="0" marR="0" rtl="0" algn="just">
              <a:lnSpc>
                <a:spcPct val="150000"/>
              </a:lnSpc>
              <a:spcBef>
                <a:spcPts val="0"/>
              </a:spcBef>
              <a:spcAft>
                <a:spcPts val="0"/>
              </a:spcAft>
              <a:buNone/>
            </a:pPr>
            <a:r>
              <a:rPr lang="es-ES" sz="2000">
                <a:solidFill>
                  <a:schemeClr val="dk1"/>
                </a:solidFill>
                <a:latin typeface="Arial"/>
                <a:ea typeface="Arial"/>
                <a:cs typeface="Arial"/>
                <a:sym typeface="Arial"/>
              </a:rPr>
              <a:t>La primera parte, los SGDB, son sistemas, con sus correspondientes  aplicaciones  y  archivos,  de  gestión  y  almacenamiento  de  datos  que están  disponibles  en  un  solo  lugar.  Bajo  estos  sistemas  se  implantan  programas independientes   entre   sí,   los   cuales   son   totalmente indiferentes   a   cambios   en   la organización  lógica  y  física  de  los  datos  y  viceversa.  La  tecnología  de  redes  de computadores,  por  otra  parte,  promueve  un  modo  de  trabajo  que  va  en  contra  de  todo esfuerzo de centralización.</a:t>
            </a:r>
            <a:endParaRPr/>
          </a:p>
        </p:txBody>
      </p:sp>
      <p:pic>
        <p:nvPicPr>
          <p:cNvPr id="151" name="Google Shape;151;p12"/>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13"/>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Introducción a las Bases de Datos Distribuidas</a:t>
            </a:r>
            <a:endParaRPr sz="1800">
              <a:solidFill>
                <a:schemeClr val="dk1"/>
              </a:solidFill>
              <a:latin typeface="Arial"/>
              <a:ea typeface="Arial"/>
              <a:cs typeface="Arial"/>
              <a:sym typeface="Arial"/>
            </a:endParaRPr>
          </a:p>
        </p:txBody>
      </p:sp>
      <p:sp>
        <p:nvSpPr>
          <p:cNvPr id="158" name="Google Shape;158;p1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59" name="Google Shape;159;p13"/>
          <p:cNvSpPr txBox="1"/>
          <p:nvPr/>
        </p:nvSpPr>
        <p:spPr>
          <a:xfrm>
            <a:off x="381000" y="1501183"/>
            <a:ext cx="11049000" cy="445583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A simple vista resulta difícil entender cómo estos dos enfoques, que se oponen, pueden ser   sintetizados   para   producir   una   tecnología   que   es   mucho   más   poderosa   que cualquiera de los dos enfoques por separado.</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La  clave  para  entender  esto  es  darse  cuenta  de  que en  la  tecnología  de  las  BDD  el objetivo principal no es la centralización sino más bien la integración. La idea consiste en  lograr  la  integración  y  distribución  y  que  ambos  enfoques  no  pierdan  su  naturaleza esencial.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14"/>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166" name="Google Shape;166;p1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67" name="Google Shape;167;p14"/>
          <p:cNvSpPr txBox="1"/>
          <p:nvPr/>
        </p:nvSpPr>
        <p:spPr>
          <a:xfrm>
            <a:off x="381000" y="1501183"/>
            <a:ext cx="11049000" cy="445583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Arial"/>
                <a:ea typeface="Arial"/>
                <a:cs typeface="Arial"/>
                <a:sym typeface="Arial"/>
              </a:rPr>
              <a:t>Base de Datos (BD)</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Es un conjunto de información perteneciente a un mismo contexto, conjunto de datos relacionados entre sí, ordenada de modo sistemático para su posterior recuperación, análisis y/o transmisión.</a:t>
            </a:r>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Las BBDD pueden ser de cualquier tamaño y tener diversos grados de complejidad, pero deben  organizarse  y  controlarse  para  que  los  usuarios  puedan  buscar,  obtener  y actualizar los datos cuando sea necesario.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5"/>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174" name="Google Shape;174;p1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75" name="Google Shape;175;p15"/>
          <p:cNvSpPr txBox="1"/>
          <p:nvPr/>
        </p:nvSpPr>
        <p:spPr>
          <a:xfrm>
            <a:off x="381000" y="1501183"/>
            <a:ext cx="11049000" cy="445583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Arial"/>
                <a:ea typeface="Arial"/>
                <a:cs typeface="Arial"/>
                <a:sym typeface="Arial"/>
              </a:rPr>
              <a:t>Sistema de Gestión de BD (SGBD)</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Es un software que permite administrar una base de datos, proporciona el método de organización necesario para el almacenamiento y recuperación flexible de grandes cantidades de datos.</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El  SGBD  es  un  sistema  de  software  de  propósito  general  que  facilita  el proceso de definir; construir y manipular BBDD para diversas aplicaciones.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6"/>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182" name="Google Shape;182;p1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83" name="Google Shape;183;p16"/>
          <p:cNvSpPr txBox="1"/>
          <p:nvPr/>
        </p:nvSpPr>
        <p:spPr>
          <a:xfrm>
            <a:off x="381000" y="1295400"/>
            <a:ext cx="11049000" cy="500983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Arial"/>
                <a:ea typeface="Arial"/>
                <a:cs typeface="Arial"/>
                <a:sym typeface="Arial"/>
              </a:rPr>
              <a:t>Sistema de Computación Distribuido</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Es  un  número  de  elementos  de  procesamiento  (no  necesariamente  homogéneos)  que están  interconectados  por  una  red  de  computadoras  y  que  cooperan  para  realizar  las tareas que tienen asignadas.</a:t>
            </a:r>
            <a:endParaRPr/>
          </a:p>
          <a:p>
            <a:pPr indent="0" lvl="0" marL="0" marR="0" rtl="0" algn="just">
              <a:lnSpc>
                <a:spcPct val="15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400">
                <a:solidFill>
                  <a:schemeClr val="dk1"/>
                </a:solidFill>
                <a:latin typeface="Arial"/>
                <a:ea typeface="Arial"/>
                <a:cs typeface="Arial"/>
                <a:sym typeface="Arial"/>
              </a:rPr>
              <a:t>Es un conjunto de programas informáticos que utilizan recursos computacionales en varios nodos de cálculo distintos para lograr un objetivo compartido común.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7"/>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190" name="Google Shape;190;p1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91" name="Google Shape;191;p17"/>
          <p:cNvSpPr txBox="1"/>
          <p:nvPr/>
        </p:nvSpPr>
        <p:spPr>
          <a:xfrm>
            <a:off x="381000" y="1128979"/>
            <a:ext cx="11049000" cy="510787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200">
                <a:solidFill>
                  <a:schemeClr val="dk1"/>
                </a:solidFill>
                <a:latin typeface="Arial"/>
                <a:ea typeface="Arial"/>
                <a:cs typeface="Arial"/>
                <a:sym typeface="Arial"/>
              </a:rPr>
              <a:t>Red de Computadoras</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Es la interconexión de distinto número de sistemas informáticos a través de una serie de dispositivos de telecomunicaciones y un medio físico (alámbrico o inalámbrico). Su función es compartir información en paquetes de datos.</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Una  red  de  comunicaciones  es  un  conjunto  de  medios técnicos  que  permiten  la comunicación  a  distancia  entre  equipos  autónomos  (no  jerárquica  -master/slave-). Normalmente  se  trata  de  transmitir  datos,  audio  y  vídeo  a  través  de  diversos  medios (aire, vacío, cable de cobre, fibra óptica, etc.)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8"/>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198" name="Google Shape;198;p1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99" name="Google Shape;199;p18"/>
          <p:cNvSpPr txBox="1"/>
          <p:nvPr/>
        </p:nvSpPr>
        <p:spPr>
          <a:xfrm>
            <a:off x="381000" y="1128979"/>
            <a:ext cx="11049000" cy="460004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200">
                <a:solidFill>
                  <a:schemeClr val="dk1"/>
                </a:solidFill>
                <a:latin typeface="Arial"/>
                <a:ea typeface="Arial"/>
                <a:cs typeface="Arial"/>
                <a:sym typeface="Arial"/>
              </a:rPr>
              <a:t>Bases de Datos Distribuidas</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Una   Base   de   Datos   Distribuida   o   BDD   es   una   colección   de   datos   integrados lógicamente en una BD, pero que físicamente pueden ser procesados y almacenados en varios nodos distribuidos sobre una red de ordenadores.</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Es un sistema de bases de datos que se encuentran ubicadas en diferentes nodos (servidores) conectados por una red, permitiendo la distribución de los datos entre los servidores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9"/>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206" name="Google Shape;206;p1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07" name="Google Shape;207;p19"/>
          <p:cNvSpPr txBox="1"/>
          <p:nvPr/>
        </p:nvSpPr>
        <p:spPr>
          <a:xfrm>
            <a:off x="381000" y="1368115"/>
            <a:ext cx="11049000" cy="409221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200">
                <a:solidFill>
                  <a:schemeClr val="dk1"/>
                </a:solidFill>
                <a:latin typeface="Arial"/>
                <a:ea typeface="Arial"/>
                <a:cs typeface="Arial"/>
                <a:sym typeface="Arial"/>
              </a:rPr>
              <a:t>Sistema de Gestión de Bases de Datos Distribuido (SGBDD)</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Un  SGBDD  es  un  producto  software  que  permite  el  manejo  de  Bases  de  Datos Distribuidas (BDD) y hace la distribución transparente a los usuarios.</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Es un conjunto de múltiples bases de datos interrelacionadas lógicamente y distribuidas a través de una red. Proporcionan un mecanismo que hace que la distribución de datos sea transparente para los usuarios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20"/>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Definiciones</a:t>
            </a:r>
            <a:endParaRPr sz="1800">
              <a:solidFill>
                <a:schemeClr val="dk1"/>
              </a:solidFill>
              <a:latin typeface="Arial"/>
              <a:ea typeface="Arial"/>
              <a:cs typeface="Arial"/>
              <a:sym typeface="Arial"/>
            </a:endParaRPr>
          </a:p>
        </p:txBody>
      </p:sp>
      <p:sp>
        <p:nvSpPr>
          <p:cNvPr id="214" name="Google Shape;214;p2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15" name="Google Shape;215;p20"/>
          <p:cNvSpPr txBox="1"/>
          <p:nvPr/>
        </p:nvSpPr>
        <p:spPr>
          <a:xfrm>
            <a:off x="381000" y="1368115"/>
            <a:ext cx="11049000" cy="307654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200">
                <a:solidFill>
                  <a:schemeClr val="dk1"/>
                </a:solidFill>
                <a:latin typeface="Arial"/>
                <a:ea typeface="Arial"/>
                <a:cs typeface="Arial"/>
                <a:sym typeface="Arial"/>
              </a:rPr>
              <a:t>Sistema de Bases de Datos Distribuidas (SBDD)</a:t>
            </a:r>
            <a:endParaRPr/>
          </a:p>
          <a:p>
            <a:pPr indent="0" lvl="0" marL="0" marR="0" rtl="0" algn="just">
              <a:lnSpc>
                <a:spcPct val="150000"/>
              </a:lnSpc>
              <a:spcBef>
                <a:spcPts val="0"/>
              </a:spcBef>
              <a:spcAft>
                <a:spcPts val="0"/>
              </a:spcAft>
              <a:buNone/>
            </a:pPr>
            <a:r>
              <a:t/>
            </a:r>
            <a:endParaRPr sz="22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lang="es-ES" sz="2200">
                <a:solidFill>
                  <a:schemeClr val="dk1"/>
                </a:solidFill>
                <a:latin typeface="Arial"/>
                <a:ea typeface="Arial"/>
                <a:cs typeface="Arial"/>
                <a:sym typeface="Arial"/>
              </a:rPr>
              <a:t>Un SBDD es la unión entre un  SGBDD y una BDD. Es decir, es un sistema en el cual múltiples sitios de BD están conectados en una red de computadoras de tal forma que, un  usuario  en  cualquier  sitio  puede  acceder  a  los  datos  en  cualquier  parte  de  la  red exactamente como si los datos estuvieran siendo accedidos de forma local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2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22" name="Google Shape;222;p21"/>
          <p:cNvSpPr txBox="1"/>
          <p:nvPr/>
        </p:nvSpPr>
        <p:spPr>
          <a:xfrm>
            <a:off x="381000" y="1175164"/>
            <a:ext cx="11049000" cy="5009833"/>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Los datos deben estar físicamente en más de un ordenador, es decir, los datos se encuentran almacenados en distintas sedes.</a:t>
            </a:r>
            <a:endParaRPr/>
          </a:p>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Las sedes  deben  estar  interconectadas  mediante  una  red de  computadoras (cada  sede  será  un  nodo  de  la  red).  Para  realizar  el  diseño  no  se  tendrá  en  cuenta  la topología, tipo y rendimiento de la red, aunque estas propiedades tengan relevancia en el buen funcionamiento del sistema.</a:t>
            </a:r>
            <a:endParaRPr/>
          </a:p>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Los datos  han  de  estar  lógicamente  integrados  en  una  única  estructura  o esquema lógico global común.</a:t>
            </a:r>
            <a:endParaRPr/>
          </a:p>
        </p:txBody>
      </p:sp>
      <p:sp>
        <p:nvSpPr>
          <p:cNvPr id="223" name="Google Shape;223;p21"/>
          <p:cNvSpPr txBox="1"/>
          <p:nvPr/>
        </p:nvSpPr>
        <p:spPr>
          <a:xfrm>
            <a:off x="119538" y="440801"/>
            <a:ext cx="5540217"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Características de las Bases de Datos Distribuidas</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22"/>
          <p:cNvSpPr txBox="1"/>
          <p:nvPr/>
        </p:nvSpPr>
        <p:spPr>
          <a:xfrm>
            <a:off x="119537" y="381000"/>
            <a:ext cx="5540217"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Características de las Bases de Datos Distribuidas</a:t>
            </a:r>
            <a:endParaRPr sz="1800">
              <a:solidFill>
                <a:schemeClr val="dk1"/>
              </a:solidFill>
              <a:latin typeface="Arial"/>
              <a:ea typeface="Arial"/>
              <a:cs typeface="Arial"/>
              <a:sym typeface="Arial"/>
            </a:endParaRPr>
          </a:p>
        </p:txBody>
      </p:sp>
      <p:sp>
        <p:nvSpPr>
          <p:cNvPr id="230" name="Google Shape;230;p2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31" name="Google Shape;231;p22"/>
          <p:cNvSpPr txBox="1"/>
          <p:nvPr/>
        </p:nvSpPr>
        <p:spPr>
          <a:xfrm>
            <a:off x="381000" y="1403111"/>
            <a:ext cx="11049000" cy="465197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Arial"/>
                <a:ea typeface="Arial"/>
                <a:cs typeface="Arial"/>
                <a:sym typeface="Arial"/>
              </a:rPr>
              <a:t>Los usuarios  han  de  tener  acceso  (recuperación  y  actualización)  a  los  datos pertenecientes a la BDD, ya residan éstos en la misma sede (acceso local) o en otra sede (acceso remoto).</a:t>
            </a:r>
            <a:endParaRPr/>
          </a:p>
          <a:p>
            <a:pPr indent="-342900" lvl="0" marL="34290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Arial"/>
                <a:ea typeface="Arial"/>
                <a:cs typeface="Arial"/>
                <a:sym typeface="Arial"/>
              </a:rPr>
              <a:t>Cada   nodo   o   emplazamiento   facilita   un   entorno   para la   ejecución   de transacciones tanto locales como globales.</a:t>
            </a:r>
            <a:endParaRPr/>
          </a:p>
          <a:p>
            <a:pPr indent="-342900" lvl="0" marL="34290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Arial"/>
                <a:ea typeface="Arial"/>
                <a:cs typeface="Arial"/>
                <a:sym typeface="Arial"/>
              </a:rPr>
              <a:t>En  una única  operación,  tanto  de  consulta  como  de  actualización,  se  puede acceder  a  datos  que  se  encuentran  en  más  de  una  sede  sin  que  el  usuario  sepa  la distribución  de  los  mismos  en  las  distintas  sedes.  Es  decir,  que  la  distribución  de  la información sea transparente para el usuario</a:t>
            </a:r>
            <a:endParaRPr/>
          </a:p>
          <a:p>
            <a:pPr indent="-215900" lvl="0" marL="342900" marR="0" rtl="0" algn="just">
              <a:lnSpc>
                <a:spcPct val="150000"/>
              </a:lnSpc>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23"/>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38" name="Google Shape;238;p2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39" name="Google Shape;239;p23"/>
          <p:cNvSpPr txBox="1"/>
          <p:nvPr/>
        </p:nvSpPr>
        <p:spPr>
          <a:xfrm>
            <a:off x="381000" y="1353482"/>
            <a:ext cx="11049000" cy="445583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Arial"/>
              <a:buChar char="•"/>
            </a:pPr>
            <a:r>
              <a:rPr b="1" lang="es-ES" sz="2400">
                <a:solidFill>
                  <a:schemeClr val="dk1"/>
                </a:solidFill>
                <a:latin typeface="Arial"/>
                <a:ea typeface="Arial"/>
                <a:cs typeface="Arial"/>
                <a:sym typeface="Arial"/>
              </a:rPr>
              <a:t>La naturaleza distribuida de algunas aplicaciones de bases de datos: </a:t>
            </a:r>
            <a:r>
              <a:rPr lang="es-ES" sz="2400">
                <a:solidFill>
                  <a:schemeClr val="dk1"/>
                </a:solidFill>
                <a:latin typeface="Arial"/>
                <a:ea typeface="Arial"/>
                <a:cs typeface="Arial"/>
                <a:sym typeface="Arial"/>
              </a:rPr>
              <a:t>Muchas de estas aplicaciones están distribuidas naturalmente en diferentes lugares. Por ejemplo, una compañía puede tener oficinas en varias ciudades, o un banco puede tener múltiples sucursales. Es natural que las bases de datos empleadas en tales aplicaciones estén distribuidas en esos lugares. Muchos usuarios locales tienen acceso exclusivamente a los datos que están en el lugar, pero otros usuarios globales pueden requerir acceso ocasional a los datos almacenados en varios de estos emplazamientos.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24"/>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46" name="Google Shape;246;p2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47" name="Google Shape;247;p24"/>
          <p:cNvSpPr txBox="1"/>
          <p:nvPr/>
        </p:nvSpPr>
        <p:spPr>
          <a:xfrm>
            <a:off x="381000" y="1026662"/>
            <a:ext cx="11049000" cy="510947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200" u="none" strike="noStrike">
                <a:solidFill>
                  <a:schemeClr val="dk1"/>
                </a:solidFill>
                <a:latin typeface="Times New Roman"/>
                <a:ea typeface="Times New Roman"/>
                <a:cs typeface="Times New Roman"/>
                <a:sym typeface="Times New Roman"/>
              </a:rPr>
              <a:t>Mayor fiabilidad y disponibilidad</a:t>
            </a:r>
            <a:r>
              <a:rPr b="0" i="0" lang="es-ES" sz="2200" u="none" strike="noStrike">
                <a:solidFill>
                  <a:schemeClr val="dk1"/>
                </a:solidFill>
                <a:latin typeface="Times New Roman"/>
                <a:ea typeface="Times New Roman"/>
                <a:cs typeface="Times New Roman"/>
                <a:sym typeface="Times New Roman"/>
              </a:rPr>
              <a:t>. La fiabilidad se define a grandes rasgos como la probabilidad de que un sistema esté en funciones en un momento determinado.</a:t>
            </a:r>
            <a:endParaRPr/>
          </a:p>
          <a:p>
            <a:pPr indent="0" lvl="0" marL="0" marR="0" rtl="0" algn="just">
              <a:lnSpc>
                <a:spcPct val="150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200" u="none" strike="noStrike">
                <a:solidFill>
                  <a:schemeClr val="dk1"/>
                </a:solidFill>
                <a:latin typeface="Times New Roman"/>
                <a:ea typeface="Times New Roman"/>
                <a:cs typeface="Times New Roman"/>
                <a:sym typeface="Times New Roman"/>
              </a:rPr>
              <a:t>La disponibilidad es la probabilidad de que el sistema esté disponible continuamente durante un intervalo de tiempo. Cuando los datos y el software del sistema gestor de base de datos están distribuidos en varios sitios, un sitio puede fallar mientras que los demás siguen operando. Sólo los datos y el software que residen en el sitio que falló están inaccesibles.</a:t>
            </a:r>
            <a:endParaRPr/>
          </a:p>
          <a:p>
            <a:pPr indent="0" lvl="0" marL="0" marR="0" rtl="0" algn="just">
              <a:lnSpc>
                <a:spcPct val="150000"/>
              </a:lnSpc>
              <a:spcBef>
                <a:spcPts val="0"/>
              </a:spcBef>
              <a:spcAft>
                <a:spcPts val="0"/>
              </a:spcAft>
              <a:buNone/>
            </a:pPr>
            <a:r>
              <a:t/>
            </a:r>
            <a:endParaRPr b="0" i="0" sz="220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200" u="none" strike="noStrike">
                <a:solidFill>
                  <a:schemeClr val="dk1"/>
                </a:solidFill>
                <a:latin typeface="Times New Roman"/>
                <a:ea typeface="Times New Roman"/>
                <a:cs typeface="Times New Roman"/>
                <a:sym typeface="Times New Roman"/>
              </a:rPr>
              <a:t>Esto mejora tanto la fiabilidad como la disponibilidad. En un sistema centralizado, el fallo de un solo sitio hace que el sistema completo deje de estar disponible para todos los usuarios.</a:t>
            </a:r>
            <a:endParaRPr sz="22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25"/>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54" name="Google Shape;254;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55" name="Google Shape;255;p25"/>
          <p:cNvSpPr txBox="1"/>
          <p:nvPr/>
        </p:nvSpPr>
        <p:spPr>
          <a:xfrm>
            <a:off x="457200" y="1754214"/>
            <a:ext cx="11049000" cy="334957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Posibilidad de compartir los datos al tiempo que se mantiene un cierto grado de control local. </a:t>
            </a:r>
            <a:r>
              <a:rPr b="0" i="0" lang="es-ES" sz="2400" u="none" strike="noStrike">
                <a:solidFill>
                  <a:schemeClr val="dk1"/>
                </a:solidFill>
                <a:latin typeface="Times New Roman"/>
                <a:ea typeface="Times New Roman"/>
                <a:cs typeface="Times New Roman"/>
                <a:sym typeface="Times New Roman"/>
              </a:rPr>
              <a:t>En algunos tipos de Sistemas de Bases de Datos Distribuidas (SBDD), es posible controlar los datos y el software localmente en cada sitio. Sin embargo, los usuarios de otros sitios remotos pueden tener acceso a ciertos datos a través del software del SGBDD. Esto hace viable poder compartir de forma controlada los datos en todo el sistema distribuido.</a:t>
            </a:r>
            <a:endParaRPr sz="28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26"/>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62" name="Google Shape;262;p2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63" name="Google Shape;263;p26"/>
          <p:cNvSpPr txBox="1"/>
          <p:nvPr/>
        </p:nvSpPr>
        <p:spPr>
          <a:xfrm>
            <a:off x="457200" y="1352616"/>
            <a:ext cx="11049000" cy="439665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100" u="none" strike="noStrike">
                <a:solidFill>
                  <a:schemeClr val="dk1"/>
                </a:solidFill>
                <a:latin typeface="Times New Roman"/>
                <a:ea typeface="Times New Roman"/>
                <a:cs typeface="Times New Roman"/>
                <a:sym typeface="Times New Roman"/>
              </a:rPr>
              <a:t>Mejor rendimiento. </a:t>
            </a:r>
            <a:r>
              <a:rPr b="0" i="0" lang="es-ES" sz="2100" u="none" strike="noStrike">
                <a:solidFill>
                  <a:schemeClr val="dk1"/>
                </a:solidFill>
                <a:latin typeface="Times New Roman"/>
                <a:ea typeface="Times New Roman"/>
                <a:cs typeface="Times New Roman"/>
                <a:sym typeface="Times New Roman"/>
              </a:rPr>
              <a:t>Cuando una base de datos grande está distribuida en múltiples sitios, hay bases de datos más pequeñas en cada uno de éstos. En consecuencia, las consultas locales y las transacciones que tienen acceso a datos de un solo sitio tienen un mejor rendimiento porque las bases de datos locales son más pequeñas.</a:t>
            </a:r>
            <a:endParaRPr/>
          </a:p>
          <a:p>
            <a:pPr indent="0" lvl="0" marL="0" marR="0" rtl="0" algn="just">
              <a:lnSpc>
                <a:spcPct val="150000"/>
              </a:lnSpc>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100" u="none" strike="noStrike">
                <a:solidFill>
                  <a:schemeClr val="dk1"/>
                </a:solidFill>
                <a:latin typeface="Times New Roman"/>
                <a:ea typeface="Times New Roman"/>
                <a:cs typeface="Times New Roman"/>
                <a:sym typeface="Times New Roman"/>
              </a:rPr>
              <a:t>Además, cada sitio tiene un menor número de transacciones en ejecución que si todas las transacciones se enviaran a una sola base de datos centralizada. En el caso de transacciones que impliquen acceso a más de un sitio, el procesamiento en los diferentes sitios puede efectuarse en paralelo, reduciéndose así el tiempo de respuesta</a:t>
            </a:r>
            <a:endParaRPr sz="21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7"/>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70" name="Google Shape;270;p2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71" name="Google Shape;271;p27"/>
          <p:cNvSpPr txBox="1"/>
          <p:nvPr/>
        </p:nvSpPr>
        <p:spPr>
          <a:xfrm>
            <a:off x="457200" y="1352616"/>
            <a:ext cx="11049000" cy="389241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800" u="none" strike="noStrike">
                <a:solidFill>
                  <a:schemeClr val="dk1"/>
                </a:solidFill>
                <a:latin typeface="Times New Roman"/>
                <a:ea typeface="Times New Roman"/>
                <a:cs typeface="Times New Roman"/>
                <a:sym typeface="Times New Roman"/>
              </a:rPr>
              <a:t>Plataforma autónoma. </a:t>
            </a:r>
            <a:r>
              <a:rPr b="0" i="0" lang="es-ES" sz="2800" u="none" strike="noStrike">
                <a:solidFill>
                  <a:schemeClr val="dk1"/>
                </a:solidFill>
                <a:latin typeface="Times New Roman"/>
                <a:ea typeface="Times New Roman"/>
                <a:cs typeface="Times New Roman"/>
                <a:sym typeface="Times New Roman"/>
              </a:rPr>
              <a:t>Dado que las aplicaciones y bases de datos no residen en las mismas máquinas, no hay ninguna razón particular para residir en el mismo tipo de máquina. Esta libertad permite a los administradores de bases de datos, desarrolladores y usuarios de escritorio elegir sus plataformas sin arriesgar cambios de funcionalidad en el motor de base de datos</a:t>
            </a:r>
            <a:endParaRPr sz="32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28"/>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78" name="Google Shape;278;p2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79" name="Google Shape;279;p28"/>
          <p:cNvSpPr txBox="1"/>
          <p:nvPr/>
        </p:nvSpPr>
        <p:spPr>
          <a:xfrm>
            <a:off x="457200" y="1352616"/>
            <a:ext cx="11049000" cy="390356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Localización transparente. </a:t>
            </a:r>
            <a:r>
              <a:rPr b="0" i="0" lang="es-ES" sz="2400" u="none" strike="noStrike">
                <a:solidFill>
                  <a:schemeClr val="dk1"/>
                </a:solidFill>
                <a:latin typeface="Times New Roman"/>
                <a:ea typeface="Times New Roman"/>
                <a:cs typeface="Times New Roman"/>
                <a:sym typeface="Times New Roman"/>
              </a:rPr>
              <a:t>Esto significa que ni las aplicaciones ni los usuarios necesitan preocuparse de dónde residen los datos o cómo se distribuyen. Al ser protegidos por estas características específicas la usabilidad de una base de datos aumenta ya que los desarrolladores y los usuarios no necesitan tener en cuenta detalles tales como cadenas de conexión. Por otra parte, los datos pueden ser trasladados de una instancia de base de datos a otra con un impacto mínimo sobre los usuarios y aplicaciones.</a:t>
            </a:r>
            <a:endParaRPr sz="40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9"/>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86" name="Google Shape;286;p2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87" name="Google Shape;287;p29"/>
          <p:cNvSpPr txBox="1"/>
          <p:nvPr/>
        </p:nvSpPr>
        <p:spPr>
          <a:xfrm>
            <a:off x="381000" y="1524000"/>
            <a:ext cx="11049000" cy="334957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Autonomía del sitio. </a:t>
            </a:r>
            <a:r>
              <a:rPr b="0" i="0" lang="es-ES" sz="2400" u="none" strike="noStrike">
                <a:solidFill>
                  <a:schemeClr val="dk1"/>
                </a:solidFill>
                <a:latin typeface="Times New Roman"/>
                <a:ea typeface="Times New Roman"/>
                <a:cs typeface="Times New Roman"/>
                <a:sym typeface="Times New Roman"/>
              </a:rPr>
              <a:t>Las BDD permiten varias localizaciones para compartir sus datos sin ceder el control administrativo. Si la sede de una instancia de base de datos contiene información especialmente sensible o tiene requerimientos de alta disponibilidad, todavía puede compartir datos sin comprometer su seguridad o la disponibilidad. Además, un sitio determinado en un entorno de BDD puede seguir sus propios procedimientos administrativos y actualización de rutas, dentro de lo razonable.</a:t>
            </a:r>
            <a:endParaRPr sz="48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30"/>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294" name="Google Shape;294;p3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95" name="Google Shape;295;p30"/>
          <p:cNvSpPr txBox="1"/>
          <p:nvPr/>
        </p:nvSpPr>
        <p:spPr>
          <a:xfrm>
            <a:off x="381000" y="1524000"/>
            <a:ext cx="11049000" cy="389241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800" u="none" strike="noStrike">
                <a:solidFill>
                  <a:schemeClr val="dk1"/>
                </a:solidFill>
                <a:latin typeface="Times New Roman"/>
                <a:ea typeface="Times New Roman"/>
                <a:cs typeface="Times New Roman"/>
                <a:sym typeface="Times New Roman"/>
              </a:rPr>
              <a:t>Seguridad mejorada</a:t>
            </a:r>
            <a:r>
              <a:rPr b="0" i="0" lang="es-ES" sz="2800" u="none" strike="noStrike">
                <a:solidFill>
                  <a:schemeClr val="dk1"/>
                </a:solidFill>
                <a:latin typeface="Times New Roman"/>
                <a:ea typeface="Times New Roman"/>
                <a:cs typeface="Times New Roman"/>
                <a:sym typeface="Times New Roman"/>
              </a:rPr>
              <a:t>. Los componentes de la arquitectura distribuida son completamente independientes unos de otros, lo que significa que cada sitio puede mantenerse de forma independiente.</a:t>
            </a:r>
            <a:endParaRPr/>
          </a:p>
          <a:p>
            <a:pPr indent="0" lvl="0" marL="0" marR="0" rtl="0" algn="just">
              <a:lnSpc>
                <a:spcPct val="150000"/>
              </a:lnSpc>
              <a:spcBef>
                <a:spcPts val="0"/>
              </a:spcBef>
              <a:spcAft>
                <a:spcPts val="0"/>
              </a:spcAft>
              <a:buNone/>
            </a:pPr>
            <a:r>
              <a:rPr b="0" i="0" lang="es-ES" sz="2800" u="none" strike="noStrike">
                <a:solidFill>
                  <a:schemeClr val="dk1"/>
                </a:solidFill>
                <a:latin typeface="Times New Roman"/>
                <a:ea typeface="Times New Roman"/>
                <a:cs typeface="Times New Roman"/>
                <a:sym typeface="Times New Roman"/>
              </a:rPr>
              <a:t>Se pueden compartir los datos sin compartir cuentas y contraseñas.</a:t>
            </a:r>
            <a:endParaRPr/>
          </a:p>
          <a:p>
            <a:pPr indent="0" lvl="0" marL="0" marR="0" rtl="0" algn="just">
              <a:lnSpc>
                <a:spcPct val="150000"/>
              </a:lnSpc>
              <a:spcBef>
                <a:spcPts val="0"/>
              </a:spcBef>
              <a:spcAft>
                <a:spcPts val="0"/>
              </a:spcAft>
              <a:buNone/>
            </a:pPr>
            <a:r>
              <a:rPr b="0" i="0" lang="es-ES" sz="2800" u="none" strike="noStrike">
                <a:solidFill>
                  <a:schemeClr val="dk1"/>
                </a:solidFill>
                <a:latin typeface="Times New Roman"/>
                <a:ea typeface="Times New Roman"/>
                <a:cs typeface="Times New Roman"/>
                <a:sym typeface="Times New Roman"/>
              </a:rPr>
              <a:t>Cada sitio puede tener sus propios administradores y sus propios conjuntos de cuentas, y los datos privados se pueden mantener en privado</a:t>
            </a:r>
            <a:endParaRPr sz="66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31"/>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Ventajas de las Bases de Datos Distribuidas</a:t>
            </a:r>
            <a:endParaRPr sz="1800">
              <a:solidFill>
                <a:schemeClr val="dk1"/>
              </a:solidFill>
              <a:latin typeface="Arial"/>
              <a:ea typeface="Arial"/>
              <a:cs typeface="Arial"/>
              <a:sym typeface="Arial"/>
            </a:endParaRPr>
          </a:p>
        </p:txBody>
      </p:sp>
      <p:sp>
        <p:nvSpPr>
          <p:cNvPr id="302" name="Google Shape;302;p3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03" name="Google Shape;303;p31"/>
          <p:cNvSpPr txBox="1"/>
          <p:nvPr/>
        </p:nvSpPr>
        <p:spPr>
          <a:xfrm>
            <a:off x="381000" y="1428279"/>
            <a:ext cx="11049000" cy="460164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200" u="none" strike="noStrike">
                <a:solidFill>
                  <a:schemeClr val="dk1"/>
                </a:solidFill>
                <a:latin typeface="Times New Roman"/>
                <a:ea typeface="Times New Roman"/>
                <a:cs typeface="Times New Roman"/>
                <a:sym typeface="Times New Roman"/>
              </a:rPr>
              <a:t>Seguridad mejorada</a:t>
            </a:r>
            <a:r>
              <a:rPr b="0" i="0" lang="es-ES" sz="2200" u="none" strike="noStrike">
                <a:solidFill>
                  <a:schemeClr val="dk1"/>
                </a:solidFill>
                <a:latin typeface="Times New Roman"/>
                <a:ea typeface="Times New Roman"/>
                <a:cs typeface="Times New Roman"/>
                <a:sym typeface="Times New Roman"/>
              </a:rPr>
              <a:t>. También se puede configurar un entorno distribuido para proporcionar seguridad en el sentido de la supervivencia, es decir, puede mantener dos o más versiones del esquema completo de la BD replicados en diferentes máquinas en diferentes lugares.</a:t>
            </a:r>
            <a:endParaRPr/>
          </a:p>
          <a:p>
            <a:pPr indent="0" lvl="0" marL="0" marR="0" rtl="0" algn="just">
              <a:lnSpc>
                <a:spcPct val="150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200" u="none" strike="noStrike">
                <a:solidFill>
                  <a:schemeClr val="dk1"/>
                </a:solidFill>
                <a:latin typeface="Times New Roman"/>
                <a:ea typeface="Times New Roman"/>
                <a:cs typeface="Times New Roman"/>
                <a:sym typeface="Times New Roman"/>
              </a:rPr>
              <a:t>En BDD no hay ninguna razón para que los desarrolladores o usuarios finales tengan su cuenta en un servidor de base de datos, porque todos los accesos de base de datos se producen a través de APIs (</a:t>
            </a:r>
            <a:r>
              <a:rPr b="0" i="1" lang="es-ES" sz="2200" u="none" strike="noStrike">
                <a:solidFill>
                  <a:schemeClr val="dk1"/>
                </a:solidFill>
                <a:latin typeface="Times New Roman"/>
                <a:ea typeface="Times New Roman"/>
                <a:cs typeface="Times New Roman"/>
                <a:sym typeface="Times New Roman"/>
              </a:rPr>
              <a:t>Application Programming Interfaces</a:t>
            </a:r>
            <a:r>
              <a:rPr b="0" i="0" lang="es-ES" sz="2200" u="none" strike="noStrike">
                <a:solidFill>
                  <a:schemeClr val="dk1"/>
                </a:solidFill>
                <a:latin typeface="Times New Roman"/>
                <a:ea typeface="Times New Roman"/>
                <a:cs typeface="Times New Roman"/>
                <a:sym typeface="Times New Roman"/>
              </a:rPr>
              <a:t>) de red. De este modo, se minimiza la exposición de dicho servidor de base de datos a posibles intrusiones maliciosas o a usuarios poco cuidadosos</a:t>
            </a:r>
            <a:endParaRPr sz="22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32"/>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Desventajas de las Bases de Datos Distribuidas</a:t>
            </a:r>
            <a:endParaRPr sz="1800">
              <a:solidFill>
                <a:schemeClr val="dk1"/>
              </a:solidFill>
              <a:latin typeface="Arial"/>
              <a:ea typeface="Arial"/>
              <a:cs typeface="Arial"/>
              <a:sym typeface="Arial"/>
            </a:endParaRPr>
          </a:p>
        </p:txBody>
      </p:sp>
      <p:sp>
        <p:nvSpPr>
          <p:cNvPr id="310" name="Google Shape;310;p3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11" name="Google Shape;311;p32"/>
          <p:cNvSpPr txBox="1"/>
          <p:nvPr/>
        </p:nvSpPr>
        <p:spPr>
          <a:xfrm>
            <a:off x="381000" y="1428279"/>
            <a:ext cx="11049000" cy="460202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200" u="none" strike="noStrike">
                <a:solidFill>
                  <a:schemeClr val="dk1"/>
                </a:solidFill>
                <a:latin typeface="Times New Roman"/>
                <a:ea typeface="Times New Roman"/>
                <a:cs typeface="Times New Roman"/>
                <a:sym typeface="Times New Roman"/>
              </a:rPr>
              <a:t>Seguridad. </a:t>
            </a:r>
            <a:r>
              <a:rPr i="0" lang="es-ES" sz="2200" u="none" strike="noStrike">
                <a:solidFill>
                  <a:schemeClr val="dk1"/>
                </a:solidFill>
                <a:latin typeface="Times New Roman"/>
                <a:ea typeface="Times New Roman"/>
                <a:cs typeface="Times New Roman"/>
                <a:sym typeface="Times New Roman"/>
              </a:rPr>
              <a:t>Esta característica también aparece en el apartado de ventajas, dado que tiene dos caras, debido a que puede ser difícil saber y controlar quién está accediendo a una base de datos mediante un enlace de BD. Las cuentas a las cuales se conecta un enlace de BD no debe dar más derechos de acceso que los absolutamente necesarios.</a:t>
            </a:r>
            <a:endParaRPr/>
          </a:p>
          <a:p>
            <a:pPr indent="0" lvl="0" marL="0" marR="0" rtl="0" algn="just">
              <a:lnSpc>
                <a:spcPct val="150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s-ES" sz="2200">
                <a:solidFill>
                  <a:schemeClr val="dk1"/>
                </a:solidFill>
                <a:latin typeface="Times New Roman"/>
                <a:ea typeface="Times New Roman"/>
                <a:cs typeface="Times New Roman"/>
                <a:sym typeface="Times New Roman"/>
              </a:rPr>
              <a:t>Coherencia de los datos</a:t>
            </a:r>
            <a:r>
              <a:rPr lang="es-ES" sz="2200">
                <a:solidFill>
                  <a:schemeClr val="dk1"/>
                </a:solidFill>
                <a:latin typeface="Times New Roman"/>
                <a:ea typeface="Times New Roman"/>
                <a:cs typeface="Times New Roman"/>
                <a:sym typeface="Times New Roman"/>
              </a:rPr>
              <a:t>. Si existen varias réplicas una de las tareas de mayor esfuerzo será garantizar la coherencia de datos. Esta responsabilidad es compartida entre Coherencia de los datos. Si existen varias réplicas una de las tareas de mayor esfuerzo será garantizar la coherencia de datos. Esta responsabilidad es compartida entre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33"/>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Desventajas de las Bases de Datos Distribuidas</a:t>
            </a:r>
            <a:endParaRPr sz="1800">
              <a:solidFill>
                <a:schemeClr val="dk1"/>
              </a:solidFill>
              <a:latin typeface="Arial"/>
              <a:ea typeface="Arial"/>
              <a:cs typeface="Arial"/>
              <a:sym typeface="Arial"/>
            </a:endParaRPr>
          </a:p>
        </p:txBody>
      </p:sp>
      <p:sp>
        <p:nvSpPr>
          <p:cNvPr id="318" name="Google Shape;318;p3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19" name="Google Shape;319;p33"/>
          <p:cNvSpPr txBox="1"/>
          <p:nvPr/>
        </p:nvSpPr>
        <p:spPr>
          <a:xfrm>
            <a:off x="381000" y="1428279"/>
            <a:ext cx="11049000" cy="445795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Administración de transacciones</a:t>
            </a:r>
            <a:r>
              <a:rPr b="0" i="0" lang="es-ES" sz="2400" u="none" strike="noStrike">
                <a:solidFill>
                  <a:schemeClr val="dk1"/>
                </a:solidFill>
                <a:latin typeface="Verdana"/>
                <a:ea typeface="Verdana"/>
                <a:cs typeface="Verdana"/>
                <a:sym typeface="Verdana"/>
              </a:rPr>
              <a:t>. </a:t>
            </a:r>
            <a:r>
              <a:rPr b="0" i="0" lang="es-ES" sz="2400" u="none" strike="noStrike">
                <a:solidFill>
                  <a:schemeClr val="dk1"/>
                </a:solidFill>
                <a:latin typeface="Times New Roman"/>
                <a:ea typeface="Times New Roman"/>
                <a:cs typeface="Times New Roman"/>
                <a:sym typeface="Times New Roman"/>
              </a:rPr>
              <a:t>Si se necesita hacer un número de operaciones, pero tenemos la información en varios sitios replicada, debemos entender que el conjunto de operaciones debe ser realizado para cada sitio replicado. Si una solución posible es realizar la actualización por la noche, hora española, ¿qué ocurre con las sedes que están fuera de España y tienen un horario diferente y que quizá corresponda con su horario normal de trabajo? La cuestión es que las actualizaciones en un entorno replicado deben ser cuidadosamente coordinadas con todos los sitios a fin de</a:t>
            </a:r>
            <a:endParaRPr/>
          </a:p>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evitar conflictos masivos y congestiones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34"/>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Desventajas de las Bases de Datos Distribuidas</a:t>
            </a:r>
            <a:endParaRPr sz="1800">
              <a:solidFill>
                <a:schemeClr val="dk1"/>
              </a:solidFill>
              <a:latin typeface="Arial"/>
              <a:ea typeface="Arial"/>
              <a:cs typeface="Arial"/>
              <a:sym typeface="Arial"/>
            </a:endParaRPr>
          </a:p>
        </p:txBody>
      </p:sp>
      <p:sp>
        <p:nvSpPr>
          <p:cNvPr id="326" name="Google Shape;326;p3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27" name="Google Shape;327;p34"/>
          <p:cNvSpPr txBox="1"/>
          <p:nvPr/>
        </p:nvSpPr>
        <p:spPr>
          <a:xfrm>
            <a:off x="381000" y="1428279"/>
            <a:ext cx="11049000" cy="39039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Seguimiento</a:t>
            </a:r>
            <a:r>
              <a:rPr b="0" i="0" lang="es-ES" sz="2400" u="none" strike="noStrike">
                <a:solidFill>
                  <a:schemeClr val="dk1"/>
                </a:solidFill>
                <a:latin typeface="Times New Roman"/>
                <a:ea typeface="Times New Roman"/>
                <a:cs typeface="Times New Roman"/>
                <a:sym typeface="Times New Roman"/>
              </a:rPr>
              <a:t>. La carga de trabajo de un DBA en un entorno distribuido puede ser considerable. El DBA debe controlar objetos tales como los registros de </a:t>
            </a:r>
            <a:r>
              <a:rPr b="0" i="1" lang="es-ES" sz="2400" u="none" strike="noStrike">
                <a:solidFill>
                  <a:schemeClr val="dk1"/>
                </a:solidFill>
                <a:latin typeface="Times New Roman"/>
                <a:ea typeface="Times New Roman"/>
                <a:cs typeface="Times New Roman"/>
                <a:sym typeface="Times New Roman"/>
              </a:rPr>
              <a:t>snapshots</a:t>
            </a:r>
            <a:r>
              <a:rPr b="0" i="0" lang="es-ES" sz="2400" u="none" strike="noStrike">
                <a:solidFill>
                  <a:schemeClr val="dk1"/>
                </a:solidFill>
                <a:latin typeface="Times New Roman"/>
                <a:ea typeface="Times New Roman"/>
                <a:cs typeface="Times New Roman"/>
                <a:sym typeface="Times New Roman"/>
              </a:rPr>
              <a:t>, las colas de trabajos, colas de transacciones, y las colas de errores.</a:t>
            </a:r>
            <a:endParaRPr/>
          </a:p>
          <a:p>
            <a:pPr indent="0" lvl="0" marL="0" marR="0" rtl="0" algn="just">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Si los problemas en un entorno distribuido se dejan sin resolver, puede ser tan difícil corregirlos que incluso sea más fácil recargar los datos desde el principio que tratar de solucionar errores específicos.</a:t>
            </a:r>
            <a:endParaRPr sz="36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35"/>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Desventajas de las Bases de Datos Distribuidas</a:t>
            </a:r>
            <a:endParaRPr sz="1800">
              <a:solidFill>
                <a:schemeClr val="dk1"/>
              </a:solidFill>
              <a:latin typeface="Arial"/>
              <a:ea typeface="Arial"/>
              <a:cs typeface="Arial"/>
              <a:sym typeface="Arial"/>
            </a:endParaRPr>
          </a:p>
        </p:txBody>
      </p:sp>
      <p:sp>
        <p:nvSpPr>
          <p:cNvPr id="334" name="Google Shape;334;p3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35" name="Google Shape;335;p35"/>
          <p:cNvSpPr txBox="1"/>
          <p:nvPr/>
        </p:nvSpPr>
        <p:spPr>
          <a:xfrm>
            <a:off x="304800" y="2057400"/>
            <a:ext cx="11049000" cy="224196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Recuperación</a:t>
            </a:r>
            <a:r>
              <a:rPr b="0" i="0" lang="es-ES" sz="2400" u="none" strike="noStrike">
                <a:solidFill>
                  <a:schemeClr val="dk1"/>
                </a:solidFill>
                <a:latin typeface="Times New Roman"/>
                <a:ea typeface="Times New Roman"/>
                <a:cs typeface="Times New Roman"/>
                <a:sym typeface="Times New Roman"/>
              </a:rPr>
              <a:t>. Si una base de datos que forma parte de un entorno distribuido falla, el proceso de recuperación no sólo debe garantizar la restauración completa de los datos locales, sino también la restauración de los datos  distribuidos, tales como las transacciones e instancias suspendidas.</a:t>
            </a:r>
            <a:endParaRPr sz="44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36"/>
          <p:cNvSpPr txBox="1"/>
          <p:nvPr/>
        </p:nvSpPr>
        <p:spPr>
          <a:xfrm>
            <a:off x="239077" y="440799"/>
            <a:ext cx="5181600"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Desventajas de las Bases de Datos Distribuidas</a:t>
            </a:r>
            <a:endParaRPr sz="1800">
              <a:solidFill>
                <a:schemeClr val="dk1"/>
              </a:solidFill>
              <a:latin typeface="Arial"/>
              <a:ea typeface="Arial"/>
              <a:cs typeface="Arial"/>
              <a:sym typeface="Arial"/>
            </a:endParaRPr>
          </a:p>
        </p:txBody>
      </p:sp>
      <p:sp>
        <p:nvSpPr>
          <p:cNvPr id="342" name="Google Shape;342;p3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43" name="Google Shape;343;p36"/>
          <p:cNvSpPr txBox="1"/>
          <p:nvPr/>
        </p:nvSpPr>
        <p:spPr>
          <a:xfrm>
            <a:off x="381000" y="1200024"/>
            <a:ext cx="11049000" cy="501194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Rendimiento</a:t>
            </a:r>
            <a:r>
              <a:rPr b="0" i="0" lang="es-ES" sz="2400" u="none" strike="noStrike">
                <a:solidFill>
                  <a:schemeClr val="dk1"/>
                </a:solidFill>
                <a:latin typeface="Times New Roman"/>
                <a:ea typeface="Times New Roman"/>
                <a:cs typeface="Times New Roman"/>
                <a:sym typeface="Times New Roman"/>
              </a:rPr>
              <a:t>. Varios factores pueden afectar el rendimiento en una base de datos distribuida. Si la aplicación referencia datos desde un enlace de base de datos, el rendimiento de la red tendrá una influencia directa en el funcionamiento de la BDD.</a:t>
            </a:r>
            <a:endParaRPr/>
          </a:p>
          <a:p>
            <a:pPr indent="0" lvl="0" marL="0" marR="0" rtl="0" algn="just">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Los componentes de replicación que utilizan técnicas de almacenamiento y reenvío, tales como instantáneas y maestros de replicación, también tendrán su coste en el rendimiento global del sistema. El almacenamiento y la transmisión de operaciones impacta en el rendimiento general del sistema, y se debe tener en cuenta lo que esto significa cuando se especifican los requisitos de hardware.</a:t>
            </a:r>
            <a:endParaRPr sz="54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7"/>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37"/>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350" name="Google Shape;350;p3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51" name="Google Shape;351;p37"/>
          <p:cNvSpPr txBox="1"/>
          <p:nvPr/>
        </p:nvSpPr>
        <p:spPr>
          <a:xfrm>
            <a:off x="239076" y="1002623"/>
            <a:ext cx="11049000" cy="4986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Características y arquitectura de los SGBDD</a:t>
            </a:r>
            <a:endParaRPr b="1" i="0" sz="2400" u="none" strike="noStrike">
              <a:solidFill>
                <a:schemeClr val="dk1"/>
              </a:solidFill>
              <a:latin typeface="Times New Roman"/>
              <a:ea typeface="Times New Roman"/>
              <a:cs typeface="Times New Roman"/>
              <a:sym typeface="Times New Roman"/>
            </a:endParaRPr>
          </a:p>
        </p:txBody>
      </p:sp>
      <p:sp>
        <p:nvSpPr>
          <p:cNvPr id="352" name="Google Shape;352;p37"/>
          <p:cNvSpPr txBox="1"/>
          <p:nvPr/>
        </p:nvSpPr>
        <p:spPr>
          <a:xfrm>
            <a:off x="457200" y="1737638"/>
            <a:ext cx="10439400" cy="142199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Los SGBDD son un producto software que permiten la gestión de la base de datos y posibilitan una distribución transparente a los usuarios.</a:t>
            </a:r>
            <a:endParaRPr/>
          </a:p>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El SGBDD debe contar con funciones de un SGBD centralizado y además con funciones tales como:</a:t>
            </a:r>
            <a:endParaRPr b="0" i="0" sz="2000" u="none" strike="noStrike">
              <a:solidFill>
                <a:schemeClr val="dk1"/>
              </a:solidFill>
              <a:latin typeface="Times New Roman"/>
              <a:ea typeface="Times New Roman"/>
              <a:cs typeface="Times New Roman"/>
              <a:sym typeface="Times New Roman"/>
            </a:endParaRPr>
          </a:p>
        </p:txBody>
      </p:sp>
      <p:sp>
        <p:nvSpPr>
          <p:cNvPr id="353" name="Google Shape;353;p37"/>
          <p:cNvSpPr txBox="1"/>
          <p:nvPr/>
        </p:nvSpPr>
        <p:spPr>
          <a:xfrm>
            <a:off x="636270" y="3376800"/>
            <a:ext cx="10678476" cy="2633413"/>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s-ES" sz="1600" u="none" strike="noStrike">
                <a:solidFill>
                  <a:schemeClr val="dk1"/>
                </a:solidFill>
                <a:latin typeface="Times New Roman"/>
                <a:ea typeface="Times New Roman"/>
                <a:cs typeface="Times New Roman"/>
                <a:sym typeface="Times New Roman"/>
              </a:rPr>
              <a:t>Capacidad de acceder a sitios remotos y transmitir consultas y datos entre diversos sitios a través de una </a:t>
            </a:r>
            <a:r>
              <a:rPr lang="es-ES" sz="1600">
                <a:solidFill>
                  <a:schemeClr val="dk1"/>
                </a:solidFill>
                <a:latin typeface="Times New Roman"/>
                <a:ea typeface="Times New Roman"/>
                <a:cs typeface="Times New Roman"/>
                <a:sym typeface="Times New Roman"/>
              </a:rPr>
              <a:t>red de ordenadores.</a:t>
            </a:r>
            <a:endParaRPr/>
          </a:p>
          <a:p>
            <a:pPr indent="-285750" lvl="0" marL="285750" marR="0" rtl="0" algn="just">
              <a:lnSpc>
                <a:spcPct val="150000"/>
              </a:lnSpc>
              <a:spcBef>
                <a:spcPts val="0"/>
              </a:spcBef>
              <a:spcAft>
                <a:spcPts val="0"/>
              </a:spcAft>
              <a:buClr>
                <a:schemeClr val="dk1"/>
              </a:buClr>
              <a:buSzPts val="1600"/>
              <a:buFont typeface="Arial"/>
              <a:buChar char="•"/>
            </a:pPr>
            <a:r>
              <a:rPr lang="es-ES" sz="1600">
                <a:solidFill>
                  <a:schemeClr val="dk1"/>
                </a:solidFill>
                <a:latin typeface="Times New Roman"/>
                <a:ea typeface="Times New Roman"/>
                <a:cs typeface="Times New Roman"/>
                <a:sym typeface="Times New Roman"/>
              </a:rPr>
              <a:t>Capacidad de rastrear la traza de distribución y de replicación de los datos en el catálogo de SGBDD.</a:t>
            </a:r>
            <a:endParaRPr/>
          </a:p>
          <a:p>
            <a:pPr indent="-285750" lvl="0" marL="285750" marR="0" rtl="0" algn="just">
              <a:lnSpc>
                <a:spcPct val="150000"/>
              </a:lnSpc>
              <a:spcBef>
                <a:spcPts val="0"/>
              </a:spcBef>
              <a:spcAft>
                <a:spcPts val="0"/>
              </a:spcAft>
              <a:buClr>
                <a:schemeClr val="dk1"/>
              </a:buClr>
              <a:buSzPts val="1600"/>
              <a:buFont typeface="Arial"/>
              <a:buChar char="•"/>
            </a:pPr>
            <a:r>
              <a:rPr lang="es-ES" sz="1600">
                <a:solidFill>
                  <a:schemeClr val="dk1"/>
                </a:solidFill>
                <a:latin typeface="Times New Roman"/>
                <a:ea typeface="Times New Roman"/>
                <a:cs typeface="Times New Roman"/>
                <a:sym typeface="Times New Roman"/>
              </a:rPr>
              <a:t>Capacidad de elaborar estrategias de ejecución para consultas y transacciones con acceso a datos situados en nodos diferentes.</a:t>
            </a:r>
            <a:endParaRPr/>
          </a:p>
          <a:p>
            <a:pPr indent="-285750" lvl="0" marL="285750" marR="0" rtl="0" algn="just">
              <a:lnSpc>
                <a:spcPct val="150000"/>
              </a:lnSpc>
              <a:spcBef>
                <a:spcPts val="0"/>
              </a:spcBef>
              <a:spcAft>
                <a:spcPts val="0"/>
              </a:spcAft>
              <a:buClr>
                <a:schemeClr val="dk1"/>
              </a:buClr>
              <a:buSzPts val="1600"/>
              <a:buFont typeface="Arial"/>
              <a:buChar char="•"/>
            </a:pPr>
            <a:r>
              <a:rPr lang="es-ES" sz="1600">
                <a:solidFill>
                  <a:schemeClr val="dk1"/>
                </a:solidFill>
                <a:latin typeface="Times New Roman"/>
                <a:ea typeface="Times New Roman"/>
                <a:cs typeface="Times New Roman"/>
                <a:sym typeface="Times New Roman"/>
              </a:rPr>
              <a:t>Capacidad de mantener la consistencia en las réplicas de un elemento de información.</a:t>
            </a:r>
            <a:endParaRPr/>
          </a:p>
          <a:p>
            <a:pPr indent="-285750" lvl="0" marL="285750" marR="0" rtl="0" algn="just">
              <a:lnSpc>
                <a:spcPct val="150000"/>
              </a:lnSpc>
              <a:spcBef>
                <a:spcPts val="0"/>
              </a:spcBef>
              <a:spcAft>
                <a:spcPts val="0"/>
              </a:spcAft>
              <a:buClr>
                <a:schemeClr val="dk1"/>
              </a:buClr>
              <a:buSzPts val="1600"/>
              <a:buFont typeface="Arial"/>
              <a:buChar char="•"/>
            </a:pPr>
            <a:r>
              <a:rPr lang="es-ES" sz="1600">
                <a:solidFill>
                  <a:schemeClr val="dk1"/>
                </a:solidFill>
                <a:latin typeface="Times New Roman"/>
                <a:ea typeface="Times New Roman"/>
                <a:cs typeface="Times New Roman"/>
                <a:sym typeface="Times New Roman"/>
              </a:rPr>
              <a:t>Capacidad de decidir cuál de las copias de un elemento de información será accedida.</a:t>
            </a:r>
            <a:endParaRPr/>
          </a:p>
          <a:p>
            <a:pPr indent="-285750" lvl="0" marL="285750" marR="0" rtl="0" algn="just">
              <a:lnSpc>
                <a:spcPct val="150000"/>
              </a:lnSpc>
              <a:spcBef>
                <a:spcPts val="0"/>
              </a:spcBef>
              <a:spcAft>
                <a:spcPts val="0"/>
              </a:spcAft>
              <a:buClr>
                <a:schemeClr val="dk1"/>
              </a:buClr>
              <a:buSzPts val="1600"/>
              <a:buFont typeface="Arial"/>
              <a:buChar char="•"/>
            </a:pPr>
            <a:r>
              <a:rPr lang="es-ES" sz="1600">
                <a:solidFill>
                  <a:schemeClr val="dk1"/>
                </a:solidFill>
                <a:latin typeface="Times New Roman"/>
                <a:ea typeface="Times New Roman"/>
                <a:cs typeface="Times New Roman"/>
                <a:sym typeface="Times New Roman"/>
              </a:rPr>
              <a:t>Capacidad de recuperación ante caídas de sitios individuales y fallos de un enlace de comunicación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8"/>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38"/>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360" name="Google Shape;360;p3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61" name="Google Shape;361;p38"/>
          <p:cNvSpPr txBox="1"/>
          <p:nvPr/>
        </p:nvSpPr>
        <p:spPr>
          <a:xfrm>
            <a:off x="239076" y="1002623"/>
            <a:ext cx="11049000" cy="4986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Características y arquitectura de los SGBDD</a:t>
            </a:r>
            <a:endParaRPr b="1" i="0" sz="2400" u="none" strike="noStrike">
              <a:solidFill>
                <a:schemeClr val="dk1"/>
              </a:solidFill>
              <a:latin typeface="Times New Roman"/>
              <a:ea typeface="Times New Roman"/>
              <a:cs typeface="Times New Roman"/>
              <a:sym typeface="Times New Roman"/>
            </a:endParaRPr>
          </a:p>
        </p:txBody>
      </p:sp>
      <p:sp>
        <p:nvSpPr>
          <p:cNvPr id="362" name="Google Shape;362;p38"/>
          <p:cNvSpPr txBox="1"/>
          <p:nvPr/>
        </p:nvSpPr>
        <p:spPr>
          <a:xfrm>
            <a:off x="457200" y="1737638"/>
            <a:ext cx="10838496" cy="9603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El SGBDD debe contar con los siguientes componentes para poder ofrecer estas funcionalidades descritas:</a:t>
            </a:r>
            <a:endParaRPr b="0" i="0" sz="2000" u="none" strike="noStrike">
              <a:solidFill>
                <a:schemeClr val="dk1"/>
              </a:solidFill>
              <a:latin typeface="Times New Roman"/>
              <a:ea typeface="Times New Roman"/>
              <a:cs typeface="Times New Roman"/>
              <a:sym typeface="Times New Roman"/>
            </a:endParaRPr>
          </a:p>
        </p:txBody>
      </p:sp>
      <p:sp>
        <p:nvSpPr>
          <p:cNvPr id="363" name="Google Shape;363;p38"/>
          <p:cNvSpPr txBox="1"/>
          <p:nvPr/>
        </p:nvSpPr>
        <p:spPr>
          <a:xfrm>
            <a:off x="617220" y="2897634"/>
            <a:ext cx="10678476" cy="3268652"/>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000"/>
              <a:buFont typeface="Arial"/>
              <a:buChar char="•"/>
            </a:pPr>
            <a:r>
              <a:rPr b="1" i="0" lang="es-ES" sz="2000" u="none" strike="noStrike">
                <a:solidFill>
                  <a:schemeClr val="dk1"/>
                </a:solidFill>
                <a:latin typeface="Times New Roman"/>
                <a:ea typeface="Times New Roman"/>
                <a:cs typeface="Times New Roman"/>
                <a:sym typeface="Times New Roman"/>
              </a:rPr>
              <a:t>Procesador de datos locales </a:t>
            </a:r>
            <a:r>
              <a:rPr b="0" i="0" lang="es-ES" sz="2000" u="none" strike="noStrike">
                <a:solidFill>
                  <a:schemeClr val="dk1"/>
                </a:solidFill>
                <a:latin typeface="Times New Roman"/>
                <a:ea typeface="Times New Roman"/>
                <a:cs typeface="Times New Roman"/>
                <a:sym typeface="Times New Roman"/>
              </a:rPr>
              <a:t>que se encarga de la gestión local de los datos de forma parecida al software de un SGBD centralizado, por lo que además de ejecutar transacciones locales se encarga de la concurrencia y la recuperación ante fallos a nivel local.</a:t>
            </a:r>
            <a:endParaRPr/>
          </a:p>
          <a:p>
            <a:pPr indent="-285750" lvl="0" marL="285750" marR="0" rtl="0" algn="just">
              <a:lnSpc>
                <a:spcPct val="150000"/>
              </a:lnSpc>
              <a:spcBef>
                <a:spcPts val="0"/>
              </a:spcBef>
              <a:spcAft>
                <a:spcPts val="0"/>
              </a:spcAft>
              <a:buClr>
                <a:schemeClr val="dk1"/>
              </a:buClr>
              <a:buSzPts val="2000"/>
              <a:buFont typeface="Arial"/>
              <a:buChar char="•"/>
            </a:pPr>
            <a:r>
              <a:rPr b="1" lang="es-ES" sz="2000">
                <a:solidFill>
                  <a:schemeClr val="dk1"/>
                </a:solidFill>
                <a:latin typeface="Times New Roman"/>
                <a:ea typeface="Times New Roman"/>
                <a:cs typeface="Times New Roman"/>
                <a:sym typeface="Times New Roman"/>
              </a:rPr>
              <a:t>Diccionario o directorio global </a:t>
            </a:r>
            <a:r>
              <a:rPr lang="es-ES" sz="2000">
                <a:solidFill>
                  <a:schemeClr val="dk1"/>
                </a:solidFill>
                <a:latin typeface="Times New Roman"/>
                <a:ea typeface="Times New Roman"/>
                <a:cs typeface="Times New Roman"/>
                <a:sym typeface="Times New Roman"/>
              </a:rPr>
              <a:t>donde se guardará información acerca de dónde y cómo se almacenan los datos, el modo de acceso y otras características físicas. En resumen, contiene las especificaciones necesarias para pasar de la representación externa o esquema externo de los datos a la representación interna de los mismos.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9"/>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39"/>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370" name="Google Shape;370;p3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71" name="Google Shape;371;p39"/>
          <p:cNvSpPr txBox="1"/>
          <p:nvPr/>
        </p:nvSpPr>
        <p:spPr>
          <a:xfrm>
            <a:off x="239076" y="1002623"/>
            <a:ext cx="11049000" cy="4986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Características y arquitectura de los SGBDD</a:t>
            </a:r>
            <a:endParaRPr b="1" i="0" sz="2400" u="none" strike="noStrike">
              <a:solidFill>
                <a:schemeClr val="dk1"/>
              </a:solidFill>
              <a:latin typeface="Times New Roman"/>
              <a:ea typeface="Times New Roman"/>
              <a:cs typeface="Times New Roman"/>
              <a:sym typeface="Times New Roman"/>
            </a:endParaRPr>
          </a:p>
        </p:txBody>
      </p:sp>
      <p:sp>
        <p:nvSpPr>
          <p:cNvPr id="372" name="Google Shape;372;p39"/>
          <p:cNvSpPr txBox="1"/>
          <p:nvPr/>
        </p:nvSpPr>
        <p:spPr>
          <a:xfrm>
            <a:off x="457200" y="1737638"/>
            <a:ext cx="10838496" cy="9603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El SGBDD debe contar con los siguientes componentes para poder ofrecer estas funcionalidades descritas:</a:t>
            </a:r>
            <a:endParaRPr b="0" i="0" sz="2000" u="none" strike="noStrike">
              <a:solidFill>
                <a:schemeClr val="dk1"/>
              </a:solidFill>
              <a:latin typeface="Times New Roman"/>
              <a:ea typeface="Times New Roman"/>
              <a:cs typeface="Times New Roman"/>
              <a:sym typeface="Times New Roman"/>
            </a:endParaRPr>
          </a:p>
        </p:txBody>
      </p:sp>
      <p:sp>
        <p:nvSpPr>
          <p:cNvPr id="373" name="Google Shape;373;p39"/>
          <p:cNvSpPr txBox="1"/>
          <p:nvPr/>
        </p:nvSpPr>
        <p:spPr>
          <a:xfrm>
            <a:off x="617220" y="2897634"/>
            <a:ext cx="10678476" cy="280698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000"/>
              <a:buFont typeface="Arial"/>
              <a:buChar char="•"/>
            </a:pPr>
            <a:r>
              <a:rPr b="1" i="0" lang="es-ES" sz="2000" u="none" strike="noStrike">
                <a:solidFill>
                  <a:schemeClr val="dk1"/>
                </a:solidFill>
                <a:latin typeface="Times New Roman"/>
                <a:ea typeface="Times New Roman"/>
                <a:cs typeface="Times New Roman"/>
                <a:sym typeface="Times New Roman"/>
              </a:rPr>
              <a:t>Procesador de aplicaciones distribuidas que es el responsable de las funciones distribuidas</a:t>
            </a:r>
            <a:r>
              <a:rPr b="0" i="0" lang="es-ES" sz="2000" u="none" strike="noStrike">
                <a:solidFill>
                  <a:schemeClr val="dk1"/>
                </a:solidFill>
                <a:latin typeface="Times New Roman"/>
                <a:ea typeface="Times New Roman"/>
                <a:cs typeface="Times New Roman"/>
                <a:sym typeface="Times New Roman"/>
              </a:rPr>
              <a:t>. Accede a la información sobre la ubicación de los datos, que se encuentra en el diccionario, y se ocupa de procesar todas las peticiones que involucran más de una sede para generar un plan de ejecución distribuido. Es el elemento diferenciador en los sistemas distribuidos, dada una operación se encargará de repartir el trabajo a los distintos procesadores locales que intervienen en dicha operación.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0"/>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40"/>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380" name="Google Shape;380;p4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81" name="Google Shape;381;p40"/>
          <p:cNvSpPr txBox="1"/>
          <p:nvPr/>
        </p:nvSpPr>
        <p:spPr>
          <a:xfrm>
            <a:off x="239076" y="1002623"/>
            <a:ext cx="11049000" cy="4986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Características y arquitectura de los SGBDD</a:t>
            </a:r>
            <a:endParaRPr b="1" i="0" sz="2400" u="none" strike="noStrike">
              <a:solidFill>
                <a:schemeClr val="dk1"/>
              </a:solidFill>
              <a:latin typeface="Times New Roman"/>
              <a:ea typeface="Times New Roman"/>
              <a:cs typeface="Times New Roman"/>
              <a:sym typeface="Times New Roman"/>
            </a:endParaRPr>
          </a:p>
        </p:txBody>
      </p:sp>
      <p:sp>
        <p:nvSpPr>
          <p:cNvPr id="382" name="Google Shape;382;p40"/>
          <p:cNvSpPr txBox="1"/>
          <p:nvPr/>
        </p:nvSpPr>
        <p:spPr>
          <a:xfrm>
            <a:off x="457200" y="1737638"/>
            <a:ext cx="10838496" cy="9603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El SGBDD debe contar con los siguientes componentes para poder ofrecer estas funcionalidades descritas:</a:t>
            </a:r>
            <a:endParaRPr b="0" i="0" sz="2000" u="none" strike="noStrike">
              <a:solidFill>
                <a:schemeClr val="dk1"/>
              </a:solidFill>
              <a:latin typeface="Times New Roman"/>
              <a:ea typeface="Times New Roman"/>
              <a:cs typeface="Times New Roman"/>
              <a:sym typeface="Times New Roman"/>
            </a:endParaRPr>
          </a:p>
        </p:txBody>
      </p:sp>
      <p:sp>
        <p:nvSpPr>
          <p:cNvPr id="383" name="Google Shape;383;p40"/>
          <p:cNvSpPr txBox="1"/>
          <p:nvPr/>
        </p:nvSpPr>
        <p:spPr>
          <a:xfrm>
            <a:off x="617220" y="2897634"/>
            <a:ext cx="10678476" cy="1687963"/>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400"/>
              <a:buFont typeface="Arial"/>
              <a:buChar char="•"/>
            </a:pPr>
            <a:r>
              <a:rPr b="1" i="0" lang="es-ES" sz="2400" u="none" strike="noStrike">
                <a:solidFill>
                  <a:schemeClr val="dk1"/>
                </a:solidFill>
                <a:latin typeface="Times New Roman"/>
                <a:ea typeface="Times New Roman"/>
                <a:cs typeface="Times New Roman"/>
                <a:sym typeface="Times New Roman"/>
              </a:rPr>
              <a:t>Software y red de comunicaciones</a:t>
            </a:r>
            <a:r>
              <a:rPr b="0" i="0" lang="es-ES" sz="2400" u="none" strike="noStrike">
                <a:solidFill>
                  <a:schemeClr val="dk1"/>
                </a:solidFill>
                <a:latin typeface="Times New Roman"/>
                <a:ea typeface="Times New Roman"/>
                <a:cs typeface="Times New Roman"/>
                <a:sym typeface="Times New Roman"/>
              </a:rPr>
              <a:t>. No forma parte estrictamente del SGBDD sino que provee al procesador de aplicaciones distribuidas primitivas y servicios de comunicaciones para que éste lleve a cabo su labor.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1"/>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41"/>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390" name="Google Shape;390;p4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91" name="Google Shape;391;p41"/>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392" name="Google Shape;392;p41"/>
          <p:cNvSpPr txBox="1"/>
          <p:nvPr/>
        </p:nvSpPr>
        <p:spPr>
          <a:xfrm>
            <a:off x="676752" y="2338527"/>
            <a:ext cx="10838496" cy="248574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3600" u="none" strike="noStrike">
                <a:solidFill>
                  <a:schemeClr val="dk1"/>
                </a:solidFill>
                <a:latin typeface="Times New Roman"/>
                <a:ea typeface="Times New Roman"/>
                <a:cs typeface="Times New Roman"/>
                <a:sym typeface="Times New Roman"/>
              </a:rPr>
              <a:t>Esta clasificación se realiza en base a tres características: </a:t>
            </a:r>
            <a:r>
              <a:rPr b="1" i="0" lang="es-ES" sz="3600" u="none" strike="noStrike">
                <a:solidFill>
                  <a:schemeClr val="dk1"/>
                </a:solidFill>
                <a:latin typeface="Times New Roman"/>
                <a:ea typeface="Times New Roman"/>
                <a:cs typeface="Times New Roman"/>
                <a:sym typeface="Times New Roman"/>
              </a:rPr>
              <a:t>la distribución, la autonomía y la heterogeneidad</a:t>
            </a:r>
            <a:r>
              <a:rPr b="0" i="0" lang="es-ES" sz="3600" u="none" strike="noStrike">
                <a:solidFill>
                  <a:schemeClr val="dk1"/>
                </a:solidFill>
                <a:latin typeface="Times New Roman"/>
                <a:ea typeface="Times New Roman"/>
                <a:cs typeface="Times New Roman"/>
                <a:sym typeface="Times New Roman"/>
              </a:rPr>
              <a:t> del sistema local</a:t>
            </a:r>
            <a:endParaRPr b="0" i="0" sz="3600" u="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2"/>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42"/>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399" name="Google Shape;399;p4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00" name="Google Shape;400;p42"/>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01" name="Google Shape;401;p42"/>
          <p:cNvSpPr txBox="1"/>
          <p:nvPr/>
        </p:nvSpPr>
        <p:spPr>
          <a:xfrm>
            <a:off x="4010976" y="1002623"/>
            <a:ext cx="20850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Distribución</a:t>
            </a:r>
            <a:endParaRPr b="1" i="0" sz="2400" u="none" strike="noStrike">
              <a:solidFill>
                <a:srgbClr val="D1052D"/>
              </a:solidFill>
              <a:latin typeface="Times New Roman"/>
              <a:ea typeface="Times New Roman"/>
              <a:cs typeface="Times New Roman"/>
              <a:sym typeface="Times New Roman"/>
            </a:endParaRPr>
          </a:p>
        </p:txBody>
      </p:sp>
      <p:sp>
        <p:nvSpPr>
          <p:cNvPr id="402" name="Google Shape;402;p42"/>
          <p:cNvSpPr txBox="1"/>
          <p:nvPr/>
        </p:nvSpPr>
        <p:spPr>
          <a:xfrm>
            <a:off x="457200" y="1845439"/>
            <a:ext cx="11049000" cy="391113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Los datos pueden ser distribuidos entre múltiples bases de datos. Estas bases de datos pueden estar almacenadas en un único sistema informático o en varios, distribuidos geográficamente, pero interconectados por un sistema de comunicación.</a:t>
            </a:r>
            <a:endParaRPr/>
          </a:p>
          <a:p>
            <a:pPr indent="0" lvl="0" marL="0" marR="0" rtl="0" algn="just">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Los datos pueden ser distribuidos entre múltiples bases de datos de diferentes maneras. Estos incluyen, en términos relacionales, particiones de base de datos verticales y horizontales</a:t>
            </a:r>
            <a:endParaRPr sz="24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3"/>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43"/>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09" name="Google Shape;409;p4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10" name="Google Shape;410;p43"/>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11" name="Google Shape;411;p43"/>
          <p:cNvSpPr txBox="1"/>
          <p:nvPr/>
        </p:nvSpPr>
        <p:spPr>
          <a:xfrm>
            <a:off x="4010976" y="1002623"/>
            <a:ext cx="20850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Distribución</a:t>
            </a:r>
            <a:endParaRPr b="1" i="0" sz="2400" u="none" strike="noStrike">
              <a:solidFill>
                <a:srgbClr val="D1052D"/>
              </a:solidFill>
              <a:latin typeface="Times New Roman"/>
              <a:ea typeface="Times New Roman"/>
              <a:cs typeface="Times New Roman"/>
              <a:sym typeface="Times New Roman"/>
            </a:endParaRPr>
          </a:p>
        </p:txBody>
      </p:sp>
      <p:sp>
        <p:nvSpPr>
          <p:cNvPr id="412" name="Google Shape;412;p43"/>
          <p:cNvSpPr txBox="1"/>
          <p:nvPr/>
        </p:nvSpPr>
        <p:spPr>
          <a:xfrm>
            <a:off x="457200" y="1845439"/>
            <a:ext cx="11049000" cy="335713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Además, pueden mantenerse varias copias de todo o parte de los datos. Estas copias no tienen por qué tener una estructura idéntica.</a:t>
            </a:r>
            <a:endParaRPr/>
          </a:p>
          <a:p>
            <a:pPr indent="0" lvl="0" marL="0" marR="0" rtl="0" algn="just">
              <a:lnSpc>
                <a:spcPct val="150000"/>
              </a:lnSpc>
              <a:spcBef>
                <a:spcPts val="0"/>
              </a:spcBef>
              <a:spcAft>
                <a:spcPts val="0"/>
              </a:spcAft>
              <a:buNone/>
            </a:pPr>
            <a:r>
              <a:t/>
            </a:r>
            <a:endParaRPr b="0" i="0" sz="240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Algunos de los beneficios de la distribución de los datos son bien conocidos, tales como una mayor disponibilidad y fiabilidad de la información, así como una mejora en los tiempos de acceso</a:t>
            </a:r>
            <a:endParaRPr sz="24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4"/>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44"/>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19" name="Google Shape;419;p4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20" name="Google Shape;420;p44"/>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21" name="Google Shape;421;p44"/>
          <p:cNvSpPr txBox="1"/>
          <p:nvPr/>
        </p:nvSpPr>
        <p:spPr>
          <a:xfrm>
            <a:off x="4010976" y="1002623"/>
            <a:ext cx="20850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Autonomía</a:t>
            </a:r>
            <a:endParaRPr b="1" i="0" sz="2400" u="none" strike="noStrike">
              <a:solidFill>
                <a:srgbClr val="D1052D"/>
              </a:solidFill>
              <a:latin typeface="Times New Roman"/>
              <a:ea typeface="Times New Roman"/>
              <a:cs typeface="Times New Roman"/>
              <a:sym typeface="Times New Roman"/>
            </a:endParaRPr>
          </a:p>
        </p:txBody>
      </p:sp>
      <p:sp>
        <p:nvSpPr>
          <p:cNvPr id="422" name="Google Shape;422;p44"/>
          <p:cNvSpPr txBox="1"/>
          <p:nvPr/>
        </p:nvSpPr>
        <p:spPr>
          <a:xfrm>
            <a:off x="457200" y="2179830"/>
            <a:ext cx="11049000" cy="280314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Se refiere a la distribución del control, no de los datos. Indica el grado en el que los SGBDs pueden actuar independientemente y es función de factores tales como el nivel de intercambio de información entre los componentes del sistema, la ejecución independiente de transacciones, la tolerancia a modificaciones respectivas en los datos, etc.</a:t>
            </a:r>
            <a:endParaRPr sz="24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5"/>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45"/>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29" name="Google Shape;429;p4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30" name="Google Shape;430;p45"/>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31" name="Google Shape;431;p45"/>
          <p:cNvSpPr txBox="1"/>
          <p:nvPr/>
        </p:nvSpPr>
        <p:spPr>
          <a:xfrm>
            <a:off x="4010976" y="1002623"/>
            <a:ext cx="20850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Autonomía</a:t>
            </a:r>
            <a:endParaRPr b="1" i="0" sz="2400" u="none" strike="noStrike">
              <a:solidFill>
                <a:srgbClr val="D1052D"/>
              </a:solidFill>
              <a:latin typeface="Times New Roman"/>
              <a:ea typeface="Times New Roman"/>
              <a:cs typeface="Times New Roman"/>
              <a:sym typeface="Times New Roman"/>
            </a:endParaRPr>
          </a:p>
        </p:txBody>
      </p:sp>
      <p:sp>
        <p:nvSpPr>
          <p:cNvPr id="432" name="Google Shape;432;p45"/>
          <p:cNvSpPr txBox="1"/>
          <p:nvPr/>
        </p:nvSpPr>
        <p:spPr>
          <a:xfrm>
            <a:off x="457200" y="2179830"/>
            <a:ext cx="11049000" cy="372646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Para lograr la independencia entre bases de datos que componen un sistema distribuido, es necesario considerar los tipos de autonomía descritos por:</a:t>
            </a:r>
            <a:endParaRPr/>
          </a:p>
          <a:p>
            <a:pPr indent="0" lvl="0" marL="0" marR="0" rtl="0" algn="just">
              <a:lnSpc>
                <a:spcPct val="15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Times New Roman"/>
                <a:ea typeface="Times New Roman"/>
                <a:cs typeface="Times New Roman"/>
                <a:sym typeface="Times New Roman"/>
              </a:rPr>
              <a:t>Autonomía de Diseño</a:t>
            </a:r>
            <a:endParaRPr/>
          </a:p>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Times New Roman"/>
                <a:ea typeface="Times New Roman"/>
                <a:cs typeface="Times New Roman"/>
                <a:sym typeface="Times New Roman"/>
              </a:rPr>
              <a:t>Autonomía de Comunicación</a:t>
            </a:r>
            <a:endParaRPr/>
          </a:p>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Times New Roman"/>
                <a:ea typeface="Times New Roman"/>
                <a:cs typeface="Times New Roman"/>
                <a:sym typeface="Times New Roman"/>
              </a:rPr>
              <a:t>Autonomía de Ejecución</a:t>
            </a:r>
            <a:endParaRPr/>
          </a:p>
          <a:p>
            <a:pPr indent="-342900" lvl="0" marL="342900" marR="0" rtl="0" algn="just">
              <a:lnSpc>
                <a:spcPct val="150000"/>
              </a:lnSpc>
              <a:spcBef>
                <a:spcPts val="0"/>
              </a:spcBef>
              <a:spcAft>
                <a:spcPts val="0"/>
              </a:spcAft>
              <a:buClr>
                <a:schemeClr val="dk1"/>
              </a:buClr>
              <a:buSzPts val="2400"/>
              <a:buFont typeface="Arial"/>
              <a:buChar char="•"/>
            </a:pPr>
            <a:r>
              <a:rPr lang="es-ES" sz="2400">
                <a:solidFill>
                  <a:schemeClr val="dk1"/>
                </a:solidFill>
                <a:latin typeface="Times New Roman"/>
                <a:ea typeface="Times New Roman"/>
                <a:cs typeface="Times New Roman"/>
                <a:sym typeface="Times New Roman"/>
              </a:rPr>
              <a:t>Autonomía de Asociación</a:t>
            </a:r>
            <a:endParaRPr sz="24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6"/>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46"/>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39" name="Google Shape;439;p4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40" name="Google Shape;440;p46"/>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41" name="Google Shape;441;p46"/>
          <p:cNvSpPr txBox="1"/>
          <p:nvPr/>
        </p:nvSpPr>
        <p:spPr>
          <a:xfrm>
            <a:off x="4010976" y="1002623"/>
            <a:ext cx="20850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Autonomía</a:t>
            </a:r>
            <a:endParaRPr b="1" i="0" sz="2400" u="none" strike="noStrike">
              <a:solidFill>
                <a:srgbClr val="D1052D"/>
              </a:solidFill>
              <a:latin typeface="Times New Roman"/>
              <a:ea typeface="Times New Roman"/>
              <a:cs typeface="Times New Roman"/>
              <a:sym typeface="Times New Roman"/>
            </a:endParaRPr>
          </a:p>
        </p:txBody>
      </p:sp>
      <p:sp>
        <p:nvSpPr>
          <p:cNvPr id="442" name="Google Shape;442;p46"/>
          <p:cNvSpPr txBox="1"/>
          <p:nvPr/>
        </p:nvSpPr>
        <p:spPr>
          <a:xfrm>
            <a:off x="457200" y="1828800"/>
            <a:ext cx="11163300" cy="142199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000">
                <a:solidFill>
                  <a:schemeClr val="dk1"/>
                </a:solidFill>
                <a:latin typeface="Times New Roman"/>
                <a:ea typeface="Times New Roman"/>
                <a:cs typeface="Times New Roman"/>
                <a:sym typeface="Times New Roman"/>
              </a:rPr>
              <a:t>Autonomía de Diseño: </a:t>
            </a:r>
            <a:r>
              <a:rPr lang="es-ES" sz="2000">
                <a:solidFill>
                  <a:schemeClr val="dk1"/>
                </a:solidFill>
                <a:latin typeface="Times New Roman"/>
                <a:ea typeface="Times New Roman"/>
                <a:cs typeface="Times New Roman"/>
                <a:sym typeface="Times New Roman"/>
              </a:rPr>
              <a:t>La capacidad de que cada nodo de la base de datos decida los aspectos relacionados con su diseño. Es decir, las personas involucradas son libres de decidir cualquier particularidad e incluso decidir qué SGBD utilizar. Los aspectos a considerar en la autonomía de diseño son: </a:t>
            </a:r>
            <a:endParaRPr/>
          </a:p>
        </p:txBody>
      </p:sp>
      <p:sp>
        <p:nvSpPr>
          <p:cNvPr id="443" name="Google Shape;443;p46"/>
          <p:cNvSpPr txBox="1"/>
          <p:nvPr/>
        </p:nvSpPr>
        <p:spPr>
          <a:xfrm>
            <a:off x="571500" y="3250792"/>
            <a:ext cx="11163300" cy="295786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0" i="0" lang="es-ES" sz="1800" u="none" strike="noStrike">
                <a:solidFill>
                  <a:schemeClr val="dk1"/>
                </a:solidFill>
                <a:latin typeface="Times New Roman"/>
                <a:ea typeface="Times New Roman"/>
                <a:cs typeface="Times New Roman"/>
                <a:sym typeface="Times New Roman"/>
              </a:rPr>
              <a:t>El universo de datos relevante para el sistema.</a:t>
            </a:r>
            <a:endParaRPr/>
          </a:p>
          <a:p>
            <a:pPr indent="-285750" lvl="0" marL="285750" marR="0" rtl="0" algn="l">
              <a:lnSpc>
                <a:spcPct val="150000"/>
              </a:lnSpc>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La representación (modelo de datos, lenguaje de consultas) y el nombrado de los datos.</a:t>
            </a:r>
            <a:endParaRPr/>
          </a:p>
          <a:p>
            <a:pPr indent="-285750" lvl="0" marL="285750" marR="0" rtl="0" algn="l">
              <a:lnSpc>
                <a:spcPct val="150000"/>
              </a:lnSpc>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La conceptualización o interpretación semántica de los datos (heterogeneidad semántica).</a:t>
            </a:r>
            <a:endParaRPr/>
          </a:p>
          <a:p>
            <a:pPr indent="-285750" lvl="0" marL="285750" marR="0" rtl="0" algn="l">
              <a:lnSpc>
                <a:spcPct val="150000"/>
              </a:lnSpc>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Restricciones usadas para administrar los datos.</a:t>
            </a:r>
            <a:endParaRPr/>
          </a:p>
          <a:p>
            <a:pPr indent="-285750" lvl="0" marL="285750" marR="0" rtl="0" algn="l">
              <a:lnSpc>
                <a:spcPct val="150000"/>
              </a:lnSpc>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La funcionalidad del sistema.</a:t>
            </a:r>
            <a:endParaRPr/>
          </a:p>
          <a:p>
            <a:pPr indent="-285750" lvl="0" marL="285750" marR="0" rtl="0" algn="l">
              <a:lnSpc>
                <a:spcPct val="150000"/>
              </a:lnSpc>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La asociación y compartición con otros sistemas.</a:t>
            </a:r>
            <a:endParaRPr/>
          </a:p>
          <a:p>
            <a:pPr indent="-285750" lvl="0" marL="285750" marR="0" rtl="0" algn="l">
              <a:lnSpc>
                <a:spcPct val="150000"/>
              </a:lnSpc>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La implementación (por ejemplo: registros y estructuras de archivos).</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7"/>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47"/>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50" name="Google Shape;450;p4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51" name="Google Shape;451;p47"/>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52" name="Google Shape;452;p47"/>
          <p:cNvSpPr txBox="1"/>
          <p:nvPr/>
        </p:nvSpPr>
        <p:spPr>
          <a:xfrm>
            <a:off x="4010976" y="1002623"/>
            <a:ext cx="20850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Autonomía</a:t>
            </a:r>
            <a:endParaRPr b="1" i="0" sz="2400" u="none" strike="noStrike">
              <a:solidFill>
                <a:srgbClr val="D1052D"/>
              </a:solidFill>
              <a:latin typeface="Times New Roman"/>
              <a:ea typeface="Times New Roman"/>
              <a:cs typeface="Times New Roman"/>
              <a:sym typeface="Times New Roman"/>
            </a:endParaRPr>
          </a:p>
        </p:txBody>
      </p:sp>
      <p:sp>
        <p:nvSpPr>
          <p:cNvPr id="453" name="Google Shape;453;p47"/>
          <p:cNvSpPr txBox="1"/>
          <p:nvPr/>
        </p:nvSpPr>
        <p:spPr>
          <a:xfrm>
            <a:off x="457200" y="1828800"/>
            <a:ext cx="11163300" cy="39039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s-ES" sz="2400">
                <a:solidFill>
                  <a:schemeClr val="dk1"/>
                </a:solidFill>
                <a:latin typeface="Times New Roman"/>
                <a:ea typeface="Times New Roman"/>
                <a:cs typeface="Times New Roman"/>
                <a:sym typeface="Times New Roman"/>
              </a:rPr>
              <a:t>Autonomía de comunicación: </a:t>
            </a:r>
            <a:r>
              <a:rPr lang="es-ES" sz="2400">
                <a:solidFill>
                  <a:schemeClr val="dk1"/>
                </a:solidFill>
                <a:latin typeface="Times New Roman"/>
                <a:ea typeface="Times New Roman"/>
                <a:cs typeface="Times New Roman"/>
                <a:sym typeface="Times New Roman"/>
              </a:rPr>
              <a:t>es la habilidad de que un nodo decida comunicarse o no con otro componente de una misma federación.</a:t>
            </a:r>
            <a:endParaRPr/>
          </a:p>
          <a:p>
            <a:pPr indent="0" lvl="0" marL="0" marR="0" rtl="0" algn="just">
              <a:lnSpc>
                <a:spcPct val="150000"/>
              </a:lnSpc>
              <a:spcBef>
                <a:spcPts val="0"/>
              </a:spcBef>
              <a:spcAft>
                <a:spcPts val="0"/>
              </a:spcAft>
              <a:buNone/>
            </a:pPr>
            <a:r>
              <a:rPr b="1" lang="es-ES" sz="2400">
                <a:solidFill>
                  <a:schemeClr val="dk1"/>
                </a:solidFill>
                <a:latin typeface="Times New Roman"/>
                <a:ea typeface="Times New Roman"/>
                <a:cs typeface="Times New Roman"/>
                <a:sym typeface="Times New Roman"/>
              </a:rPr>
              <a:t>Autonomía de ejecución: </a:t>
            </a:r>
            <a:r>
              <a:rPr lang="es-ES" sz="2400">
                <a:solidFill>
                  <a:schemeClr val="dk1"/>
                </a:solidFill>
                <a:latin typeface="Times New Roman"/>
                <a:ea typeface="Times New Roman"/>
                <a:cs typeface="Times New Roman"/>
                <a:sym typeface="Times New Roman"/>
              </a:rPr>
              <a:t>es la habilidad de un nodo para ejecutar operaciones locales sin la interferencia de operaciones externas, en el orden en que el nodo lo decida.</a:t>
            </a:r>
            <a:endParaRPr/>
          </a:p>
          <a:p>
            <a:pPr indent="0" lvl="0" marL="0" marR="0" rtl="0" algn="just">
              <a:lnSpc>
                <a:spcPct val="150000"/>
              </a:lnSpc>
              <a:spcBef>
                <a:spcPts val="0"/>
              </a:spcBef>
              <a:spcAft>
                <a:spcPts val="0"/>
              </a:spcAft>
              <a:buNone/>
            </a:pPr>
            <a:r>
              <a:rPr b="1" lang="es-ES" sz="2400">
                <a:solidFill>
                  <a:schemeClr val="dk1"/>
                </a:solidFill>
                <a:latin typeface="Times New Roman"/>
                <a:ea typeface="Times New Roman"/>
                <a:cs typeface="Times New Roman"/>
                <a:sym typeface="Times New Roman"/>
              </a:rPr>
              <a:t>Autonomía de asociación: </a:t>
            </a:r>
            <a:r>
              <a:rPr lang="es-ES" sz="2400">
                <a:solidFill>
                  <a:schemeClr val="dk1"/>
                </a:solidFill>
                <a:latin typeface="Times New Roman"/>
                <a:ea typeface="Times New Roman"/>
                <a:cs typeface="Times New Roman"/>
                <a:sym typeface="Times New Roman"/>
              </a:rPr>
              <a:t>cada nodo cuánto y cuándo puede compartir su funcionalidad y recursos con otros componentes, inclusive la capacidad de asociarse o retirarse de una o más federaciones.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8"/>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48"/>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60" name="Google Shape;460;p4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61" name="Google Shape;461;p48"/>
          <p:cNvSpPr txBox="1"/>
          <p:nvPr/>
        </p:nvSpPr>
        <p:spPr>
          <a:xfrm>
            <a:off x="239076" y="1002623"/>
            <a:ext cx="11049000"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chemeClr val="dk1"/>
                </a:solidFill>
                <a:latin typeface="Times New Roman"/>
                <a:ea typeface="Times New Roman"/>
                <a:cs typeface="Times New Roman"/>
                <a:sym typeface="Times New Roman"/>
              </a:rPr>
              <a:t>Clasificación de los SGBDD</a:t>
            </a:r>
            <a:endParaRPr b="1" i="0" sz="2400" u="none" strike="noStrike">
              <a:solidFill>
                <a:schemeClr val="dk1"/>
              </a:solidFill>
              <a:latin typeface="Times New Roman"/>
              <a:ea typeface="Times New Roman"/>
              <a:cs typeface="Times New Roman"/>
              <a:sym typeface="Times New Roman"/>
            </a:endParaRPr>
          </a:p>
        </p:txBody>
      </p:sp>
      <p:sp>
        <p:nvSpPr>
          <p:cNvPr id="462" name="Google Shape;462;p48"/>
          <p:cNvSpPr txBox="1"/>
          <p:nvPr/>
        </p:nvSpPr>
        <p:spPr>
          <a:xfrm>
            <a:off x="4010976" y="1002623"/>
            <a:ext cx="3075624" cy="57996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none" strike="noStrike">
                <a:solidFill>
                  <a:srgbClr val="D1052D"/>
                </a:solidFill>
                <a:latin typeface="Times New Roman"/>
                <a:ea typeface="Times New Roman"/>
                <a:cs typeface="Times New Roman"/>
                <a:sym typeface="Times New Roman"/>
              </a:rPr>
              <a:t>- Heterogeneidad</a:t>
            </a:r>
            <a:endParaRPr b="1" i="0" sz="2400" u="none" strike="noStrike">
              <a:solidFill>
                <a:srgbClr val="D1052D"/>
              </a:solidFill>
              <a:latin typeface="Times New Roman"/>
              <a:ea typeface="Times New Roman"/>
              <a:cs typeface="Times New Roman"/>
              <a:sym typeface="Times New Roman"/>
            </a:endParaRPr>
          </a:p>
        </p:txBody>
      </p:sp>
      <p:sp>
        <p:nvSpPr>
          <p:cNvPr id="463" name="Google Shape;463;p48"/>
          <p:cNvSpPr txBox="1"/>
          <p:nvPr/>
        </p:nvSpPr>
        <p:spPr>
          <a:xfrm>
            <a:off x="457200" y="1828800"/>
            <a:ext cx="10972800" cy="224196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2400">
                <a:solidFill>
                  <a:schemeClr val="dk1"/>
                </a:solidFill>
                <a:latin typeface="Times New Roman"/>
                <a:ea typeface="Times New Roman"/>
                <a:cs typeface="Times New Roman"/>
                <a:sym typeface="Times New Roman"/>
              </a:rPr>
              <a:t>La heterogeneidad puede referirse a diferentes aspectos, desde diferencias hardware o en los protocoles de red, hasta variaciones en los SGBDs propiamente (modelos de datos, lenguaje de manipulación de datos, protocolos de gestión de transacciones,…).</a:t>
            </a:r>
            <a:endParaRPr/>
          </a:p>
          <a:p>
            <a:pPr indent="0" lvl="0" marL="0" marR="0" rtl="0" algn="just">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9"/>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49"/>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70" name="Google Shape;470;p4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471" name="Google Shape;471;p49"/>
          <p:cNvPicPr preferRelativeResize="0"/>
          <p:nvPr/>
        </p:nvPicPr>
        <p:blipFill rotWithShape="1">
          <a:blip r:embed="rId3">
            <a:alphaModFix/>
          </a:blip>
          <a:srcRect b="0" l="0" r="0" t="0"/>
          <a:stretch/>
        </p:blipFill>
        <p:spPr>
          <a:xfrm>
            <a:off x="1676400" y="1804001"/>
            <a:ext cx="7820911" cy="4558387"/>
          </a:xfrm>
          <a:prstGeom prst="rect">
            <a:avLst/>
          </a:prstGeom>
          <a:noFill/>
          <a:ln cap="flat" cmpd="sng" w="9525">
            <a:solidFill>
              <a:schemeClr val="dk1"/>
            </a:solidFill>
            <a:prstDash val="solid"/>
            <a:round/>
            <a:headEnd len="sm" w="sm" type="none"/>
            <a:tailEnd len="sm" w="sm" type="none"/>
          </a:ln>
        </p:spPr>
      </p:pic>
      <p:sp>
        <p:nvSpPr>
          <p:cNvPr id="472" name="Google Shape;472;p49"/>
          <p:cNvSpPr txBox="1"/>
          <p:nvPr/>
        </p:nvSpPr>
        <p:spPr>
          <a:xfrm>
            <a:off x="249998" y="930429"/>
            <a:ext cx="11408601" cy="87357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1800">
                <a:solidFill>
                  <a:schemeClr val="dk1"/>
                </a:solidFill>
                <a:latin typeface="Times New Roman"/>
                <a:ea typeface="Times New Roman"/>
                <a:cs typeface="Times New Roman"/>
                <a:sym typeface="Times New Roman"/>
              </a:rPr>
              <a:t>En la siguiente gráfica se puede observar las diferentes alternativas en las arquitecturas de los SGBDD según su grado de autonomía, distribución y heterogeneidad.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0"/>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50"/>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79" name="Google Shape;479;p5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80" name="Google Shape;480;p50"/>
          <p:cNvSpPr txBox="1"/>
          <p:nvPr/>
        </p:nvSpPr>
        <p:spPr>
          <a:xfrm>
            <a:off x="249998" y="930429"/>
            <a:ext cx="11408601" cy="66120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2800">
                <a:solidFill>
                  <a:schemeClr val="dk1"/>
                </a:solidFill>
                <a:latin typeface="Times New Roman"/>
                <a:ea typeface="Times New Roman"/>
                <a:cs typeface="Times New Roman"/>
                <a:sym typeface="Times New Roman"/>
              </a:rPr>
              <a:t>Lectura del gráfico anterior</a:t>
            </a:r>
            <a:endParaRPr/>
          </a:p>
        </p:txBody>
      </p:sp>
      <p:sp>
        <p:nvSpPr>
          <p:cNvPr id="481" name="Google Shape;481;p50"/>
          <p:cNvSpPr txBox="1"/>
          <p:nvPr/>
        </p:nvSpPr>
        <p:spPr>
          <a:xfrm>
            <a:off x="761524" y="1839481"/>
            <a:ext cx="10668952" cy="4199611"/>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La clase con múltiples SGBDs homogéneos lógicamente integrados. Si no hay distribución ni heterogeneidad el sistema es un conjunto de múltiples SGBDs que están lógicamente integrados. No hay sistemas de este tipo pero es una solución especialmente adecuada para entornos multiprocesador.</a:t>
            </a:r>
            <a:endParaRPr/>
          </a:p>
          <a:p>
            <a:pPr indent="-158750" lvl="0" marL="285750" marR="0" rtl="0" algn="just">
              <a:lnSpc>
                <a:spcPct val="150000"/>
              </a:lnSpc>
              <a:spcBef>
                <a:spcPts val="0"/>
              </a:spcBef>
              <a:spcAft>
                <a:spcPts val="0"/>
              </a:spcAft>
              <a:buClr>
                <a:schemeClr val="dk1"/>
              </a:buClr>
              <a:buSzPts val="2000"/>
              <a:buFont typeface="Arial"/>
              <a:buNone/>
            </a:pPr>
            <a:r>
              <a:t/>
            </a:r>
            <a:endParaRPr b="0" i="0" sz="2000" u="none" strike="noStrike">
              <a:solidFill>
                <a:schemeClr val="dk1"/>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Times New Roman"/>
                <a:ea typeface="Times New Roman"/>
                <a:cs typeface="Times New Roman"/>
                <a:sym typeface="Times New Roman"/>
              </a:rPr>
              <a:t>Al introducir heterogeneidad (Clase con SGBDs heterogéneos integrados y SGBDs distribuidos heterogéneos) resultan múltiples SGBDs pero con una visión integral para el usuario. Es típico de sistemas diseñados para integrar el acceso a través de la red a bases de datos jerárquicas o relacionales que residen completamente en un nodo.</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1"/>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51"/>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88" name="Google Shape;488;p5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89" name="Google Shape;489;p51"/>
          <p:cNvSpPr txBox="1"/>
          <p:nvPr/>
        </p:nvSpPr>
        <p:spPr>
          <a:xfrm>
            <a:off x="249998" y="930429"/>
            <a:ext cx="11408601" cy="66120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2800">
                <a:solidFill>
                  <a:schemeClr val="dk1"/>
                </a:solidFill>
                <a:latin typeface="Times New Roman"/>
                <a:ea typeface="Times New Roman"/>
                <a:cs typeface="Times New Roman"/>
                <a:sym typeface="Times New Roman"/>
              </a:rPr>
              <a:t>Lectura del gráfico anterior</a:t>
            </a:r>
            <a:endParaRPr/>
          </a:p>
        </p:txBody>
      </p:sp>
      <p:sp>
        <p:nvSpPr>
          <p:cNvPr id="490" name="Google Shape;490;p51"/>
          <p:cNvSpPr txBox="1"/>
          <p:nvPr/>
        </p:nvSpPr>
        <p:spPr>
          <a:xfrm>
            <a:off x="761524" y="1839481"/>
            <a:ext cx="10668952" cy="373031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Al introducir distribución de los datos (SGBD homogéneo y distribuido), el caso se generaliza. Esto es lo más interesante, la distribución de los datos más allá de la heterogeneidad y la autonomía de los SGBDs.</a:t>
            </a:r>
            <a:endParaRPr b="0" i="0" sz="2000" u="none" strike="noStrike">
              <a:solidFill>
                <a:schemeClr val="dk1"/>
              </a:solidFill>
              <a:latin typeface="Times New Roman"/>
              <a:ea typeface="Times New Roman"/>
              <a:cs typeface="Times New Roman"/>
              <a:sym typeface="Times New Roman"/>
            </a:endParaRPr>
          </a:p>
          <a:p>
            <a:pPr indent="-158750" lvl="0" marL="285750" marR="0" rtl="0" algn="just">
              <a:lnSpc>
                <a:spcPct val="150000"/>
              </a:lnSpc>
              <a:spcBef>
                <a:spcPts val="0"/>
              </a:spcBef>
              <a:spcAft>
                <a:spcPts val="0"/>
              </a:spcAft>
              <a:buClr>
                <a:schemeClr val="dk1"/>
              </a:buClr>
              <a:buSzPts val="2000"/>
              <a:buFont typeface="Arial"/>
              <a:buNone/>
            </a:pPr>
            <a:r>
              <a:t/>
            </a:r>
            <a:endParaRPr b="0" i="0" sz="2000" u="none" strike="noStrike">
              <a:solidFill>
                <a:schemeClr val="dk1"/>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Times New Roman"/>
                <a:ea typeface="Times New Roman"/>
                <a:cs typeface="Times New Roman"/>
                <a:sym typeface="Times New Roman"/>
              </a:rPr>
              <a:t>En un grado intermedio de autonomía están los denominados sistemas federados (SGBD federado heterogéneo en una sede, SGBD federado heterogéneo y distribuido y SGBD federado homogéneo y distribuido), de forma que existe una cooperación entre los SGBDs implicados en la ejecución de las solicitudes de usuarios a los datos de la BDD.</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2"/>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52"/>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Sistemas Gestores de Bases de Datos Distribuidas (SGBDD)</a:t>
            </a:r>
            <a:endParaRPr sz="1800">
              <a:solidFill>
                <a:schemeClr val="dk1"/>
              </a:solidFill>
              <a:latin typeface="Arial"/>
              <a:ea typeface="Arial"/>
              <a:cs typeface="Arial"/>
              <a:sym typeface="Arial"/>
            </a:endParaRPr>
          </a:p>
        </p:txBody>
      </p:sp>
      <p:sp>
        <p:nvSpPr>
          <p:cNvPr id="497" name="Google Shape;497;p5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498" name="Google Shape;498;p52"/>
          <p:cNvSpPr txBox="1"/>
          <p:nvPr/>
        </p:nvSpPr>
        <p:spPr>
          <a:xfrm>
            <a:off x="249998" y="930429"/>
            <a:ext cx="11408601" cy="66120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s-ES" sz="2800">
                <a:solidFill>
                  <a:schemeClr val="dk1"/>
                </a:solidFill>
                <a:latin typeface="Times New Roman"/>
                <a:ea typeface="Times New Roman"/>
                <a:cs typeface="Times New Roman"/>
                <a:sym typeface="Times New Roman"/>
              </a:rPr>
              <a:t>Lectura del gráfico anterior</a:t>
            </a:r>
            <a:endParaRPr/>
          </a:p>
        </p:txBody>
      </p:sp>
      <p:sp>
        <p:nvSpPr>
          <p:cNvPr id="499" name="Google Shape;499;p52"/>
          <p:cNvSpPr txBox="1"/>
          <p:nvPr/>
        </p:nvSpPr>
        <p:spPr>
          <a:xfrm>
            <a:off x="761524" y="1839481"/>
            <a:ext cx="10668952" cy="4191981"/>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Si la autonomía es total (sistema multibase heterogéneo, sistema multibase heterogéneo y distribuido y sistema multibase homogéneo y distribuido) se obtienen sistemas de bases de datos múltiples (SMBD).</a:t>
            </a:r>
            <a:endParaRPr b="0" i="0" sz="2000" u="none" strike="noStrike">
              <a:solidFill>
                <a:schemeClr val="dk1"/>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Times New Roman"/>
                <a:ea typeface="Times New Roman"/>
                <a:cs typeface="Times New Roman"/>
                <a:sym typeface="Times New Roman"/>
              </a:rPr>
              <a:t>Sin la heterogeneidad (sistemas multibase homogéneos y distribuidos) o distribución (multibase heterogéneo) un sistema multibase es una colección de BDs autónomas interconectadas.</a:t>
            </a:r>
            <a:endParaRPr/>
          </a:p>
          <a:p>
            <a:pPr indent="-285750" lvl="0" marL="285750" marR="0" rtl="0" algn="just">
              <a:lnSpc>
                <a:spcPct val="150000"/>
              </a:lnSpc>
              <a:spcBef>
                <a:spcPts val="0"/>
              </a:spcBef>
              <a:spcAft>
                <a:spcPts val="0"/>
              </a:spcAft>
              <a:buClr>
                <a:schemeClr val="dk1"/>
              </a:buClr>
              <a:buSzPts val="2000"/>
              <a:buFont typeface="Arial"/>
              <a:buChar char="•"/>
            </a:pPr>
            <a:r>
              <a:rPr lang="es-ES" sz="2000">
                <a:solidFill>
                  <a:schemeClr val="dk1"/>
                </a:solidFill>
                <a:latin typeface="Times New Roman"/>
                <a:ea typeface="Times New Roman"/>
                <a:cs typeface="Times New Roman"/>
                <a:sym typeface="Times New Roman"/>
              </a:rPr>
              <a:t>Si la BD está distribuida (sistema multibase heterogéneo y distribuido, sistema multibase homogéneo distribuido) resulta un sistema gestor multibase distribuido que requiere una gestión bastante diferente de la de un SGBDD. Esto es porque la autonomía es el factor determinante en el diseño de un sistema gestor multibase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3"/>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53"/>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Diseño de Base de Datos Distribuidas</a:t>
            </a:r>
            <a:endParaRPr sz="1800">
              <a:solidFill>
                <a:schemeClr val="dk1"/>
              </a:solidFill>
              <a:latin typeface="Arial"/>
              <a:ea typeface="Arial"/>
              <a:cs typeface="Arial"/>
              <a:sym typeface="Arial"/>
            </a:endParaRPr>
          </a:p>
        </p:txBody>
      </p:sp>
      <p:sp>
        <p:nvSpPr>
          <p:cNvPr id="506" name="Google Shape;506;p5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07" name="Google Shape;507;p53"/>
          <p:cNvSpPr txBox="1"/>
          <p:nvPr/>
        </p:nvSpPr>
        <p:spPr>
          <a:xfrm>
            <a:off x="533400" y="1219200"/>
            <a:ext cx="10838496" cy="445795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En el diseño de las BDD, una cuestión clave es la distribución de los datos. El encargado de esta tarea es el DBA, el cual establece en tiempo de diseño el modelo de distribución de los datos. Esta definición es progresiva, de acuerdo a la evolución de la BD y al modo en que el SGBD resuelve:</a:t>
            </a:r>
            <a:endParaRPr/>
          </a:p>
          <a:p>
            <a:pPr indent="0" lvl="0" marL="0" marR="0" rtl="0" algn="just">
              <a:lnSpc>
                <a:spcPct val="150000"/>
              </a:lnSpc>
              <a:spcBef>
                <a:spcPts val="0"/>
              </a:spcBef>
              <a:spcAft>
                <a:spcPts val="0"/>
              </a:spcAft>
              <a:buNone/>
            </a:pPr>
            <a:r>
              <a:t/>
            </a:r>
            <a:endParaRPr b="0" i="0" sz="2400" u="none" strike="noStrike">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chemeClr val="dk1"/>
              </a:buClr>
              <a:buSzPts val="2400"/>
              <a:buFont typeface="Arial"/>
              <a:buChar char="•"/>
            </a:pPr>
            <a:r>
              <a:rPr b="0" i="0" lang="es-ES" sz="2400" u="none" strike="noStrike">
                <a:solidFill>
                  <a:schemeClr val="dk1"/>
                </a:solidFill>
                <a:latin typeface="Times New Roman"/>
                <a:ea typeface="Times New Roman"/>
                <a:cs typeface="Times New Roman"/>
                <a:sym typeface="Times New Roman"/>
              </a:rPr>
              <a:t>La distribución de las funciones</a:t>
            </a:r>
            <a:endParaRPr/>
          </a:p>
          <a:p>
            <a:pPr indent="-342900" lvl="0" marL="342900" marR="0" rtl="0" algn="just">
              <a:lnSpc>
                <a:spcPct val="150000"/>
              </a:lnSpc>
              <a:spcBef>
                <a:spcPts val="0"/>
              </a:spcBef>
              <a:spcAft>
                <a:spcPts val="0"/>
              </a:spcAft>
              <a:buClr>
                <a:schemeClr val="dk1"/>
              </a:buClr>
              <a:buSzPts val="2400"/>
              <a:buFont typeface="Arial"/>
              <a:buChar char="•"/>
            </a:pPr>
            <a:r>
              <a:rPr b="0" i="0" lang="es-ES" sz="2400" u="none" strike="noStrike">
                <a:solidFill>
                  <a:schemeClr val="dk1"/>
                </a:solidFill>
                <a:latin typeface="Times New Roman"/>
                <a:ea typeface="Times New Roman"/>
                <a:cs typeface="Times New Roman"/>
                <a:sym typeface="Times New Roman"/>
              </a:rPr>
              <a:t>La sincronización de las operaciones</a:t>
            </a:r>
            <a:endParaRPr/>
          </a:p>
          <a:p>
            <a:pPr indent="-342900" lvl="0" marL="342900" marR="0" rtl="0" algn="just">
              <a:lnSpc>
                <a:spcPct val="150000"/>
              </a:lnSpc>
              <a:spcBef>
                <a:spcPts val="0"/>
              </a:spcBef>
              <a:spcAft>
                <a:spcPts val="0"/>
              </a:spcAft>
              <a:buClr>
                <a:schemeClr val="dk1"/>
              </a:buClr>
              <a:buSzPts val="2400"/>
              <a:buFont typeface="Arial"/>
              <a:buChar char="•"/>
            </a:pPr>
            <a:r>
              <a:rPr b="0" i="0" lang="es-ES" sz="2400" u="none" strike="noStrike">
                <a:solidFill>
                  <a:schemeClr val="dk1"/>
                </a:solidFill>
                <a:latin typeface="Times New Roman"/>
                <a:ea typeface="Times New Roman"/>
                <a:cs typeface="Times New Roman"/>
                <a:sym typeface="Times New Roman"/>
              </a:rPr>
              <a:t>La descomposición de las consultas</a:t>
            </a:r>
            <a:endParaRPr b="0" i="0" sz="2400" u="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4"/>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5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14" name="Google Shape;514;p54"/>
          <p:cNvSpPr txBox="1"/>
          <p:nvPr/>
        </p:nvSpPr>
        <p:spPr>
          <a:xfrm>
            <a:off x="342900" y="1110306"/>
            <a:ext cx="11506200" cy="49421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000" u="none" strike="noStrike">
                <a:solidFill>
                  <a:schemeClr val="dk1"/>
                </a:solidFill>
                <a:latin typeface="Times New Roman"/>
                <a:ea typeface="Times New Roman"/>
                <a:cs typeface="Times New Roman"/>
                <a:sym typeface="Times New Roman"/>
              </a:rPr>
              <a:t>Algebra relacional</a:t>
            </a:r>
            <a:endParaRPr/>
          </a:p>
          <a:p>
            <a:pPr indent="0" lvl="0" marL="0" marR="0" rtl="0" algn="just">
              <a:lnSpc>
                <a:spcPct val="150000"/>
              </a:lnSpc>
              <a:spcBef>
                <a:spcPts val="0"/>
              </a:spcBef>
              <a:spcAft>
                <a:spcPts val="0"/>
              </a:spcAft>
              <a:buNone/>
            </a:pPr>
            <a:r>
              <a:t/>
            </a:r>
            <a:endParaRPr b="1" i="0" sz="2000" u="none" strike="noStrike">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Es un conjunto de operaciones que describen paso a paso cómo computar una respuesta sobre las relaciones, tal y como éstas son definidas en el modelo relacional.</a:t>
            </a:r>
            <a:endParaRPr/>
          </a:p>
          <a:p>
            <a:pPr indent="-104775" lvl="0" marL="171450" marR="0" rtl="0" algn="just">
              <a:lnSpc>
                <a:spcPct val="150000"/>
              </a:lnSpc>
              <a:spcBef>
                <a:spcPts val="0"/>
              </a:spcBef>
              <a:spcAft>
                <a:spcPts val="0"/>
              </a:spcAft>
              <a:buClr>
                <a:schemeClr val="dk1"/>
              </a:buClr>
              <a:buSzPts val="1050"/>
              <a:buFont typeface="Arial"/>
              <a:buNone/>
            </a:pPr>
            <a:r>
              <a:t/>
            </a:r>
            <a:endParaRPr b="0" i="0" sz="1050" u="none" strike="noStrike">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Denominada de tipo procedimental.</a:t>
            </a:r>
            <a:endParaRPr/>
          </a:p>
          <a:p>
            <a:pPr indent="-107950" lvl="0" marL="171450" marR="0" rtl="0" algn="just">
              <a:lnSpc>
                <a:spcPct val="150000"/>
              </a:lnSpc>
              <a:spcBef>
                <a:spcPts val="0"/>
              </a:spcBef>
              <a:spcAft>
                <a:spcPts val="0"/>
              </a:spcAft>
              <a:buClr>
                <a:schemeClr val="dk1"/>
              </a:buClr>
              <a:buSzPts val="1000"/>
              <a:buFont typeface="Arial"/>
              <a:buNone/>
            </a:pPr>
            <a:r>
              <a:t/>
            </a:r>
            <a:endParaRPr b="0" i="0" sz="1000" u="none" strike="noStrike">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Describe el aspecto de la manipulación de datos.</a:t>
            </a:r>
            <a:endParaRPr/>
          </a:p>
          <a:p>
            <a:pPr indent="-107950" lvl="0" marL="171450" marR="0" rtl="0" algn="just">
              <a:lnSpc>
                <a:spcPct val="150000"/>
              </a:lnSpc>
              <a:spcBef>
                <a:spcPts val="0"/>
              </a:spcBef>
              <a:spcAft>
                <a:spcPts val="0"/>
              </a:spcAft>
              <a:buClr>
                <a:schemeClr val="dk1"/>
              </a:buClr>
              <a:buSzPts val="1000"/>
              <a:buFont typeface="Arial"/>
              <a:buNone/>
            </a:pPr>
            <a:r>
              <a:t/>
            </a:r>
            <a:endParaRPr b="0" i="0" sz="1000" u="none" strike="noStrike">
              <a:solidFill>
                <a:schemeClr val="dk1"/>
              </a:solidFill>
              <a:latin typeface="Times New Roman"/>
              <a:ea typeface="Times New Roman"/>
              <a:cs typeface="Times New Roman"/>
              <a:sym typeface="Times New Roman"/>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Estas operaciones se usan como una representación intermedia de una consulta a una base de datos y, debido a sus propiedades algebraicas, sirven para obtener una versión más optimizada y eficiente de</a:t>
            </a:r>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dicha consulta.</a:t>
            </a:r>
            <a:endParaRPr/>
          </a:p>
        </p:txBody>
      </p:sp>
      <p:sp>
        <p:nvSpPr>
          <p:cNvPr id="515" name="Google Shape;515;p54"/>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Diseño de Base de Datos Distribuidas - Definiciones</a:t>
            </a:r>
            <a:endParaRPr sz="18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5"/>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55"/>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Diseño de Base de Datos Distribuidas - Definiciones</a:t>
            </a:r>
            <a:endParaRPr sz="1800">
              <a:solidFill>
                <a:schemeClr val="dk1"/>
              </a:solidFill>
              <a:latin typeface="Arial"/>
              <a:ea typeface="Arial"/>
              <a:cs typeface="Arial"/>
              <a:sym typeface="Arial"/>
            </a:endParaRPr>
          </a:p>
        </p:txBody>
      </p:sp>
      <p:sp>
        <p:nvSpPr>
          <p:cNvPr id="522" name="Google Shape;522;p5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23" name="Google Shape;523;p55"/>
          <p:cNvSpPr txBox="1"/>
          <p:nvPr/>
        </p:nvSpPr>
        <p:spPr>
          <a:xfrm>
            <a:off x="342900" y="1110306"/>
            <a:ext cx="11506200" cy="142199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000" u="none" strike="noStrike">
                <a:solidFill>
                  <a:schemeClr val="dk1"/>
                </a:solidFill>
                <a:latin typeface="Times New Roman"/>
                <a:ea typeface="Times New Roman"/>
                <a:cs typeface="Times New Roman"/>
                <a:sym typeface="Times New Roman"/>
              </a:rPr>
              <a:t>JOIN</a:t>
            </a:r>
            <a:endParaRPr/>
          </a:p>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La sentencia join en SQL permite combinar registros de dos o más tablas en una base de datos relacional. Para hacer un join es necesario que exista un campo que relacione los datos de cada tabla.</a:t>
            </a:r>
            <a:endParaRPr/>
          </a:p>
        </p:txBody>
      </p:sp>
      <p:sp>
        <p:nvSpPr>
          <p:cNvPr id="524" name="Google Shape;524;p55"/>
          <p:cNvSpPr txBox="1"/>
          <p:nvPr/>
        </p:nvSpPr>
        <p:spPr>
          <a:xfrm>
            <a:off x="342900" y="2667000"/>
            <a:ext cx="11506200" cy="142199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000" u="none" strike="noStrike">
                <a:solidFill>
                  <a:schemeClr val="dk1"/>
                </a:solidFill>
                <a:latin typeface="Times New Roman"/>
                <a:ea typeface="Times New Roman"/>
                <a:cs typeface="Times New Roman"/>
                <a:sym typeface="Times New Roman"/>
              </a:rPr>
              <a:t>SEMI-JOIN</a:t>
            </a:r>
            <a:endParaRPr/>
          </a:p>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También conocida como semi-combinación. Opera de la misma manera que un join, pero la relación resultante sólo tiene los atributos de la primera tabla.</a:t>
            </a:r>
            <a:endParaRPr/>
          </a:p>
        </p:txBody>
      </p:sp>
      <p:sp>
        <p:nvSpPr>
          <p:cNvPr id="525" name="Google Shape;525;p55"/>
          <p:cNvSpPr txBox="1"/>
          <p:nvPr/>
        </p:nvSpPr>
        <p:spPr>
          <a:xfrm>
            <a:off x="342900" y="4264440"/>
            <a:ext cx="11506200" cy="188365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000" u="none" strike="noStrike">
                <a:solidFill>
                  <a:schemeClr val="dk1"/>
                </a:solidFill>
                <a:latin typeface="Times New Roman"/>
                <a:ea typeface="Times New Roman"/>
                <a:cs typeface="Times New Roman"/>
                <a:sym typeface="Times New Roman"/>
              </a:rPr>
              <a:t>UNION</a:t>
            </a:r>
            <a:endParaRPr/>
          </a:p>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La sentencia union en SQL permite combinar los resultados de dos consultas SQL en una tabla única de todas las filas coincidentes. Las dos consultas deben tener el mismo número de columnas y tipos de datos compatibles para unir. Cualquier registro duplicado se elimina automáticamente si se usa UNION ALL.</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6"/>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56"/>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Diseño de Base de Datos Distribuidas</a:t>
            </a:r>
            <a:endParaRPr sz="1800">
              <a:solidFill>
                <a:schemeClr val="dk1"/>
              </a:solidFill>
              <a:latin typeface="Arial"/>
              <a:ea typeface="Arial"/>
              <a:cs typeface="Arial"/>
              <a:sym typeface="Arial"/>
            </a:endParaRPr>
          </a:p>
        </p:txBody>
      </p:sp>
      <p:sp>
        <p:nvSpPr>
          <p:cNvPr id="532" name="Google Shape;532;p5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33" name="Google Shape;533;p56"/>
          <p:cNvSpPr txBox="1"/>
          <p:nvPr/>
        </p:nvSpPr>
        <p:spPr>
          <a:xfrm>
            <a:off x="342900" y="1002623"/>
            <a:ext cx="11506200" cy="523072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sng" strike="noStrike">
                <a:solidFill>
                  <a:srgbClr val="FF0000"/>
                </a:solidFill>
                <a:latin typeface="Times New Roman"/>
                <a:ea typeface="Times New Roman"/>
                <a:cs typeface="Times New Roman"/>
                <a:sym typeface="Times New Roman"/>
              </a:rPr>
              <a:t>Alternativas de Diseño</a:t>
            </a:r>
            <a:endParaRPr/>
          </a:p>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En todo proceso de diseño hay dos aproximaciones básicas</a:t>
            </a:r>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la ascendente o Top-Down</a:t>
            </a:r>
            <a:endParaRPr/>
          </a:p>
          <a:p>
            <a:pPr indent="-342900" lvl="0" marL="342900" marR="0" rtl="0" algn="just">
              <a:lnSpc>
                <a:spcPct val="150000"/>
              </a:lnSpc>
              <a:spcBef>
                <a:spcPts val="0"/>
              </a:spcBef>
              <a:spcAft>
                <a:spcPts val="0"/>
              </a:spcAft>
              <a:buClr>
                <a:schemeClr val="dk1"/>
              </a:buClr>
              <a:buSzPts val="2000"/>
              <a:buFont typeface="Arial"/>
              <a:buChar char="•"/>
            </a:pPr>
            <a:r>
              <a:rPr b="0" i="0" lang="es-ES" sz="2000" u="none" strike="noStrike">
                <a:solidFill>
                  <a:schemeClr val="dk1"/>
                </a:solidFill>
                <a:latin typeface="Times New Roman"/>
                <a:ea typeface="Times New Roman"/>
                <a:cs typeface="Times New Roman"/>
                <a:sym typeface="Times New Roman"/>
              </a:rPr>
              <a:t>la descendente o Bottom-Up</a:t>
            </a:r>
            <a:endParaRPr/>
          </a:p>
          <a:p>
            <a:pPr indent="-276225" lvl="0" marL="342900" marR="0" rtl="0" algn="just">
              <a:lnSpc>
                <a:spcPct val="150000"/>
              </a:lnSpc>
              <a:spcBef>
                <a:spcPts val="0"/>
              </a:spcBef>
              <a:spcAft>
                <a:spcPts val="0"/>
              </a:spcAft>
              <a:buClr>
                <a:schemeClr val="dk1"/>
              </a:buClr>
              <a:buSzPts val="1050"/>
              <a:buFont typeface="Arial"/>
              <a:buNone/>
            </a:pPr>
            <a:r>
              <a:t/>
            </a:r>
            <a:endParaRPr b="0" i="0" sz="105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i="0" lang="es-ES" sz="2000" u="none" strike="noStrike">
                <a:solidFill>
                  <a:schemeClr val="dk1"/>
                </a:solidFill>
                <a:latin typeface="Times New Roman"/>
                <a:ea typeface="Times New Roman"/>
                <a:cs typeface="Times New Roman"/>
                <a:sym typeface="Times New Roman"/>
              </a:rPr>
              <a:t>El diseño ascendente </a:t>
            </a:r>
            <a:r>
              <a:rPr b="0" i="0" lang="es-ES" sz="2000" u="none" strike="noStrike">
                <a:solidFill>
                  <a:schemeClr val="dk1"/>
                </a:solidFill>
                <a:latin typeface="Times New Roman"/>
                <a:ea typeface="Times New Roman"/>
                <a:cs typeface="Times New Roman"/>
                <a:sym typeface="Times New Roman"/>
              </a:rPr>
              <a:t>se utiliza, cuando se crea un BDD a partir de varias BBDD locales existentes. Se parte de varios esquemas lógicos locales (ELL) con ubicaciones diferentes que se integran en un único esquema lógico global (ELG).</a:t>
            </a:r>
            <a:endParaRPr/>
          </a:p>
          <a:p>
            <a:pPr indent="0" lvl="0" marL="0" marR="0" rtl="0" algn="just">
              <a:lnSpc>
                <a:spcPct val="150000"/>
              </a:lnSpc>
              <a:spcBef>
                <a:spcPts val="0"/>
              </a:spcBef>
              <a:spcAft>
                <a:spcPts val="0"/>
              </a:spcAft>
              <a:buNone/>
            </a:pPr>
            <a:r>
              <a:t/>
            </a:r>
            <a:endParaRPr b="0" i="0" sz="105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i="0" lang="es-ES" sz="2000" u="none" strike="noStrike">
                <a:solidFill>
                  <a:schemeClr val="dk1"/>
                </a:solidFill>
                <a:latin typeface="Times New Roman"/>
                <a:ea typeface="Times New Roman"/>
                <a:cs typeface="Times New Roman"/>
                <a:sym typeface="Times New Roman"/>
              </a:rPr>
              <a:t>El diseño descendente </a:t>
            </a:r>
            <a:r>
              <a:rPr b="0" i="0" lang="es-ES" sz="2000" u="none" strike="noStrike">
                <a:solidFill>
                  <a:schemeClr val="dk1"/>
                </a:solidFill>
                <a:latin typeface="Times New Roman"/>
                <a:ea typeface="Times New Roman"/>
                <a:cs typeface="Times New Roman"/>
                <a:sym typeface="Times New Roman"/>
              </a:rPr>
              <a:t>parte de un ELG y construye varios ELL definidos a partir de esquemas de fragmentación, asignación y replicación que determinan la distribución de los datos en los distintos nodos de la red.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7"/>
          <p:cNvSpPr/>
          <p:nvPr/>
        </p:nvSpPr>
        <p:spPr>
          <a:xfrm>
            <a:off x="0" y="304801"/>
            <a:ext cx="8915400"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57"/>
          <p:cNvSpPr txBox="1"/>
          <p:nvPr/>
        </p:nvSpPr>
        <p:spPr>
          <a:xfrm>
            <a:off x="239076" y="440799"/>
            <a:ext cx="8600123"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1800">
                <a:solidFill>
                  <a:srgbClr val="FFFFFF"/>
                </a:solidFill>
                <a:latin typeface="Arial"/>
                <a:ea typeface="Arial"/>
                <a:cs typeface="Arial"/>
                <a:sym typeface="Arial"/>
              </a:rPr>
              <a:t>Diseño de Base de Datos Distribuidas</a:t>
            </a:r>
            <a:endParaRPr sz="1800">
              <a:solidFill>
                <a:schemeClr val="dk1"/>
              </a:solidFill>
              <a:latin typeface="Arial"/>
              <a:ea typeface="Arial"/>
              <a:cs typeface="Arial"/>
              <a:sym typeface="Arial"/>
            </a:endParaRPr>
          </a:p>
        </p:txBody>
      </p:sp>
      <p:sp>
        <p:nvSpPr>
          <p:cNvPr id="540" name="Google Shape;540;p5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41" name="Google Shape;541;p57"/>
          <p:cNvSpPr txBox="1"/>
          <p:nvPr/>
        </p:nvSpPr>
        <p:spPr>
          <a:xfrm>
            <a:off x="342900" y="1353846"/>
            <a:ext cx="11506200" cy="39039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s-ES" sz="2400" u="sng" strike="noStrike">
                <a:solidFill>
                  <a:srgbClr val="FF0000"/>
                </a:solidFill>
                <a:latin typeface="Times New Roman"/>
                <a:ea typeface="Times New Roman"/>
                <a:cs typeface="Times New Roman"/>
                <a:sym typeface="Times New Roman"/>
              </a:rPr>
              <a:t>Fragmentación</a:t>
            </a:r>
            <a:endParaRPr/>
          </a:p>
          <a:p>
            <a:pPr indent="0" lvl="0" marL="0" marR="0" rtl="0" algn="just">
              <a:lnSpc>
                <a:spcPct val="150000"/>
              </a:lnSpc>
              <a:spcBef>
                <a:spcPts val="0"/>
              </a:spcBef>
              <a:spcAft>
                <a:spcPts val="0"/>
              </a:spcAft>
              <a:buNone/>
            </a:pPr>
            <a:r>
              <a:t/>
            </a:r>
            <a:endParaRPr b="1" i="0" sz="2400" u="sng" strike="noStrike">
              <a:solidFill>
                <a:srgbClr val="FF00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s-ES" sz="2400" u="none" strike="noStrike">
                <a:solidFill>
                  <a:schemeClr val="dk1"/>
                </a:solidFill>
                <a:latin typeface="Times New Roman"/>
                <a:ea typeface="Times New Roman"/>
                <a:cs typeface="Times New Roman"/>
                <a:sym typeface="Times New Roman"/>
              </a:rPr>
              <a:t>La fragmentación es un conjunto de técnicas para dividir la BD en unidades lógicas, llamadas fragmentos, cuyo almacenamiento puede asignarse a los diversos sitios. Estas técnicas se utilizan durante el proceso de diseño de BDD. La información concerniente a la fragmentación de los datos se almacena en un catálogo global del sistema al que tiene acceso el software cliente cuando es necesario.</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8"/>
          <p:cNvSpPr txBox="1"/>
          <p:nvPr/>
        </p:nvSpPr>
        <p:spPr>
          <a:xfrm>
            <a:off x="1676400" y="1295400"/>
            <a:ext cx="7885303" cy="1890902"/>
          </a:xfrm>
          <a:prstGeom prst="rect">
            <a:avLst/>
          </a:prstGeom>
          <a:noFill/>
          <a:ln>
            <a:noFill/>
          </a:ln>
        </p:spPr>
        <p:txBody>
          <a:bodyPr anchorCtr="0" anchor="t" bIns="0" lIns="0" spcFirstLastPara="1" rIns="0" wrap="square" tIns="43800">
            <a:spAutoFit/>
          </a:bodyPr>
          <a:lstStyle/>
          <a:p>
            <a:pPr indent="-445770" lvl="0" marL="457834" marR="5080" rtl="0" algn="just">
              <a:spcBef>
                <a:spcPts val="0"/>
              </a:spcBef>
              <a:spcAft>
                <a:spcPts val="0"/>
              </a:spcAft>
              <a:buNone/>
            </a:pPr>
            <a:r>
              <a:rPr b="1" lang="es-ES" sz="4000">
                <a:solidFill>
                  <a:schemeClr val="dk1"/>
                </a:solidFill>
                <a:latin typeface="Arial"/>
                <a:ea typeface="Arial"/>
                <a:cs typeface="Arial"/>
                <a:sym typeface="Arial"/>
              </a:rPr>
              <a:t>¿Les parece que se ha aplicado bien el  </a:t>
            </a:r>
            <a:r>
              <a:rPr b="1" lang="es-ES" sz="4000">
                <a:solidFill>
                  <a:srgbClr val="FF0000"/>
                </a:solidFill>
                <a:latin typeface="Arial"/>
                <a:ea typeface="Arial"/>
                <a:cs typeface="Arial"/>
                <a:sym typeface="Arial"/>
              </a:rPr>
              <a:t>diseño de base de datos distribuidas</a:t>
            </a:r>
            <a:r>
              <a:rPr b="1" lang="es-ES" sz="4000">
                <a:solidFill>
                  <a:schemeClr val="dk1"/>
                </a:solidFill>
                <a:latin typeface="Arial"/>
                <a:ea typeface="Arial"/>
                <a:cs typeface="Arial"/>
                <a:sym typeface="Arial"/>
              </a:rPr>
              <a:t>? ¿Por qué?</a:t>
            </a:r>
            <a:endParaRPr sz="4000">
              <a:solidFill>
                <a:schemeClr val="dk1"/>
              </a:solidFill>
              <a:latin typeface="Arial"/>
              <a:ea typeface="Arial"/>
              <a:cs typeface="Arial"/>
              <a:sym typeface="Arial"/>
            </a:endParaRPr>
          </a:p>
        </p:txBody>
      </p:sp>
      <p:pic>
        <p:nvPicPr>
          <p:cNvPr id="547" name="Google Shape;547;p58"/>
          <p:cNvPicPr preferRelativeResize="0"/>
          <p:nvPr/>
        </p:nvPicPr>
        <p:blipFill rotWithShape="1">
          <a:blip r:embed="rId3">
            <a:alphaModFix/>
          </a:blip>
          <a:srcRect b="0" l="0" r="0" t="0"/>
          <a:stretch/>
        </p:blipFill>
        <p:spPr>
          <a:xfrm>
            <a:off x="5334000" y="4038600"/>
            <a:ext cx="1524000" cy="1524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9"/>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59"/>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ES">
                <a:solidFill>
                  <a:schemeClr val="lt1"/>
                </a:solidFill>
                <a:latin typeface="Rubik"/>
                <a:ea typeface="Rubik"/>
                <a:cs typeface="Rubik"/>
                <a:sym typeface="Rubik"/>
              </a:rPr>
              <a:t>Caso práctico</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6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6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560" name="Google Shape;560;p6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561" name="Google Shape;561;p60"/>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562" name="Google Shape;562;p60"/>
          <p:cNvSpPr txBox="1"/>
          <p:nvPr/>
        </p:nvSpPr>
        <p:spPr>
          <a:xfrm>
            <a:off x="342900" y="1143000"/>
            <a:ext cx="11506200" cy="497136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s-ES" sz="2000" u="none" strike="noStrike">
                <a:solidFill>
                  <a:schemeClr val="dk1"/>
                </a:solidFill>
                <a:latin typeface="Times New Roman"/>
                <a:ea typeface="Times New Roman"/>
                <a:cs typeface="Times New Roman"/>
                <a:sym typeface="Times New Roman"/>
              </a:rPr>
              <a:t>A continuación, se expone el caso práctico elegido para llevar a cabo el análisis, el diseño y la implantación de un sistema de BDD dando autonomía a cada una de las sedes:</a:t>
            </a:r>
            <a:endParaRPr/>
          </a:p>
          <a:p>
            <a:pPr indent="0" lvl="0" marL="0" marR="0" rtl="0" algn="just">
              <a:lnSpc>
                <a:spcPct val="150000"/>
              </a:lnSpc>
              <a:spcBef>
                <a:spcPts val="0"/>
              </a:spcBef>
              <a:spcAft>
                <a:spcPts val="0"/>
              </a:spcAft>
              <a:buNone/>
            </a:pPr>
            <a:r>
              <a:t/>
            </a:r>
            <a:endParaRPr b="0" i="0" sz="200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1" lang="es-ES" sz="2200" u="none" strike="noStrike">
                <a:solidFill>
                  <a:schemeClr val="dk1"/>
                </a:solidFill>
                <a:latin typeface="Times New Roman"/>
                <a:ea typeface="Times New Roman"/>
                <a:cs typeface="Times New Roman"/>
                <a:sym typeface="Times New Roman"/>
              </a:rPr>
              <a:t>“La UTP tiene en la actualidad dos campus distribuidos en las siguientes poblaciones de la provincia de Lima: Los Olivos y Centro de Lima. Esta ampliación ha repercutido en los sistemas informáticos de la Universidad llevándose a cabo el tendido de una red para unir los dos campus y ahora se baraja la posibilidad de diseñar una BDD, actualmente centralizada en Los Olivos e implantada sobre un SGBD SQL Server, para manejar de forma autónoma información sobre las titulaciones ofertadas. Sin embargo, la sede de Centro de Lima hace unos meses adquirió unas licencias de Oracle y la implantación de la BD se haría sobre este gestor.</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6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569" name="Google Shape;569;p6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570" name="Google Shape;570;p61"/>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571" name="Google Shape;571;p61"/>
          <p:cNvSpPr txBox="1"/>
          <p:nvPr/>
        </p:nvSpPr>
        <p:spPr>
          <a:xfrm>
            <a:off x="342900" y="1143000"/>
            <a:ext cx="11506200" cy="455586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t/>
            </a:r>
            <a:endParaRPr b="0" i="0" sz="200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1" lang="es-ES" sz="2200" u="none" strike="noStrike">
                <a:solidFill>
                  <a:schemeClr val="dk1"/>
                </a:solidFill>
                <a:latin typeface="Times New Roman"/>
                <a:ea typeface="Times New Roman"/>
                <a:cs typeface="Times New Roman"/>
                <a:sym typeface="Times New Roman"/>
              </a:rPr>
              <a:t>En cada uno de los campus se quiere crear un departamento para la gestión de las distintas titulaciones impartidas en dicho campus, además de manejar los datos acerca de los cursos de los que consta cada una de ellas y los grupos que forman parte de estos cursos. En este departamento también se desea guardar información de los profesores (nombre, e-mail y número de despacho) que imparte clases en cada uno de los campus.</a:t>
            </a:r>
            <a:endParaRPr/>
          </a:p>
          <a:p>
            <a:pPr indent="0" lvl="0" marL="0" marR="0" rtl="0" algn="just">
              <a:lnSpc>
                <a:spcPct val="150000"/>
              </a:lnSpc>
              <a:spcBef>
                <a:spcPts val="0"/>
              </a:spcBef>
              <a:spcAft>
                <a:spcPts val="0"/>
              </a:spcAft>
              <a:buNone/>
            </a:pPr>
            <a:r>
              <a:t/>
            </a:r>
            <a:endParaRPr b="0" i="1" sz="2200" u="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1" lang="es-ES" sz="2200" u="none" strike="noStrike">
                <a:solidFill>
                  <a:schemeClr val="dk1"/>
                </a:solidFill>
                <a:latin typeface="Times New Roman"/>
                <a:ea typeface="Times New Roman"/>
                <a:cs typeface="Times New Roman"/>
                <a:sym typeface="Times New Roman"/>
              </a:rPr>
              <a:t>El departamento de gestión de nóminas y contratación del profesorado se mantendrá en Los Olivos.”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6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Nombre de la sesión</a:t>
            </a:r>
            <a:endParaRPr sz="2400">
              <a:solidFill>
                <a:schemeClr val="dk1"/>
              </a:solidFill>
              <a:latin typeface="Arial"/>
              <a:ea typeface="Arial"/>
              <a:cs typeface="Arial"/>
              <a:sym typeface="Arial"/>
            </a:endParaRPr>
          </a:p>
        </p:txBody>
      </p:sp>
      <p:sp>
        <p:nvSpPr>
          <p:cNvPr id="578" name="Google Shape;578;p6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579" name="Google Shape;579;p62"/>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580" name="Google Shape;580;p62"/>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581" name="Google Shape;581;p62"/>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6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Nombre de la sesión</a:t>
            </a:r>
            <a:endParaRPr sz="2400">
              <a:solidFill>
                <a:schemeClr val="dk1"/>
              </a:solidFill>
              <a:latin typeface="Arial"/>
              <a:ea typeface="Arial"/>
              <a:cs typeface="Arial"/>
              <a:sym typeface="Arial"/>
            </a:endParaRPr>
          </a:p>
        </p:txBody>
      </p:sp>
      <p:sp>
        <p:nvSpPr>
          <p:cNvPr id="588" name="Google Shape;588;p6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89" name="Google Shape;589;p63"/>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590" name="Google Shape;590;p63"/>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591" name="Google Shape;591;p63"/>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6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598" name="Google Shape;598;p6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599" name="Google Shape;599;p64"/>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600" name="Google Shape;600;p64"/>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6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607" name="Google Shape;607;p6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08" name="Google Shape;608;p65"/>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609" name="Google Shape;609;p65"/>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6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616" name="Google Shape;616;p6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617" name="Google Shape;617;p66"/>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618" name="Google Shape;618;p66"/>
          <p:cNvSpPr txBox="1"/>
          <p:nvPr/>
        </p:nvSpPr>
        <p:spPr>
          <a:xfrm>
            <a:off x="1055948" y="1690498"/>
            <a:ext cx="10080101" cy="1890902"/>
          </a:xfrm>
          <a:prstGeom prst="rect">
            <a:avLst/>
          </a:prstGeom>
          <a:noFill/>
          <a:ln>
            <a:noFill/>
          </a:ln>
        </p:spPr>
        <p:txBody>
          <a:bodyPr anchorCtr="0" anchor="t" bIns="0" lIns="0" spcFirstLastPara="1" rIns="0" wrap="square" tIns="43800">
            <a:spAutoFit/>
          </a:bodyPr>
          <a:lstStyle/>
          <a:p>
            <a:pPr indent="-367030" lvl="0" marL="37909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Sube la actividad práctica </a:t>
            </a:r>
            <a:r>
              <a:rPr b="1" lang="es-ES" sz="2400">
                <a:solidFill>
                  <a:schemeClr val="dk1"/>
                </a:solidFill>
                <a:latin typeface="Arial"/>
                <a:ea typeface="Arial"/>
                <a:cs typeface="Arial"/>
                <a:sym typeface="Arial"/>
              </a:rPr>
              <a:t>“Utilizando el Método Cornell” </a:t>
            </a:r>
            <a:r>
              <a:rPr lang="es-ES" sz="2400">
                <a:solidFill>
                  <a:schemeClr val="dk1"/>
                </a:solidFill>
                <a:latin typeface="Arial"/>
                <a:ea typeface="Arial"/>
                <a:cs typeface="Arial"/>
                <a:sym typeface="Arial"/>
              </a:rPr>
              <a:t>en la  plataforma virtual de aprendizaje</a:t>
            </a:r>
            <a:endParaRPr sz="2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367030" lvl="0" marL="379095" marR="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Guarda la actividad con la siguiente etiqueta:</a:t>
            </a:r>
            <a:endParaRPr sz="2400">
              <a:solidFill>
                <a:schemeClr val="dk1"/>
              </a:solidFill>
              <a:latin typeface="Arial"/>
              <a:ea typeface="Arial"/>
              <a:cs typeface="Arial"/>
              <a:sym typeface="Arial"/>
            </a:endParaRPr>
          </a:p>
          <a:p>
            <a:pPr indent="0" lvl="0" marL="379095" marR="0" rtl="0" algn="l">
              <a:spcBef>
                <a:spcPts val="0"/>
              </a:spcBef>
              <a:spcAft>
                <a:spcPts val="0"/>
              </a:spcAft>
              <a:buNone/>
            </a:pPr>
            <a:r>
              <a:rPr b="1" i="1" lang="es-ES" sz="2400">
                <a:solidFill>
                  <a:schemeClr val="dk1"/>
                </a:solidFill>
                <a:latin typeface="Arial"/>
                <a:ea typeface="Arial"/>
                <a:cs typeface="Arial"/>
                <a:sym typeface="Arial"/>
              </a:rPr>
              <a:t>IVU_Actividad7_NombreApellido</a:t>
            </a:r>
            <a:endParaRPr sz="2400">
              <a:solidFill>
                <a:schemeClr val="dk1"/>
              </a:solidFill>
              <a:latin typeface="Arial"/>
              <a:ea typeface="Arial"/>
              <a:cs typeface="Arial"/>
              <a:sym typeface="Arial"/>
            </a:endParaRPr>
          </a:p>
        </p:txBody>
      </p:sp>
      <p:sp>
        <p:nvSpPr>
          <p:cNvPr id="619" name="Google Shape;619;p66"/>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6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626" name="Google Shape;626;p6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627" name="Google Shape;627;p67"/>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628" name="Google Shape;628;p67"/>
          <p:cNvSpPr txBox="1"/>
          <p:nvPr/>
        </p:nvSpPr>
        <p:spPr>
          <a:xfrm>
            <a:off x="867965" y="1346304"/>
            <a:ext cx="10080101" cy="3646319"/>
          </a:xfrm>
          <a:prstGeom prst="rect">
            <a:avLst/>
          </a:prstGeom>
          <a:noFill/>
          <a:ln>
            <a:noFill/>
          </a:ln>
        </p:spPr>
        <p:txBody>
          <a:bodyPr anchorCtr="0" anchor="t" bIns="0" lIns="0" spcFirstLastPara="1" rIns="0" wrap="square" tIns="43800">
            <a:spAutoFit/>
          </a:bodyPr>
          <a:lstStyle/>
          <a:p>
            <a:pPr indent="0" lvl="0" marL="12065" marR="5080" rtl="0" algn="l">
              <a:lnSpc>
                <a:spcPct val="150000"/>
              </a:lnSpc>
              <a:spcBef>
                <a:spcPts val="0"/>
              </a:spcBef>
              <a:spcAft>
                <a:spcPts val="0"/>
              </a:spcAft>
              <a:buNone/>
            </a:pPr>
            <a:r>
              <a:rPr lang="es-ES" sz="3200">
                <a:solidFill>
                  <a:schemeClr val="dk1"/>
                </a:solidFill>
                <a:latin typeface="Arial"/>
                <a:ea typeface="Arial"/>
                <a:cs typeface="Arial"/>
                <a:sym typeface="Arial"/>
              </a:rPr>
              <a:t>-  Videos</a:t>
            </a:r>
            <a:endParaRPr/>
          </a:p>
          <a:p>
            <a:pPr indent="-342900" lvl="0" marL="354965" marR="5080" rtl="0" algn="l">
              <a:lnSpc>
                <a:spcPct val="150000"/>
              </a:lnSpc>
              <a:spcBef>
                <a:spcPts val="0"/>
              </a:spcBef>
              <a:spcAft>
                <a:spcPts val="0"/>
              </a:spcAft>
              <a:buClr>
                <a:schemeClr val="dk1"/>
              </a:buClr>
              <a:buSzPts val="3200"/>
              <a:buFont typeface="Arial"/>
              <a:buChar char="-"/>
            </a:pPr>
            <a:r>
              <a:rPr lang="es-ES" sz="3200">
                <a:solidFill>
                  <a:schemeClr val="dk1"/>
                </a:solidFill>
                <a:latin typeface="Arial"/>
                <a:ea typeface="Arial"/>
                <a:cs typeface="Arial"/>
                <a:sym typeface="Arial"/>
              </a:rPr>
              <a:t>Páginas web</a:t>
            </a:r>
            <a:endParaRPr/>
          </a:p>
          <a:p>
            <a:pPr indent="-342900" lvl="0" marL="354965" marR="5080" rtl="0" algn="l">
              <a:lnSpc>
                <a:spcPct val="150000"/>
              </a:lnSpc>
              <a:spcBef>
                <a:spcPts val="0"/>
              </a:spcBef>
              <a:spcAft>
                <a:spcPts val="0"/>
              </a:spcAft>
              <a:buClr>
                <a:schemeClr val="dk1"/>
              </a:buClr>
              <a:buSzPts val="3200"/>
              <a:buFont typeface="Arial"/>
              <a:buChar char="-"/>
            </a:pPr>
            <a:r>
              <a:rPr lang="es-ES" sz="3200">
                <a:solidFill>
                  <a:schemeClr val="dk1"/>
                </a:solidFill>
                <a:latin typeface="Arial"/>
                <a:ea typeface="Arial"/>
                <a:cs typeface="Arial"/>
                <a:sym typeface="Arial"/>
              </a:rPr>
              <a:t>Pdf</a:t>
            </a:r>
            <a:endParaRPr sz="3200">
              <a:solidFill>
                <a:schemeClr val="dk1"/>
              </a:solidFill>
              <a:latin typeface="Arial"/>
              <a:ea typeface="Arial"/>
              <a:cs typeface="Arial"/>
              <a:sym typeface="Arial"/>
            </a:endParaRPr>
          </a:p>
          <a:p>
            <a:pPr indent="-342900" lvl="0" marL="354965" marR="5080" rtl="0" algn="l">
              <a:lnSpc>
                <a:spcPct val="150000"/>
              </a:lnSpc>
              <a:spcBef>
                <a:spcPts val="0"/>
              </a:spcBef>
              <a:spcAft>
                <a:spcPts val="0"/>
              </a:spcAft>
              <a:buClr>
                <a:schemeClr val="dk1"/>
              </a:buClr>
              <a:buSzPts val="3200"/>
              <a:buFont typeface="Arial"/>
              <a:buChar char="-"/>
            </a:pPr>
            <a:r>
              <a:rPr lang="es-ES" sz="3200">
                <a:solidFill>
                  <a:schemeClr val="dk1"/>
                </a:solidFill>
                <a:latin typeface="Arial"/>
                <a:ea typeface="Arial"/>
                <a:cs typeface="Arial"/>
                <a:sym typeface="Arial"/>
              </a:rPr>
              <a:t>Casos</a:t>
            </a:r>
            <a:endParaRPr/>
          </a:p>
          <a:p>
            <a:pPr indent="-342900" lvl="0" marL="354965" marR="5080" rtl="0" algn="l">
              <a:lnSpc>
                <a:spcPct val="150000"/>
              </a:lnSpc>
              <a:spcBef>
                <a:spcPts val="0"/>
              </a:spcBef>
              <a:spcAft>
                <a:spcPts val="0"/>
              </a:spcAft>
              <a:buClr>
                <a:schemeClr val="dk1"/>
              </a:buClr>
              <a:buSzPts val="3200"/>
              <a:buFont typeface="Arial"/>
              <a:buChar char="-"/>
            </a:pPr>
            <a:r>
              <a:rPr lang="es-ES" sz="3200">
                <a:solidFill>
                  <a:schemeClr val="dk1"/>
                </a:solidFill>
                <a:latin typeface="Arial"/>
                <a:ea typeface="Arial"/>
                <a:cs typeface="Arial"/>
                <a:sym typeface="Arial"/>
              </a:rPr>
              <a:t>Etc.</a:t>
            </a:r>
            <a:endParaRPr sz="3200">
              <a:solidFill>
                <a:schemeClr val="dk1"/>
              </a:solidFill>
              <a:latin typeface="Arial"/>
              <a:ea typeface="Arial"/>
              <a:cs typeface="Arial"/>
              <a:sym typeface="Arial"/>
            </a:endParaRPr>
          </a:p>
        </p:txBody>
      </p:sp>
      <p:sp>
        <p:nvSpPr>
          <p:cNvPr id="629" name="Google Shape;629;p67"/>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6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636" name="Google Shape;636;p68"/>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637" name="Google Shape;637;p68"/>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638" name="Google Shape;638;p68"/>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grpSp>
        <p:nvGrpSpPr>
          <p:cNvPr id="643" name="Google Shape;643;p69"/>
          <p:cNvGrpSpPr/>
          <p:nvPr/>
        </p:nvGrpSpPr>
        <p:grpSpPr>
          <a:xfrm>
            <a:off x="2057400" y="152400"/>
            <a:ext cx="9906000" cy="4152900"/>
            <a:chOff x="2057400" y="152400"/>
            <a:chExt cx="9906000" cy="4152900"/>
          </a:xfrm>
        </p:grpSpPr>
        <p:pic>
          <p:nvPicPr>
            <p:cNvPr id="644" name="Google Shape;644;p69"/>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645" name="Google Shape;645;p69"/>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