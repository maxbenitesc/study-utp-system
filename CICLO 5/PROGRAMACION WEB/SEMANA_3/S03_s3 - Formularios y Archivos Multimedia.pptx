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Economica"/>
      <p:regular r:id="rId26"/>
      <p:bold r:id="rId27"/>
      <p:italic r:id="rId28"/>
      <p:boldItalic r:id="rId29"/>
    </p:embeddedFont>
    <p:embeddedFont>
      <p:font typeface="Playfair Display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j3swGyZ66gBFVKUvsEO5kuS0c3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regular.fntdata"/><Relationship Id="rId25" Type="http://schemas.openxmlformats.org/officeDocument/2006/relationships/slide" Target="slides/slide20.xml"/><Relationship Id="rId28" Type="http://schemas.openxmlformats.org/officeDocument/2006/relationships/font" Target="fonts/Economica-italic.fntdata"/><Relationship Id="rId27" Type="http://schemas.openxmlformats.org/officeDocument/2006/relationships/font" Target="fonts/Economic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30d228c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30d228c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30d228c2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30d228c2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6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" name="Google Shape;35;p29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" name="Google Shape;36;p2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1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3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" name="Google Shape;50;p3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1" name="Google Shape;51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geeksforgeeks.org/programming-a-slideshow-with-html-and-css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30d228c28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63" name="Google Shape;63;g3830d228c28_0_0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64" name="Google Shape;64;g3830d228c2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Estructura de una página Web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2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Head y Body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Header, Section and Footer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Formularios y Archivos Multimedia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03 - Sesion 03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86" name="Google Shape;86;p4" title="siz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53" y="1348138"/>
            <a:ext cx="4444999" cy="317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 title="simple-vide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650" y="1402012"/>
            <a:ext cx="3050000" cy="30655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>
            <p:ph idx="1" type="body"/>
          </p:nvPr>
        </p:nvSpPr>
        <p:spPr>
          <a:xfrm>
            <a:off x="1637250" y="4557625"/>
            <a:ext cx="5869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26126"/>
              <a:buNone/>
            </a:pPr>
            <a:r>
              <a:rPr lang="es-419" sz="1200"/>
              <a:t>¿Que tipo de información se puede representar en un documento HMTL?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311700" y="1225225"/>
            <a:ext cx="44049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Diseña e implementa una página web con un formulario funcional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Comprende los elementos multimedia (imagen, audio y video) dentro de HTML.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Aplica etiquetas semánticas y personalización con CSS.</a:t>
            </a:r>
            <a:endParaRPr/>
          </a:p>
        </p:txBody>
      </p:sp>
      <p:pic>
        <p:nvPicPr>
          <p:cNvPr id="95" name="Google Shape;95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900" y="1065075"/>
            <a:ext cx="2492000" cy="2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311700" y="1225225"/>
            <a:ext cx="40410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¿Para qué sirve esto en la vida real?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Permite crear páginas interactivas para </a:t>
            </a:r>
            <a:r>
              <a:rPr b="1" lang="es-419"/>
              <a:t>recibir datos</a:t>
            </a:r>
            <a:r>
              <a:rPr lang="es-419"/>
              <a:t> de los usuarios.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Facilita la inclusión de contenido multimedia que enriquece la </a:t>
            </a:r>
            <a:r>
              <a:rPr b="1" lang="es-419"/>
              <a:t>experiencia de usuario</a:t>
            </a:r>
            <a:r>
              <a:rPr lang="es-419"/>
              <a:t>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Conocimiento clave para construir </a:t>
            </a:r>
            <a:r>
              <a:rPr b="1" lang="es-419"/>
              <a:t>sitios</a:t>
            </a:r>
            <a:r>
              <a:rPr lang="es-419"/>
              <a:t> web </a:t>
            </a:r>
            <a:r>
              <a:rPr b="1" lang="es-419"/>
              <a:t>profesionales</a:t>
            </a:r>
            <a:r>
              <a:rPr lang="es-419"/>
              <a:t>, como portafolios, landing pages, etc.</a:t>
            </a:r>
            <a:endParaRPr/>
          </a:p>
        </p:txBody>
      </p:sp>
      <p:pic>
        <p:nvPicPr>
          <p:cNvPr id="102" name="Google Shape;102;p6" title="Screenshot from 2025-03-21 00-54-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3506" y="2949725"/>
            <a:ext cx="1680768" cy="15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 title="Screenshot from 2025-03-21 00-55-5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0725" y="1063013"/>
            <a:ext cx="2335426" cy="301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Formularios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Estilos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Archivos Multimedia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Etiquetas HTML</a:t>
            </a:r>
            <a:endParaRPr sz="3500"/>
          </a:p>
        </p:txBody>
      </p:sp>
      <p:sp>
        <p:nvSpPr>
          <p:cNvPr id="115" name="Google Shape;115;p9"/>
          <p:cNvSpPr/>
          <p:nvPr/>
        </p:nvSpPr>
        <p:spPr>
          <a:xfrm>
            <a:off x="395810" y="1568625"/>
            <a:ext cx="3631500" cy="248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"warning"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"/images/html_css.png"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"HTML and CSS."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&gt;The power of HTML&lt;/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6" name="Google Shape;116;p9"/>
          <p:cNvCxnSpPr/>
          <p:nvPr/>
        </p:nvCxnSpPr>
        <p:spPr>
          <a:xfrm flipH="1">
            <a:off x="1206552" y="1217850"/>
            <a:ext cx="1071000" cy="984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9"/>
          <p:cNvSpPr txBox="1"/>
          <p:nvPr/>
        </p:nvSpPr>
        <p:spPr>
          <a:xfrm flipH="1">
            <a:off x="2277552" y="1105650"/>
            <a:ext cx="594900" cy="224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bloque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8" name="Google Shape;118;p9" title="Screenshot from 2025-04-07 05-20-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163" y="1542163"/>
            <a:ext cx="4339026" cy="253302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9" name="Google Shape;119;p9"/>
          <p:cNvCxnSpPr>
            <a:stCxn id="120" idx="0"/>
          </p:cNvCxnSpPr>
          <p:nvPr/>
        </p:nvCxnSpPr>
        <p:spPr>
          <a:xfrm rot="10800000">
            <a:off x="1479227" y="2604425"/>
            <a:ext cx="1238700" cy="1530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9"/>
          <p:cNvSpPr txBox="1"/>
          <p:nvPr/>
        </p:nvSpPr>
        <p:spPr>
          <a:xfrm flipH="1">
            <a:off x="2420477" y="4135325"/>
            <a:ext cx="594900" cy="224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Imagen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9"/>
          <p:cNvSpPr txBox="1"/>
          <p:nvPr/>
        </p:nvSpPr>
        <p:spPr>
          <a:xfrm flipH="1">
            <a:off x="4708221" y="922825"/>
            <a:ext cx="1572900" cy="224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Atributos de Etiqueta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2" name="Google Shape;122;p9"/>
          <p:cNvGrpSpPr/>
          <p:nvPr/>
        </p:nvGrpSpPr>
        <p:grpSpPr>
          <a:xfrm>
            <a:off x="1651821" y="1035025"/>
            <a:ext cx="3056400" cy="1775100"/>
            <a:chOff x="1651821" y="1035025"/>
            <a:chExt cx="3056400" cy="1775100"/>
          </a:xfrm>
        </p:grpSpPr>
        <p:cxnSp>
          <p:nvCxnSpPr>
            <p:cNvPr id="123" name="Google Shape;123;p9"/>
            <p:cNvCxnSpPr>
              <a:stCxn id="121" idx="3"/>
            </p:cNvCxnSpPr>
            <p:nvPr/>
          </p:nvCxnSpPr>
          <p:spPr>
            <a:xfrm flipH="1">
              <a:off x="1752321" y="1035025"/>
              <a:ext cx="2955900" cy="1521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4" name="Google Shape;124;p9"/>
            <p:cNvCxnSpPr>
              <a:stCxn id="121" idx="3"/>
            </p:cNvCxnSpPr>
            <p:nvPr/>
          </p:nvCxnSpPr>
          <p:spPr>
            <a:xfrm flipH="1">
              <a:off x="1805121" y="1035025"/>
              <a:ext cx="2903100" cy="17751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" name="Google Shape;125;p9"/>
            <p:cNvCxnSpPr>
              <a:stCxn id="121" idx="3"/>
            </p:cNvCxnSpPr>
            <p:nvPr/>
          </p:nvCxnSpPr>
          <p:spPr>
            <a:xfrm flipH="1">
              <a:off x="1651821" y="1035025"/>
              <a:ext cx="3056400" cy="11958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26" name="Google Shape;126;p9"/>
          <p:cNvSpPr txBox="1"/>
          <p:nvPr/>
        </p:nvSpPr>
        <p:spPr>
          <a:xfrm flipH="1">
            <a:off x="5825688" y="4359725"/>
            <a:ext cx="1506000" cy="30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 sin estilos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Etiquetas HTML</a:t>
            </a:r>
            <a:endParaRPr sz="3500"/>
          </a:p>
        </p:txBody>
      </p:sp>
      <p:sp>
        <p:nvSpPr>
          <p:cNvPr id="132" name="Google Shape;132;p10"/>
          <p:cNvSpPr/>
          <p:nvPr/>
        </p:nvSpPr>
        <p:spPr>
          <a:xfrm>
            <a:off x="432738" y="1568625"/>
            <a:ext cx="4364100" cy="248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"warning"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"/images/html_css.png"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"HTML and CSS."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&gt;The power of HTML&lt;/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034750" y="1028925"/>
            <a:ext cx="3690600" cy="355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.warning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ridge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#f00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#ff0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0.5rem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.warning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.warning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small-caps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bold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1.2rem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sans-serif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4" name="Google Shape;134;p10" title="Screenshot from 2025-04-07 05-25-3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500" y="1824050"/>
            <a:ext cx="4986180" cy="267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 txBox="1"/>
          <p:nvPr/>
        </p:nvSpPr>
        <p:spPr>
          <a:xfrm flipH="1">
            <a:off x="3320575" y="4636300"/>
            <a:ext cx="1506000" cy="30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 con estilos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Tablas</a:t>
            </a:r>
            <a:endParaRPr/>
          </a:p>
        </p:txBody>
      </p:sp>
      <p:sp>
        <p:nvSpPr>
          <p:cNvPr id="141" name="Google Shape;141;p11"/>
          <p:cNvSpPr txBox="1"/>
          <p:nvPr>
            <p:ph idx="4294967295" type="body"/>
          </p:nvPr>
        </p:nvSpPr>
        <p:spPr>
          <a:xfrm>
            <a:off x="344250" y="1072825"/>
            <a:ext cx="84555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 definen mediante el uso de la etiqueta </a:t>
            </a:r>
            <a:r>
              <a:rPr lang="es-41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s-41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/>
              <a:t>.</a:t>
            </a:r>
            <a:endParaRPr/>
          </a:p>
        </p:txBody>
      </p:sp>
      <p:sp>
        <p:nvSpPr>
          <p:cNvPr id="142" name="Google Shape;142;p11"/>
          <p:cNvSpPr txBox="1"/>
          <p:nvPr>
            <p:ph idx="4294967295" type="body"/>
          </p:nvPr>
        </p:nvSpPr>
        <p:spPr>
          <a:xfrm>
            <a:off x="356425" y="1448927"/>
            <a:ext cx="67911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Las tablas se dividen en filas con la etiqueta 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400"/>
              <a:t>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Las filas están divididas en columnas con la etiqueta 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400"/>
              <a:t>.</a:t>
            </a:r>
            <a:endParaRPr sz="1400"/>
          </a:p>
        </p:txBody>
      </p:sp>
      <p:sp>
        <p:nvSpPr>
          <p:cNvPr id="143" name="Google Shape;143;p11"/>
          <p:cNvSpPr/>
          <p:nvPr/>
        </p:nvSpPr>
        <p:spPr>
          <a:xfrm>
            <a:off x="458975" y="2028825"/>
            <a:ext cx="3506700" cy="287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 </a:t>
            </a:r>
            <a:r>
              <a:rPr lang="es-419" sz="900">
                <a:solidFill>
                  <a:srgbClr val="CD31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s-419" sz="9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9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419" sz="9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&gt;Company&lt;/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&gt;Contact&lt;/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&gt;Country&lt;/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&gt;Centro comercial Moctezuma&lt;/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&gt;Francisco Chang&lt;/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&gt;Mexico&lt;/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&gt;Ernst Handel&lt;/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&gt;Roland Mendel&lt;/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&gt;Austria&lt;/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...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44" name="Google Shape;144;p11" title="Screenshot from 2025-04-07 07-45-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000" y="2917650"/>
            <a:ext cx="4236575" cy="14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Formularios</a:t>
            </a:r>
            <a:endParaRPr sz="3500"/>
          </a:p>
        </p:txBody>
      </p:sp>
      <p:sp>
        <p:nvSpPr>
          <p:cNvPr id="150" name="Google Shape;150;p12"/>
          <p:cNvSpPr/>
          <p:nvPr/>
        </p:nvSpPr>
        <p:spPr>
          <a:xfrm>
            <a:off x="605400" y="1637300"/>
            <a:ext cx="7933200" cy="275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"form-container"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&gt;Formulario de Registro&lt;/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"post"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&gt;Nombre&lt;/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/&gt;&lt;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&gt;Apellido&lt;/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/&gt;&lt;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"submit"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&gt;Registrarse&lt;/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1" name="Google Shape;151;p12" title="Screenshot from 2025-04-07 05-45-3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926" y="337525"/>
            <a:ext cx="3812051" cy="20832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2" name="Google Shape;152;p12"/>
          <p:cNvCxnSpPr>
            <a:stCxn id="153" idx="0"/>
          </p:cNvCxnSpPr>
          <p:nvPr/>
        </p:nvCxnSpPr>
        <p:spPr>
          <a:xfrm rot="10800000">
            <a:off x="6556023" y="3378975"/>
            <a:ext cx="298800" cy="453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" name="Google Shape;153;p12"/>
          <p:cNvSpPr txBox="1"/>
          <p:nvPr/>
        </p:nvSpPr>
        <p:spPr>
          <a:xfrm flipH="1">
            <a:off x="6308823" y="3832275"/>
            <a:ext cx="1092000" cy="224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Obligatorio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4" name="Google Shape;154;p12"/>
          <p:cNvCxnSpPr/>
          <p:nvPr/>
        </p:nvCxnSpPr>
        <p:spPr>
          <a:xfrm rot="10800000">
            <a:off x="3553375" y="3378825"/>
            <a:ext cx="836700" cy="1107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12"/>
          <p:cNvSpPr txBox="1"/>
          <p:nvPr/>
        </p:nvSpPr>
        <p:spPr>
          <a:xfrm flipH="1">
            <a:off x="3650925" y="4461900"/>
            <a:ext cx="1289700" cy="521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para identificarlo con algún LP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6" name="Google Shape;156;p12"/>
          <p:cNvCxnSpPr>
            <a:stCxn id="157" idx="2"/>
          </p:cNvCxnSpPr>
          <p:nvPr/>
        </p:nvCxnSpPr>
        <p:spPr>
          <a:xfrm flipH="1">
            <a:off x="2403150" y="1213500"/>
            <a:ext cx="1666800" cy="1165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12"/>
          <p:cNvSpPr txBox="1"/>
          <p:nvPr/>
        </p:nvSpPr>
        <p:spPr>
          <a:xfrm flipH="1">
            <a:off x="3425100" y="691800"/>
            <a:ext cx="1289700" cy="52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 va realizar cuando envíe el formulario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8" name="Google Shape;158;p12"/>
          <p:cNvCxnSpPr>
            <a:stCxn id="159" idx="0"/>
          </p:cNvCxnSpPr>
          <p:nvPr/>
        </p:nvCxnSpPr>
        <p:spPr>
          <a:xfrm flipH="1" rot="10800000">
            <a:off x="1897975" y="2508575"/>
            <a:ext cx="1276200" cy="2068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12"/>
          <p:cNvSpPr txBox="1"/>
          <p:nvPr/>
        </p:nvSpPr>
        <p:spPr>
          <a:xfrm flipH="1">
            <a:off x="1479625" y="4576775"/>
            <a:ext cx="836700" cy="27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77350" lIns="77350" spcFirstLastPara="1" rIns="77350" wrap="square" tIns="77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1015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419" sz="97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get/post</a:t>
            </a:r>
            <a:endParaRPr b="0" i="0" sz="97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Formularios</a:t>
            </a:r>
            <a:endParaRPr sz="3500"/>
          </a:p>
        </p:txBody>
      </p:sp>
      <p:sp>
        <p:nvSpPr>
          <p:cNvPr id="165" name="Google Shape;165;p13"/>
          <p:cNvSpPr/>
          <p:nvPr/>
        </p:nvSpPr>
        <p:spPr>
          <a:xfrm>
            <a:off x="179325" y="1727475"/>
            <a:ext cx="8720400" cy="87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&gt;Nombre&lt;/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placeholder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"Ingrese su Nombre"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"32"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11900" y="3217150"/>
            <a:ext cx="8720400" cy="564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"submit"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disabled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&gt;Registrarse&lt;/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148200" y="47875"/>
            <a:ext cx="5881500" cy="509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"form-container"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&gt;Formulario de Registro&lt;/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"post"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&gt;Nombre:&lt;/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&gt;Apellido:&lt;/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"apellido"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"direccion"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&gt;Dirección:&lt;/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"direccion"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"direccion"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"documento"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&gt;Tipo de Documento:&lt;/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"documento"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"documento"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"dni"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&gt;DNI&lt;/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"pasaporte"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&gt;Pasaporte&lt;/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"nacimiento"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&gt;Fecha de nacimiento:&lt;/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"date"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"nacimiento"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"nacimiento"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"checkbox-container"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"checkbox"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"terminos"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Acepto los términos y condiciones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"submit"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"Registrarse"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2" name="Google Shape;172;p14" title="Screenshot from 2025-04-07 08-01-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443" y="371063"/>
            <a:ext cx="3354474" cy="4449424"/>
          </a:xfrm>
          <a:prstGeom prst="rect">
            <a:avLst/>
          </a:prstGeom>
          <a:solidFill>
            <a:srgbClr val="F3F3F3"/>
          </a:solidFill>
          <a:ln cap="flat" cmpd="sng" w="109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Archivos Multimedia</a:t>
            </a:r>
            <a:endParaRPr sz="3500"/>
          </a:p>
        </p:txBody>
      </p:sp>
      <p:sp>
        <p:nvSpPr>
          <p:cNvPr id="178" name="Google Shape;178;p15"/>
          <p:cNvSpPr/>
          <p:nvPr/>
        </p:nvSpPr>
        <p:spPr>
          <a:xfrm>
            <a:off x="148200" y="1027016"/>
            <a:ext cx="6760200" cy="40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&gt;Ejemplo de Imagen, Video y Audio&lt;/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t/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"multimedia"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1" lang="es-419" sz="829" u="none" cap="none" strike="noStrike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Imagen --&gt;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"https://i.pinimg.com/736x/94/17/69/941769178ecb56cc556ef5d267461475.jpg"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"Ejemplo de Imagen"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"caption"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&gt;Esta es una imagen de ejemplo (puede ser un producto o banner).&lt;/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t/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1" lang="es-419" sz="829" u="none" cap="none" strike="noStrike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Video --&gt;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video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controls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"https://www.w3schools.com/html/mov_bbb.mp4"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"video/mp4"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Tu navegador no soporta la etiqueta de video.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video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"caption"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&gt;Video demostrativo (puede ser una presentación o promoción).&lt;/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t/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1" lang="es-419" sz="829" u="none" cap="none" strike="noStrike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Audio --&gt;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audio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controls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"https://www.w3schools.com/html/horse.mp3"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"audio/mpeg"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Tu navegador no soporta la etiqueta de audio.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audio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8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"caption"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&gt;Audio de ejemplo (puede ser música o un podcast).&lt;/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8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8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9" name="Google Shape;179;p15" title="Screenshot from 2025-04-07 08-10-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5475" y="336338"/>
            <a:ext cx="2986825" cy="447082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311700" y="1225225"/>
            <a:ext cx="85206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Crear la siguiente página HTML.</a:t>
            </a:r>
            <a:endParaRPr/>
          </a:p>
        </p:txBody>
      </p:sp>
      <p:pic>
        <p:nvPicPr>
          <p:cNvPr id="192" name="Google Shape;192;p18" title="Screenshot from 2025-04-07 05-51-3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675" y="1756825"/>
            <a:ext cx="4362654" cy="30818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43500" y="1349200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43500" y="1692450"/>
            <a:ext cx="371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Formularios HTML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361900" y="1837325"/>
            <a:ext cx="4298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¿Que nos permite realizar los formularios?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4361900" y="2180575"/>
            <a:ext cx="3713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Permite recibir información por parte del usuario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1782875" y="3154925"/>
            <a:ext cx="57021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¿En que paginas se puede ver la presencia de archivos multimedia?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1782875" y="3728375"/>
            <a:ext cx="47199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Youtube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Instagram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Bibliografía</a:t>
            </a:r>
            <a:endParaRPr/>
          </a:p>
        </p:txBody>
      </p: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Jon Duckett (2021). HTML &amp; CSS: Design and Build Websites.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Javi Agenjo (2023). Introduction to web technologies: HTML + CSS + Javascript.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Geek For Geeks (2024). How to create a slideshow with HTML and CSS ?. </a:t>
            </a:r>
            <a:r>
              <a:rPr lang="es-419" sz="1700" u="sng">
                <a:solidFill>
                  <a:schemeClr val="hlink"/>
                </a:solidFill>
                <a:hlinkClick r:id="rId3"/>
              </a:rPr>
              <a:t>https://www.geeksforgeeks.org/programming-a-slideshow-with-html-and-css/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30d228c28_0_59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220" name="Google Shape;220;g3830d228c28_0_59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221" name="Google Shape;221;g3830d228c28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