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Economica"/>
      <p:regular r:id="rId34"/>
      <p:bold r:id="rId35"/>
      <p:italic r:id="rId36"/>
      <p:boldItalic r:id="rId37"/>
    </p:embeddedFont>
    <p:embeddedFont>
      <p:font typeface="Playfair Display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0" roundtripDataSignature="AMtx7mhaazDDWJRbf3vlU+jWJIatJS1T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-italic.fntdata"/><Relationship Id="rId42" Type="http://schemas.openxmlformats.org/officeDocument/2006/relationships/font" Target="fonts/RobotoMono-regular.fntdata"/><Relationship Id="rId41" Type="http://schemas.openxmlformats.org/officeDocument/2006/relationships/font" Target="fonts/PlayfairDisplay-boldItalic.fntdata"/><Relationship Id="rId44" Type="http://schemas.openxmlformats.org/officeDocument/2006/relationships/font" Target="fonts/RobotoMono-italic.fntdata"/><Relationship Id="rId43" Type="http://schemas.openxmlformats.org/officeDocument/2006/relationships/font" Target="fonts/RobotoMono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Economica-bold.fntdata"/><Relationship Id="rId34" Type="http://schemas.openxmlformats.org/officeDocument/2006/relationships/font" Target="fonts/Economica-regular.fntdata"/><Relationship Id="rId37" Type="http://schemas.openxmlformats.org/officeDocument/2006/relationships/font" Target="fonts/Economica-boldItalic.fntdata"/><Relationship Id="rId36" Type="http://schemas.openxmlformats.org/officeDocument/2006/relationships/font" Target="fonts/Economica-italic.fntdata"/><Relationship Id="rId39" Type="http://schemas.openxmlformats.org/officeDocument/2006/relationships/font" Target="fonts/PlayfairDisplay-bold.fntdata"/><Relationship Id="rId38" Type="http://schemas.openxmlformats.org/officeDocument/2006/relationships/font" Target="fonts/PlayfairDisplay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830a796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8830a796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839373e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8839373e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9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9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39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2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" name="Google Shape;35;p44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" name="Google Shape;36;p4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45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6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p4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47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0" name="Google Shape;50;p47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1" name="Google Shape;51;p4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8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5" name="Google Shape;5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geeksforgeeks.org/programming-a-slideshow-with-html-and-cs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830a796bc_0_0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63" name="Google Shape;63;g38830a796bc_0_0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1304"/>
              <a:buNone/>
            </a:pPr>
            <a:r>
              <a:rPr lang="es-419" sz="2300"/>
              <a:t>M.Sc. Jesamin Melissa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64" name="Google Shape;64;g38830a796b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Dudas de la clase anterior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287" y="2844874"/>
            <a:ext cx="3939425" cy="22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 flipH="1">
            <a:off x="874000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Estructura de una página Web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" name="Google Shape;72;p2"/>
          <p:cNvSpPr/>
          <p:nvPr/>
        </p:nvSpPr>
        <p:spPr>
          <a:xfrm flipH="1">
            <a:off x="3420588" y="1180575"/>
            <a:ext cx="2302800" cy="1122300"/>
          </a:xfrm>
          <a:prstGeom prst="wedgeEllipseCallout">
            <a:avLst>
              <a:gd fmla="val -1117" name="adj1"/>
              <a:gd fmla="val 72798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Contenido de un HTML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070225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Formularios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</a:pPr>
            <a:r>
              <a:rPr b="1" lang="es-419" sz="5000"/>
              <a:t>Tablas: Estructura, elementos y personalización con CSS</a:t>
            </a:r>
            <a:endParaRPr b="1" sz="5000"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Semana 04 - Sesión 04</a:t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2464" y="3893167"/>
            <a:ext cx="2479073" cy="7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Conocimientos previos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1072050" y="4346175"/>
            <a:ext cx="69999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s-419" sz="1200"/>
              <a:t>En su vida diaria, visualizan tablas constantemente: horarios, precios, rankings, inventarios, etc.</a:t>
            </a:r>
            <a:endParaRPr sz="1200"/>
          </a:p>
        </p:txBody>
      </p:sp>
      <p:pic>
        <p:nvPicPr>
          <p:cNvPr id="87" name="Google Shape;87;p4" title="Screenshot from 2025-04-13 23-09-16.png"/>
          <p:cNvPicPr preferRelativeResize="0"/>
          <p:nvPr/>
        </p:nvPicPr>
        <p:blipFill rotWithShape="1">
          <a:blip r:embed="rId3">
            <a:alphaModFix/>
          </a:blip>
          <a:srcRect b="0" l="1097" r="0" t="0"/>
          <a:stretch/>
        </p:blipFill>
        <p:spPr>
          <a:xfrm>
            <a:off x="269450" y="2358400"/>
            <a:ext cx="3806002" cy="20155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4" title="unnamed-1-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3617" y="1183949"/>
            <a:ext cx="3224907" cy="2015549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Google Shape;89;p4" title="universidades-de-lima-min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3583" y="793075"/>
            <a:ext cx="2200889" cy="333420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4" title="Screenshot from 2025-04-13 23-13-3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22575" y="1903125"/>
            <a:ext cx="2278526" cy="2470824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Logro de aprendizaje</a:t>
            </a:r>
            <a:endParaRPr/>
          </a:p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311700" y="1225225"/>
            <a:ext cx="4944900" cy="30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/>
              <a:t>Al finalizar la sesión, el estudiante: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Crea tablas HTML con múltiples filas y columnas.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Incorpora elementos como encabezados y combinaciones de celdas.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Aplica estilos CSS para mejorar su presentación visual dentro de una página web.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Conoce los conceptos y la estructura de tablas y frames.</a:t>
            </a:r>
            <a:endParaRPr/>
          </a:p>
        </p:txBody>
      </p:sp>
      <p:pic>
        <p:nvPicPr>
          <p:cNvPr id="97" name="Google Shape;97;p5" title="134481101-aprendizaje-en-línea-sombrero-de-graduación-libro-educació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900" y="1065075"/>
            <a:ext cx="2492000" cy="2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Utilidad</a:t>
            </a:r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311700" y="1225225"/>
            <a:ext cx="4691100" cy="1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¿Para qué sirve en la vida real?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En la vida real, las tablas son esenciales para presentar información estructurada: reportes, dashboards, catálogos, precios, datos científicos, etc.</a:t>
            </a:r>
            <a:endParaRPr/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807900" y="4428600"/>
            <a:ext cx="7528200" cy="71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s-419"/>
              <a:t>Es importante porque son una herramienta útil para presentar datos de manera estructurada, clara y organizada. Esto facilita la lectura y comprensión de los usuarios</a:t>
            </a:r>
            <a:endParaRPr/>
          </a:p>
        </p:txBody>
      </p:sp>
      <p:pic>
        <p:nvPicPr>
          <p:cNvPr id="105" name="Google Shape;105;p6" title="unnam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4900" y="1214050"/>
            <a:ext cx="3247973" cy="27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311700" y="2648675"/>
            <a:ext cx="46911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Saber construir tablas con HTML y personalizarlas con CSS es clave para desarrollar interfaces claras y funcionales en sistemas web, especialmente para usuarios finales que requieren visualizar datos organizados.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Tablas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Frames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IFrames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 sz="3500"/>
              <a:t>Etiqueta &lt;table&gt;</a:t>
            </a:r>
            <a:endParaRPr sz="3500"/>
          </a:p>
        </p:txBody>
      </p:sp>
      <p:sp>
        <p:nvSpPr>
          <p:cNvPr id="118" name="Google Shape;118;p8"/>
          <p:cNvSpPr/>
          <p:nvPr/>
        </p:nvSpPr>
        <p:spPr>
          <a:xfrm>
            <a:off x="853350" y="2041125"/>
            <a:ext cx="3477300" cy="2328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&gt;1,1&lt;/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&gt;1,2 ok&lt;/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&gt;2,1 real wide&lt;/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&gt;2,2&lt;/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129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12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12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9" name="Google Shape;119;p8" title="Screenshot from 2025-04-14 00-28-0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0025" y="1925688"/>
            <a:ext cx="3270626" cy="25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>
            <p:ph idx="4294967295" type="body"/>
          </p:nvPr>
        </p:nvSpPr>
        <p:spPr>
          <a:xfrm>
            <a:off x="344250" y="1225225"/>
            <a:ext cx="8455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1400"/>
              <a:t> define la tabla general, 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1400"/>
              <a:t> cada fila y 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4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lang="es-419" sz="1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1400"/>
              <a:t> los datos de cada celda.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Las tablas son útiles para mostrar grandes conjuntos de datos de filas y columnas.</a:t>
            </a:r>
            <a:endParaRPr sz="1400"/>
          </a:p>
        </p:txBody>
      </p:sp>
      <p:sp>
        <p:nvSpPr>
          <p:cNvPr id="121" name="Google Shape;121;p8"/>
          <p:cNvSpPr txBox="1"/>
          <p:nvPr>
            <p:ph idx="4294967295" type="body"/>
          </p:nvPr>
        </p:nvSpPr>
        <p:spPr>
          <a:xfrm>
            <a:off x="344250" y="4530300"/>
            <a:ext cx="84555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i="1" lang="es-419" sz="1400"/>
              <a:t>NOTA</a:t>
            </a:r>
            <a:r>
              <a:rPr lang="es-419" sz="1400"/>
              <a:t>: Los principiantes a veces usan tablas para el diseño de páginas web, pero esto no se considera HTML adecuado y debe evitarse.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Etiqueta &lt;table&gt;: Headers y Caption</a:t>
            </a:r>
            <a:endParaRPr/>
          </a:p>
        </p:txBody>
      </p:sp>
      <p:sp>
        <p:nvSpPr>
          <p:cNvPr id="127" name="Google Shape;127;p9"/>
          <p:cNvSpPr txBox="1"/>
          <p:nvPr>
            <p:ph idx="4294967295" type="body"/>
          </p:nvPr>
        </p:nvSpPr>
        <p:spPr>
          <a:xfrm>
            <a:off x="344250" y="1072825"/>
            <a:ext cx="845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La celda &lt;th&gt; en una fila se consideran encabezados; por defecto, aparecen en negrita.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Un &lt;caption&gt; al inicio de la tabla indica su descripción.</a:t>
            </a:r>
            <a:endParaRPr sz="1500"/>
          </a:p>
        </p:txBody>
      </p:sp>
      <p:sp>
        <p:nvSpPr>
          <p:cNvPr id="128" name="Google Shape;128;p9"/>
          <p:cNvSpPr/>
          <p:nvPr/>
        </p:nvSpPr>
        <p:spPr>
          <a:xfrm>
            <a:off x="753651" y="1932438"/>
            <a:ext cx="3885600" cy="287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caption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&gt;My important data&lt;/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caption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&gt;Column 1&lt;/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&gt;Column 2&lt;/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&gt;1,1&lt;/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&gt;1,2 okay&lt;/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&gt;2,1 real wide&lt;/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&gt;2,2&lt;/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9" name="Google Shape;129;p9" title="Screenshot from 2025-04-14 00-42-4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526" y="1904113"/>
            <a:ext cx="3550836" cy="29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Estilos para la tabla</a:t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548775" y="1608624"/>
            <a:ext cx="3148200" cy="2715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0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00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2px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solid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000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black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0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caption-side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00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bottom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1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s-419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50%</a:t>
            </a:r>
            <a:r>
              <a:rPr lang="es-419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0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font-style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00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italic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0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i="0" lang="es-419" sz="1000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yellow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0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00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6" name="Google Shape;136;p10" title="Screenshot from 2025-04-14 00-45-5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050" y="1595799"/>
            <a:ext cx="4347174" cy="27409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Los atributos rowspan y colspan</a:t>
            </a:r>
            <a:endParaRPr/>
          </a:p>
        </p:txBody>
      </p:sp>
      <p:pic>
        <p:nvPicPr>
          <p:cNvPr id="142" name="Google Shape;142;p11" title="Screenshot from 2025-04-14 00-53-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3588" y="1960000"/>
            <a:ext cx="3927415" cy="298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/>
          <p:nvPr/>
        </p:nvSpPr>
        <p:spPr>
          <a:xfrm>
            <a:off x="622988" y="1960000"/>
            <a:ext cx="3614700" cy="2988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&gt;Column 1&lt;/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&gt;Column 2&lt;/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&gt;Column 3&lt;/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colspan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"2"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&gt;1,1-1,2&lt;/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rowspan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"3"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&gt;1,3-3,3&lt;/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&gt;2,1&lt;/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&gt;2,2&lt;/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&gt;3,1&lt;/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&gt;3,2&lt;/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4" name="Google Shape;144;p11"/>
          <p:cNvSpPr txBox="1"/>
          <p:nvPr>
            <p:ph idx="4294967295" type="body"/>
          </p:nvPr>
        </p:nvSpPr>
        <p:spPr>
          <a:xfrm>
            <a:off x="294450" y="1072825"/>
            <a:ext cx="855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colspan</a:t>
            </a:r>
            <a:r>
              <a:rPr lang="es-419" sz="1500"/>
              <a:t> hace que una celda ocupe varias columnas; </a:t>
            </a:r>
            <a:r>
              <a:rPr lang="es-419" sz="1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rowspan</a:t>
            </a:r>
            <a:r>
              <a:rPr lang="es-419" sz="1500"/>
              <a:t> varias filas.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es-419" sz="1500"/>
              <a:t> y </a:t>
            </a:r>
            <a:r>
              <a:rPr lang="es-419" sz="1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vertical-align </a:t>
            </a:r>
            <a:r>
              <a:rPr lang="es-419" sz="1500"/>
              <a:t>controlan dónde aparece el texto dentro de una celda.</a:t>
            </a:r>
            <a:endParaRPr sz="1500"/>
          </a:p>
        </p:txBody>
      </p:sp>
      <p:sp>
        <p:nvSpPr>
          <p:cNvPr id="145" name="Google Shape;145;p11"/>
          <p:cNvSpPr/>
          <p:nvPr/>
        </p:nvSpPr>
        <p:spPr>
          <a:xfrm>
            <a:off x="6764650" y="3604950"/>
            <a:ext cx="2379300" cy="153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8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8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8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td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8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8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800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800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solid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800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black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0" i="0" lang="es-419" sz="8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8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border-collapse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800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collapse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8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¡No uses tablas para el diseño (layout)!</a:t>
            </a:r>
            <a:endParaRPr/>
          </a:p>
        </p:txBody>
      </p:sp>
      <p:sp>
        <p:nvSpPr>
          <p:cNvPr id="151" name="Google Shape;151;p13"/>
          <p:cNvSpPr txBox="1"/>
          <p:nvPr>
            <p:ph idx="4294967295" type="body"/>
          </p:nvPr>
        </p:nvSpPr>
        <p:spPr>
          <a:xfrm>
            <a:off x="311700" y="1225225"/>
            <a:ext cx="8291400" cy="21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Las tablas (sin bordes) parecen ser una forma sencilla de lograr diseños de página tipo cuadrícula.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Además, muchas páginas web principiantes lo hacen (incluidas páginas web de UTP).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Sin embargo, una tabla tiene semántica; debería usarse sólo para representar una tabla de datos real.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lugar de tablas, usa divs, widths/margins, etc. para el diseño.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¡No se deben usar tablas para el diseño!</a:t>
            </a:r>
            <a:endParaRPr/>
          </a:p>
        </p:txBody>
      </p:sp>
      <p:sp>
        <p:nvSpPr>
          <p:cNvPr id="152" name="Google Shape;152;p13"/>
          <p:cNvSpPr txBox="1"/>
          <p:nvPr>
            <p:ph idx="4294967295" type="body"/>
          </p:nvPr>
        </p:nvSpPr>
        <p:spPr>
          <a:xfrm>
            <a:off x="311700" y="3415500"/>
            <a:ext cx="8291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/>
              <a:t>¡No se deben usar tablas para el diseño!</a:t>
            </a:r>
            <a:endParaRPr b="1"/>
          </a:p>
        </p:txBody>
      </p:sp>
      <p:sp>
        <p:nvSpPr>
          <p:cNvPr id="153" name="Google Shape;153;p13"/>
          <p:cNvSpPr txBox="1"/>
          <p:nvPr>
            <p:ph idx="4294967295" type="body"/>
          </p:nvPr>
        </p:nvSpPr>
        <p:spPr>
          <a:xfrm>
            <a:off x="311700" y="3872700"/>
            <a:ext cx="8291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1010"/>
              </a:buClr>
              <a:buSzPts val="2000"/>
              <a:buChar char="●"/>
            </a:pPr>
            <a:r>
              <a:rPr b="1" lang="es-419" sz="2000">
                <a:solidFill>
                  <a:srgbClr val="A01010"/>
                </a:solidFill>
              </a:rPr>
              <a:t>¡No se deben usar tablas para el diseño!</a:t>
            </a:r>
            <a:endParaRPr b="1" sz="2000">
              <a:solidFill>
                <a:srgbClr val="A01010"/>
              </a:solidFill>
            </a:endParaRPr>
          </a:p>
        </p:txBody>
      </p:sp>
      <p:sp>
        <p:nvSpPr>
          <p:cNvPr id="154" name="Google Shape;154;p13"/>
          <p:cNvSpPr txBox="1"/>
          <p:nvPr>
            <p:ph idx="4294967295" type="body"/>
          </p:nvPr>
        </p:nvSpPr>
        <p:spPr>
          <a:xfrm>
            <a:off x="311700" y="4395750"/>
            <a:ext cx="8291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b="1" lang="es-419" sz="2200">
                <a:solidFill>
                  <a:srgbClr val="FF0000"/>
                </a:solidFill>
              </a:rPr>
              <a:t>¡No se deben usar tablas para el diseño!</a:t>
            </a:r>
            <a:endParaRPr b="1" sz="2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Definición del tamaño de la tabla</a:t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1388882" y="2422525"/>
            <a:ext cx="4684200" cy="187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"500"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"250"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&gt;Column 1&lt;/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&gt;Column 2&lt;/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&gt;Column 3&lt;/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1" name="Google Shape;161;p14"/>
          <p:cNvSpPr txBox="1"/>
          <p:nvPr>
            <p:ph idx="4294967295" type="body"/>
          </p:nvPr>
        </p:nvSpPr>
        <p:spPr>
          <a:xfrm>
            <a:off x="294450" y="1072825"/>
            <a:ext cx="85551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 sz="1300"/>
              <a:t>Podemos especificar el tamaño de la tabla:</a:t>
            </a:r>
            <a:endParaRPr sz="1300"/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s-419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3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table</a:t>
            </a:r>
            <a:r>
              <a:rPr lang="es-419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3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s-419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3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"size"</a:t>
            </a:r>
            <a:r>
              <a:rPr lang="es-419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3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s-419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3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"size"</a:t>
            </a:r>
            <a:r>
              <a:rPr lang="es-419" sz="13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○"/>
            </a:pPr>
            <a:r>
              <a:rPr lang="es-419" sz="1300"/>
              <a:t>El tamaño es medido en píxeles o como porcentaje del área de visualización.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Alineamiento</a:t>
            </a:r>
            <a:endParaRPr/>
          </a:p>
        </p:txBody>
      </p:sp>
      <p:pic>
        <p:nvPicPr>
          <p:cNvPr id="167" name="Google Shape;167;p15" title="Screenshot from 2025-04-14 02-07-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7550" y="1223025"/>
            <a:ext cx="6448908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Frames</a:t>
            </a:r>
            <a:endParaRPr/>
          </a:p>
        </p:txBody>
      </p:sp>
      <p:pic>
        <p:nvPicPr>
          <p:cNvPr id="173" name="Google Shape;173;p16" title="Frames_Framesets.png"/>
          <p:cNvPicPr preferRelativeResize="0"/>
          <p:nvPr/>
        </p:nvPicPr>
        <p:blipFill rotWithShape="1">
          <a:blip r:embed="rId3">
            <a:alphaModFix/>
          </a:blip>
          <a:srcRect b="6199" l="16492" r="17509" t="5359"/>
          <a:stretch/>
        </p:blipFill>
        <p:spPr>
          <a:xfrm>
            <a:off x="5871538" y="1278175"/>
            <a:ext cx="2695324" cy="27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>
            <p:ph idx="4294967295" type="body"/>
          </p:nvPr>
        </p:nvSpPr>
        <p:spPr>
          <a:xfrm>
            <a:off x="581950" y="1306850"/>
            <a:ext cx="5031000" cy="26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18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s-419" sz="1395"/>
              <a:t>Se remonta a los primeros años del diseño web. La función frame, introducida por </a:t>
            </a:r>
            <a:r>
              <a:rPr b="1" lang="es-419" sz="1395"/>
              <a:t>Netscape</a:t>
            </a:r>
            <a:r>
              <a:rPr lang="es-419" sz="1395"/>
              <a:t> en 1996, permitió </a:t>
            </a:r>
            <a:r>
              <a:rPr b="1" lang="es-419" sz="1395"/>
              <a:t>dividir</a:t>
            </a:r>
            <a:r>
              <a:rPr lang="es-419" sz="1395"/>
              <a:t> una página en diferentes </a:t>
            </a:r>
            <a:r>
              <a:rPr b="1" lang="es-419" sz="1395"/>
              <a:t>secciones</a:t>
            </a:r>
            <a:r>
              <a:rPr lang="es-419" sz="1395"/>
              <a:t>.</a:t>
            </a:r>
            <a:endParaRPr sz="1395"/>
          </a:p>
          <a:p>
            <a:pPr indent="-31718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s-419" sz="1395"/>
              <a:t>Esta separación de las partes </a:t>
            </a:r>
            <a:r>
              <a:rPr b="1" lang="es-419" sz="1395"/>
              <a:t>estáticas</a:t>
            </a:r>
            <a:r>
              <a:rPr lang="es-419" sz="1395"/>
              <a:t> ("navegación" y "cabecera") de las </a:t>
            </a:r>
            <a:r>
              <a:rPr b="1" lang="es-419" sz="1395"/>
              <a:t>dinámicas</a:t>
            </a:r>
            <a:r>
              <a:rPr lang="es-419" sz="1395"/>
              <a:t> era útil en aquella época porque la conexión a </a:t>
            </a:r>
            <a:r>
              <a:rPr b="1" lang="es-419" sz="1395"/>
              <a:t>Internet</a:t>
            </a:r>
            <a:r>
              <a:rPr lang="es-419" sz="1395"/>
              <a:t> de la mayoría era </a:t>
            </a:r>
            <a:r>
              <a:rPr b="1" lang="es-419" sz="1395"/>
              <a:t>muy limitada</a:t>
            </a:r>
            <a:r>
              <a:rPr lang="es-419" sz="1395"/>
              <a:t> y de baja velocidad.</a:t>
            </a:r>
            <a:endParaRPr sz="1395"/>
          </a:p>
          <a:p>
            <a:pPr indent="-317182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s-419" sz="1395"/>
              <a:t>Así pues, se intentaba </a:t>
            </a:r>
            <a:r>
              <a:rPr b="1" lang="es-419" sz="1395"/>
              <a:t>recargar</a:t>
            </a:r>
            <a:r>
              <a:rPr lang="es-419" sz="1395"/>
              <a:t> únicamente ciertas </a:t>
            </a:r>
            <a:r>
              <a:rPr b="1" lang="es-419" sz="1395"/>
              <a:t>partes</a:t>
            </a:r>
            <a:r>
              <a:rPr lang="es-419" sz="1395"/>
              <a:t> de un sitio web, las que </a:t>
            </a:r>
            <a:r>
              <a:rPr b="1" lang="es-419" sz="1395"/>
              <a:t>cambiaban</a:t>
            </a:r>
            <a:r>
              <a:rPr lang="es-419" sz="1395"/>
              <a:t>, mientras que las partes estáticas permanecían inalteradas y , de tal modo, se ahorraban datos y se reducía el tiempo de carga.</a:t>
            </a:r>
            <a:endParaRPr sz="139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Frames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757575" y="1843175"/>
            <a:ext cx="4684200" cy="225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&gt;Frame columnas&lt;/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frameset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cols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"30%,20%,50%"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frame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"files.html"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frame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"index.html"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frame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"forms.html"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frameset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81" name="Google Shape;181;p17"/>
          <p:cNvCxnSpPr>
            <a:stCxn id="180" idx="3"/>
          </p:cNvCxnSpPr>
          <p:nvPr/>
        </p:nvCxnSpPr>
        <p:spPr>
          <a:xfrm>
            <a:off x="5441775" y="2970575"/>
            <a:ext cx="1967700" cy="2161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Frames</a:t>
            </a:r>
            <a:endParaRPr/>
          </a:p>
        </p:txBody>
      </p:sp>
      <p:pic>
        <p:nvPicPr>
          <p:cNvPr id="187" name="Google Shape;187;p18" title="Screenshot from 2025-04-14 02-27-4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575" y="1142475"/>
            <a:ext cx="8500825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Ejemplos</a:t>
            </a:r>
            <a:endParaRPr/>
          </a:p>
        </p:txBody>
      </p:sp>
      <p:pic>
        <p:nvPicPr>
          <p:cNvPr id="193" name="Google Shape;193;p19" title="Screenshot from 2025-04-14 02-36-2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4000" y="1044450"/>
            <a:ext cx="4674075" cy="11250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4" name="Google Shape;194;p19" title="Screenshot from 2025-04-14 02-36-1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760724"/>
            <a:ext cx="4576799" cy="1306575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19" title="Screenshot from 2025-04-14 02-36-0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150" y="2600122"/>
            <a:ext cx="4619876" cy="9018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6" name="Google Shape;196;p19"/>
          <p:cNvSpPr txBox="1"/>
          <p:nvPr>
            <p:ph idx="4294967295" type="body"/>
          </p:nvPr>
        </p:nvSpPr>
        <p:spPr>
          <a:xfrm>
            <a:off x="5391900" y="2796475"/>
            <a:ext cx="3077100" cy="509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300"/>
              <a:t>Divisiones a nivel de columnas</a:t>
            </a:r>
            <a:endParaRPr sz="1300"/>
          </a:p>
        </p:txBody>
      </p:sp>
      <p:sp>
        <p:nvSpPr>
          <p:cNvPr id="197" name="Google Shape;197;p19"/>
          <p:cNvSpPr txBox="1"/>
          <p:nvPr>
            <p:ph idx="4294967295" type="body"/>
          </p:nvPr>
        </p:nvSpPr>
        <p:spPr>
          <a:xfrm>
            <a:off x="608450" y="4054775"/>
            <a:ext cx="3077100" cy="509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300"/>
              <a:t>Divisiones a nivel de filas</a:t>
            </a:r>
            <a:endParaRPr sz="1300"/>
          </a:p>
        </p:txBody>
      </p:sp>
      <p:sp>
        <p:nvSpPr>
          <p:cNvPr id="198" name="Google Shape;198;p19"/>
          <p:cNvSpPr txBox="1"/>
          <p:nvPr>
            <p:ph idx="4294967295" type="body"/>
          </p:nvPr>
        </p:nvSpPr>
        <p:spPr>
          <a:xfrm>
            <a:off x="334750" y="1352425"/>
            <a:ext cx="3077100" cy="509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300"/>
              <a:t>Divisiones combinadas</a:t>
            </a:r>
            <a:endParaRPr sz="1300"/>
          </a:p>
        </p:txBody>
      </p:sp>
      <p:sp>
        <p:nvSpPr>
          <p:cNvPr id="199" name="Google Shape;199;p19"/>
          <p:cNvSpPr txBox="1"/>
          <p:nvPr>
            <p:ph idx="4294967295" type="body"/>
          </p:nvPr>
        </p:nvSpPr>
        <p:spPr>
          <a:xfrm rot="-1091331">
            <a:off x="1719958" y="2172106"/>
            <a:ext cx="5764538" cy="785991"/>
          </a:xfrm>
          <a:prstGeom prst="rect">
            <a:avLst/>
          </a:prstGeom>
          <a:solidFill>
            <a:srgbClr val="A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s-419" sz="2000">
                <a:solidFill>
                  <a:schemeClr val="lt1"/>
                </a:solidFill>
              </a:rPr>
              <a:t>Actualmente en desuso (Obsoleto)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IFrame</a:t>
            </a:r>
            <a:endParaRPr/>
          </a:p>
        </p:txBody>
      </p:sp>
      <p:sp>
        <p:nvSpPr>
          <p:cNvPr id="205" name="Google Shape;205;p20"/>
          <p:cNvSpPr txBox="1"/>
          <p:nvPr>
            <p:ph idx="4294967295" type="body"/>
          </p:nvPr>
        </p:nvSpPr>
        <p:spPr>
          <a:xfrm>
            <a:off x="581950" y="1306850"/>
            <a:ext cx="79779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395"/>
              <a:t>Un iframe (Inline frame) es un elemento HTML que permite incrustar otro documento HTML dentro de la página actual. Se usa comúnmente para mostrar contenido como videos, mapas, anuncios y feeds de redes sociales directamente en una página web.</a:t>
            </a:r>
            <a:endParaRPr sz="1395"/>
          </a:p>
        </p:txBody>
      </p:sp>
      <p:sp>
        <p:nvSpPr>
          <p:cNvPr id="206" name="Google Shape;206;p20"/>
          <p:cNvSpPr/>
          <p:nvPr/>
        </p:nvSpPr>
        <p:spPr>
          <a:xfrm>
            <a:off x="639525" y="2192650"/>
            <a:ext cx="5558100" cy="286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iframe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s-419" sz="10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00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1px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solid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s-419" sz="1000" u="none" cap="none" strike="noStrike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black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b="0" i="0" lang="es-419" sz="1000" u="none" cap="none" strike="noStrike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i="0" lang="es-419" sz="1000" u="none" cap="none" strike="noStrike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iframe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"inlineFrameExample"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"Inline Frame Example"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"700"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"https://www.openstreetmap.org/export/embed.html?bbox=-0.004017949104309083%2C51.47612752641776%2C0.00030577182769775396%2C51.478569861898606&amp;amp;layer=mapnik"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iframe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07" name="Google Shape;207;p20" title="Screenshot from 2025-04-14 02-49-3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0750" y="2395275"/>
            <a:ext cx="5123252" cy="27457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IFrame</a:t>
            </a:r>
            <a:endParaRPr/>
          </a:p>
        </p:txBody>
      </p:sp>
      <p:pic>
        <p:nvPicPr>
          <p:cNvPr id="213" name="Google Shape;213;p21" title="Screenshot from 2025-04-14 02-58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6449" y="1242175"/>
            <a:ext cx="3478199" cy="295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655100" y="1413150"/>
            <a:ext cx="4004400" cy="2317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&lt;!DOCTYPE html&gt;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iframe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"600"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"345"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-419" sz="10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s-419" sz="1000" u="none" cap="none" strike="noStrike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"https://www.youtube.com/embed/tgbNymZ7vqY"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iframe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Marquee (texto en movimiento)</a:t>
            </a:r>
            <a:endParaRPr/>
          </a:p>
        </p:txBody>
      </p:sp>
      <p:pic>
        <p:nvPicPr>
          <p:cNvPr id="220" name="Google Shape;220;p22" title="Screenshot from 2025-04-14 03-01-1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612" y="1299625"/>
            <a:ext cx="4350020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4955387" y="3101450"/>
            <a:ext cx="3781500" cy="1614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&lt;!DOCTYPE html&gt;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marquee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&gt;Hello World&lt;/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marquee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b="0" i="0" lang="es-419" sz="1000" u="none" cap="none" strike="noStrike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b="0" i="0" lang="es-419" sz="10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0" i="0" sz="10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2" name="Google Shape;222;p22"/>
          <p:cNvSpPr txBox="1"/>
          <p:nvPr>
            <p:ph idx="4294967295" type="body"/>
          </p:nvPr>
        </p:nvSpPr>
        <p:spPr>
          <a:xfrm>
            <a:off x="4955537" y="1675500"/>
            <a:ext cx="37815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395"/>
              <a:t>La etiqueta html </a:t>
            </a:r>
            <a:r>
              <a:rPr lang="es-419" sz="139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39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marquee</a:t>
            </a:r>
            <a:r>
              <a:rPr lang="es-419" sz="139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1395"/>
              <a:t> se utiliza para insertar un área de texto en movimiento. También se la conoce como marquesina.</a:t>
            </a:r>
            <a:endParaRPr sz="139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Ejemplos</a:t>
            </a:r>
            <a:endParaRPr/>
          </a:p>
        </p:txBody>
      </p:sp>
      <p:pic>
        <p:nvPicPr>
          <p:cNvPr id="228" name="Google Shape;228;p23" title="Screenshot from 2025-04-14 03-06-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9013" y="1505500"/>
            <a:ext cx="5645975" cy="27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Preguntas</a:t>
            </a:r>
            <a:endParaRPr/>
          </a:p>
        </p:txBody>
      </p:sp>
      <p:pic>
        <p:nvPicPr>
          <p:cNvPr id="234" name="Google Shape;2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263" y="1147225"/>
            <a:ext cx="3691474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Práctica</a:t>
            </a:r>
            <a:endParaRPr/>
          </a:p>
        </p:txBody>
      </p:sp>
      <p:sp>
        <p:nvSpPr>
          <p:cNvPr id="240" name="Google Shape;240;p32"/>
          <p:cNvSpPr txBox="1"/>
          <p:nvPr>
            <p:ph idx="1" type="body"/>
          </p:nvPr>
        </p:nvSpPr>
        <p:spPr>
          <a:xfrm>
            <a:off x="311700" y="1225225"/>
            <a:ext cx="85206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¿Para qué utilizar Frame, Iframes y/o Marquees?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Replica el siguiente fragmento</a:t>
            </a:r>
            <a:endParaRPr/>
          </a:p>
        </p:txBody>
      </p:sp>
      <p:pic>
        <p:nvPicPr>
          <p:cNvPr id="241" name="Google Shape;2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750" y="2087950"/>
            <a:ext cx="7774502" cy="26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Resumen de la sesión</a:t>
            </a:r>
            <a:endParaRPr/>
          </a:p>
        </p:txBody>
      </p:sp>
      <p:sp>
        <p:nvSpPr>
          <p:cNvPr id="247" name="Google Shape;247;p34"/>
          <p:cNvSpPr txBox="1"/>
          <p:nvPr/>
        </p:nvSpPr>
        <p:spPr>
          <a:xfrm>
            <a:off x="543500" y="1349200"/>
            <a:ext cx="371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hemos aprendido hoy?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217950" y="1673200"/>
            <a:ext cx="371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Tablas en HTML, estilos para tablas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4361900" y="1837325"/>
            <a:ext cx="4298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¿Que podemos representar con tablas?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4333175" y="2175775"/>
            <a:ext cx="3939600" cy="8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Permite representar información de diferentes formas, tenemos la posibilidad de gestionar el contenido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1782875" y="3154925"/>
            <a:ext cx="57021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¿En que paginas se puede ver la presencia de tablas?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Bibliografía</a:t>
            </a:r>
            <a:endParaRPr/>
          </a:p>
        </p:txBody>
      </p: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Jon Duckett (2021). HTML &amp; CSS: Design and Build Websites.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Javi Agenjo (2023). Introduction to web technologies: HTML + CSS + Javascript.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Geek For Geeks (2024). How to create a slideshow with HTML and CSS ?. </a:t>
            </a:r>
            <a:r>
              <a:rPr lang="es-419" sz="1700" u="sng">
                <a:solidFill>
                  <a:schemeClr val="hlink"/>
                </a:solidFill>
                <a:hlinkClick r:id="rId3"/>
              </a:rPr>
              <a:t>https://www.geeksforgeeks.org/programming-a-slideshow-with-html-and-css/</a:t>
            </a:r>
            <a:endParaRPr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¡Gracias!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839373e81_0_0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268" name="Google Shape;268;g38839373e81_0_0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1304"/>
              <a:buNone/>
            </a:pPr>
            <a:r>
              <a:rPr lang="es-419" sz="2300"/>
              <a:t>M.Sc. Jesamin Melissa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269" name="Google Shape;269;g38839373e8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