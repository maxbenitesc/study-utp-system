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307" r:id="rId4"/>
    <p:sldId id="308" r:id="rId5"/>
    <p:sldId id="309" r:id="rId6"/>
    <p:sldId id="312" r:id="rId7"/>
    <p:sldId id="313" r:id="rId8"/>
    <p:sldId id="314" r:id="rId9"/>
    <p:sldId id="315" r:id="rId10"/>
    <p:sldId id="316" r:id="rId11"/>
    <p:sldId id="317" r:id="rId12"/>
    <p:sldId id="319" r:id="rId13"/>
    <p:sldId id="320" r:id="rId14"/>
    <p:sldId id="321" r:id="rId15"/>
    <p:sldId id="322" r:id="rId16"/>
    <p:sldId id="326" r:id="rId17"/>
    <p:sldId id="323" r:id="rId18"/>
    <p:sldId id="324" r:id="rId19"/>
    <p:sldId id="325" r:id="rId20"/>
    <p:sldId id="310" r:id="rId21"/>
    <p:sldId id="311" r:id="rId22"/>
    <p:sldId id="275" r:id="rId2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600" y="32"/>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CE79C3-AE97-49C5-89BD-3C4A9E7E9188}" type="datetimeFigureOut">
              <a:rPr lang="es-PE" smtClean="0"/>
              <a:t>16/09/2024</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449C51-E0D2-4739-895A-B28EB8265562}" type="slidenum">
              <a:rPr lang="es-PE" smtClean="0"/>
              <a:t>‹Nº›</a:t>
            </a:fld>
            <a:endParaRPr lang="es-PE"/>
          </a:p>
        </p:txBody>
      </p:sp>
    </p:spTree>
    <p:extLst>
      <p:ext uri="{BB962C8B-B14F-4D97-AF65-F5344CB8AC3E}">
        <p14:creationId xmlns:p14="http://schemas.microsoft.com/office/powerpoint/2010/main" val="2827054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PE"/>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PE"/>
          </a:p>
        </p:txBody>
      </p:sp>
      <p:sp>
        <p:nvSpPr>
          <p:cNvPr id="4" name="Marcador de fecha 3"/>
          <p:cNvSpPr>
            <a:spLocks noGrp="1"/>
          </p:cNvSpPr>
          <p:nvPr>
            <p:ph type="dt" sz="half" idx="10"/>
          </p:nvPr>
        </p:nvSpPr>
        <p:spPr/>
        <p:txBody>
          <a:bodyPr/>
          <a:lstStyle/>
          <a:p>
            <a:fld id="{FCA19B92-A47C-458E-AE74-CC7A1303C729}" type="datetimeFigureOut">
              <a:rPr lang="es-PE" smtClean="0"/>
              <a:t>16/09/2024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3875049F-9CFD-46AF-B43E-E94FB0024B8E}" type="slidenum">
              <a:rPr lang="es-PE" smtClean="0"/>
              <a:t>‹Nº›</a:t>
            </a:fld>
            <a:endParaRPr lang="es-PE"/>
          </a:p>
        </p:txBody>
      </p:sp>
    </p:spTree>
    <p:extLst>
      <p:ext uri="{BB962C8B-B14F-4D97-AF65-F5344CB8AC3E}">
        <p14:creationId xmlns:p14="http://schemas.microsoft.com/office/powerpoint/2010/main" val="238312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FCA19B92-A47C-458E-AE74-CC7A1303C729}" type="datetimeFigureOut">
              <a:rPr lang="es-PE" smtClean="0"/>
              <a:t>16/09/2024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3875049F-9CFD-46AF-B43E-E94FB0024B8E}" type="slidenum">
              <a:rPr lang="es-PE" smtClean="0"/>
              <a:t>‹Nº›</a:t>
            </a:fld>
            <a:endParaRPr lang="es-PE"/>
          </a:p>
        </p:txBody>
      </p:sp>
    </p:spTree>
    <p:extLst>
      <p:ext uri="{BB962C8B-B14F-4D97-AF65-F5344CB8AC3E}">
        <p14:creationId xmlns:p14="http://schemas.microsoft.com/office/powerpoint/2010/main" val="686709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FCA19B92-A47C-458E-AE74-CC7A1303C729}" type="datetimeFigureOut">
              <a:rPr lang="es-PE" smtClean="0"/>
              <a:t>16/09/2024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3875049F-9CFD-46AF-B43E-E94FB0024B8E}" type="slidenum">
              <a:rPr lang="es-PE" smtClean="0"/>
              <a:t>‹Nº›</a:t>
            </a:fld>
            <a:endParaRPr lang="es-PE"/>
          </a:p>
        </p:txBody>
      </p:sp>
    </p:spTree>
    <p:extLst>
      <p:ext uri="{BB962C8B-B14F-4D97-AF65-F5344CB8AC3E}">
        <p14:creationId xmlns:p14="http://schemas.microsoft.com/office/powerpoint/2010/main" val="2527362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FCA19B92-A47C-458E-AE74-CC7A1303C729}" type="datetimeFigureOut">
              <a:rPr lang="es-PE" smtClean="0"/>
              <a:t>16/09/2024</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3875049F-9CFD-46AF-B43E-E94FB0024B8E}" type="slidenum">
              <a:rPr lang="es-PE" smtClean="0"/>
              <a:t>‹Nº›</a:t>
            </a:fld>
            <a:endParaRPr lang="es-PE"/>
          </a:p>
        </p:txBody>
      </p:sp>
    </p:spTree>
    <p:extLst>
      <p:ext uri="{BB962C8B-B14F-4D97-AF65-F5344CB8AC3E}">
        <p14:creationId xmlns:p14="http://schemas.microsoft.com/office/powerpoint/2010/main" val="1883532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FCA19B92-A47C-458E-AE74-CC7A1303C729}" type="datetimeFigureOut">
              <a:rPr lang="es-PE" smtClean="0"/>
              <a:t>16/09/2024</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3875049F-9CFD-46AF-B43E-E94FB0024B8E}" type="slidenum">
              <a:rPr lang="es-PE" smtClean="0"/>
              <a:t>‹Nº›</a:t>
            </a:fld>
            <a:endParaRPr lang="es-PE"/>
          </a:p>
        </p:txBody>
      </p:sp>
    </p:spTree>
    <p:extLst>
      <p:ext uri="{BB962C8B-B14F-4D97-AF65-F5344CB8AC3E}">
        <p14:creationId xmlns:p14="http://schemas.microsoft.com/office/powerpoint/2010/main" val="3341514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FCA19B92-A47C-458E-AE74-CC7A1303C729}" type="datetimeFigureOut">
              <a:rPr lang="es-PE" smtClean="0"/>
              <a:t>16/09/2024</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3875049F-9CFD-46AF-B43E-E94FB0024B8E}" type="slidenum">
              <a:rPr lang="es-PE" smtClean="0"/>
              <a:t>‹Nº›</a:t>
            </a:fld>
            <a:endParaRPr lang="es-PE"/>
          </a:p>
        </p:txBody>
      </p:sp>
    </p:spTree>
    <p:extLst>
      <p:ext uri="{BB962C8B-B14F-4D97-AF65-F5344CB8AC3E}">
        <p14:creationId xmlns:p14="http://schemas.microsoft.com/office/powerpoint/2010/main" val="2482086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FCA19B92-A47C-458E-AE74-CC7A1303C729}" type="datetimeFigureOut">
              <a:rPr lang="es-PE" smtClean="0"/>
              <a:t>16/09/2024</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3875049F-9CFD-46AF-B43E-E94FB0024B8E}" type="slidenum">
              <a:rPr lang="es-PE" smtClean="0"/>
              <a:t>‹Nº›</a:t>
            </a:fld>
            <a:endParaRPr lang="es-PE"/>
          </a:p>
        </p:txBody>
      </p:sp>
    </p:spTree>
    <p:extLst>
      <p:ext uri="{BB962C8B-B14F-4D97-AF65-F5344CB8AC3E}">
        <p14:creationId xmlns:p14="http://schemas.microsoft.com/office/powerpoint/2010/main" val="1502192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FCA19B92-A47C-458E-AE74-CC7A1303C729}" type="datetimeFigureOut">
              <a:rPr lang="es-PE" smtClean="0"/>
              <a:t>16/09/2024</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3875049F-9CFD-46AF-B43E-E94FB0024B8E}" type="slidenum">
              <a:rPr lang="es-PE" smtClean="0"/>
              <a:t>‹Nº›</a:t>
            </a:fld>
            <a:endParaRPr lang="es-PE"/>
          </a:p>
        </p:txBody>
      </p:sp>
    </p:spTree>
    <p:extLst>
      <p:ext uri="{BB962C8B-B14F-4D97-AF65-F5344CB8AC3E}">
        <p14:creationId xmlns:p14="http://schemas.microsoft.com/office/powerpoint/2010/main" val="1985605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FCA19B92-A47C-458E-AE74-CC7A1303C729}" type="datetimeFigureOut">
              <a:rPr lang="es-PE" smtClean="0"/>
              <a:t>16/09/2024</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3875049F-9CFD-46AF-B43E-E94FB0024B8E}" type="slidenum">
              <a:rPr lang="es-PE" smtClean="0"/>
              <a:t>‹Nº›</a:t>
            </a:fld>
            <a:endParaRPr lang="es-PE"/>
          </a:p>
        </p:txBody>
      </p:sp>
    </p:spTree>
    <p:extLst>
      <p:ext uri="{BB962C8B-B14F-4D97-AF65-F5344CB8AC3E}">
        <p14:creationId xmlns:p14="http://schemas.microsoft.com/office/powerpoint/2010/main" val="4216603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FCA19B92-A47C-458E-AE74-CC7A1303C729}" type="datetimeFigureOut">
              <a:rPr lang="es-PE" smtClean="0"/>
              <a:t>16/09/2024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3875049F-9CFD-46AF-B43E-E94FB0024B8E}" type="slidenum">
              <a:rPr lang="es-PE" smtClean="0"/>
              <a:t>‹Nº›</a:t>
            </a:fld>
            <a:endParaRPr lang="es-PE"/>
          </a:p>
        </p:txBody>
      </p:sp>
    </p:spTree>
    <p:extLst>
      <p:ext uri="{BB962C8B-B14F-4D97-AF65-F5344CB8AC3E}">
        <p14:creationId xmlns:p14="http://schemas.microsoft.com/office/powerpoint/2010/main" val="1577930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FCA19B92-A47C-458E-AE74-CC7A1303C729}" type="datetimeFigureOut">
              <a:rPr lang="es-PE" smtClean="0"/>
              <a:t>16/09/2024</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3875049F-9CFD-46AF-B43E-E94FB0024B8E}" type="slidenum">
              <a:rPr lang="es-PE" smtClean="0"/>
              <a:t>‹Nº›</a:t>
            </a:fld>
            <a:endParaRPr lang="es-PE"/>
          </a:p>
        </p:txBody>
      </p:sp>
    </p:spTree>
    <p:extLst>
      <p:ext uri="{BB962C8B-B14F-4D97-AF65-F5344CB8AC3E}">
        <p14:creationId xmlns:p14="http://schemas.microsoft.com/office/powerpoint/2010/main" val="75412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olo el título">
    <p:spTree>
      <p:nvGrpSpPr>
        <p:cNvPr id="1" name=""/>
        <p:cNvGrpSpPr/>
        <p:nvPr/>
      </p:nvGrpSpPr>
      <p:grpSpPr>
        <a:xfrm>
          <a:off x="0" y="0"/>
          <a:ext cx="0" cy="0"/>
          <a:chOff x="0" y="0"/>
          <a:chExt cx="0" cy="0"/>
        </a:xfrm>
      </p:grpSpPr>
      <p:pic>
        <p:nvPicPr>
          <p:cNvPr id="5" name="Imagen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52"/>
            <a:ext cx="12192000" cy="6857295"/>
          </a:xfrm>
          <a:prstGeom prst="rect">
            <a:avLst/>
          </a:prstGeom>
        </p:spPr>
      </p:pic>
      <p:sp>
        <p:nvSpPr>
          <p:cNvPr id="7" name="Marcador de texto 2"/>
          <p:cNvSpPr>
            <a:spLocks noGrp="1"/>
          </p:cNvSpPr>
          <p:nvPr>
            <p:ph type="body" idx="1" hasCustomPrompt="1"/>
          </p:nvPr>
        </p:nvSpPr>
        <p:spPr>
          <a:xfrm>
            <a:off x="831850" y="469339"/>
            <a:ext cx="10515600" cy="5620312"/>
          </a:xfrm>
        </p:spPr>
        <p:txBody>
          <a:bodyPr/>
          <a:lstStyle>
            <a:lvl1pPr marL="0" indent="0">
              <a:buNone/>
              <a:defRPr sz="2400">
                <a:solidFill>
                  <a:schemeClr val="tx1">
                    <a:tint val="75000"/>
                  </a:schemeClr>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Contenido</a:t>
            </a:r>
          </a:p>
        </p:txBody>
      </p:sp>
    </p:spTree>
    <p:extLst>
      <p:ext uri="{BB962C8B-B14F-4D97-AF65-F5344CB8AC3E}">
        <p14:creationId xmlns:p14="http://schemas.microsoft.com/office/powerpoint/2010/main" val="193264048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Solo el título">
    <p:spTree>
      <p:nvGrpSpPr>
        <p:cNvPr id="1" name=""/>
        <p:cNvGrpSpPr/>
        <p:nvPr/>
      </p:nvGrpSpPr>
      <p:grpSpPr>
        <a:xfrm>
          <a:off x="0" y="0"/>
          <a:ext cx="0" cy="0"/>
          <a:chOff x="0" y="0"/>
          <a:chExt cx="0" cy="0"/>
        </a:xfrm>
      </p:grpSpPr>
      <p:pic>
        <p:nvPicPr>
          <p:cNvPr id="5" name="Imagen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52"/>
            <a:ext cx="12192000" cy="6857295"/>
          </a:xfrm>
          <a:prstGeom prst="rect">
            <a:avLst/>
          </a:prstGeom>
        </p:spPr>
      </p:pic>
      <p:sp>
        <p:nvSpPr>
          <p:cNvPr id="7" name="Marcador de texto 2"/>
          <p:cNvSpPr>
            <a:spLocks noGrp="1"/>
          </p:cNvSpPr>
          <p:nvPr>
            <p:ph type="body" idx="1" hasCustomPrompt="1"/>
          </p:nvPr>
        </p:nvSpPr>
        <p:spPr>
          <a:xfrm>
            <a:off x="831850" y="469339"/>
            <a:ext cx="10515600" cy="5620312"/>
          </a:xfrm>
        </p:spPr>
        <p:txBody>
          <a:bodyPr/>
          <a:lstStyle>
            <a:lvl1pPr marL="0" indent="0">
              <a:buNone/>
              <a:defRPr sz="2400">
                <a:solidFill>
                  <a:schemeClr val="tx1">
                    <a:tint val="75000"/>
                  </a:schemeClr>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Contenido</a:t>
            </a:r>
          </a:p>
        </p:txBody>
      </p:sp>
    </p:spTree>
    <p:extLst>
      <p:ext uri="{BB962C8B-B14F-4D97-AF65-F5344CB8AC3E}">
        <p14:creationId xmlns:p14="http://schemas.microsoft.com/office/powerpoint/2010/main" val="280082706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Solo el título">
    <p:spTree>
      <p:nvGrpSpPr>
        <p:cNvPr id="1" name=""/>
        <p:cNvGrpSpPr/>
        <p:nvPr/>
      </p:nvGrpSpPr>
      <p:grpSpPr>
        <a:xfrm>
          <a:off x="0" y="0"/>
          <a:ext cx="0" cy="0"/>
          <a:chOff x="0" y="0"/>
          <a:chExt cx="0" cy="0"/>
        </a:xfrm>
      </p:grpSpPr>
      <p:pic>
        <p:nvPicPr>
          <p:cNvPr id="5" name="Imagen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52"/>
            <a:ext cx="12192000" cy="6857295"/>
          </a:xfrm>
          <a:prstGeom prst="rect">
            <a:avLst/>
          </a:prstGeom>
        </p:spPr>
      </p:pic>
      <p:sp>
        <p:nvSpPr>
          <p:cNvPr id="7" name="Marcador de texto 2"/>
          <p:cNvSpPr>
            <a:spLocks noGrp="1"/>
          </p:cNvSpPr>
          <p:nvPr>
            <p:ph type="body" idx="1" hasCustomPrompt="1"/>
          </p:nvPr>
        </p:nvSpPr>
        <p:spPr>
          <a:xfrm>
            <a:off x="831850" y="469339"/>
            <a:ext cx="10515600" cy="5620312"/>
          </a:xfrm>
        </p:spPr>
        <p:txBody>
          <a:bodyPr/>
          <a:lstStyle>
            <a:lvl1pPr marL="0" indent="0">
              <a:buNone/>
              <a:defRPr sz="2400">
                <a:solidFill>
                  <a:schemeClr val="tx1">
                    <a:tint val="75000"/>
                  </a:schemeClr>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Contenido</a:t>
            </a:r>
          </a:p>
        </p:txBody>
      </p:sp>
    </p:spTree>
    <p:extLst>
      <p:ext uri="{BB962C8B-B14F-4D97-AF65-F5344CB8AC3E}">
        <p14:creationId xmlns:p14="http://schemas.microsoft.com/office/powerpoint/2010/main" val="231525115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Solo el título">
    <p:spTree>
      <p:nvGrpSpPr>
        <p:cNvPr id="1" name=""/>
        <p:cNvGrpSpPr/>
        <p:nvPr/>
      </p:nvGrpSpPr>
      <p:grpSpPr>
        <a:xfrm>
          <a:off x="0" y="0"/>
          <a:ext cx="0" cy="0"/>
          <a:chOff x="0" y="0"/>
          <a:chExt cx="0" cy="0"/>
        </a:xfrm>
      </p:grpSpPr>
      <p:pic>
        <p:nvPicPr>
          <p:cNvPr id="5" name="Imagen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52"/>
            <a:ext cx="12192000" cy="6857295"/>
          </a:xfrm>
          <a:prstGeom prst="rect">
            <a:avLst/>
          </a:prstGeom>
        </p:spPr>
      </p:pic>
      <p:sp>
        <p:nvSpPr>
          <p:cNvPr id="7" name="Marcador de texto 2"/>
          <p:cNvSpPr>
            <a:spLocks noGrp="1"/>
          </p:cNvSpPr>
          <p:nvPr>
            <p:ph type="body" idx="1" hasCustomPrompt="1"/>
          </p:nvPr>
        </p:nvSpPr>
        <p:spPr>
          <a:xfrm>
            <a:off x="831850" y="469339"/>
            <a:ext cx="10515600" cy="5620312"/>
          </a:xfrm>
        </p:spPr>
        <p:txBody>
          <a:bodyPr/>
          <a:lstStyle>
            <a:lvl1pPr marL="0" indent="0">
              <a:buNone/>
              <a:defRPr sz="2400">
                <a:solidFill>
                  <a:schemeClr val="tx1">
                    <a:tint val="75000"/>
                  </a:schemeClr>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Contenido</a:t>
            </a:r>
          </a:p>
        </p:txBody>
      </p:sp>
    </p:spTree>
    <p:extLst>
      <p:ext uri="{BB962C8B-B14F-4D97-AF65-F5344CB8AC3E}">
        <p14:creationId xmlns:p14="http://schemas.microsoft.com/office/powerpoint/2010/main" val="208188408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Solo el título">
    <p:spTree>
      <p:nvGrpSpPr>
        <p:cNvPr id="1" name=""/>
        <p:cNvGrpSpPr/>
        <p:nvPr/>
      </p:nvGrpSpPr>
      <p:grpSpPr>
        <a:xfrm>
          <a:off x="0" y="0"/>
          <a:ext cx="0" cy="0"/>
          <a:chOff x="0" y="0"/>
          <a:chExt cx="0" cy="0"/>
        </a:xfrm>
      </p:grpSpPr>
      <p:pic>
        <p:nvPicPr>
          <p:cNvPr id="5" name="Imagen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52"/>
            <a:ext cx="12192000" cy="6857295"/>
          </a:xfrm>
          <a:prstGeom prst="rect">
            <a:avLst/>
          </a:prstGeom>
        </p:spPr>
      </p:pic>
      <p:sp>
        <p:nvSpPr>
          <p:cNvPr id="7" name="Marcador de texto 2"/>
          <p:cNvSpPr>
            <a:spLocks noGrp="1"/>
          </p:cNvSpPr>
          <p:nvPr>
            <p:ph type="body" idx="1" hasCustomPrompt="1"/>
          </p:nvPr>
        </p:nvSpPr>
        <p:spPr>
          <a:xfrm>
            <a:off x="831850" y="469339"/>
            <a:ext cx="10515600" cy="5620312"/>
          </a:xfrm>
        </p:spPr>
        <p:txBody>
          <a:bodyPr/>
          <a:lstStyle>
            <a:lvl1pPr marL="0" indent="0">
              <a:buNone/>
              <a:defRPr sz="2400">
                <a:solidFill>
                  <a:schemeClr val="tx1">
                    <a:tint val="75000"/>
                  </a:schemeClr>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Contenido</a:t>
            </a:r>
          </a:p>
        </p:txBody>
      </p:sp>
    </p:spTree>
    <p:extLst>
      <p:ext uri="{BB962C8B-B14F-4D97-AF65-F5344CB8AC3E}">
        <p14:creationId xmlns:p14="http://schemas.microsoft.com/office/powerpoint/2010/main" val="224372996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A19B92-A47C-458E-AE74-CC7A1303C729}" type="datetimeFigureOut">
              <a:rPr lang="es-PE" smtClean="0"/>
              <a:t>16/09/2024</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75049F-9CFD-46AF-B43E-E94FB0024B8E}" type="slidenum">
              <a:rPr lang="es-PE" smtClean="0"/>
              <a:t>‹Nº›</a:t>
            </a:fld>
            <a:endParaRPr lang="es-PE"/>
          </a:p>
        </p:txBody>
      </p:sp>
    </p:spTree>
    <p:extLst>
      <p:ext uri="{BB962C8B-B14F-4D97-AF65-F5344CB8AC3E}">
        <p14:creationId xmlns:p14="http://schemas.microsoft.com/office/powerpoint/2010/main" val="18859848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n-US" dirty="0" err="1"/>
              <a:t>Algoritmos</a:t>
            </a:r>
            <a:r>
              <a:rPr lang="en-US" dirty="0"/>
              <a:t> y </a:t>
            </a:r>
            <a:r>
              <a:rPr lang="en-US" dirty="0" err="1"/>
              <a:t>Estructuras</a:t>
            </a:r>
            <a:r>
              <a:rPr lang="en-US" dirty="0"/>
              <a:t> de </a:t>
            </a:r>
            <a:r>
              <a:rPr lang="en-US" dirty="0" err="1"/>
              <a:t>Datos</a:t>
            </a:r>
            <a:endParaRPr lang="es-PE" dirty="0"/>
          </a:p>
        </p:txBody>
      </p:sp>
      <p:sp>
        <p:nvSpPr>
          <p:cNvPr id="3" name="Subtítulo 2"/>
          <p:cNvSpPr>
            <a:spLocks noGrp="1"/>
          </p:cNvSpPr>
          <p:nvPr>
            <p:ph type="subTitle" idx="1"/>
          </p:nvPr>
        </p:nvSpPr>
        <p:spPr/>
        <p:txBody>
          <a:bodyPr>
            <a:normAutofit/>
          </a:bodyPr>
          <a:lstStyle/>
          <a:p>
            <a:pPr eaLnBrk="0" hangingPunct="0">
              <a:spcBef>
                <a:spcPts val="0"/>
              </a:spcBef>
              <a:defRPr/>
            </a:pPr>
            <a:r>
              <a:rPr lang="es-ES" sz="6000" dirty="0" smtClean="0">
                <a:latin typeface="+mj-lt"/>
                <a:ea typeface="+mj-ea"/>
                <a:cs typeface="+mj-cs"/>
              </a:rPr>
              <a:t>TAD</a:t>
            </a:r>
            <a:endParaRPr lang="es-ES" sz="6000" dirty="0">
              <a:latin typeface="+mj-lt"/>
              <a:ea typeface="+mj-ea"/>
              <a:cs typeface="+mj-cs"/>
            </a:endParaRPr>
          </a:p>
        </p:txBody>
      </p:sp>
    </p:spTree>
    <p:extLst>
      <p:ext uri="{BB962C8B-B14F-4D97-AF65-F5344CB8AC3E}">
        <p14:creationId xmlns:p14="http://schemas.microsoft.com/office/powerpoint/2010/main" val="197254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Logro de aprendizaje</a:t>
            </a:r>
          </a:p>
        </p:txBody>
      </p:sp>
      <p:sp>
        <p:nvSpPr>
          <p:cNvPr id="4" name="Rectángulo: esquinas diagonales redondeadas 3">
            <a:extLst>
              <a:ext uri="{FF2B5EF4-FFF2-40B4-BE49-F238E27FC236}">
                <a16:creationId xmlns:a16="http://schemas.microsoft.com/office/drawing/2014/main" id="{65049933-C646-4019-B9E2-D4157419C3D7}"/>
              </a:ext>
            </a:extLst>
          </p:cNvPr>
          <p:cNvSpPr/>
          <p:nvPr/>
        </p:nvSpPr>
        <p:spPr>
          <a:xfrm>
            <a:off x="2053804" y="2788720"/>
            <a:ext cx="7580773" cy="2425148"/>
          </a:xfrm>
          <a:prstGeom prst="round2DiagRect">
            <a:avLst/>
          </a:prstGeom>
          <a:solidFill>
            <a:srgbClr val="00206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2400" dirty="0">
                <a:solidFill>
                  <a:schemeClr val="bg1"/>
                </a:solidFill>
              </a:rPr>
              <a:t>Al finalizar la sesión el estudiante </a:t>
            </a:r>
            <a:r>
              <a:rPr lang="es-ES" sz="2400" dirty="0" smtClean="0">
                <a:solidFill>
                  <a:schemeClr val="bg1"/>
                </a:solidFill>
              </a:rPr>
              <a:t>reconoce los Tipos Abstractos de Datos para desarrollar </a:t>
            </a:r>
            <a:r>
              <a:rPr lang="es-PE" sz="2400" dirty="0"/>
              <a:t>soluciones algorítmicas</a:t>
            </a:r>
            <a:r>
              <a:rPr lang="es-ES" sz="2400" dirty="0" smtClean="0">
                <a:solidFill>
                  <a:schemeClr val="bg1"/>
                </a:solidFill>
              </a:rPr>
              <a:t> </a:t>
            </a:r>
            <a:r>
              <a:rPr lang="es-ES" sz="2400" dirty="0">
                <a:solidFill>
                  <a:schemeClr val="bg1"/>
                </a:solidFill>
              </a:rPr>
              <a:t>en java.</a:t>
            </a:r>
          </a:p>
          <a:p>
            <a:pPr algn="just"/>
            <a:endParaRPr lang="es-PE" sz="2400" dirty="0"/>
          </a:p>
        </p:txBody>
      </p:sp>
    </p:spTree>
    <p:extLst>
      <p:ext uri="{BB962C8B-B14F-4D97-AF65-F5344CB8AC3E}">
        <p14:creationId xmlns:p14="http://schemas.microsoft.com/office/powerpoint/2010/main" val="24935679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r>
              <a:rPr lang="es-PE" dirty="0" smtClean="0">
                <a:solidFill>
                  <a:schemeClr val="tx1"/>
                </a:solidFill>
              </a:rPr>
              <a:t>Dudas sobre la clase anterior</a:t>
            </a:r>
            <a:endParaRPr lang="es-PE" dirty="0">
              <a:solidFill>
                <a:schemeClr val="tx1"/>
              </a:solidFill>
            </a:endParaRPr>
          </a:p>
        </p:txBody>
      </p:sp>
      <p:sp>
        <p:nvSpPr>
          <p:cNvPr id="3" name="Marcador de contenido 2"/>
          <p:cNvSpPr txBox="1">
            <a:spLocks/>
          </p:cNvSpPr>
          <p:nvPr/>
        </p:nvSpPr>
        <p:spPr>
          <a:xfrm>
            <a:off x="1008830" y="1206726"/>
            <a:ext cx="10515600" cy="48511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fontAlgn="auto">
              <a:spcAft>
                <a:spcPts val="0"/>
              </a:spcAft>
              <a:buFontTx/>
              <a:buNone/>
            </a:pPr>
            <a:r>
              <a:rPr lang="es-PE" altLang="es-MX" sz="2800" dirty="0" smtClean="0">
                <a:solidFill>
                  <a:schemeClr val="tx1"/>
                </a:solidFill>
              </a:rPr>
              <a:t>Matrices:</a:t>
            </a:r>
            <a:endParaRPr lang="es-PE" altLang="es-MX" sz="2800" dirty="0" smtClean="0">
              <a:solidFill>
                <a:schemeClr val="tx1"/>
              </a:solidFill>
            </a:endParaRPr>
          </a:p>
          <a:p>
            <a:pPr algn="just" fontAlgn="auto">
              <a:spcAft>
                <a:spcPts val="0"/>
              </a:spcAft>
              <a:buFontTx/>
              <a:buNone/>
            </a:pPr>
            <a:endParaRPr lang="es-PE" altLang="es-MX" sz="2800" dirty="0">
              <a:solidFill>
                <a:schemeClr val="tx1"/>
              </a:solidFill>
            </a:endParaRPr>
          </a:p>
          <a:p>
            <a:pPr marL="457200" indent="-457200" algn="just" fontAlgn="auto">
              <a:spcAft>
                <a:spcPts val="0"/>
              </a:spcAft>
              <a:buFont typeface="Arial" panose="020B0604020202020204" pitchFamily="34" charset="0"/>
              <a:buChar char="•"/>
            </a:pPr>
            <a:r>
              <a:rPr lang="es-PE" altLang="es-MX" sz="2800" dirty="0" smtClean="0">
                <a:solidFill>
                  <a:schemeClr val="tx1"/>
                </a:solidFill>
              </a:rPr>
              <a:t>Diferencia entre una matriz triangular y una matriz simétrica</a:t>
            </a:r>
            <a:endParaRPr lang="es-PE" altLang="es-MX" sz="2800" dirty="0" smtClean="0">
              <a:solidFill>
                <a:schemeClr val="tx1"/>
              </a:solidFill>
            </a:endParaRPr>
          </a:p>
          <a:p>
            <a:pPr marL="457200" indent="-457200" algn="just" fontAlgn="auto">
              <a:spcAft>
                <a:spcPts val="0"/>
              </a:spcAft>
              <a:buFont typeface="Arial" panose="020B0604020202020204" pitchFamily="34" charset="0"/>
              <a:buChar char="•"/>
            </a:pPr>
            <a:r>
              <a:rPr lang="es-ES" altLang="es-MX" sz="2800" dirty="0" smtClean="0">
                <a:solidFill>
                  <a:schemeClr val="tx1"/>
                </a:solidFill>
              </a:rPr>
              <a:t>Es posible que algún elemento de la matriz, no se almacenan en forma contigua, por su tipo de dato, por su tamaño?</a:t>
            </a:r>
            <a:endParaRPr lang="es-PE" altLang="es-MX" sz="2800" dirty="0" smtClean="0">
              <a:solidFill>
                <a:schemeClr val="tx1"/>
              </a:solidFill>
            </a:endParaRPr>
          </a:p>
          <a:p>
            <a:pPr algn="just" fontAlgn="auto">
              <a:spcAft>
                <a:spcPts val="0"/>
              </a:spcAft>
            </a:pPr>
            <a:endParaRPr lang="es-PE" altLang="es-MX" sz="2800" dirty="0" smtClean="0">
              <a:solidFill>
                <a:schemeClr val="tx1"/>
              </a:solidFill>
            </a:endParaRPr>
          </a:p>
          <a:p>
            <a:pPr marL="457200" indent="-457200" algn="just" fontAlgn="auto">
              <a:spcAft>
                <a:spcPts val="0"/>
              </a:spcAft>
              <a:buFont typeface="Arial" panose="020B0604020202020204" pitchFamily="34" charset="0"/>
              <a:buChar char="•"/>
            </a:pPr>
            <a:endParaRPr lang="es-PE" altLang="es-MX" sz="2800" dirty="0" smtClean="0">
              <a:solidFill>
                <a:schemeClr val="tx1"/>
              </a:solidFill>
            </a:endParaRPr>
          </a:p>
        </p:txBody>
      </p:sp>
    </p:spTree>
    <p:extLst>
      <p:ext uri="{BB962C8B-B14F-4D97-AF65-F5344CB8AC3E}">
        <p14:creationId xmlns:p14="http://schemas.microsoft.com/office/powerpoint/2010/main" val="2492514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r>
              <a:rPr lang="es-PE" dirty="0">
                <a:solidFill>
                  <a:schemeClr val="tx1"/>
                </a:solidFill>
              </a:rPr>
              <a:t>Conocimientos previos: </a:t>
            </a:r>
            <a:r>
              <a:rPr lang="es-PE" dirty="0" smtClean="0">
                <a:solidFill>
                  <a:schemeClr val="tx1"/>
                </a:solidFill>
              </a:rPr>
              <a:t>TAD</a:t>
            </a:r>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fontAlgn="auto">
              <a:spcAft>
                <a:spcPts val="0"/>
              </a:spcAft>
              <a:buFontTx/>
              <a:buNone/>
            </a:pPr>
            <a:endParaRPr lang="es-PE" altLang="es-MX" sz="2800" dirty="0" smtClean="0">
              <a:solidFill>
                <a:schemeClr val="tx1"/>
              </a:solidFill>
            </a:endParaRPr>
          </a:p>
          <a:p>
            <a:pPr algn="just" fontAlgn="auto">
              <a:spcAft>
                <a:spcPts val="0"/>
              </a:spcAft>
              <a:buFontTx/>
              <a:buNone/>
            </a:pPr>
            <a:endParaRPr lang="es-PE" altLang="es-MX" sz="2800" dirty="0">
              <a:solidFill>
                <a:schemeClr val="tx1"/>
              </a:solidFill>
            </a:endParaRPr>
          </a:p>
          <a:p>
            <a:pPr marL="457200" indent="-457200" algn="just" fontAlgn="auto">
              <a:spcAft>
                <a:spcPts val="0"/>
              </a:spcAft>
              <a:buFont typeface="Arial" panose="020B0604020202020204" pitchFamily="34" charset="0"/>
              <a:buChar char="•"/>
            </a:pPr>
            <a:r>
              <a:rPr lang="es-PE" altLang="es-MX" sz="2800" smtClean="0">
                <a:solidFill>
                  <a:schemeClr val="tx1"/>
                </a:solidFill>
              </a:rPr>
              <a:t>Creación </a:t>
            </a:r>
            <a:r>
              <a:rPr lang="es-PE" altLang="es-MX" sz="2800" dirty="0" smtClean="0">
                <a:solidFill>
                  <a:schemeClr val="tx1"/>
                </a:solidFill>
              </a:rPr>
              <a:t>de algún producto  existente</a:t>
            </a:r>
            <a:endParaRPr lang="es-PE" altLang="es-MX" sz="2800" dirty="0" smtClean="0">
              <a:solidFill>
                <a:schemeClr val="tx1"/>
              </a:solidFill>
            </a:endParaRPr>
          </a:p>
          <a:p>
            <a:pPr marL="457200" indent="-457200" algn="just" fontAlgn="auto">
              <a:spcAft>
                <a:spcPts val="0"/>
              </a:spcAft>
              <a:buFont typeface="Arial" panose="020B0604020202020204" pitchFamily="34" charset="0"/>
              <a:buChar char="•"/>
            </a:pPr>
            <a:endParaRPr lang="es-PE" altLang="es-MX" sz="2800" dirty="0">
              <a:solidFill>
                <a:schemeClr val="tx1"/>
              </a:solidFill>
            </a:endParaRPr>
          </a:p>
          <a:p>
            <a:pPr marL="457200" indent="-457200" algn="just" fontAlgn="auto">
              <a:spcAft>
                <a:spcPts val="0"/>
              </a:spcAft>
              <a:buFont typeface="Arial" panose="020B0604020202020204" pitchFamily="34" charset="0"/>
              <a:buChar char="•"/>
            </a:pPr>
            <a:r>
              <a:rPr lang="es-PE" altLang="es-MX" sz="2800" dirty="0" smtClean="0">
                <a:solidFill>
                  <a:schemeClr val="tx1"/>
                </a:solidFill>
              </a:rPr>
              <a:t>Imitación de una obra </a:t>
            </a:r>
            <a:endParaRPr lang="es-PE" altLang="es-MX" sz="2800" dirty="0" smtClean="0">
              <a:solidFill>
                <a:schemeClr val="tx1"/>
              </a:solidFill>
            </a:endParaRPr>
          </a:p>
        </p:txBody>
      </p:sp>
    </p:spTree>
    <p:extLst>
      <p:ext uri="{BB962C8B-B14F-4D97-AF65-F5344CB8AC3E}">
        <p14:creationId xmlns:p14="http://schemas.microsoft.com/office/powerpoint/2010/main" val="2192885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r>
              <a:rPr lang="es-PE" dirty="0" smtClean="0">
                <a:solidFill>
                  <a:schemeClr val="tx1"/>
                </a:solidFill>
              </a:rPr>
              <a:t>Utilidad del tema: </a:t>
            </a:r>
            <a:r>
              <a:rPr lang="es-PE" dirty="0" smtClean="0">
                <a:solidFill>
                  <a:schemeClr val="tx1"/>
                </a:solidFill>
              </a:rPr>
              <a:t>TAD</a:t>
            </a:r>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fontAlgn="auto">
              <a:spcAft>
                <a:spcPts val="0"/>
              </a:spcAft>
              <a:buFontTx/>
              <a:buNone/>
            </a:pPr>
            <a:r>
              <a:rPr lang="es-PE" altLang="es-MX" sz="2800" dirty="0" smtClean="0">
                <a:solidFill>
                  <a:schemeClr val="tx1"/>
                </a:solidFill>
              </a:rPr>
              <a:t>Porque es importante:</a:t>
            </a:r>
          </a:p>
          <a:p>
            <a:pPr algn="just" fontAlgn="auto">
              <a:spcAft>
                <a:spcPts val="0"/>
              </a:spcAft>
              <a:buFontTx/>
              <a:buNone/>
            </a:pPr>
            <a:endParaRPr lang="es-PE" altLang="es-MX" sz="2800" dirty="0">
              <a:solidFill>
                <a:schemeClr val="tx1"/>
              </a:solidFill>
            </a:endParaRPr>
          </a:p>
          <a:p>
            <a:pPr marL="457200" indent="-457200" algn="just">
              <a:buFont typeface="Arial" panose="020B0604020202020204" pitchFamily="34" charset="0"/>
              <a:buChar char="•"/>
            </a:pPr>
            <a:r>
              <a:rPr lang="es-ES" sz="2800" dirty="0">
                <a:solidFill>
                  <a:schemeClr val="tx1"/>
                </a:solidFill>
              </a:rPr>
              <a:t>Los tipos de datos son necesarios para identificar valores y operaciones posibles para variables y expresiones. </a:t>
            </a:r>
            <a:endParaRPr lang="es-ES" sz="2800" dirty="0" smtClean="0">
              <a:solidFill>
                <a:schemeClr val="tx1"/>
              </a:solidFill>
            </a:endParaRPr>
          </a:p>
          <a:p>
            <a:pPr marL="457200" indent="-457200" algn="just">
              <a:buFont typeface="Arial" panose="020B0604020202020204" pitchFamily="34" charset="0"/>
              <a:buChar char="•"/>
            </a:pPr>
            <a:r>
              <a:rPr lang="es-ES" sz="2800" dirty="0" smtClean="0">
                <a:solidFill>
                  <a:schemeClr val="tx1"/>
                </a:solidFill>
              </a:rPr>
              <a:t>Para </a:t>
            </a:r>
            <a:r>
              <a:rPr lang="es-ES" sz="2800" dirty="0">
                <a:solidFill>
                  <a:schemeClr val="tx1"/>
                </a:solidFill>
              </a:rPr>
              <a:t>tratar de acercar al mundo real la especificación de los datos de problemas</a:t>
            </a:r>
            <a:r>
              <a:rPr lang="es-ES" sz="2800" dirty="0" smtClean="0">
                <a:solidFill>
                  <a:schemeClr val="tx1"/>
                </a:solidFill>
              </a:rPr>
              <a:t>.</a:t>
            </a:r>
            <a:endParaRPr lang="es-PE" altLang="es-MX" sz="2800" dirty="0">
              <a:solidFill>
                <a:schemeClr val="tx1"/>
              </a:solidFill>
            </a:endParaRPr>
          </a:p>
        </p:txBody>
      </p:sp>
    </p:spTree>
    <p:extLst>
      <p:ext uri="{BB962C8B-B14F-4D97-AF65-F5344CB8AC3E}">
        <p14:creationId xmlns:p14="http://schemas.microsoft.com/office/powerpoint/2010/main" val="486626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r>
              <a:rPr lang="es-PE" dirty="0" smtClean="0">
                <a:solidFill>
                  <a:schemeClr val="tx1"/>
                </a:solidFill>
              </a:rPr>
              <a:t>Tipos Abstractos de Datos - TDA</a:t>
            </a:r>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s-ES" sz="2800" dirty="0">
                <a:solidFill>
                  <a:schemeClr val="tx1"/>
                </a:solidFill>
              </a:rPr>
              <a:t>La abstracción es un proceso cognitivo humano esencial para la comprensión de fenómenos o situaciones complejas que consiste en la categorización de elementos en grupos o clases de características similares. </a:t>
            </a:r>
            <a:endParaRPr lang="es-ES" sz="2800" dirty="0" smtClean="0">
              <a:solidFill>
                <a:schemeClr val="tx1"/>
              </a:solidFill>
            </a:endParaRPr>
          </a:p>
          <a:p>
            <a:pPr algn="just"/>
            <a:r>
              <a:rPr lang="es-ES" sz="2800" dirty="0" smtClean="0">
                <a:solidFill>
                  <a:schemeClr val="tx1"/>
                </a:solidFill>
              </a:rPr>
              <a:t>Cada </a:t>
            </a:r>
            <a:r>
              <a:rPr lang="es-ES" sz="2800" dirty="0">
                <a:solidFill>
                  <a:schemeClr val="tx1"/>
                </a:solidFill>
              </a:rPr>
              <a:t>una de las clases o grupo representa una abstracción, en virtud de la cual se destacan o ignoran determinadas características del grupo. </a:t>
            </a:r>
            <a:endParaRPr lang="es-ES" sz="2800" dirty="0" smtClean="0">
              <a:solidFill>
                <a:schemeClr val="tx1"/>
              </a:solidFill>
            </a:endParaRPr>
          </a:p>
          <a:p>
            <a:pPr algn="just"/>
            <a:r>
              <a:rPr lang="es-ES" sz="2800" dirty="0" smtClean="0">
                <a:solidFill>
                  <a:schemeClr val="tx1"/>
                </a:solidFill>
              </a:rPr>
              <a:t>La </a:t>
            </a:r>
            <a:r>
              <a:rPr lang="es-ES" sz="2800" dirty="0">
                <a:solidFill>
                  <a:schemeClr val="tx1"/>
                </a:solidFill>
              </a:rPr>
              <a:t>abstracción, por lo tanto, presenta dos caras complementarias: • En primer lugar, considera o resalta algunos de los aspectos de los elementos en estudio, en concreto, los aspectos relevantes para el problema o situación que se desea resolver. • </a:t>
            </a:r>
            <a:endParaRPr lang="es-ES" sz="2800" dirty="0" smtClean="0">
              <a:solidFill>
                <a:schemeClr val="tx1"/>
              </a:solidFill>
            </a:endParaRPr>
          </a:p>
          <a:p>
            <a:pPr algn="just"/>
            <a:r>
              <a:rPr lang="es-ES" sz="2800" dirty="0" smtClean="0">
                <a:solidFill>
                  <a:schemeClr val="tx1"/>
                </a:solidFill>
              </a:rPr>
              <a:t>En </a:t>
            </a:r>
            <a:r>
              <a:rPr lang="es-ES" sz="2800" dirty="0">
                <a:solidFill>
                  <a:schemeClr val="tx1"/>
                </a:solidFill>
              </a:rPr>
              <a:t>segundo lugar, ignora el resto de los detalles –no relevantes para la tarea en curso– de los elementos que se abstraen. </a:t>
            </a:r>
            <a:endParaRPr lang="es-PE" altLang="es-MX" sz="2800" dirty="0" smtClean="0">
              <a:solidFill>
                <a:schemeClr val="tx1"/>
              </a:solidFill>
            </a:endParaRPr>
          </a:p>
        </p:txBody>
      </p:sp>
    </p:spTree>
    <p:extLst>
      <p:ext uri="{BB962C8B-B14F-4D97-AF65-F5344CB8AC3E}">
        <p14:creationId xmlns:p14="http://schemas.microsoft.com/office/powerpoint/2010/main" val="451891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r>
              <a:rPr lang="es-PE" dirty="0" smtClean="0">
                <a:solidFill>
                  <a:schemeClr val="tx1"/>
                </a:solidFill>
              </a:rPr>
              <a:t>Tipos Abstractos de Datos - TDA</a:t>
            </a:r>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s-ES" sz="2800" dirty="0">
                <a:solidFill>
                  <a:schemeClr val="tx1"/>
                </a:solidFill>
              </a:rPr>
              <a:t>La abstracción permite estudiar un sistema complejo a diferentes niveles de detalle, es decir, la abstracción sigue un método jerárquico. </a:t>
            </a:r>
            <a:endParaRPr lang="es-ES" sz="2800" dirty="0" smtClean="0">
              <a:solidFill>
                <a:schemeClr val="tx1"/>
              </a:solidFill>
            </a:endParaRPr>
          </a:p>
          <a:p>
            <a:pPr algn="just"/>
            <a:endParaRPr lang="es-ES" sz="2800" dirty="0">
              <a:solidFill>
                <a:schemeClr val="tx1"/>
              </a:solidFill>
            </a:endParaRPr>
          </a:p>
          <a:p>
            <a:pPr algn="just"/>
            <a:r>
              <a:rPr lang="es-ES" sz="2800" dirty="0" smtClean="0">
                <a:solidFill>
                  <a:schemeClr val="tx1"/>
                </a:solidFill>
              </a:rPr>
              <a:t>El </a:t>
            </a:r>
            <a:r>
              <a:rPr lang="es-ES" sz="2800" dirty="0">
                <a:solidFill>
                  <a:schemeClr val="tx1"/>
                </a:solidFill>
              </a:rPr>
              <a:t>objetivo es poder representar y manejar sistemas complejos de manera más </a:t>
            </a:r>
            <a:r>
              <a:rPr lang="es-ES" sz="2800" dirty="0" smtClean="0">
                <a:solidFill>
                  <a:schemeClr val="tx1"/>
                </a:solidFill>
              </a:rPr>
              <a:t>sencilla.</a:t>
            </a:r>
          </a:p>
          <a:p>
            <a:pPr algn="just"/>
            <a:r>
              <a:rPr lang="es-ES" sz="2800" dirty="0" smtClean="0">
                <a:solidFill>
                  <a:schemeClr val="tx1"/>
                </a:solidFill>
              </a:rPr>
              <a:t>Para </a:t>
            </a:r>
            <a:r>
              <a:rPr lang="es-ES" sz="2800" dirty="0">
                <a:solidFill>
                  <a:schemeClr val="tx1"/>
                </a:solidFill>
              </a:rPr>
              <a:t>conseguirlo se suele realizar un proceso de abstracción en sentido descendente, lo que implica ir abstrayendo desde niveles más generales a niveles más detallados.</a:t>
            </a:r>
            <a:endParaRPr lang="es-PE" altLang="es-MX" sz="2800" dirty="0" smtClean="0">
              <a:solidFill>
                <a:schemeClr val="tx1"/>
              </a:solidFill>
            </a:endParaRPr>
          </a:p>
        </p:txBody>
      </p:sp>
    </p:spTree>
    <p:extLst>
      <p:ext uri="{BB962C8B-B14F-4D97-AF65-F5344CB8AC3E}">
        <p14:creationId xmlns:p14="http://schemas.microsoft.com/office/powerpoint/2010/main" val="3254372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r>
              <a:rPr lang="es-PE" dirty="0" smtClean="0">
                <a:solidFill>
                  <a:schemeClr val="tx1"/>
                </a:solidFill>
              </a:rPr>
              <a:t>Tipos Abstractos de Datos - TDA</a:t>
            </a:r>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s-ES" sz="2800" dirty="0">
                <a:solidFill>
                  <a:schemeClr val="tx1"/>
                </a:solidFill>
              </a:rPr>
              <a:t>La abstracción produce como resultado el ocultamiento de la información, es decir, las entidades de uno de los niveles están compuestos internamente por entidades del nivel inferior, pero las ocultan. Podemos hablar de dos tipos de abstracción</a:t>
            </a:r>
            <a:r>
              <a:rPr lang="es-ES" sz="2800" dirty="0" smtClean="0">
                <a:solidFill>
                  <a:schemeClr val="tx1"/>
                </a:solidFill>
              </a:rPr>
              <a:t>:</a:t>
            </a:r>
          </a:p>
          <a:p>
            <a:pPr marL="457200" indent="-457200" algn="just">
              <a:buFont typeface="Arial" panose="020B0604020202020204" pitchFamily="34" charset="0"/>
              <a:buChar char="•"/>
            </a:pPr>
            <a:r>
              <a:rPr lang="es-PE" sz="2800" dirty="0">
                <a:solidFill>
                  <a:schemeClr val="tx1"/>
                </a:solidFill>
              </a:rPr>
              <a:t>Abstracción </a:t>
            </a:r>
            <a:r>
              <a:rPr lang="es-PE" sz="2800" dirty="0" smtClean="0">
                <a:solidFill>
                  <a:schemeClr val="tx1"/>
                </a:solidFill>
              </a:rPr>
              <a:t>funcional</a:t>
            </a:r>
          </a:p>
          <a:p>
            <a:pPr marL="457200" indent="-457200" algn="just">
              <a:buFont typeface="Arial" panose="020B0604020202020204" pitchFamily="34" charset="0"/>
              <a:buChar char="•"/>
            </a:pPr>
            <a:r>
              <a:rPr lang="es-PE" sz="2800" dirty="0">
                <a:solidFill>
                  <a:schemeClr val="tx1"/>
                </a:solidFill>
              </a:rPr>
              <a:t>Abstracción de datos</a:t>
            </a:r>
            <a:endParaRPr lang="es-PE" altLang="es-MX" sz="2800" dirty="0" smtClean="0">
              <a:solidFill>
                <a:schemeClr val="tx1"/>
              </a:solidFill>
            </a:endParaRPr>
          </a:p>
        </p:txBody>
      </p:sp>
    </p:spTree>
    <p:extLst>
      <p:ext uri="{BB962C8B-B14F-4D97-AF65-F5344CB8AC3E}">
        <p14:creationId xmlns:p14="http://schemas.microsoft.com/office/powerpoint/2010/main" val="335580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pPr marL="457200" indent="-457200" algn="just">
              <a:buFont typeface="Arial" panose="020B0604020202020204" pitchFamily="34" charset="0"/>
              <a:buChar char="•"/>
            </a:pPr>
            <a:r>
              <a:rPr lang="es-PE" dirty="0" smtClean="0">
                <a:solidFill>
                  <a:schemeClr val="tx1"/>
                </a:solidFill>
              </a:rPr>
              <a:t>ABSTRACCIÓN FUNCIONAL</a:t>
            </a:r>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s-ES" sz="2800" dirty="0" smtClean="0">
                <a:solidFill>
                  <a:schemeClr val="tx1"/>
                </a:solidFill>
              </a:rPr>
              <a:t>La </a:t>
            </a:r>
            <a:r>
              <a:rPr lang="es-ES" sz="2800" dirty="0">
                <a:solidFill>
                  <a:schemeClr val="tx1"/>
                </a:solidFill>
              </a:rPr>
              <a:t>abstracción funcional surge de la </a:t>
            </a:r>
            <a:r>
              <a:rPr lang="es-ES" sz="2800" dirty="0" smtClean="0">
                <a:solidFill>
                  <a:schemeClr val="tx1"/>
                </a:solidFill>
              </a:rPr>
              <a:t>idea </a:t>
            </a:r>
            <a:r>
              <a:rPr lang="es-ES" sz="2800" dirty="0">
                <a:solidFill>
                  <a:schemeClr val="tx1"/>
                </a:solidFill>
              </a:rPr>
              <a:t>de crear procedimientos y funciones e invocarlos en diferentes partes del programa mediante un nombre. </a:t>
            </a:r>
            <a:endParaRPr lang="es-ES" sz="2800" dirty="0" smtClean="0">
              <a:solidFill>
                <a:schemeClr val="tx1"/>
              </a:solidFill>
            </a:endParaRPr>
          </a:p>
          <a:p>
            <a:pPr algn="just"/>
            <a:r>
              <a:rPr lang="es-ES" sz="2800" dirty="0" smtClean="0">
                <a:solidFill>
                  <a:schemeClr val="tx1"/>
                </a:solidFill>
              </a:rPr>
              <a:t>La </a:t>
            </a:r>
            <a:r>
              <a:rPr lang="es-ES" sz="2800" dirty="0">
                <a:solidFill>
                  <a:schemeClr val="tx1"/>
                </a:solidFill>
              </a:rPr>
              <a:t>parte que se ignora (“la información que se oculta”) en este proceso es la de cómo el procedimiento o función realiza su tarea. </a:t>
            </a:r>
            <a:endParaRPr lang="es-ES" sz="2800" dirty="0" smtClean="0">
              <a:solidFill>
                <a:schemeClr val="tx1"/>
              </a:solidFill>
            </a:endParaRPr>
          </a:p>
          <a:p>
            <a:pPr algn="just"/>
            <a:r>
              <a:rPr lang="es-ES" sz="2800" dirty="0" smtClean="0">
                <a:solidFill>
                  <a:schemeClr val="tx1"/>
                </a:solidFill>
              </a:rPr>
              <a:t>La </a:t>
            </a:r>
            <a:r>
              <a:rPr lang="es-ES" sz="2800" dirty="0">
                <a:solidFill>
                  <a:schemeClr val="tx1"/>
                </a:solidFill>
              </a:rPr>
              <a:t>parte con la que nos quedamos es la </a:t>
            </a:r>
            <a:r>
              <a:rPr lang="es-ES" sz="2800" dirty="0" smtClean="0">
                <a:solidFill>
                  <a:schemeClr val="tx1"/>
                </a:solidFill>
              </a:rPr>
              <a:t>interfaz</a:t>
            </a:r>
            <a:r>
              <a:rPr lang="es-ES" sz="2800" dirty="0">
                <a:solidFill>
                  <a:schemeClr val="tx1"/>
                </a:solidFill>
              </a:rPr>
              <a:t>: los parámetros de entrada y salida (y sus tipos), y la descripción de la tarea que realiza. </a:t>
            </a:r>
            <a:endParaRPr lang="es-ES" sz="2800" dirty="0" smtClean="0">
              <a:solidFill>
                <a:schemeClr val="tx1"/>
              </a:solidFill>
            </a:endParaRPr>
          </a:p>
        </p:txBody>
      </p:sp>
    </p:spTree>
    <p:extLst>
      <p:ext uri="{BB962C8B-B14F-4D97-AF65-F5344CB8AC3E}">
        <p14:creationId xmlns:p14="http://schemas.microsoft.com/office/powerpoint/2010/main" val="1060729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pPr marL="457200" indent="-457200" algn="just">
              <a:buFont typeface="Arial" panose="020B0604020202020204" pitchFamily="34" charset="0"/>
              <a:buChar char="•"/>
            </a:pPr>
            <a:r>
              <a:rPr lang="es-PE" dirty="0" smtClean="0">
                <a:solidFill>
                  <a:schemeClr val="tx1"/>
                </a:solidFill>
              </a:rPr>
              <a:t>ABSTRACCIÓN FUNCIONAL</a:t>
            </a:r>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s-ES" sz="2800" dirty="0" smtClean="0">
                <a:solidFill>
                  <a:schemeClr val="tx1"/>
                </a:solidFill>
              </a:rPr>
              <a:t>Las </a:t>
            </a:r>
            <a:r>
              <a:rPr lang="es-ES" sz="2800" dirty="0">
                <a:solidFill>
                  <a:schemeClr val="tx1"/>
                </a:solidFill>
              </a:rPr>
              <a:t>ventajas de la abstracción funcional son las siguientes: </a:t>
            </a:r>
            <a:endParaRPr lang="es-ES" sz="2800" dirty="0" smtClean="0">
              <a:solidFill>
                <a:schemeClr val="tx1"/>
              </a:solidFill>
            </a:endParaRPr>
          </a:p>
          <a:p>
            <a:pPr algn="just"/>
            <a:r>
              <a:rPr lang="es-ES" sz="2800" dirty="0" smtClean="0">
                <a:solidFill>
                  <a:schemeClr val="tx1"/>
                </a:solidFill>
              </a:rPr>
              <a:t>Generalización </a:t>
            </a:r>
            <a:r>
              <a:rPr lang="es-ES" sz="2800" dirty="0">
                <a:solidFill>
                  <a:schemeClr val="tx1"/>
                </a:solidFill>
              </a:rPr>
              <a:t>del concepto de </a:t>
            </a:r>
            <a:r>
              <a:rPr lang="es-ES" sz="2800" dirty="0" smtClean="0">
                <a:solidFill>
                  <a:schemeClr val="tx1"/>
                </a:solidFill>
              </a:rPr>
              <a:t>operador.- </a:t>
            </a:r>
            <a:r>
              <a:rPr lang="es-ES" sz="2800" dirty="0">
                <a:solidFill>
                  <a:schemeClr val="tx1"/>
                </a:solidFill>
              </a:rPr>
              <a:t>Gracias a esta abstracción </a:t>
            </a:r>
            <a:r>
              <a:rPr lang="es-ES" sz="2800" dirty="0" smtClean="0">
                <a:solidFill>
                  <a:schemeClr val="tx1"/>
                </a:solidFill>
              </a:rPr>
              <a:t>se definen </a:t>
            </a:r>
            <a:r>
              <a:rPr lang="es-ES" sz="2800" dirty="0">
                <a:solidFill>
                  <a:schemeClr val="tx1"/>
                </a:solidFill>
              </a:rPr>
              <a:t>operadores adicionales a los del lenguaje (por ejemplo, una función factorial), incluyendo la posibilidad de que dichos operadores no trabajen sobre tipos básicos del lenguaje (por ejemplo, determinantes o multiplicaciones de matrices</a:t>
            </a:r>
            <a:r>
              <a:rPr lang="es-ES" sz="2800" dirty="0" smtClean="0">
                <a:solidFill>
                  <a:schemeClr val="tx1"/>
                </a:solidFill>
              </a:rPr>
              <a:t>).</a:t>
            </a:r>
          </a:p>
          <a:p>
            <a:pPr algn="just"/>
            <a:r>
              <a:rPr lang="es-ES" sz="2800" dirty="0" smtClean="0">
                <a:solidFill>
                  <a:schemeClr val="tx1"/>
                </a:solidFill>
              </a:rPr>
              <a:t>Encapsulación </a:t>
            </a:r>
            <a:r>
              <a:rPr lang="es-ES" sz="2800" dirty="0">
                <a:solidFill>
                  <a:schemeClr val="tx1"/>
                </a:solidFill>
              </a:rPr>
              <a:t>y </a:t>
            </a:r>
            <a:r>
              <a:rPr lang="es-ES" sz="2800" dirty="0" smtClean="0">
                <a:solidFill>
                  <a:schemeClr val="tx1"/>
                </a:solidFill>
              </a:rPr>
              <a:t>ocultamiento.- </a:t>
            </a:r>
            <a:r>
              <a:rPr lang="es-ES" sz="2800" dirty="0">
                <a:solidFill>
                  <a:schemeClr val="tx1"/>
                </a:solidFill>
              </a:rPr>
              <a:t>Haciendo que una secuencia de acciones esté oculta y sólo se haga visible desde el exterior su resultado global que se entrega a través de parámetros de salida bien definidos</a:t>
            </a:r>
            <a:endParaRPr lang="es-PE" altLang="es-MX" sz="2800" dirty="0" smtClean="0">
              <a:solidFill>
                <a:schemeClr val="tx1"/>
              </a:solidFill>
            </a:endParaRPr>
          </a:p>
        </p:txBody>
      </p:sp>
    </p:spTree>
    <p:extLst>
      <p:ext uri="{BB962C8B-B14F-4D97-AF65-F5344CB8AC3E}">
        <p14:creationId xmlns:p14="http://schemas.microsoft.com/office/powerpoint/2010/main" val="2242104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pPr marL="457200" indent="-457200" algn="just">
              <a:buFont typeface="Arial" panose="020B0604020202020204" pitchFamily="34" charset="0"/>
              <a:buChar char="•"/>
            </a:pPr>
            <a:r>
              <a:rPr lang="es-ES" dirty="0" smtClean="0">
                <a:solidFill>
                  <a:schemeClr val="tx1"/>
                </a:solidFill>
              </a:rPr>
              <a:t>ABSTRACCIÓN DE DATOS</a:t>
            </a:r>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s-ES" sz="2800" dirty="0">
                <a:solidFill>
                  <a:schemeClr val="tx1"/>
                </a:solidFill>
              </a:rPr>
              <a:t>La abstracción de datos es la técnica de programación que permite inventar o definir nuevos tipos de datos (tipos de datos definidos por el usuario) adecuados a la aplicación que se desea realizar. </a:t>
            </a:r>
            <a:endParaRPr lang="es-ES" sz="2800" dirty="0" smtClean="0">
              <a:solidFill>
                <a:schemeClr val="tx1"/>
              </a:solidFill>
            </a:endParaRPr>
          </a:p>
          <a:p>
            <a:pPr algn="just"/>
            <a:r>
              <a:rPr lang="es-ES" sz="2800" dirty="0" smtClean="0">
                <a:solidFill>
                  <a:schemeClr val="tx1"/>
                </a:solidFill>
              </a:rPr>
              <a:t>La </a:t>
            </a:r>
            <a:r>
              <a:rPr lang="es-ES" sz="2800" dirty="0">
                <a:solidFill>
                  <a:schemeClr val="tx1"/>
                </a:solidFill>
              </a:rPr>
              <a:t>abstracción de datos es una técnica muy potente que permite diseñar programas más cortos, legibles y </a:t>
            </a:r>
            <a:r>
              <a:rPr lang="es-ES" sz="2800" dirty="0" smtClean="0">
                <a:solidFill>
                  <a:schemeClr val="tx1"/>
                </a:solidFill>
              </a:rPr>
              <a:t>flexibles</a:t>
            </a:r>
          </a:p>
          <a:p>
            <a:pPr algn="just"/>
            <a:r>
              <a:rPr lang="es-ES" sz="2800" dirty="0">
                <a:solidFill>
                  <a:schemeClr val="tx1"/>
                </a:solidFill>
              </a:rPr>
              <a:t>Los tipos de datos son abstracciones y el proceso de construir nuevos tipos se llama abstracción de datos. Los nuevos tipos de datos definidos por el usuario se llaman tipos abstractos de datos</a:t>
            </a:r>
            <a:endParaRPr lang="es-PE" altLang="es-MX" sz="2800" dirty="0" smtClean="0">
              <a:solidFill>
                <a:schemeClr val="tx1"/>
              </a:solidFill>
            </a:endParaRPr>
          </a:p>
        </p:txBody>
      </p:sp>
    </p:spTree>
    <p:extLst>
      <p:ext uri="{BB962C8B-B14F-4D97-AF65-F5344CB8AC3E}">
        <p14:creationId xmlns:p14="http://schemas.microsoft.com/office/powerpoint/2010/main" val="3845112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pPr marL="457200" indent="-457200" algn="just">
              <a:buFont typeface="Arial" panose="020B0604020202020204" pitchFamily="34" charset="0"/>
              <a:buChar char="•"/>
            </a:pPr>
            <a:r>
              <a:rPr lang="es-ES" dirty="0" smtClean="0">
                <a:solidFill>
                  <a:schemeClr val="tx1"/>
                </a:solidFill>
              </a:rPr>
              <a:t>TIPOS ABSTRACTOS DE DATOS (TAD)</a:t>
            </a:r>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s-ES" sz="2800" dirty="0" smtClean="0">
                <a:solidFill>
                  <a:schemeClr val="tx1"/>
                </a:solidFill>
              </a:rPr>
              <a:t>Es </a:t>
            </a:r>
            <a:r>
              <a:rPr lang="es-ES" sz="2800" dirty="0">
                <a:solidFill>
                  <a:schemeClr val="tx1"/>
                </a:solidFill>
              </a:rPr>
              <a:t>una colección de propiedades y de operaciones que se definen mediante una especificación que es independiente de cualquier representación. </a:t>
            </a:r>
            <a:endParaRPr lang="es-ES" sz="2800" dirty="0" smtClean="0">
              <a:solidFill>
                <a:schemeClr val="tx1"/>
              </a:solidFill>
            </a:endParaRPr>
          </a:p>
          <a:p>
            <a:pPr algn="just"/>
            <a:r>
              <a:rPr lang="es-ES" sz="2800" dirty="0" smtClean="0">
                <a:solidFill>
                  <a:schemeClr val="tx1"/>
                </a:solidFill>
              </a:rPr>
              <a:t>Es un </a:t>
            </a:r>
            <a:r>
              <a:rPr lang="es-ES" sz="2800" dirty="0">
                <a:solidFill>
                  <a:schemeClr val="tx1"/>
                </a:solidFill>
              </a:rPr>
              <a:t>tipo de dato </a:t>
            </a:r>
            <a:r>
              <a:rPr lang="es-ES" sz="2800" dirty="0" smtClean="0">
                <a:solidFill>
                  <a:schemeClr val="tx1"/>
                </a:solidFill>
              </a:rPr>
              <a:t>definido </a:t>
            </a:r>
            <a:r>
              <a:rPr lang="es-ES" sz="2800" dirty="0">
                <a:solidFill>
                  <a:schemeClr val="tx1"/>
                </a:solidFill>
              </a:rPr>
              <a:t>por el usuario</a:t>
            </a:r>
            <a:endParaRPr lang="es-ES" sz="2800" dirty="0" smtClean="0">
              <a:solidFill>
                <a:schemeClr val="tx1"/>
              </a:solidFill>
            </a:endParaRPr>
          </a:p>
          <a:p>
            <a:pPr algn="just"/>
            <a:r>
              <a:rPr lang="es-ES" sz="2800" dirty="0" smtClean="0">
                <a:solidFill>
                  <a:schemeClr val="tx1"/>
                </a:solidFill>
              </a:rPr>
              <a:t>La </a:t>
            </a:r>
            <a:r>
              <a:rPr lang="es-ES" sz="2800" dirty="0">
                <a:solidFill>
                  <a:schemeClr val="tx1"/>
                </a:solidFill>
              </a:rPr>
              <a:t>abstracción se centra en la independencia de la representación. </a:t>
            </a:r>
            <a:endParaRPr lang="es-ES" sz="2800" dirty="0" smtClean="0">
              <a:solidFill>
                <a:schemeClr val="tx1"/>
              </a:solidFill>
            </a:endParaRPr>
          </a:p>
          <a:p>
            <a:pPr algn="just"/>
            <a:r>
              <a:rPr lang="es-ES" sz="2800" dirty="0" smtClean="0">
                <a:solidFill>
                  <a:schemeClr val="tx1"/>
                </a:solidFill>
              </a:rPr>
              <a:t>Se </a:t>
            </a:r>
            <a:r>
              <a:rPr lang="es-ES" sz="2800" dirty="0">
                <a:solidFill>
                  <a:schemeClr val="tx1"/>
                </a:solidFill>
              </a:rPr>
              <a:t>suele considerar que un tipo abstracto de datos es un tipo de datos construido por el programador para resolver una determinada situación.</a:t>
            </a:r>
            <a:endParaRPr lang="es-PE" altLang="es-MX" sz="2800" dirty="0" smtClean="0">
              <a:solidFill>
                <a:schemeClr val="tx1"/>
              </a:solidFill>
            </a:endParaRPr>
          </a:p>
        </p:txBody>
      </p:sp>
      <p:pic>
        <p:nvPicPr>
          <p:cNvPr id="4" name="Imagen 3"/>
          <p:cNvPicPr>
            <a:picLocks noChangeAspect="1"/>
          </p:cNvPicPr>
          <p:nvPr/>
        </p:nvPicPr>
        <p:blipFill>
          <a:blip r:embed="rId2"/>
          <a:stretch>
            <a:fillRect/>
          </a:stretch>
        </p:blipFill>
        <p:spPr>
          <a:xfrm>
            <a:off x="930091" y="4525627"/>
            <a:ext cx="10213931" cy="1162903"/>
          </a:xfrm>
          <a:prstGeom prst="rect">
            <a:avLst/>
          </a:prstGeom>
        </p:spPr>
      </p:pic>
    </p:spTree>
    <p:extLst>
      <p:ext uri="{BB962C8B-B14F-4D97-AF65-F5344CB8AC3E}">
        <p14:creationId xmlns:p14="http://schemas.microsoft.com/office/powerpoint/2010/main" val="732242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pPr marL="457200" indent="-457200" algn="just">
              <a:buFont typeface="Arial" panose="020B0604020202020204" pitchFamily="34" charset="0"/>
              <a:buChar char="•"/>
            </a:pPr>
            <a:r>
              <a:rPr lang="es-ES" dirty="0" smtClean="0">
                <a:solidFill>
                  <a:schemeClr val="tx1"/>
                </a:solidFill>
              </a:rPr>
              <a:t>CONSTRUCCIÓN DE TIPOS ABSTRACTOS DE DATOS (TAD)</a:t>
            </a:r>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s-ES" sz="2800" dirty="0">
                <a:solidFill>
                  <a:schemeClr val="tx1"/>
                </a:solidFill>
              </a:rPr>
              <a:t>Para definir un TAD, </a:t>
            </a:r>
            <a:r>
              <a:rPr lang="es-ES" sz="2800" dirty="0" smtClean="0">
                <a:solidFill>
                  <a:schemeClr val="tx1"/>
                </a:solidFill>
              </a:rPr>
              <a:t>se debe comenzar </a:t>
            </a:r>
            <a:r>
              <a:rPr lang="es-ES" sz="2800" dirty="0">
                <a:solidFill>
                  <a:schemeClr val="tx1"/>
                </a:solidFill>
              </a:rPr>
              <a:t>por definir las operaciones que se pueden realizar con él, </a:t>
            </a:r>
            <a:r>
              <a:rPr lang="es-ES" sz="2800" dirty="0" smtClean="0">
                <a:solidFill>
                  <a:schemeClr val="tx1"/>
                </a:solidFill>
              </a:rPr>
              <a:t>es </a:t>
            </a:r>
            <a:r>
              <a:rPr lang="es-ES" sz="2800" dirty="0">
                <a:solidFill>
                  <a:schemeClr val="tx1"/>
                </a:solidFill>
              </a:rPr>
              <a:t>decir, qué operaciones son relevantes y útiles para operar con las variables pertenecientes al mismo. </a:t>
            </a:r>
            <a:endParaRPr lang="es-ES" sz="2800" dirty="0" smtClean="0">
              <a:solidFill>
                <a:schemeClr val="tx1"/>
              </a:solidFill>
            </a:endParaRPr>
          </a:p>
          <a:p>
            <a:pPr algn="just"/>
            <a:r>
              <a:rPr lang="es-ES" sz="2800" dirty="0" smtClean="0">
                <a:solidFill>
                  <a:schemeClr val="tx1"/>
                </a:solidFill>
              </a:rPr>
              <a:t>Esto </a:t>
            </a:r>
            <a:r>
              <a:rPr lang="es-ES" sz="2800" dirty="0">
                <a:solidFill>
                  <a:schemeClr val="tx1"/>
                </a:solidFill>
              </a:rPr>
              <a:t>se conoce como establecer la interfaz del tipo. </a:t>
            </a:r>
            <a:endParaRPr lang="es-ES" sz="2800" dirty="0" smtClean="0">
              <a:solidFill>
                <a:schemeClr val="tx1"/>
              </a:solidFill>
            </a:endParaRPr>
          </a:p>
          <a:p>
            <a:pPr algn="just"/>
            <a:r>
              <a:rPr lang="es-ES" sz="2800" dirty="0" smtClean="0">
                <a:solidFill>
                  <a:schemeClr val="tx1"/>
                </a:solidFill>
              </a:rPr>
              <a:t>La </a:t>
            </a:r>
            <a:r>
              <a:rPr lang="es-ES" sz="2800" dirty="0">
                <a:solidFill>
                  <a:schemeClr val="tx1"/>
                </a:solidFill>
              </a:rPr>
              <a:t>interfaz permite al programador utilizar el tipo (qué se puede hacer frente a cómo está hecho). </a:t>
            </a:r>
            <a:endParaRPr lang="es-PE" altLang="es-MX" sz="2800" dirty="0" smtClean="0">
              <a:solidFill>
                <a:schemeClr val="tx1"/>
              </a:solidFill>
            </a:endParaRPr>
          </a:p>
        </p:txBody>
      </p:sp>
    </p:spTree>
    <p:extLst>
      <p:ext uri="{BB962C8B-B14F-4D97-AF65-F5344CB8AC3E}">
        <p14:creationId xmlns:p14="http://schemas.microsoft.com/office/powerpoint/2010/main" val="676732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pPr marL="457200" indent="-457200" algn="just">
              <a:buFont typeface="Arial" panose="020B0604020202020204" pitchFamily="34" charset="0"/>
              <a:buChar char="•"/>
            </a:pPr>
            <a:r>
              <a:rPr lang="es-ES" dirty="0" smtClean="0">
                <a:solidFill>
                  <a:schemeClr val="tx1"/>
                </a:solidFill>
              </a:rPr>
              <a:t>CONSTRUCCIÓN DE TIPOS ABSTRACTOS DE DATOS (TAD)</a:t>
            </a:r>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s-ES" sz="2800" dirty="0">
                <a:solidFill>
                  <a:schemeClr val="tx1"/>
                </a:solidFill>
              </a:rPr>
              <a:t>Los TAD </a:t>
            </a:r>
            <a:r>
              <a:rPr lang="es-ES" sz="2800" dirty="0" smtClean="0">
                <a:solidFill>
                  <a:schemeClr val="tx1"/>
                </a:solidFill>
              </a:rPr>
              <a:t>tienen dos partes:</a:t>
            </a:r>
          </a:p>
          <a:p>
            <a:pPr marL="457200" indent="-457200" algn="just">
              <a:buFont typeface="Arial" panose="020B0604020202020204" pitchFamily="34" charset="0"/>
              <a:buChar char="•"/>
            </a:pPr>
            <a:r>
              <a:rPr lang="es-ES" sz="2800" dirty="0" smtClean="0">
                <a:solidFill>
                  <a:schemeClr val="tx1"/>
                </a:solidFill>
              </a:rPr>
              <a:t>Especificación.- </a:t>
            </a:r>
            <a:r>
              <a:rPr lang="es-ES" sz="2800" dirty="0">
                <a:solidFill>
                  <a:schemeClr val="tx1"/>
                </a:solidFill>
              </a:rPr>
              <a:t>Refleja qué hace el tipo. </a:t>
            </a:r>
            <a:r>
              <a:rPr lang="es-ES" sz="2800" dirty="0" smtClean="0">
                <a:solidFill>
                  <a:schemeClr val="tx1"/>
                </a:solidFill>
              </a:rPr>
              <a:t>Es </a:t>
            </a:r>
            <a:r>
              <a:rPr lang="es-ES" sz="2800" dirty="0">
                <a:solidFill>
                  <a:schemeClr val="tx1"/>
                </a:solidFill>
              </a:rPr>
              <a:t>describir el comportamiento del </a:t>
            </a:r>
            <a:r>
              <a:rPr lang="es-ES" sz="2800" dirty="0" smtClean="0">
                <a:solidFill>
                  <a:schemeClr val="tx1"/>
                </a:solidFill>
              </a:rPr>
              <a:t>TAD. </a:t>
            </a:r>
            <a:r>
              <a:rPr lang="es-ES" sz="2800" dirty="0">
                <a:solidFill>
                  <a:schemeClr val="tx1"/>
                </a:solidFill>
              </a:rPr>
              <a:t>Es necesaria para que el programador sepa cómo debe implementar el TAD. </a:t>
            </a:r>
            <a:endParaRPr lang="es-ES" sz="2800" dirty="0" smtClean="0">
              <a:solidFill>
                <a:schemeClr val="tx1"/>
              </a:solidFill>
            </a:endParaRPr>
          </a:p>
          <a:p>
            <a:pPr marL="457200" indent="-457200" algn="just">
              <a:buFont typeface="Arial" panose="020B0604020202020204" pitchFamily="34" charset="0"/>
              <a:buChar char="•"/>
            </a:pPr>
            <a:r>
              <a:rPr lang="es-ES" sz="2800" dirty="0" smtClean="0">
                <a:solidFill>
                  <a:schemeClr val="tx1"/>
                </a:solidFill>
              </a:rPr>
              <a:t>Implementación </a:t>
            </a:r>
            <a:r>
              <a:rPr lang="es-ES" sz="2800" dirty="0">
                <a:solidFill>
                  <a:schemeClr val="tx1"/>
                </a:solidFill>
              </a:rPr>
              <a:t>La implementación a su vez se compone de una interfaz pública, que permite al programador utilizar el TAD, y una implementación que puede variar siempre y cuando la interfaz se mantenga. </a:t>
            </a:r>
            <a:endParaRPr lang="es-PE" altLang="es-MX" sz="2800" dirty="0" smtClean="0">
              <a:solidFill>
                <a:schemeClr val="tx1"/>
              </a:solidFill>
            </a:endParaRPr>
          </a:p>
        </p:txBody>
      </p:sp>
    </p:spTree>
    <p:extLst>
      <p:ext uri="{BB962C8B-B14F-4D97-AF65-F5344CB8AC3E}">
        <p14:creationId xmlns:p14="http://schemas.microsoft.com/office/powerpoint/2010/main" val="1374760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pPr marL="457200" indent="-457200" algn="just">
              <a:buFont typeface="Arial" panose="020B0604020202020204" pitchFamily="34" charset="0"/>
              <a:buChar char="•"/>
            </a:pPr>
            <a:r>
              <a:rPr lang="es-ES" dirty="0" smtClean="0">
                <a:solidFill>
                  <a:schemeClr val="tx1"/>
                </a:solidFill>
              </a:rPr>
              <a:t>ESPECIFICACIÓN DE TIPOS ABSTRACTOS DE DATOS (TAD)</a:t>
            </a:r>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s-ES" sz="2800" dirty="0" smtClean="0">
                <a:solidFill>
                  <a:schemeClr val="tx1"/>
                </a:solidFill>
              </a:rPr>
              <a:t>La </a:t>
            </a:r>
            <a:r>
              <a:rPr lang="es-ES" sz="2800" dirty="0">
                <a:solidFill>
                  <a:schemeClr val="tx1"/>
                </a:solidFill>
              </a:rPr>
              <a:t>especificación de un TAD </a:t>
            </a:r>
            <a:r>
              <a:rPr lang="es-ES" sz="2800" dirty="0" smtClean="0">
                <a:solidFill>
                  <a:schemeClr val="tx1"/>
                </a:solidFill>
              </a:rPr>
              <a:t>permite conocer </a:t>
            </a:r>
            <a:r>
              <a:rPr lang="es-ES" sz="2800" dirty="0">
                <a:solidFill>
                  <a:schemeClr val="tx1"/>
                </a:solidFill>
              </a:rPr>
              <a:t>las operaciones que el tipo ofrece y cómo actúan estas operaciones. </a:t>
            </a:r>
            <a:endParaRPr lang="es-ES" sz="2800" dirty="0" smtClean="0">
              <a:solidFill>
                <a:schemeClr val="tx1"/>
              </a:solidFill>
            </a:endParaRPr>
          </a:p>
          <a:p>
            <a:pPr algn="just"/>
            <a:r>
              <a:rPr lang="es-ES" sz="2800" dirty="0">
                <a:solidFill>
                  <a:schemeClr val="tx1"/>
                </a:solidFill>
              </a:rPr>
              <a:t>La especificación del TAD puede </a:t>
            </a:r>
            <a:r>
              <a:rPr lang="es-ES" sz="2800" dirty="0" smtClean="0">
                <a:solidFill>
                  <a:schemeClr val="tx1"/>
                </a:solidFill>
              </a:rPr>
              <a:t>tener:</a:t>
            </a:r>
          </a:p>
          <a:p>
            <a:pPr algn="just"/>
            <a:r>
              <a:rPr lang="es-ES" sz="2800" dirty="0" smtClean="0">
                <a:solidFill>
                  <a:schemeClr val="tx1"/>
                </a:solidFill>
              </a:rPr>
              <a:t>Un </a:t>
            </a:r>
            <a:r>
              <a:rPr lang="es-ES" sz="2800" dirty="0">
                <a:solidFill>
                  <a:schemeClr val="tx1"/>
                </a:solidFill>
              </a:rPr>
              <a:t>enfoque informal, que describe los datos y las operaciones relacionadas en lenguaje natural</a:t>
            </a:r>
            <a:r>
              <a:rPr lang="es-ES" sz="2800" dirty="0" smtClean="0">
                <a:solidFill>
                  <a:schemeClr val="tx1"/>
                </a:solidFill>
              </a:rPr>
              <a:t>.</a:t>
            </a:r>
          </a:p>
          <a:p>
            <a:pPr algn="just"/>
            <a:r>
              <a:rPr lang="es-ES" sz="2800" dirty="0">
                <a:solidFill>
                  <a:schemeClr val="tx1"/>
                </a:solidFill>
              </a:rPr>
              <a:t>Un enfoque </a:t>
            </a:r>
            <a:r>
              <a:rPr lang="es-ES" sz="2800" dirty="0" smtClean="0">
                <a:solidFill>
                  <a:schemeClr val="tx1"/>
                </a:solidFill>
              </a:rPr>
              <a:t>formal</a:t>
            </a:r>
            <a:r>
              <a:rPr lang="es-ES" sz="2800" dirty="0">
                <a:solidFill>
                  <a:schemeClr val="tx1"/>
                </a:solidFill>
              </a:rPr>
              <a:t>, </a:t>
            </a:r>
            <a:r>
              <a:rPr lang="es-ES" sz="2800" dirty="0" smtClean="0">
                <a:solidFill>
                  <a:schemeClr val="tx1"/>
                </a:solidFill>
              </a:rPr>
              <a:t>supone </a:t>
            </a:r>
            <a:r>
              <a:rPr lang="es-ES" sz="2800" dirty="0">
                <a:solidFill>
                  <a:schemeClr val="tx1"/>
                </a:solidFill>
              </a:rPr>
              <a:t>suministrar un conjunto de axiomas que describen las operaciones en su aspecto sintáctico y semántico.</a:t>
            </a:r>
            <a:endParaRPr lang="es-PE" altLang="es-MX" sz="2400" dirty="0" smtClean="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95701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pPr marL="457200" indent="-457200" algn="just">
              <a:buFont typeface="Arial" panose="020B0604020202020204" pitchFamily="34" charset="0"/>
              <a:buChar char="•"/>
            </a:pPr>
            <a:r>
              <a:rPr lang="es-ES" dirty="0" smtClean="0">
                <a:solidFill>
                  <a:schemeClr val="tx1"/>
                </a:solidFill>
              </a:rPr>
              <a:t>ESPECIFICACIÓN DE TIPOS ABSTRACTOS DE DATOS (TAD)</a:t>
            </a:r>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s-ES" sz="2800" dirty="0" smtClean="0">
                <a:solidFill>
                  <a:schemeClr val="tx1"/>
                </a:solidFill>
              </a:rPr>
              <a:t>La especificación </a:t>
            </a:r>
            <a:r>
              <a:rPr lang="es-ES" sz="2800" dirty="0">
                <a:solidFill>
                  <a:schemeClr val="tx1"/>
                </a:solidFill>
              </a:rPr>
              <a:t>informal de un TAD </a:t>
            </a:r>
            <a:r>
              <a:rPr lang="es-ES" sz="2800" dirty="0" smtClean="0">
                <a:solidFill>
                  <a:schemeClr val="tx1"/>
                </a:solidFill>
              </a:rPr>
              <a:t>consta </a:t>
            </a:r>
            <a:r>
              <a:rPr lang="es-ES" sz="2800" dirty="0">
                <a:solidFill>
                  <a:schemeClr val="tx1"/>
                </a:solidFill>
              </a:rPr>
              <a:t>de dos partes: </a:t>
            </a:r>
          </a:p>
          <a:p>
            <a:pPr marL="457200" indent="-457200" algn="just">
              <a:buFont typeface="Arial" panose="020B0604020202020204" pitchFamily="34" charset="0"/>
              <a:buChar char="•"/>
            </a:pPr>
            <a:r>
              <a:rPr lang="es-ES" sz="2800" dirty="0" smtClean="0">
                <a:solidFill>
                  <a:schemeClr val="tx1"/>
                </a:solidFill>
              </a:rPr>
              <a:t>Detallar </a:t>
            </a:r>
            <a:r>
              <a:rPr lang="es-ES" sz="2800" dirty="0">
                <a:solidFill>
                  <a:schemeClr val="tx1"/>
                </a:solidFill>
              </a:rPr>
              <a:t>en los datos del tipo los valores que pueden tomar. </a:t>
            </a:r>
          </a:p>
          <a:p>
            <a:pPr marL="457200" indent="-457200" algn="just">
              <a:buFont typeface="Arial" panose="020B0604020202020204" pitchFamily="34" charset="0"/>
              <a:buChar char="•"/>
            </a:pPr>
            <a:r>
              <a:rPr lang="es-ES" sz="2800" dirty="0" smtClean="0">
                <a:solidFill>
                  <a:schemeClr val="tx1"/>
                </a:solidFill>
              </a:rPr>
              <a:t>Describir </a:t>
            </a:r>
            <a:r>
              <a:rPr lang="es-ES" sz="2800" dirty="0">
                <a:solidFill>
                  <a:schemeClr val="tx1"/>
                </a:solidFill>
              </a:rPr>
              <a:t>las operaciones relacionándolas con los datos</a:t>
            </a:r>
            <a:r>
              <a:rPr lang="es-ES" sz="2800" dirty="0" smtClean="0">
                <a:solidFill>
                  <a:schemeClr val="tx1"/>
                </a:solidFill>
              </a:rPr>
              <a:t>.</a:t>
            </a:r>
            <a:endParaRPr lang="es-PE" altLang="es-MX" sz="2400" dirty="0" smtClean="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88783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pPr marL="457200" indent="-457200" algn="just">
              <a:buFont typeface="Arial" panose="020B0604020202020204" pitchFamily="34" charset="0"/>
              <a:buChar char="•"/>
            </a:pPr>
            <a:r>
              <a:rPr lang="es-ES" dirty="0" smtClean="0">
                <a:solidFill>
                  <a:schemeClr val="tx1"/>
                </a:solidFill>
              </a:rPr>
              <a:t>ESPECIFICACIÓN DE TIPOS ABSTRACTOS DE DATOS (TAD)</a:t>
            </a:r>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s-ES" sz="2800" dirty="0">
                <a:solidFill>
                  <a:schemeClr val="tx1"/>
                </a:solidFill>
              </a:rPr>
              <a:t>La especificación de un TAD debe poseer cuatro propiedades: </a:t>
            </a:r>
            <a:endParaRPr lang="es-ES" sz="2800" dirty="0" smtClean="0">
              <a:solidFill>
                <a:schemeClr val="tx1"/>
              </a:solidFill>
            </a:endParaRPr>
          </a:p>
          <a:p>
            <a:pPr marL="457200" indent="-457200" algn="just">
              <a:buFont typeface="Arial" panose="020B0604020202020204" pitchFamily="34" charset="0"/>
              <a:buChar char="•"/>
            </a:pPr>
            <a:r>
              <a:rPr lang="es-ES" sz="2800" dirty="0" smtClean="0">
                <a:solidFill>
                  <a:schemeClr val="tx1"/>
                </a:solidFill>
              </a:rPr>
              <a:t>Precisión </a:t>
            </a:r>
            <a:r>
              <a:rPr lang="es-ES" sz="2800" dirty="0">
                <a:solidFill>
                  <a:schemeClr val="tx1"/>
                </a:solidFill>
              </a:rPr>
              <a:t>Que implica decir sólo lo imprescindible. </a:t>
            </a:r>
          </a:p>
          <a:p>
            <a:pPr marL="457200" indent="-457200" algn="just">
              <a:buFont typeface="Arial" panose="020B0604020202020204" pitchFamily="34" charset="0"/>
              <a:buChar char="•"/>
            </a:pPr>
            <a:r>
              <a:rPr lang="es-ES" sz="2800" dirty="0" smtClean="0">
                <a:solidFill>
                  <a:schemeClr val="tx1"/>
                </a:solidFill>
              </a:rPr>
              <a:t>Generalidad </a:t>
            </a:r>
            <a:r>
              <a:rPr lang="es-ES" sz="2800" dirty="0">
                <a:solidFill>
                  <a:schemeClr val="tx1"/>
                </a:solidFill>
              </a:rPr>
              <a:t>Que quiere decir que sea adaptable a diferentes contextos</a:t>
            </a:r>
            <a:r>
              <a:rPr lang="es-ES" sz="2800" dirty="0" smtClean="0">
                <a:solidFill>
                  <a:schemeClr val="tx1"/>
                </a:solidFill>
              </a:rPr>
              <a:t>.</a:t>
            </a:r>
          </a:p>
          <a:p>
            <a:pPr marL="457200" indent="-457200" algn="just">
              <a:buFont typeface="Arial" panose="020B0604020202020204" pitchFamily="34" charset="0"/>
              <a:buChar char="•"/>
            </a:pPr>
            <a:r>
              <a:rPr lang="es-ES" sz="2800" dirty="0" smtClean="0">
                <a:solidFill>
                  <a:schemeClr val="tx1"/>
                </a:solidFill>
              </a:rPr>
              <a:t>Legibilidad </a:t>
            </a:r>
            <a:r>
              <a:rPr lang="es-ES" sz="2800" dirty="0">
                <a:solidFill>
                  <a:schemeClr val="tx1"/>
                </a:solidFill>
              </a:rPr>
              <a:t>Entendida como facilidad de comprensión. </a:t>
            </a:r>
          </a:p>
          <a:p>
            <a:pPr marL="457200" indent="-457200" algn="just">
              <a:buFont typeface="Arial" panose="020B0604020202020204" pitchFamily="34" charset="0"/>
              <a:buChar char="•"/>
            </a:pPr>
            <a:r>
              <a:rPr lang="es-ES" sz="2800" dirty="0" smtClean="0">
                <a:solidFill>
                  <a:schemeClr val="tx1"/>
                </a:solidFill>
              </a:rPr>
              <a:t>No-ambigüedad </a:t>
            </a:r>
            <a:r>
              <a:rPr lang="es-ES" sz="2800" dirty="0">
                <a:solidFill>
                  <a:schemeClr val="tx1"/>
                </a:solidFill>
              </a:rPr>
              <a:t>Que quiere decir que no dé lugar a distintas interpretaciones. </a:t>
            </a:r>
            <a:endParaRPr lang="es-PE" altLang="es-MX" sz="2400" dirty="0" smtClean="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4215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pPr marL="457200" indent="-457200" algn="just">
              <a:buFont typeface="Arial" panose="020B0604020202020204" pitchFamily="34" charset="0"/>
              <a:buChar char="•"/>
            </a:pPr>
            <a:r>
              <a:rPr lang="es-ES" dirty="0" smtClean="0">
                <a:solidFill>
                  <a:schemeClr val="tx1"/>
                </a:solidFill>
              </a:rPr>
              <a:t>IMPLEMENTACIÓN DE UN TAD </a:t>
            </a:r>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s-ES" sz="2800" dirty="0">
                <a:solidFill>
                  <a:schemeClr val="tx1"/>
                </a:solidFill>
              </a:rPr>
              <a:t>La implementación de un tipo abstracto de datos es un tipo de datos que consta </a:t>
            </a:r>
            <a:r>
              <a:rPr lang="es-ES" sz="2800" dirty="0" smtClean="0">
                <a:solidFill>
                  <a:schemeClr val="tx1"/>
                </a:solidFill>
              </a:rPr>
              <a:t>de:</a:t>
            </a:r>
          </a:p>
          <a:p>
            <a:pPr marL="457200" indent="-457200" algn="just">
              <a:buFont typeface="Arial" panose="020B0604020202020204" pitchFamily="34" charset="0"/>
              <a:buChar char="•"/>
            </a:pPr>
            <a:r>
              <a:rPr lang="es-ES" sz="2800" dirty="0" smtClean="0">
                <a:solidFill>
                  <a:schemeClr val="tx1"/>
                </a:solidFill>
              </a:rPr>
              <a:t>Estructuras </a:t>
            </a:r>
            <a:r>
              <a:rPr lang="es-ES" sz="2800" dirty="0">
                <a:solidFill>
                  <a:schemeClr val="tx1"/>
                </a:solidFill>
              </a:rPr>
              <a:t>de datos propias (encapsuladas, invisibles para el usuario del tipo de datos). La elección de estas estructuras queda a la libertad del programador, que seleccionará las más eficientes o convenientes. </a:t>
            </a:r>
            <a:endParaRPr lang="es-ES" sz="2800" dirty="0" smtClean="0">
              <a:solidFill>
                <a:schemeClr val="tx1"/>
              </a:solidFill>
            </a:endParaRPr>
          </a:p>
          <a:p>
            <a:pPr marL="457200" indent="-457200" algn="just">
              <a:buFont typeface="Arial" panose="020B0604020202020204" pitchFamily="34" charset="0"/>
              <a:buChar char="•"/>
            </a:pPr>
            <a:r>
              <a:rPr lang="es-ES" sz="2800" dirty="0" smtClean="0">
                <a:solidFill>
                  <a:schemeClr val="tx1"/>
                </a:solidFill>
              </a:rPr>
              <a:t>Operaciones </a:t>
            </a:r>
            <a:r>
              <a:rPr lang="es-ES" sz="2800" dirty="0">
                <a:solidFill>
                  <a:schemeClr val="tx1"/>
                </a:solidFill>
              </a:rPr>
              <a:t>sobre esas estructuras propias (procedimientos y funciones). Dependerán de las estructuras internas seleccionadas. </a:t>
            </a:r>
            <a:endParaRPr lang="es-PE" altLang="es-MX" sz="2400" dirty="0" smtClean="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39909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pPr marL="457200" indent="-457200" algn="just">
              <a:buFont typeface="Arial" panose="020B0604020202020204" pitchFamily="34" charset="0"/>
              <a:buChar char="•"/>
            </a:pPr>
            <a:r>
              <a:rPr lang="es-ES" dirty="0" smtClean="0">
                <a:solidFill>
                  <a:schemeClr val="tx1"/>
                </a:solidFill>
              </a:rPr>
              <a:t>IMPLEMENTACIÓN DE UN TAD </a:t>
            </a:r>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s-ES" sz="2800" dirty="0" smtClean="0">
                <a:solidFill>
                  <a:schemeClr val="tx1"/>
                </a:solidFill>
              </a:rPr>
              <a:t> </a:t>
            </a:r>
          </a:p>
        </p:txBody>
      </p:sp>
      <p:pic>
        <p:nvPicPr>
          <p:cNvPr id="4" name="Imagen 3"/>
          <p:cNvPicPr>
            <a:picLocks noChangeAspect="1"/>
          </p:cNvPicPr>
          <p:nvPr/>
        </p:nvPicPr>
        <p:blipFill>
          <a:blip r:embed="rId2"/>
          <a:stretch>
            <a:fillRect/>
          </a:stretch>
        </p:blipFill>
        <p:spPr>
          <a:xfrm>
            <a:off x="831850" y="1978822"/>
            <a:ext cx="9595319" cy="3469077"/>
          </a:xfrm>
          <a:prstGeom prst="rect">
            <a:avLst/>
          </a:prstGeom>
        </p:spPr>
      </p:pic>
    </p:spTree>
    <p:extLst>
      <p:ext uri="{BB962C8B-B14F-4D97-AF65-F5344CB8AC3E}">
        <p14:creationId xmlns:p14="http://schemas.microsoft.com/office/powerpoint/2010/main" val="2046274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r>
              <a:rPr lang="es-PE" dirty="0">
                <a:solidFill>
                  <a:schemeClr val="tx1"/>
                </a:solidFill>
              </a:rPr>
              <a:t>Resumiendo</a:t>
            </a: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457200" indent="-457200">
              <a:lnSpc>
                <a:spcPct val="150000"/>
              </a:lnSpc>
              <a:buFont typeface="Arial" panose="020B0604020202020204" pitchFamily="34" charset="0"/>
              <a:buChar char="•"/>
              <a:defRPr/>
            </a:pPr>
            <a:r>
              <a:rPr lang="es-PE" sz="2800" dirty="0" smtClean="0">
                <a:solidFill>
                  <a:schemeClr val="tx1"/>
                </a:solidFill>
              </a:rPr>
              <a:t>El TAD, es importante porque permite definir estructuras propias para implementar una solución </a:t>
            </a:r>
            <a:endParaRPr lang="es-PE" sz="2800" dirty="0" smtClean="0">
              <a:solidFill>
                <a:schemeClr val="tx1"/>
              </a:solidFill>
            </a:endParaRPr>
          </a:p>
          <a:p>
            <a:pPr marL="457200" indent="-457200">
              <a:lnSpc>
                <a:spcPct val="150000"/>
              </a:lnSpc>
              <a:buFont typeface="Arial" panose="020B0604020202020204" pitchFamily="34" charset="0"/>
              <a:buChar char="•"/>
              <a:defRPr/>
            </a:pPr>
            <a:r>
              <a:rPr lang="es-ES" sz="2800" dirty="0" smtClean="0">
                <a:solidFill>
                  <a:schemeClr val="tx1"/>
                </a:solidFill>
              </a:rPr>
              <a:t>Todo lenguaje de programación permite implementar un TAD</a:t>
            </a:r>
            <a:endParaRPr lang="es-ES" sz="2800" dirty="0">
              <a:solidFill>
                <a:schemeClr val="tx1"/>
              </a:solidFill>
            </a:endParaRPr>
          </a:p>
        </p:txBody>
      </p:sp>
    </p:spTree>
    <p:extLst>
      <p:ext uri="{BB962C8B-B14F-4D97-AF65-F5344CB8AC3E}">
        <p14:creationId xmlns:p14="http://schemas.microsoft.com/office/powerpoint/2010/main" val="2069705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831850" y="469339"/>
            <a:ext cx="10515600" cy="543032"/>
          </a:xfrm>
        </p:spPr>
        <p:txBody>
          <a:bodyPr/>
          <a:lstStyle/>
          <a:p>
            <a:r>
              <a:rPr lang="es-PE" dirty="0">
                <a:solidFill>
                  <a:schemeClr val="tx1"/>
                </a:solidFill>
              </a:rPr>
              <a:t>Cierre de la </a:t>
            </a:r>
            <a:r>
              <a:rPr lang="es-PE" dirty="0" smtClean="0">
                <a:solidFill>
                  <a:schemeClr val="tx1"/>
                </a:solidFill>
              </a:rPr>
              <a:t>clase</a:t>
            </a:r>
            <a:endParaRPr lang="es-PE" dirty="0">
              <a:solidFill>
                <a:schemeClr val="tx1"/>
              </a:solidFill>
            </a:endParaRPr>
          </a:p>
          <a:p>
            <a:endParaRPr lang="es-PE" dirty="0">
              <a:solidFill>
                <a:schemeClr val="tx1"/>
              </a:solidFill>
            </a:endParaRPr>
          </a:p>
        </p:txBody>
      </p:sp>
      <p:sp>
        <p:nvSpPr>
          <p:cNvPr id="3" name="Marcador de contenido 2"/>
          <p:cNvSpPr txBox="1">
            <a:spLocks/>
          </p:cNvSpPr>
          <p:nvPr/>
        </p:nvSpPr>
        <p:spPr>
          <a:xfrm>
            <a:off x="831850" y="1206726"/>
            <a:ext cx="10515600" cy="485117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Formular" panose="02000000000000000000" pitchFamily="50"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Formular" panose="02000000000000000000" pitchFamily="50"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Formular" panose="02000000000000000000" pitchFamily="50"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nSpc>
                <a:spcPct val="150000"/>
              </a:lnSpc>
              <a:defRPr/>
            </a:pPr>
            <a:r>
              <a:rPr lang="es-PE" sz="2800" dirty="0">
                <a:solidFill>
                  <a:schemeClr val="tx1"/>
                </a:solidFill>
              </a:rPr>
              <a:t>Responder lo siguiente:</a:t>
            </a:r>
          </a:p>
          <a:p>
            <a:pPr marL="457200" indent="-457200">
              <a:lnSpc>
                <a:spcPct val="150000"/>
              </a:lnSpc>
              <a:buFont typeface="Arial" panose="020B0604020202020204" pitchFamily="34" charset="0"/>
              <a:buChar char="•"/>
              <a:defRPr/>
            </a:pPr>
            <a:r>
              <a:rPr lang="es-ES" sz="2800" dirty="0" smtClean="0">
                <a:solidFill>
                  <a:schemeClr val="tx1"/>
                </a:solidFill>
              </a:rPr>
              <a:t> </a:t>
            </a:r>
            <a:r>
              <a:rPr lang="es-PE" sz="2800" dirty="0">
                <a:solidFill>
                  <a:schemeClr val="tx1"/>
                </a:solidFill>
              </a:rPr>
              <a:t>El TAD, puede ser un tipo de dato suministrado por el lenguaje de programación?</a:t>
            </a:r>
          </a:p>
          <a:p>
            <a:pPr marL="457200" indent="-457200">
              <a:lnSpc>
                <a:spcPct val="150000"/>
              </a:lnSpc>
              <a:buFont typeface="Arial" panose="020B0604020202020204" pitchFamily="34" charset="0"/>
              <a:buChar char="•"/>
              <a:defRPr/>
            </a:pPr>
            <a:r>
              <a:rPr lang="es-ES" sz="2800" dirty="0">
                <a:solidFill>
                  <a:schemeClr val="tx1"/>
                </a:solidFill>
              </a:rPr>
              <a:t>El programador, puede crear un TAD? </a:t>
            </a:r>
          </a:p>
          <a:p>
            <a:pPr>
              <a:lnSpc>
                <a:spcPct val="150000"/>
              </a:lnSpc>
              <a:buFont typeface="Arial" panose="020B0604020202020204" pitchFamily="34" charset="0"/>
              <a:buChar char="•"/>
              <a:defRPr/>
            </a:pPr>
            <a:endParaRPr lang="es-ES" sz="2800" dirty="0">
              <a:solidFill>
                <a:schemeClr val="tx1"/>
              </a:solidFill>
            </a:endParaRPr>
          </a:p>
          <a:p>
            <a:pPr>
              <a:lnSpc>
                <a:spcPct val="150000"/>
              </a:lnSpc>
              <a:defRPr/>
            </a:pPr>
            <a:endParaRPr lang="es-ES" sz="2800" dirty="0">
              <a:solidFill>
                <a:schemeClr val="tx1"/>
              </a:solidFill>
            </a:endParaRPr>
          </a:p>
        </p:txBody>
      </p:sp>
    </p:spTree>
    <p:extLst>
      <p:ext uri="{BB962C8B-B14F-4D97-AF65-F5344CB8AC3E}">
        <p14:creationId xmlns:p14="http://schemas.microsoft.com/office/powerpoint/2010/main" val="202689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685800" y="1628775"/>
            <a:ext cx="10969388" cy="4537075"/>
          </a:xfrm>
          <a:prstGeom prst="rect">
            <a:avLst/>
          </a:prstGeom>
          <a:noFill/>
        </p:spPr>
        <p:txBody>
          <a:bodyPr lIns="90488" tIns="44450" rIns="90488" bIns="44450"/>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1" hangingPunct="1">
              <a:lnSpc>
                <a:spcPct val="90000"/>
              </a:lnSpc>
              <a:buNone/>
            </a:pPr>
            <a:endParaRPr lang="es-PE" altLang="es-PE" sz="2800" dirty="0" smtClean="0"/>
          </a:p>
          <a:p>
            <a:pPr marL="0" indent="0" eaLnBrk="1" hangingPunct="1">
              <a:lnSpc>
                <a:spcPct val="90000"/>
              </a:lnSpc>
              <a:buNone/>
            </a:pPr>
            <a:endParaRPr lang="es-PE" altLang="es-PE" sz="2800" dirty="0"/>
          </a:p>
          <a:p>
            <a:pPr marL="0" indent="0" eaLnBrk="1" hangingPunct="1">
              <a:lnSpc>
                <a:spcPct val="90000"/>
              </a:lnSpc>
              <a:buNone/>
            </a:pPr>
            <a:endParaRPr lang="es-PE" altLang="es-PE" sz="2800" dirty="0"/>
          </a:p>
          <a:p>
            <a:pPr marL="0" indent="0" algn="ctr" eaLnBrk="1" hangingPunct="1">
              <a:lnSpc>
                <a:spcPct val="90000"/>
              </a:lnSpc>
              <a:buNone/>
            </a:pPr>
            <a:r>
              <a:rPr lang="es-PE" altLang="es-PE" sz="6000" b="1" dirty="0" smtClean="0"/>
              <a:t>Preguntas</a:t>
            </a:r>
          </a:p>
        </p:txBody>
      </p:sp>
    </p:spTree>
    <p:extLst>
      <p:ext uri="{BB962C8B-B14F-4D97-AF65-F5344CB8AC3E}">
        <p14:creationId xmlns:p14="http://schemas.microsoft.com/office/powerpoint/2010/main" val="846366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grpId="0" nodeType="afterEffect">
                                  <p:stCondLst>
                                    <p:cond delay="1000"/>
                                  </p:stCondLst>
                                  <p:childTnLst>
                                    <p:set>
                                      <p:cBhvr>
                                        <p:cTn id="6" dur="1" fill="hold">
                                          <p:stCondLst>
                                            <p:cond delay="499"/>
                                          </p:stCondLst>
                                        </p:cTn>
                                        <p:tgtEl>
                                          <p:spTgt spid="5">
                                            <p:txEl>
                                              <p:pRg st="3" end="3"/>
                                            </p:txEl>
                                          </p:spTgt>
                                        </p:tgtEl>
                                        <p:attrNameLst>
                                          <p:attrName>style.visibility</p:attrName>
                                        </p:attrNameLst>
                                      </p:cBhvr>
                                      <p:to>
                                        <p:strVal val="visible"/>
                                      </p:to>
                                    </p:set>
                                    <p:anim to="" calcmode="lin" valueType="num">
                                      <p:cBhvr>
                                        <p:cTn id="7" dur="1" fill="hold"/>
                                        <p:tgtEl>
                                          <p:spTgt spid="5">
                                            <p:txEl>
                                              <p:pRg st="3" end="3"/>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advAuto="1000"/>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2032</TotalTime>
  <Words>1184</Words>
  <Application>Microsoft Office PowerPoint</Application>
  <PresentationFormat>Panorámica</PresentationFormat>
  <Paragraphs>91</Paragraphs>
  <Slides>22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22</vt:i4>
      </vt:variant>
    </vt:vector>
  </HeadingPairs>
  <TitlesOfParts>
    <vt:vector size="26" baseType="lpstr">
      <vt:lpstr>Arial</vt:lpstr>
      <vt:lpstr>Calibri</vt:lpstr>
      <vt:lpstr>Calibri Light</vt:lpstr>
      <vt:lpstr>Tema de Office</vt:lpstr>
      <vt:lpstr>Algoritmos y Estructuras de Datos</vt:lpstr>
      <vt:lpstr>Logro de aprendizaje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Algoritmos y Estructuras de Datos</dc:title>
  <dc:creator>Administrador</dc:creator>
  <cp:lastModifiedBy>Lizardo Silva Ubaldo</cp:lastModifiedBy>
  <cp:revision>34</cp:revision>
  <dcterms:created xsi:type="dcterms:W3CDTF">2020-10-14T15:31:04Z</dcterms:created>
  <dcterms:modified xsi:type="dcterms:W3CDTF">2024-09-16T18:46:53Z</dcterms:modified>
</cp:coreProperties>
</file>