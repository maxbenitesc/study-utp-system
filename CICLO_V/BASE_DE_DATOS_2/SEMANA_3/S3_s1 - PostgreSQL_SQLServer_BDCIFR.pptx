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376" r:id="rId2"/>
    <p:sldId id="256" r:id="rId3"/>
    <p:sldId id="349" r:id="rId4"/>
    <p:sldId id="372" r:id="rId5"/>
    <p:sldId id="363" r:id="rId6"/>
    <p:sldId id="399" r:id="rId7"/>
    <p:sldId id="351" r:id="rId8"/>
    <p:sldId id="352" r:id="rId9"/>
    <p:sldId id="344" r:id="rId10"/>
    <p:sldId id="400" r:id="rId11"/>
    <p:sldId id="348" r:id="rId12"/>
    <p:sldId id="403" r:id="rId13"/>
    <p:sldId id="404" r:id="rId14"/>
    <p:sldId id="405" r:id="rId15"/>
    <p:sldId id="401" r:id="rId16"/>
    <p:sldId id="402" r:id="rId17"/>
    <p:sldId id="410" r:id="rId18"/>
    <p:sldId id="406" r:id="rId19"/>
    <p:sldId id="408" r:id="rId20"/>
    <p:sldId id="409" r:id="rId21"/>
    <p:sldId id="353" r:id="rId22"/>
    <p:sldId id="412" r:id="rId23"/>
    <p:sldId id="416" r:id="rId24"/>
    <p:sldId id="413" r:id="rId25"/>
    <p:sldId id="411" r:id="rId26"/>
    <p:sldId id="354" r:id="rId27"/>
    <p:sldId id="356" r:id="rId28"/>
    <p:sldId id="357" r:id="rId29"/>
    <p:sldId id="360" r:id="rId30"/>
    <p:sldId id="359" r:id="rId31"/>
    <p:sldId id="369" r:id="rId32"/>
    <p:sldId id="417" r:id="rId33"/>
    <p:sldId id="418" r:id="rId34"/>
    <p:sldId id="361" r:id="rId35"/>
    <p:sldId id="370" r:id="rId36"/>
    <p:sldId id="362" r:id="rId37"/>
    <p:sldId id="273" r:id="rId38"/>
  </p:sldIdLst>
  <p:sldSz cx="12192000" cy="6858000"/>
  <p:notesSz cx="12192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F91"/>
    <a:srgbClr val="9CB1C9"/>
    <a:srgbClr val="000000"/>
    <a:srgbClr val="D1052D"/>
    <a:srgbClr val="BEC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94660"/>
  </p:normalViewPr>
  <p:slideViewPr>
    <p:cSldViewPr>
      <p:cViewPr varScale="1">
        <p:scale>
          <a:sx n="102" d="100"/>
          <a:sy n="102" d="100"/>
        </p:scale>
        <p:origin x="72" y="184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654E5-2B86-4061-BA67-8AB4A0612CCD}" type="datetimeFigureOut">
              <a:rPr lang="es-PE" smtClean="0"/>
              <a:t>6/04/2026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9008C-742E-4A65-BF8A-7341D8FA003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258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34820" y="1015746"/>
            <a:ext cx="8722359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84350"/>
            <a:ext cx="489267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660005" y="1784350"/>
            <a:ext cx="352742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493"/>
            <a:ext cx="10358120" cy="1858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youtube.com/watch?v=Atpj2UsF65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b-engines.com/en/ranking_trend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BPldcIe2-uE" TargetMode="External"/><Relationship Id="rId3" Type="http://schemas.openxmlformats.org/officeDocument/2006/relationships/hyperlink" Target="https://www.youtube.com/watch?v=jxIEDKzGrOs&amp;list=PL8gxzfBmzgex2nuVanqvxoTXTPovVSwi2" TargetMode="External"/><Relationship Id="rId7" Type="http://schemas.openxmlformats.org/officeDocument/2006/relationships/hyperlink" Target="https://www.youtube.com/watch?v=BlJY6mTXthY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tpjmONtsXKI" TargetMode="External"/><Relationship Id="rId11" Type="http://schemas.openxmlformats.org/officeDocument/2006/relationships/hyperlink" Target="https://kinsta.com/es/blog/postgresql-vs-mysql/" TargetMode="External"/><Relationship Id="rId5" Type="http://schemas.openxmlformats.org/officeDocument/2006/relationships/hyperlink" Target="https://www.youtube.com/watch?v=pyzY2JSnPvQ" TargetMode="External"/><Relationship Id="rId10" Type="http://schemas.openxmlformats.org/officeDocument/2006/relationships/hyperlink" Target="https://www.astera.com/es/knowledge-center/postgresql-sql-server/" TargetMode="External"/><Relationship Id="rId4" Type="http://schemas.openxmlformats.org/officeDocument/2006/relationships/hyperlink" Target="https://www.youtube.com/watch?v=n8uXBimHKwk" TargetMode="External"/><Relationship Id="rId9" Type="http://schemas.openxmlformats.org/officeDocument/2006/relationships/hyperlink" Target="https://www.youtube.com/watch?v=9I09LRj73Rk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arteles de normas de clase para imprimir">
            <a:extLst>
              <a:ext uri="{FF2B5EF4-FFF2-40B4-BE49-F238E27FC236}">
                <a16:creationId xmlns:a16="http://schemas.microsoft.com/office/drawing/2014/main" id="{43E7A42F-2528-479F-BB26-0D53F66908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6" t="6806" r="9223" b="15417"/>
          <a:stretch/>
        </p:blipFill>
        <p:spPr bwMode="auto">
          <a:xfrm>
            <a:off x="2400300" y="990600"/>
            <a:ext cx="73914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065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00112" y="1838144"/>
            <a:ext cx="10363199" cy="905056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268979" marR="5080" indent="-3253104" algn="ctr">
              <a:lnSpc>
                <a:spcPts val="6480"/>
              </a:lnSpc>
              <a:spcBef>
                <a:spcPts val="915"/>
              </a:spcBef>
            </a:pPr>
            <a:r>
              <a:rPr lang="es-ES" sz="4800" spc="-45" dirty="0">
                <a:latin typeface="CentSchbkCyrill BT" panose="02040603050705020303" pitchFamily="18" charset="-52"/>
              </a:rPr>
              <a:t>CURSO: BASE DE DATOS II</a:t>
            </a:r>
            <a:endParaRPr sz="4800" spc="-35" dirty="0">
              <a:latin typeface="CentSchbkCyrill BT" panose="02040603050705020303" pitchFamily="18" charset="-52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85DEC5-F30D-46A1-8619-3D91E66BBC7E}"/>
              </a:ext>
            </a:extLst>
          </p:cNvPr>
          <p:cNvSpPr txBox="1"/>
          <p:nvPr/>
        </p:nvSpPr>
        <p:spPr>
          <a:xfrm>
            <a:off x="2767012" y="1644495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D1052D"/>
                </a:solidFill>
              </a:rPr>
              <a:t>PRIMERA UNIDAD DE APRENDIZAJE 1: </a:t>
            </a:r>
            <a:r>
              <a:rPr lang="es-ES" dirty="0"/>
              <a:t>Bases de Datos Relacionales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51E8A21-5A38-43E7-AE9D-98AA48814941}"/>
              </a:ext>
            </a:extLst>
          </p:cNvPr>
          <p:cNvSpPr txBox="1"/>
          <p:nvPr/>
        </p:nvSpPr>
        <p:spPr>
          <a:xfrm>
            <a:off x="900111" y="2739827"/>
            <a:ext cx="10363199" cy="2975173"/>
          </a:xfrm>
          <a:prstGeom prst="rect">
            <a:avLst/>
          </a:prstGeom>
          <a:solidFill>
            <a:srgbClr val="D1052D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200" b="1" spc="-25" dirty="0">
                <a:solidFill>
                  <a:schemeClr val="bg1"/>
                </a:solidFill>
                <a:latin typeface="Arial"/>
                <a:cs typeface="Arial"/>
              </a:rPr>
              <a:t>SESIÓN </a:t>
            </a:r>
            <a:r>
              <a:rPr lang="es-PE" sz="3200" b="1" spc="-25" dirty="0" err="1">
                <a:solidFill>
                  <a:schemeClr val="bg1"/>
                </a:solidFill>
                <a:latin typeface="Arial"/>
                <a:cs typeface="Arial"/>
              </a:rPr>
              <a:t>N°</a:t>
            </a:r>
            <a:r>
              <a:rPr lang="es-PE" sz="3200" b="1" spc="-25" dirty="0">
                <a:solidFill>
                  <a:schemeClr val="bg1"/>
                </a:solidFill>
                <a:latin typeface="Arial"/>
                <a:cs typeface="Arial"/>
              </a:rPr>
              <a:t> 3:</a:t>
            </a:r>
            <a:endParaRPr lang="es-PE" sz="3200" b="1" spc="85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>
                <a:solidFill>
                  <a:schemeClr val="bg1"/>
                </a:solidFill>
              </a:rPr>
              <a:t>PostgreSQL vs SQL Server: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3000" dirty="0">
                <a:solidFill>
                  <a:schemeClr val="bg1"/>
                </a:solidFill>
                <a:latin typeface="Arial"/>
                <a:cs typeface="Arial"/>
              </a:rPr>
              <a:t>Sintaxis de consultas y funciones distintas a las del SQL de Microsoft.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3000" dirty="0">
                <a:solidFill>
                  <a:schemeClr val="bg1"/>
                </a:solidFill>
                <a:latin typeface="Arial"/>
                <a:cs typeface="Arial"/>
              </a:rPr>
              <a:t>Procedimientos Almacenados.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3000" dirty="0">
                <a:solidFill>
                  <a:schemeClr val="bg1"/>
                </a:solidFill>
                <a:latin typeface="Arial"/>
                <a:cs typeface="Arial"/>
              </a:rPr>
              <a:t>Administración de usuarios, seguridad y </a:t>
            </a:r>
            <a:r>
              <a:rPr lang="es-ES" sz="3000" dirty="0" err="1">
                <a:solidFill>
                  <a:schemeClr val="bg1"/>
                </a:solidFill>
                <a:latin typeface="Arial"/>
                <a:cs typeface="Arial"/>
              </a:rPr>
              <a:t>backup</a:t>
            </a:r>
            <a:r>
              <a:rPr lang="es-ES" sz="300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79D4BDE-00D9-4634-BFF4-101BA4E8B52C}"/>
              </a:ext>
            </a:extLst>
          </p:cNvPr>
          <p:cNvSpPr txBox="1"/>
          <p:nvPr/>
        </p:nvSpPr>
        <p:spPr>
          <a:xfrm>
            <a:off x="3048000" y="5715000"/>
            <a:ext cx="6096000" cy="6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1800" b="1" spc="-25" dirty="0">
                <a:solidFill>
                  <a:srgbClr val="D1052D"/>
                </a:solidFill>
                <a:latin typeface="Arial"/>
                <a:cs typeface="Arial"/>
              </a:rPr>
              <a:t>DOCENTES DE UTP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b="1" spc="-25" dirty="0">
                <a:solidFill>
                  <a:srgbClr val="D1052D"/>
                </a:solidFill>
                <a:latin typeface="Arial"/>
                <a:cs typeface="Arial"/>
              </a:rPr>
              <a:t>SISTEMAS</a:t>
            </a:r>
            <a:endParaRPr lang="es-PE" sz="1800" dirty="0">
              <a:latin typeface="Arial"/>
              <a:cs typeface="Arial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5B956ED-21D5-4069-B69B-4CE9E409433F}"/>
              </a:ext>
            </a:extLst>
          </p:cNvPr>
          <p:cNvGrpSpPr/>
          <p:nvPr/>
        </p:nvGrpSpPr>
        <p:grpSpPr>
          <a:xfrm>
            <a:off x="3681788" y="152400"/>
            <a:ext cx="8281612" cy="1295400"/>
            <a:chOff x="3681788" y="152400"/>
            <a:chExt cx="8281612" cy="129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1788" y="370720"/>
              <a:ext cx="4828423" cy="1077080"/>
            </a:xfrm>
            <a:prstGeom prst="rect">
              <a:avLst/>
            </a:prstGeom>
          </p:spPr>
        </p:pic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EBA6524E-EDB1-4440-AE90-883F7F1FD18C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Motivación para el </a:t>
            </a:r>
            <a:r>
              <a:rPr sz="2400" b="1" spc="-5" dirty="0" err="1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2590800" y="2981235"/>
            <a:ext cx="701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5" dirty="0">
                <a:latin typeface="Arial"/>
                <a:cs typeface="Arial"/>
              </a:rPr>
              <a:t>Lo que debemos tener en cuenta</a:t>
            </a:r>
            <a:endParaRPr lang="es-ES" sz="3600" dirty="0">
              <a:latin typeface="Arial"/>
              <a:cs typeface="Arial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E52C9474-7154-4724-A72B-B537E889D3D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53600" y="6184229"/>
            <a:ext cx="445171" cy="44517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47AE2A4-CC8F-4B06-A81C-DB8416DF06EB}"/>
              </a:ext>
            </a:extLst>
          </p:cNvPr>
          <p:cNvSpPr txBox="1"/>
          <p:nvPr/>
        </p:nvSpPr>
        <p:spPr>
          <a:xfrm>
            <a:off x="10198771" y="6222148"/>
            <a:ext cx="1764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14300">
              <a:lnSpc>
                <a:spcPct val="100000"/>
              </a:lnSpc>
              <a:spcBef>
                <a:spcPts val="1345"/>
              </a:spcBef>
            </a:pPr>
            <a:r>
              <a:rPr lang="es-PE" sz="2000" b="1" dirty="0">
                <a:latin typeface="Arial"/>
                <a:cs typeface="Arial"/>
              </a:rPr>
              <a:t>5</a:t>
            </a:r>
            <a:r>
              <a:rPr lang="es-PE" sz="2000" b="1" spc="-55" dirty="0">
                <a:latin typeface="Arial"/>
                <a:cs typeface="Arial"/>
              </a:rPr>
              <a:t> </a:t>
            </a:r>
            <a:r>
              <a:rPr lang="es-PE" sz="2000" b="1" spc="-5" dirty="0">
                <a:latin typeface="Arial"/>
                <a:cs typeface="Arial"/>
              </a:rPr>
              <a:t>minutos</a:t>
            </a:r>
            <a:endParaRPr lang="es-PE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7243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1C6300D-1555-46AB-BF01-5F13EDA8B0FD}"/>
              </a:ext>
            </a:extLst>
          </p:cNvPr>
          <p:cNvSpPr txBox="1"/>
          <p:nvPr/>
        </p:nvSpPr>
        <p:spPr>
          <a:xfrm>
            <a:off x="3049191" y="5486400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dirty="0">
                <a:hlinkClick r:id="rId2"/>
              </a:rPr>
              <a:t>https://www.youtube.com/watch?v=Atpj2UsF65M</a:t>
            </a:r>
            <a:endParaRPr lang="es-PE" dirty="0"/>
          </a:p>
          <a:p>
            <a:pPr algn="ctr"/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69280D-53A5-4DD7-BBD9-4195E66EC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837" y="1143000"/>
            <a:ext cx="6630325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242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2590800" y="2981235"/>
            <a:ext cx="701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5" dirty="0">
                <a:latin typeface="Arial"/>
                <a:cs typeface="Arial"/>
              </a:rPr>
              <a:t>¿Qué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vimos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en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la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sesión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anterior?</a:t>
            </a:r>
            <a:endParaRPr lang="es-ES" sz="3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7175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6EB3CAC-6887-429E-BFDD-72752B1F17BD}"/>
              </a:ext>
            </a:extLst>
          </p:cNvPr>
          <p:cNvSpPr txBox="1"/>
          <p:nvPr/>
        </p:nvSpPr>
        <p:spPr>
          <a:xfrm>
            <a:off x="723900" y="1066800"/>
            <a:ext cx="110490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Mapas conceptuales</a:t>
            </a:r>
          </a:p>
          <a:p>
            <a:pPr algn="ctr"/>
            <a:endParaRPr lang="es-ES" sz="2800" b="1" dirty="0"/>
          </a:p>
          <a:p>
            <a:r>
              <a:rPr lang="es-ES" sz="2000" b="1" dirty="0"/>
              <a:t>Descripción:</a:t>
            </a:r>
            <a:r>
              <a:rPr lang="es-ES" sz="2000" dirty="0"/>
              <a:t> realizar mapa conceptual sobre el tema tratado anteriormente.</a:t>
            </a:r>
          </a:p>
          <a:p>
            <a:endParaRPr lang="es-ES" sz="2000" b="1" dirty="0"/>
          </a:p>
          <a:p>
            <a:r>
              <a:rPr lang="es-ES" sz="2000" b="1" dirty="0"/>
              <a:t>PostgreSQL: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Estructura de funcionamiento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Creación de Bases de Datos y Tablas</a:t>
            </a:r>
          </a:p>
        </p:txBody>
      </p:sp>
      <p:pic>
        <p:nvPicPr>
          <p:cNvPr id="1026" name="Picture 2" descr="Mapa mental | Conoce todo sobre ellos y di adiós al caos en tu mente">
            <a:extLst>
              <a:ext uri="{FF2B5EF4-FFF2-40B4-BE49-F238E27FC236}">
                <a16:creationId xmlns:a16="http://schemas.microsoft.com/office/drawing/2014/main" id="{0D19BFD2-E568-49DA-A764-342AC3E1C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3873" y="2971800"/>
            <a:ext cx="6344227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6306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Logro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A6F3E7-9979-4364-9955-A30A48479D96}"/>
              </a:ext>
            </a:extLst>
          </p:cNvPr>
          <p:cNvSpPr txBox="1"/>
          <p:nvPr/>
        </p:nvSpPr>
        <p:spPr>
          <a:xfrm>
            <a:off x="2552700" y="2644170"/>
            <a:ext cx="7086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spc="-5" dirty="0">
                <a:latin typeface="Arial MT"/>
                <a:cs typeface="Arial MT"/>
              </a:rPr>
              <a:t>Al finalizar la unidad el participante comprende los fundamentos y uso de otras bases de datos relacionales.</a:t>
            </a:r>
            <a:endParaRPr lang="es-ES" sz="3200" dirty="0">
              <a:latin typeface="Arial MT"/>
              <a:cs typeface="Arial MT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C7336562-8237-4C19-BF2E-C16CE9CE1C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3622" y="292547"/>
            <a:ext cx="559075" cy="55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28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Importancia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2" name="object 10">
            <a:extLst>
              <a:ext uri="{FF2B5EF4-FFF2-40B4-BE49-F238E27FC236}">
                <a16:creationId xmlns:a16="http://schemas.microsoft.com/office/drawing/2014/main" id="{BD6947E1-33EA-4945-AA08-BDC665508E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7875" y="304800"/>
            <a:ext cx="506725" cy="56182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2B8F5EF-2F10-4D15-8873-813A4AC722E7}"/>
              </a:ext>
            </a:extLst>
          </p:cNvPr>
          <p:cNvSpPr txBox="1"/>
          <p:nvPr/>
        </p:nvSpPr>
        <p:spPr>
          <a:xfrm>
            <a:off x="959168" y="1295400"/>
            <a:ext cx="1022413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PostgreSQL vs SQL Server: Sintaxis de Consultas y Funciones:</a:t>
            </a:r>
          </a:p>
          <a:p>
            <a:pPr algn="ctr"/>
            <a:r>
              <a:rPr lang="es-ES" sz="2000" dirty="0"/>
              <a:t>Entender las diferencias en la sintaxis y funciones entre PostgreSQL y SQL Server es crucial para escribir consultas eficientes y adecuadas en cada sistema. PostgreSQL y SQL Server tienen diferencias en sus dialectos SQL, lo que afecta cómo se construyen y optimizan las consultas.</a:t>
            </a:r>
          </a:p>
          <a:p>
            <a:pPr algn="ctr"/>
            <a:endParaRPr lang="es-ES" sz="2000" dirty="0"/>
          </a:p>
          <a:p>
            <a:pPr algn="ctr"/>
            <a:r>
              <a:rPr lang="es-ES" sz="2000" b="1" dirty="0"/>
              <a:t>Procedimientos Almacenados:</a:t>
            </a:r>
          </a:p>
          <a:p>
            <a:pPr algn="ctr"/>
            <a:r>
              <a:rPr lang="es-ES" sz="2000" dirty="0"/>
              <a:t>Los procedimientos almacenados permiten encapsular la lógica de negocio en la base de datos, facilitando su reutilización y mejorando el rendimiento. Comparar cómo se crean y gestionan en PostgreSQL y SQL Server ayuda a elegir la mejor práctica para cada entorno.</a:t>
            </a:r>
          </a:p>
          <a:p>
            <a:pPr algn="ctr"/>
            <a:endParaRPr lang="es-ES" sz="2000" dirty="0"/>
          </a:p>
          <a:p>
            <a:pPr algn="ctr"/>
            <a:r>
              <a:rPr lang="es-ES" sz="2000" b="1" dirty="0"/>
              <a:t>Administración de Usuarios, Seguridad y </a:t>
            </a:r>
            <a:r>
              <a:rPr lang="es-ES" sz="2000" b="1" dirty="0" err="1"/>
              <a:t>Backup</a:t>
            </a:r>
            <a:r>
              <a:rPr lang="es-ES" sz="2000" b="1" dirty="0"/>
              <a:t>:</a:t>
            </a:r>
          </a:p>
          <a:p>
            <a:pPr algn="ctr"/>
            <a:r>
              <a:rPr lang="es-ES" sz="2000" dirty="0"/>
              <a:t>La administración de usuarios y la seguridad son fundamentales para proteger los datos y controlar el acceso en ambos sistemas. Además, las estrategias de </a:t>
            </a:r>
            <a:r>
              <a:rPr lang="es-ES" sz="2000" dirty="0" err="1"/>
              <a:t>backup</a:t>
            </a:r>
            <a:r>
              <a:rPr lang="es-ES" sz="2000" dirty="0"/>
              <a:t> garantizan la integridad y disponibilidad de los datos. Conocer las herramientas y métodos específicos de PostgreSQL y SQL Server para estos aspectos permite una gestión más efectiva y segura de las bases de datos.</a:t>
            </a:r>
          </a:p>
        </p:txBody>
      </p:sp>
    </p:spTree>
    <p:extLst>
      <p:ext uri="{BB962C8B-B14F-4D97-AF65-F5344CB8AC3E}">
        <p14:creationId xmlns:p14="http://schemas.microsoft.com/office/powerpoint/2010/main" val="1418980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CD923E2-6C48-4276-9BEB-1846D11A67A4}"/>
              </a:ext>
            </a:extLst>
          </p:cNvPr>
          <p:cNvSpPr txBox="1"/>
          <p:nvPr/>
        </p:nvSpPr>
        <p:spPr>
          <a:xfrm>
            <a:off x="990600" y="2890391"/>
            <a:ext cx="10058400" cy="2654573"/>
          </a:xfrm>
          <a:prstGeom prst="rect">
            <a:avLst/>
          </a:prstGeom>
          <a:solidFill>
            <a:srgbClr val="D1052D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600" b="1" dirty="0">
                <a:solidFill>
                  <a:schemeClr val="bg1"/>
                </a:solidFill>
              </a:rPr>
              <a:t>PostgreSQL vs SQL Server: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3200" dirty="0">
                <a:solidFill>
                  <a:schemeClr val="bg1"/>
                </a:solidFill>
                <a:latin typeface="Arial"/>
                <a:cs typeface="Arial"/>
              </a:rPr>
              <a:t>Sintaxis de consultas y funciones distintas a las del SQL de Microsoft.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3200" dirty="0">
                <a:solidFill>
                  <a:schemeClr val="bg1"/>
                </a:solidFill>
                <a:latin typeface="Arial"/>
                <a:cs typeface="Arial"/>
              </a:rPr>
              <a:t>Procedimientos Almacenados.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3200" dirty="0">
                <a:solidFill>
                  <a:schemeClr val="bg1"/>
                </a:solidFill>
                <a:latin typeface="Arial"/>
                <a:cs typeface="Arial"/>
              </a:rPr>
              <a:t>Administración de usuarios, seguridad y </a:t>
            </a:r>
            <a:r>
              <a:rPr lang="es-ES" sz="3200" dirty="0" err="1">
                <a:solidFill>
                  <a:schemeClr val="bg1"/>
                </a:solidFill>
                <a:latin typeface="Arial"/>
                <a:cs typeface="Arial"/>
              </a:rPr>
              <a:t>backup</a:t>
            </a:r>
            <a:r>
              <a:rPr lang="es-ES" sz="320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52D0D8-40D1-4D69-8E9B-067B07521DBF}"/>
              </a:ext>
            </a:extLst>
          </p:cNvPr>
          <p:cNvSpPr txBox="1"/>
          <p:nvPr/>
        </p:nvSpPr>
        <p:spPr>
          <a:xfrm>
            <a:off x="4076700" y="1991427"/>
            <a:ext cx="403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600" b="1" spc="-25" dirty="0">
                <a:solidFill>
                  <a:srgbClr val="000000"/>
                </a:solidFill>
                <a:latin typeface="Arial"/>
                <a:cs typeface="Arial"/>
              </a:rPr>
              <a:t>SESIÓN </a:t>
            </a:r>
            <a:r>
              <a:rPr lang="es-PE" sz="3600" b="1" spc="-25" dirty="0" err="1">
                <a:solidFill>
                  <a:srgbClr val="000000"/>
                </a:solidFill>
                <a:latin typeface="Arial"/>
                <a:cs typeface="Arial"/>
              </a:rPr>
              <a:t>N°</a:t>
            </a:r>
            <a:r>
              <a:rPr lang="es-PE" sz="3600" b="1" spc="-25" dirty="0">
                <a:solidFill>
                  <a:srgbClr val="000000"/>
                </a:solidFill>
                <a:latin typeface="Arial"/>
                <a:cs typeface="Arial"/>
              </a:rPr>
              <a:t> 3:</a:t>
            </a:r>
            <a:endParaRPr lang="es-PE" sz="3600" b="1" spc="85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31BDD320-46CF-4CF8-8ED7-B9CC2CD22623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s-PE" sz="2400" b="1" spc="-5" dirty="0" err="1">
                <a:solidFill>
                  <a:srgbClr val="FFFFFF"/>
                </a:solidFill>
                <a:latin typeface="Arial"/>
                <a:cs typeface="Arial"/>
              </a:rPr>
              <a:t>emario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10" name="object 7">
            <a:extLst>
              <a:ext uri="{FF2B5EF4-FFF2-40B4-BE49-F238E27FC236}">
                <a16:creationId xmlns:a16="http://schemas.microsoft.com/office/drawing/2014/main" id="{229EF982-4AD6-41B4-B055-812DA365FB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5EB02CA-766A-4A3B-83E2-2CF011B7FD7D}"/>
              </a:ext>
            </a:extLst>
          </p:cNvPr>
          <p:cNvSpPr txBox="1"/>
          <p:nvPr/>
        </p:nvSpPr>
        <p:spPr>
          <a:xfrm>
            <a:off x="365760" y="973304"/>
            <a:ext cx="53578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spc="-5" dirty="0">
                <a:latin typeface="Arial"/>
                <a:cs typeface="Arial"/>
              </a:rPr>
              <a:t>¡Que no se te escape nada de tu clase!:</a:t>
            </a:r>
            <a:endParaRPr lang="es-E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21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ostgreSQL vs servidor SQL">
            <a:extLst>
              <a:ext uri="{FF2B5EF4-FFF2-40B4-BE49-F238E27FC236}">
                <a16:creationId xmlns:a16="http://schemas.microsoft.com/office/drawing/2014/main" id="{2E971829-B500-4DE8-AD5A-A30F97431F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0" t="9970" r="14375"/>
          <a:stretch/>
        </p:blipFill>
        <p:spPr bwMode="auto">
          <a:xfrm>
            <a:off x="1000125" y="990600"/>
            <a:ext cx="10363200" cy="412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188872B-3097-4B02-887D-EFC63E84D8D0}"/>
              </a:ext>
            </a:extLst>
          </p:cNvPr>
          <p:cNvSpPr txBox="1"/>
          <p:nvPr/>
        </p:nvSpPr>
        <p:spPr>
          <a:xfrm>
            <a:off x="838200" y="4961632"/>
            <a:ext cx="10515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b="0" i="0" dirty="0">
                <a:solidFill>
                  <a:srgbClr val="535353"/>
                </a:solidFill>
                <a:effectLst/>
                <a:latin typeface="Open Sans" panose="020B0606030504020204" pitchFamily="34" charset="0"/>
              </a:rPr>
              <a:t>Es casi imposible hablar de gestión de datos sin mencionar PostgreSQL y SQL Server. Como dos de las tecnologías de sistemas de administración de bases de datos relacionales (</a:t>
            </a:r>
            <a:r>
              <a:rPr lang="es-ES" sz="1600" b="0" i="0" dirty="0" err="1">
                <a:solidFill>
                  <a:srgbClr val="535353"/>
                </a:solidFill>
                <a:effectLst/>
                <a:latin typeface="Open Sans" panose="020B0606030504020204" pitchFamily="34" charset="0"/>
              </a:rPr>
              <a:t>RDBMS</a:t>
            </a:r>
            <a:r>
              <a:rPr lang="es-ES" sz="1600" b="0" i="0" dirty="0">
                <a:solidFill>
                  <a:srgbClr val="535353"/>
                </a:solidFill>
                <a:effectLst/>
                <a:latin typeface="Open Sans" panose="020B0606030504020204" pitchFamily="34" charset="0"/>
              </a:rPr>
              <a:t>) más populares, tienen sus propias fortalezas y debilidades únicas. Si se ha estado preguntando en qué se diferencian PostgreSQL y SQL Server, y cómo pueden usarlos juntos, etc.</a:t>
            </a:r>
            <a:endParaRPr lang="es-PE" sz="16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B36384D-C3D9-4066-84F6-1448FB8293B6}"/>
              </a:ext>
            </a:extLst>
          </p:cNvPr>
          <p:cNvSpPr txBox="1"/>
          <p:nvPr/>
        </p:nvSpPr>
        <p:spPr>
          <a:xfrm>
            <a:off x="5715000" y="6172200"/>
            <a:ext cx="5867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1400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Ranking de DB-</a:t>
            </a:r>
            <a:r>
              <a:rPr lang="es-PE" sz="1400" b="1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Engines</a:t>
            </a:r>
            <a:r>
              <a:rPr lang="es-PE" sz="1400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: tendencia de popularidad</a:t>
            </a:r>
          </a:p>
          <a:p>
            <a:pPr algn="ctr"/>
            <a:r>
              <a:rPr lang="es-PE" sz="1400" dirty="0">
                <a:hlinkClick r:id="rId3"/>
              </a:rPr>
              <a:t>https://db-engines.com/en/ranking_trend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782067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A9EEBEE-491D-47BA-97D6-CA8879CCE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767541"/>
              </p:ext>
            </p:extLst>
          </p:nvPr>
        </p:nvGraphicFramePr>
        <p:xfrm>
          <a:off x="1118418" y="2980890"/>
          <a:ext cx="9930582" cy="3200270"/>
        </p:xfrm>
        <a:graphic>
          <a:graphicData uri="http://schemas.openxmlformats.org/drawingml/2006/table">
            <a:tbl>
              <a:tblPr/>
              <a:tblGrid>
                <a:gridCol w="4965291">
                  <a:extLst>
                    <a:ext uri="{9D8B030D-6E8A-4147-A177-3AD203B41FA5}">
                      <a16:colId xmlns:a16="http://schemas.microsoft.com/office/drawing/2014/main" val="2701219480"/>
                    </a:ext>
                  </a:extLst>
                </a:gridCol>
                <a:gridCol w="4965291">
                  <a:extLst>
                    <a:ext uri="{9D8B030D-6E8A-4147-A177-3AD203B41FA5}">
                      <a16:colId xmlns:a16="http://schemas.microsoft.com/office/drawing/2014/main" val="4038552982"/>
                    </a:ext>
                  </a:extLst>
                </a:gridCol>
              </a:tblGrid>
              <a:tr h="289511">
                <a:tc>
                  <a:txBody>
                    <a:bodyPr/>
                    <a:lstStyle/>
                    <a:p>
                      <a:pPr algn="ctr"/>
                      <a:r>
                        <a:rPr lang="es-PE" sz="2000" b="1" dirty="0">
                          <a:solidFill>
                            <a:srgbClr val="3C4043"/>
                          </a:solidFill>
                          <a:effectLst/>
                        </a:rPr>
                        <a:t>SQL Server</a:t>
                      </a:r>
                      <a:endParaRPr lang="es-PE" sz="2000" dirty="0">
                        <a:solidFill>
                          <a:srgbClr val="3C4043"/>
                        </a:solidFill>
                        <a:effectLst/>
                      </a:endParaRPr>
                    </a:p>
                  </a:txBody>
                  <a:tcPr marL="114281" marR="114281" marT="76187" marB="761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b="1" dirty="0">
                          <a:solidFill>
                            <a:srgbClr val="3C4043"/>
                          </a:solidFill>
                          <a:effectLst/>
                        </a:rPr>
                        <a:t>PostgreSQL</a:t>
                      </a:r>
                      <a:endParaRPr lang="es-PE" sz="2000" dirty="0">
                        <a:solidFill>
                          <a:srgbClr val="3C4043"/>
                        </a:solidFill>
                        <a:effectLst/>
                      </a:endParaRPr>
                    </a:p>
                  </a:txBody>
                  <a:tcPr marL="114281" marR="114281" marT="76187" marB="761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36349"/>
                  </a:ext>
                </a:extLst>
              </a:tr>
              <a:tr h="426647">
                <a:tc>
                  <a:txBody>
                    <a:bodyPr/>
                    <a:lstStyle/>
                    <a:p>
                      <a:r>
                        <a:rPr lang="es-PE" sz="2000">
                          <a:solidFill>
                            <a:srgbClr val="3C4043"/>
                          </a:solidFill>
                          <a:effectLst/>
                        </a:rPr>
                        <a:t>Sistema de administración de bases de datos relacionales</a:t>
                      </a:r>
                    </a:p>
                  </a:txBody>
                  <a:tcPr marL="114281" marR="114281" marT="76187" marB="761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2000">
                          <a:solidFill>
                            <a:srgbClr val="3C4043"/>
                          </a:solidFill>
                          <a:effectLst/>
                        </a:rPr>
                        <a:t>Sistema de administración de bases de datos relacionales de objetos</a:t>
                      </a:r>
                    </a:p>
                  </a:txBody>
                  <a:tcPr marL="114281" marR="114281" marT="76187" marB="761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5142395"/>
                  </a:ext>
                </a:extLst>
              </a:tr>
              <a:tr h="289511">
                <a:tc>
                  <a:txBody>
                    <a:bodyPr/>
                    <a:lstStyle/>
                    <a:p>
                      <a:r>
                        <a:rPr lang="es-PE" sz="2000" dirty="0">
                          <a:solidFill>
                            <a:srgbClr val="3C4043"/>
                          </a:solidFill>
                          <a:effectLst/>
                        </a:rPr>
                        <a:t>Producto comercial de Microsoft</a:t>
                      </a:r>
                    </a:p>
                  </a:txBody>
                  <a:tcPr marL="114281" marR="114281" marT="76187" marB="761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2000">
                          <a:solidFill>
                            <a:srgbClr val="3C4043"/>
                          </a:solidFill>
                          <a:effectLst/>
                        </a:rPr>
                        <a:t>Código abierto (completamente gratuito) </a:t>
                      </a:r>
                    </a:p>
                  </a:txBody>
                  <a:tcPr marL="114281" marR="114281" marT="76187" marB="761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67197"/>
                  </a:ext>
                </a:extLst>
              </a:tr>
              <a:tr h="426647">
                <a:tc>
                  <a:txBody>
                    <a:bodyPr/>
                    <a:lstStyle/>
                    <a:p>
                      <a:r>
                        <a:rPr lang="es-ES" sz="2000">
                          <a:solidFill>
                            <a:srgbClr val="3C4043"/>
                          </a:solidFill>
                          <a:effectLst/>
                        </a:rPr>
                        <a:t>Se ejecuta solo en Microsoft o Linux</a:t>
                      </a:r>
                    </a:p>
                  </a:txBody>
                  <a:tcPr marL="114281" marR="114281" marT="76187" marB="761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2000">
                          <a:solidFill>
                            <a:srgbClr val="3C4043"/>
                          </a:solidFill>
                          <a:effectLst/>
                        </a:rPr>
                        <a:t>Se ejecuta en la mayoría de las máquinas y sistemas operativos</a:t>
                      </a:r>
                    </a:p>
                  </a:txBody>
                  <a:tcPr marL="114281" marR="114281" marT="76187" marB="761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06755"/>
                  </a:ext>
                </a:extLst>
              </a:tr>
              <a:tr h="426647">
                <a:tc>
                  <a:txBody>
                    <a:bodyPr/>
                    <a:lstStyle/>
                    <a:p>
                      <a:r>
                        <a:rPr lang="es-ES" sz="2000">
                          <a:solidFill>
                            <a:srgbClr val="3C4043"/>
                          </a:solidFill>
                          <a:effectLst/>
                        </a:rPr>
                        <a:t>Usa Transact-SQL o T-SQL (SQL estándar + funcionalidad adicional)</a:t>
                      </a:r>
                    </a:p>
                  </a:txBody>
                  <a:tcPr marL="114281" marR="114281" marT="76187" marB="761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2000" dirty="0">
                          <a:solidFill>
                            <a:srgbClr val="3C4043"/>
                          </a:solidFill>
                          <a:effectLst/>
                        </a:rPr>
                        <a:t>Usa SQL estándar</a:t>
                      </a:r>
                    </a:p>
                  </a:txBody>
                  <a:tcPr marL="114281" marR="114281" marT="76187" marB="761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66694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CB12D2E-D0CC-4162-A584-C2C906A4C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235333"/>
            <a:ext cx="10363200" cy="146855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142830" rIns="0" bIns="21424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4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Diferencia entre SQL Server y PostgreSQL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En un nivel superior, esta es una descripción general básica de las diferencias entre SQL Server y PostgreSQL:</a:t>
            </a:r>
          </a:p>
        </p:txBody>
      </p:sp>
      <p:pic>
        <p:nvPicPr>
          <p:cNvPr id="3075" name="Picture 3" descr="Интеграция PostgreSQL с MS SQL Server">
            <a:extLst>
              <a:ext uri="{FF2B5EF4-FFF2-40B4-BE49-F238E27FC236}">
                <a16:creationId xmlns:a16="http://schemas.microsoft.com/office/drawing/2014/main" id="{2D234663-0C4C-4FD2-8B31-307938949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2209800" cy="85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074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Интеграция PostgreSQL с MS SQL Server">
            <a:extLst>
              <a:ext uri="{FF2B5EF4-FFF2-40B4-BE49-F238E27FC236}">
                <a16:creationId xmlns:a16="http://schemas.microsoft.com/office/drawing/2014/main" id="{2C4F766E-F23D-4055-AE23-FD831575F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2209800" cy="85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12D4967-869F-44D6-99D7-C004E66F9058}"/>
              </a:ext>
            </a:extLst>
          </p:cNvPr>
          <p:cNvSpPr txBox="1"/>
          <p:nvPr/>
        </p:nvSpPr>
        <p:spPr>
          <a:xfrm>
            <a:off x="528636" y="1254654"/>
            <a:ext cx="107489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Google Sans"/>
              </a:rPr>
              <a:t>Comparación entre PostgreSQL y SQL Server: ventajas y desventajas</a:t>
            </a:r>
          </a:p>
          <a:p>
            <a:pPr algn="just"/>
            <a:r>
              <a:rPr lang="es-ES" sz="2000" b="0" i="0" dirty="0">
                <a:effectLst/>
                <a:latin typeface="Google Sans Text"/>
              </a:rPr>
              <a:t>Más allá de estas diferencias básicas, hay varias ventajas y desventajas en cada sistema de administración de bases de datos que debes tener en cuenta a la hora de identificar qué se adapta mejor a tus necesidades y requisitos empresariales. </a:t>
            </a:r>
          </a:p>
          <a:p>
            <a:pPr algn="just"/>
            <a:r>
              <a:rPr lang="es-ES" sz="2000" b="0" i="0" dirty="0">
                <a:solidFill>
                  <a:schemeClr val="accent5">
                    <a:lumMod val="75000"/>
                  </a:schemeClr>
                </a:solidFill>
                <a:effectLst/>
                <a:latin typeface="Google Sans Text"/>
              </a:rPr>
              <a:t>Estas son algunas de las ventajas y desventajas más comunes de PostgreSQL: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CF25518-E220-410A-99AD-F83ABB890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632366"/>
              </p:ext>
            </p:extLst>
          </p:nvPr>
        </p:nvGraphicFramePr>
        <p:xfrm>
          <a:off x="609600" y="3042650"/>
          <a:ext cx="10668000" cy="3195094"/>
        </p:xfrm>
        <a:graphic>
          <a:graphicData uri="http://schemas.openxmlformats.org/drawingml/2006/table">
            <a:tbl>
              <a:tblPr/>
              <a:tblGrid>
                <a:gridCol w="5715000">
                  <a:extLst>
                    <a:ext uri="{9D8B030D-6E8A-4147-A177-3AD203B41FA5}">
                      <a16:colId xmlns:a16="http://schemas.microsoft.com/office/drawing/2014/main" val="337842791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695926475"/>
                    </a:ext>
                  </a:extLst>
                </a:gridCol>
              </a:tblGrid>
              <a:tr h="172294">
                <a:tc>
                  <a:txBody>
                    <a:bodyPr/>
                    <a:lstStyle/>
                    <a:p>
                      <a:pPr algn="ctr"/>
                      <a:r>
                        <a:rPr lang="es-PE" sz="1400" b="1" dirty="0">
                          <a:solidFill>
                            <a:srgbClr val="3C4043"/>
                          </a:solidFill>
                          <a:effectLst/>
                        </a:rPr>
                        <a:t>Ventajas</a:t>
                      </a:r>
                      <a:endParaRPr lang="es-PE" sz="1400" dirty="0">
                        <a:solidFill>
                          <a:srgbClr val="3C4043"/>
                        </a:solidFill>
                        <a:effectLst/>
                      </a:endParaRPr>
                    </a:p>
                  </a:txBody>
                  <a:tcPr marL="68011" marR="68011" marT="45341" marB="45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1" dirty="0">
                          <a:solidFill>
                            <a:srgbClr val="3C4043"/>
                          </a:solidFill>
                          <a:effectLst/>
                        </a:rPr>
                        <a:t>Desventajas</a:t>
                      </a:r>
                      <a:endParaRPr lang="es-PE" sz="1400" dirty="0">
                        <a:solidFill>
                          <a:srgbClr val="3C4043"/>
                        </a:solidFill>
                        <a:effectLst/>
                      </a:endParaRPr>
                    </a:p>
                  </a:txBody>
                  <a:tcPr marL="68011" marR="68011" marT="45341" marB="45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03569"/>
                  </a:ext>
                </a:extLst>
              </a:tr>
              <a:tr h="253907">
                <a:tc>
                  <a:txBody>
                    <a:bodyPr/>
                    <a:lstStyle/>
                    <a:p>
                      <a:r>
                        <a:rPr lang="es-ES" sz="1400">
                          <a:solidFill>
                            <a:srgbClr val="3C4043"/>
                          </a:solidFill>
                          <a:effectLst/>
                        </a:rPr>
                        <a:t>Altamente extensible para agregar funciones, tipos de datos, lenguajes y mucho más </a:t>
                      </a:r>
                    </a:p>
                  </a:txBody>
                  <a:tcPr marL="68011" marR="68011" marT="45341" marB="45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solidFill>
                            <a:srgbClr val="3C4043"/>
                          </a:solidFill>
                          <a:effectLst/>
                        </a:rPr>
                        <a:t>Rendimiento más lento en comparación con otros RDBMS, como SQL Server y MySQL</a:t>
                      </a:r>
                    </a:p>
                  </a:txBody>
                  <a:tcPr marL="68011" marR="68011" marT="45341" marB="45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9610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s-ES" sz="1400">
                          <a:solidFill>
                            <a:srgbClr val="3C4043"/>
                          </a:solidFill>
                          <a:effectLst/>
                        </a:rPr>
                        <a:t>Compatibilidad con tipos de datos no estructurados (por ejemplo, audio, video e imágenes)</a:t>
                      </a:r>
                    </a:p>
                  </a:txBody>
                  <a:tcPr marL="68011" marR="68011" marT="45341" marB="45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solidFill>
                            <a:srgbClr val="3C4043"/>
                          </a:solidFill>
                          <a:effectLst/>
                        </a:rPr>
                        <a:t>Un mayor enfoque en la compatibilidad; las mejoras en la velocidad requieren más trabajo</a:t>
                      </a:r>
                    </a:p>
                  </a:txBody>
                  <a:tcPr marL="68011" marR="68011" marT="45341" marB="45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582549"/>
                  </a:ext>
                </a:extLst>
              </a:tr>
              <a:tr h="253907">
                <a:tc>
                  <a:txBody>
                    <a:bodyPr/>
                    <a:lstStyle/>
                    <a:p>
                      <a:r>
                        <a:rPr lang="es-ES" sz="1400">
                          <a:solidFill>
                            <a:srgbClr val="3C4043"/>
                          </a:solidFill>
                          <a:effectLst/>
                        </a:rPr>
                        <a:t>MVCC para procesamiento simultáneo y altas tasas de transacciones casi sin interbloqueo</a:t>
                      </a:r>
                    </a:p>
                  </a:txBody>
                  <a:tcPr marL="68011" marR="68011" marT="45341" marB="45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solidFill>
                            <a:srgbClr val="3C4043"/>
                          </a:solidFill>
                          <a:effectLst/>
                        </a:rPr>
                        <a:t>La instalación puede ser difícil para principiantes</a:t>
                      </a:r>
                    </a:p>
                  </a:txBody>
                  <a:tcPr marL="68011" marR="68011" marT="45341" marB="45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541405"/>
                  </a:ext>
                </a:extLst>
              </a:tr>
              <a:tr h="253907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3C4043"/>
                          </a:solidFill>
                          <a:effectLst/>
                        </a:rPr>
                        <a:t>Alta disponibilidad y recuperación de fallas del servidor</a:t>
                      </a:r>
                    </a:p>
                  </a:txBody>
                  <a:tcPr marL="68011" marR="68011" marT="45341" marB="45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400">
                        <a:solidFill>
                          <a:srgbClr val="3C4043"/>
                        </a:solidFill>
                        <a:effectLst/>
                      </a:endParaRPr>
                    </a:p>
                  </a:txBody>
                  <a:tcPr marL="68011" marR="68011" marT="45341" marB="45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203256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s-ES" sz="1400">
                          <a:solidFill>
                            <a:srgbClr val="3C4043"/>
                          </a:solidFill>
                          <a:effectLst/>
                        </a:rPr>
                        <a:t>Funciones de seguridad avanzadas, como la encriptación de datos, los certificados SSL y los métodos de autenticación avanzada</a:t>
                      </a:r>
                    </a:p>
                  </a:txBody>
                  <a:tcPr marL="68011" marR="68011" marT="45341" marB="45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PE" sz="1400">
                        <a:solidFill>
                          <a:srgbClr val="3C4043"/>
                        </a:solidFill>
                        <a:effectLst/>
                      </a:endParaRPr>
                    </a:p>
                  </a:txBody>
                  <a:tcPr marL="68011" marR="68011" marT="45341" marB="45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503174"/>
                  </a:ext>
                </a:extLst>
              </a:tr>
              <a:tr h="253907">
                <a:tc>
                  <a:txBody>
                    <a:bodyPr/>
                    <a:lstStyle/>
                    <a:p>
                      <a:pPr algn="l"/>
                      <a:r>
                        <a:rPr lang="es-ES" sz="1400" b="0" i="0">
                          <a:solidFill>
                            <a:srgbClr val="3C4043"/>
                          </a:solidFill>
                          <a:effectLst/>
                          <a:latin typeface="Google Sans Text"/>
                        </a:rPr>
                        <a:t>La comunidad activa de código abierto mejora y actualiza continuamente las soluciones </a:t>
                      </a:r>
                    </a:p>
                  </a:txBody>
                  <a:tcPr marL="68011" marR="68011" marT="45341" marB="45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400" dirty="0"/>
                    </a:p>
                  </a:txBody>
                  <a:tcPr marL="27204" marR="27204" marT="13602" marB="136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2634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082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Интеграция PostgreSQL с MS SQL Server">
            <a:extLst>
              <a:ext uri="{FF2B5EF4-FFF2-40B4-BE49-F238E27FC236}">
                <a16:creationId xmlns:a16="http://schemas.microsoft.com/office/drawing/2014/main" id="{2C4F766E-F23D-4055-AE23-FD831575F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2209800" cy="85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F0CC8D5-A85D-4CDE-B4C4-EB9DDBB94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567521"/>
              </p:ext>
            </p:extLst>
          </p:nvPr>
        </p:nvGraphicFramePr>
        <p:xfrm>
          <a:off x="548148" y="1828800"/>
          <a:ext cx="11034252" cy="4021836"/>
        </p:xfrm>
        <a:graphic>
          <a:graphicData uri="http://schemas.openxmlformats.org/drawingml/2006/table">
            <a:tbl>
              <a:tblPr/>
              <a:tblGrid>
                <a:gridCol w="5517126">
                  <a:extLst>
                    <a:ext uri="{9D8B030D-6E8A-4147-A177-3AD203B41FA5}">
                      <a16:colId xmlns:a16="http://schemas.microsoft.com/office/drawing/2014/main" val="3784563276"/>
                    </a:ext>
                  </a:extLst>
                </a:gridCol>
                <a:gridCol w="5517126">
                  <a:extLst>
                    <a:ext uri="{9D8B030D-6E8A-4147-A177-3AD203B41FA5}">
                      <a16:colId xmlns:a16="http://schemas.microsoft.com/office/drawing/2014/main" val="1776236405"/>
                    </a:ext>
                  </a:extLst>
                </a:gridCol>
              </a:tblGrid>
              <a:tr h="165048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3C4043"/>
                          </a:solidFill>
                          <a:effectLst/>
                        </a:rPr>
                        <a:t>Ventajas</a:t>
                      </a:r>
                      <a:endParaRPr lang="es-PE" sz="1600" dirty="0">
                        <a:solidFill>
                          <a:srgbClr val="3C4043"/>
                        </a:solidFill>
                        <a:effectLst/>
                      </a:endParaRPr>
                    </a:p>
                  </a:txBody>
                  <a:tcPr marL="65151" marR="65151" marT="43434" marB="434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3C4043"/>
                          </a:solidFill>
                          <a:effectLst/>
                        </a:rPr>
                        <a:t>Desventajas</a:t>
                      </a:r>
                      <a:endParaRPr lang="es-PE" sz="1600" dirty="0">
                        <a:solidFill>
                          <a:srgbClr val="3C4043"/>
                        </a:solidFill>
                        <a:effectLst/>
                      </a:endParaRPr>
                    </a:p>
                  </a:txBody>
                  <a:tcPr marL="65151" marR="65151" marT="43434" marB="434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589811"/>
                  </a:ext>
                </a:extLst>
              </a:tr>
              <a:tr h="243229"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rgbClr val="3C4043"/>
                          </a:solidFill>
                          <a:effectLst/>
                        </a:rPr>
                        <a:t>Capacidades de base de datos en memoria y alto rendimiento </a:t>
                      </a:r>
                    </a:p>
                  </a:txBody>
                  <a:tcPr marL="65151" marR="65151" marT="43434" marB="434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rgbClr val="3C4043"/>
                          </a:solidFill>
                          <a:effectLst/>
                        </a:rPr>
                        <a:t>Sin compatibilidad con MVCC; depende del bloqueo predeterminado para evitar errores </a:t>
                      </a:r>
                    </a:p>
                  </a:txBody>
                  <a:tcPr marL="65151" marR="65151" marT="43434" marB="434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859538"/>
                  </a:ext>
                </a:extLst>
              </a:tr>
              <a:tr h="321409">
                <a:tc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rgbClr val="3C4043"/>
                          </a:solidFill>
                          <a:effectLst/>
                        </a:rPr>
                        <a:t>Funciones de seguridad integradas, como alertas, supervisión, protección de datos y clasificación de datos</a:t>
                      </a:r>
                    </a:p>
                  </a:txBody>
                  <a:tcPr marL="65151" marR="65151" marT="43434" marB="434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rgbClr val="3C4043"/>
                          </a:solidFill>
                          <a:effectLst/>
                        </a:rPr>
                        <a:t>Los costos de licencias, asistencia y funciones avanzadas son altos</a:t>
                      </a:r>
                    </a:p>
                  </a:txBody>
                  <a:tcPr marL="65151" marR="65151" marT="43434" marB="434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368913"/>
                  </a:ext>
                </a:extLst>
              </a:tr>
              <a:tr h="321409"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rgbClr val="3C4043"/>
                          </a:solidFill>
                          <a:effectLst/>
                        </a:rPr>
                        <a:t>Fácil de instalar y configurar, con una interfaz fácil de usar y actualizaciones automáticas</a:t>
                      </a:r>
                    </a:p>
                  </a:txBody>
                  <a:tcPr marL="65151" marR="65151" marT="43434" marB="434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rgbClr val="3C4043"/>
                          </a:solidFill>
                          <a:effectLst/>
                        </a:rPr>
                        <a:t>Es posible que las restricciones de hardware requieran que actualices tus máquinas para admitir las versiones más recientes de SQL Server</a:t>
                      </a:r>
                    </a:p>
                  </a:txBody>
                  <a:tcPr marL="65151" marR="65151" marT="43434" marB="434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70504"/>
                  </a:ext>
                </a:extLst>
              </a:tr>
              <a:tr h="321409"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rgbClr val="3C4043"/>
                          </a:solidFill>
                          <a:effectLst/>
                        </a:rPr>
                        <a:t>Funciones prácticas de copia de seguridad y recuperación de datos, y herramientas de alta disponibilidad</a:t>
                      </a:r>
                    </a:p>
                  </a:txBody>
                  <a:tcPr marL="65151" marR="65151" marT="43434" marB="434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600">
                        <a:solidFill>
                          <a:srgbClr val="3C4043"/>
                        </a:solidFill>
                        <a:effectLst/>
                      </a:endParaRPr>
                    </a:p>
                  </a:txBody>
                  <a:tcPr marL="65151" marR="65151" marT="43434" marB="434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088749"/>
                  </a:ext>
                </a:extLst>
              </a:tr>
              <a:tr h="243229"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rgbClr val="3C4043"/>
                          </a:solidFill>
                          <a:effectLst/>
                        </a:rPr>
                        <a:t>Las tareas se pueden programar con SQL Server Management Studio</a:t>
                      </a:r>
                    </a:p>
                  </a:txBody>
                  <a:tcPr marL="65151" marR="65151" marT="43434" marB="434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600">
                        <a:solidFill>
                          <a:srgbClr val="3C4043"/>
                        </a:solidFill>
                        <a:effectLst/>
                      </a:endParaRPr>
                    </a:p>
                  </a:txBody>
                  <a:tcPr marL="65151" marR="65151" marT="43434" marB="434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808515"/>
                  </a:ext>
                </a:extLst>
              </a:tr>
              <a:tr h="243229"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rgbClr val="3C4043"/>
                          </a:solidFill>
                          <a:effectLst/>
                        </a:rPr>
                        <a:t>Funciona bien con otras herramientas de análisis, desarrollo y supervisión de datos de Microsoft</a:t>
                      </a:r>
                    </a:p>
                  </a:txBody>
                  <a:tcPr marL="65151" marR="65151" marT="43434" marB="434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600" dirty="0"/>
                    </a:p>
                  </a:txBody>
                  <a:tcPr marL="26060" marR="26060" marT="13030" marB="13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66135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85CD844-E535-4B32-B91B-BBCDDD5FA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148" y="1230656"/>
            <a:ext cx="105770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Google Sans Text"/>
              </a:rPr>
              <a:t>Estas son algunas de las ventajas y desventajas de SQL Server: </a:t>
            </a:r>
            <a:endParaRPr kumimoji="0" lang="es-PE" altLang="es-PE" sz="3600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295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Интеграция PostgreSQL с MS SQL Server">
            <a:extLst>
              <a:ext uri="{FF2B5EF4-FFF2-40B4-BE49-F238E27FC236}">
                <a16:creationId xmlns:a16="http://schemas.microsoft.com/office/drawing/2014/main" id="{2C4F766E-F23D-4055-AE23-FD831575F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2209800" cy="85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FE2EBC3-1626-46C1-9D4C-3705DB988DE5}"/>
              </a:ext>
            </a:extLst>
          </p:cNvPr>
          <p:cNvSpPr txBox="1"/>
          <p:nvPr/>
        </p:nvSpPr>
        <p:spPr>
          <a:xfrm>
            <a:off x="538162" y="1407200"/>
            <a:ext cx="1089183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dirty="0"/>
              <a:t>Definición de Procedimientos Almacenados</a:t>
            </a:r>
          </a:p>
          <a:p>
            <a:pPr algn="just"/>
            <a:r>
              <a:rPr lang="es-ES" sz="2000" dirty="0"/>
              <a:t>Los procedimientos almacenados son bloques de código SQL que se almacenan y ejecutan en el servidor de la base de datos. Estos procedimientos pueden contener consultas SQL, lógica de control de flujo, manipulación de datos y más, y se utilizan para encapsular operaciones repetitivas y complejas, facilitando su reutilización y mantenimiento.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B814B74-0351-415E-B12B-DB0231299AE6}"/>
              </a:ext>
            </a:extLst>
          </p:cNvPr>
          <p:cNvSpPr txBox="1"/>
          <p:nvPr/>
        </p:nvSpPr>
        <p:spPr>
          <a:xfrm>
            <a:off x="685800" y="3205249"/>
            <a:ext cx="5105401" cy="26776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Rendimiento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PostgreSQL</a:t>
            </a:r>
            <a:r>
              <a:rPr lang="es-ES" sz="2400" dirty="0"/>
              <a:t>: Buen rendimiento para cargas mixtas y OLTP/OLAP.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SQL Server</a:t>
            </a:r>
            <a:r>
              <a:rPr lang="es-ES" sz="2400" dirty="0"/>
              <a:t>: Excelente rendimiento en entornos OLTP, con optimización avanzada para procedimientos almacenados.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C00CDC-AF23-4542-93BD-F73F621FD46C}"/>
              </a:ext>
            </a:extLst>
          </p:cNvPr>
          <p:cNvSpPr txBox="1"/>
          <p:nvPr/>
        </p:nvSpPr>
        <p:spPr>
          <a:xfrm>
            <a:off x="6115050" y="3205249"/>
            <a:ext cx="5314950" cy="26776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Escalabilidad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PostgreSQL</a:t>
            </a:r>
            <a:r>
              <a:rPr lang="es-ES" sz="2400" dirty="0"/>
              <a:t>: Muy escalable, soporta grandes volúmenes de datos y conexiones concurrentes.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SQL Server</a:t>
            </a:r>
            <a:r>
              <a:rPr lang="es-ES" sz="2400" dirty="0"/>
              <a:t>: Altamente escalable, con soporte para grandes bases de datos y múltiples instancias.</a:t>
            </a:r>
          </a:p>
        </p:txBody>
      </p:sp>
    </p:spTree>
    <p:extLst>
      <p:ext uri="{BB962C8B-B14F-4D97-AF65-F5344CB8AC3E}">
        <p14:creationId xmlns:p14="http://schemas.microsoft.com/office/powerpoint/2010/main" val="3992651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Интеграция PostgreSQL с MS SQL Server">
            <a:extLst>
              <a:ext uri="{FF2B5EF4-FFF2-40B4-BE49-F238E27FC236}">
                <a16:creationId xmlns:a16="http://schemas.microsoft.com/office/drawing/2014/main" id="{2C4F766E-F23D-4055-AE23-FD831575F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2209800" cy="85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48F8A9F-BF6F-4EC4-B352-0156825D1F36}"/>
              </a:ext>
            </a:extLst>
          </p:cNvPr>
          <p:cNvSpPr txBox="1"/>
          <p:nvPr/>
        </p:nvSpPr>
        <p:spPr>
          <a:xfrm>
            <a:off x="533400" y="1240367"/>
            <a:ext cx="107442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b="1" i="0" dirty="0">
                <a:solidFill>
                  <a:srgbClr val="202124"/>
                </a:solidFill>
                <a:effectLst/>
                <a:latin typeface="Google Sans"/>
              </a:rPr>
              <a:t>Sintaxis y lenguaje</a:t>
            </a:r>
          </a:p>
          <a:p>
            <a:pPr algn="just"/>
            <a:r>
              <a:rPr lang="es-ES" sz="2000" b="0" i="0" dirty="0">
                <a:effectLst/>
                <a:latin typeface="Google Sans"/>
              </a:rPr>
              <a:t>SQL Server y PostgreSQL usan el lenguaje de consulta en SQL estándar, pero también implementan su propia versión del lenguaje SQL, un dialecto de SQL. </a:t>
            </a:r>
          </a:p>
          <a:p>
            <a:pPr algn="just"/>
            <a:endParaRPr lang="es-ES" sz="2000" b="0" i="0" dirty="0">
              <a:effectLst/>
              <a:latin typeface="Google Sans"/>
            </a:endParaRPr>
          </a:p>
          <a:p>
            <a:pPr algn="just"/>
            <a:r>
              <a:rPr lang="es-ES" sz="2000" b="0" i="0" dirty="0">
                <a:effectLst/>
                <a:latin typeface="Google Sans"/>
              </a:rPr>
              <a:t>SQL Server usa </a:t>
            </a:r>
            <a:r>
              <a:rPr lang="es-ES" sz="2000" b="0" i="0" dirty="0" err="1">
                <a:effectLst/>
                <a:latin typeface="Google Sans"/>
              </a:rPr>
              <a:t>Transact</a:t>
            </a:r>
            <a:r>
              <a:rPr lang="es-ES" sz="2000" b="0" i="0" dirty="0">
                <a:effectLst/>
                <a:latin typeface="Google Sans"/>
              </a:rPr>
              <a:t>-SQL o T-SQL, que proporciona las mismas funciones de SQL y agrega varias extensiones de programación de propiedad exclusiva. En PostgreSQL, puedes usar SQL junto con su propio lenguaje de procedimiento PL/</a:t>
            </a:r>
            <a:r>
              <a:rPr lang="es-ES" sz="2000" b="0" i="0" dirty="0" err="1">
                <a:effectLst/>
                <a:latin typeface="Google Sans"/>
              </a:rPr>
              <a:t>pgSQL</a:t>
            </a:r>
            <a:r>
              <a:rPr lang="es-ES" sz="2000" b="0" i="0" dirty="0">
                <a:effectLst/>
                <a:latin typeface="Google Sans"/>
              </a:rPr>
              <a:t> que te permite crear funciones, activar procedimientos y agregar estructuras de control a SQL. </a:t>
            </a:r>
          </a:p>
          <a:p>
            <a:pPr algn="just"/>
            <a:endParaRPr lang="es-ES" sz="2000" b="0" i="0" dirty="0">
              <a:effectLst/>
              <a:latin typeface="Google Sans"/>
            </a:endParaRPr>
          </a:p>
          <a:p>
            <a:pPr algn="just"/>
            <a:r>
              <a:rPr lang="es-ES" sz="2000" b="0" i="0" dirty="0">
                <a:effectLst/>
                <a:latin typeface="Google Sans"/>
              </a:rPr>
              <a:t>La sintaxis es muy similar, aunque hay algunas diferencias notables. Estos son algunos ejemplos de las diferencias más básicas entre SQL Server y PostgreSQL: </a:t>
            </a:r>
          </a:p>
        </p:txBody>
      </p:sp>
    </p:spTree>
    <p:extLst>
      <p:ext uri="{BB962C8B-B14F-4D97-AF65-F5344CB8AC3E}">
        <p14:creationId xmlns:p14="http://schemas.microsoft.com/office/powerpoint/2010/main" val="680588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Интеграция PostgreSQL с MS SQL Server">
            <a:extLst>
              <a:ext uri="{FF2B5EF4-FFF2-40B4-BE49-F238E27FC236}">
                <a16:creationId xmlns:a16="http://schemas.microsoft.com/office/drawing/2014/main" id="{2C4F766E-F23D-4055-AE23-FD831575F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2209800" cy="85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9516A662-472F-4C5F-8061-260AE1193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" y="1178459"/>
            <a:ext cx="10874477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La sintaxis es muy similar, aunque hay algunas diferencias notables. Estos son algunos ejemplos de las diferencias más básicas entre SQL Server y PostgreSQL: </a:t>
            </a:r>
            <a:endParaRPr kumimoji="0" lang="es-PE" altLang="es-PE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24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PE" altLang="es-PE" sz="2400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PE" altLang="es-PE" sz="2400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PE" altLang="es-PE" sz="2400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24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PE" altLang="es-PE" sz="2400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24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En cuanto a la compatibilidad con lenguajes de programación, hay una gran diferencia entre SQL Server y PostgreSQL. PostgreSQL es compatible con Python, PHP, Perl,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Tcl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, Net, C, C++, Delphi, Java, JavaScript (Node.js) y muchos más. </a:t>
            </a:r>
            <a:endParaRPr kumimoji="0" lang="es-PE" altLang="es-PE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SQL Server es más limitado y ofrece compatibilidad con Java, JavaScript (Node.js), C#, C++, PHP, Python y Ruby.</a:t>
            </a:r>
            <a:endParaRPr kumimoji="0" lang="es-PE" altLang="es-PE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5778F96-58CE-46C0-8D47-C3D9EDB3CC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917166"/>
              </p:ext>
            </p:extLst>
          </p:nvPr>
        </p:nvGraphicFramePr>
        <p:xfrm>
          <a:off x="1638300" y="2209800"/>
          <a:ext cx="8686800" cy="2094008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822313618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75502112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921115085"/>
                    </a:ext>
                  </a:extLst>
                </a:gridCol>
              </a:tblGrid>
              <a:tr h="415533">
                <a:tc>
                  <a:txBody>
                    <a:bodyPr/>
                    <a:lstStyle/>
                    <a:p>
                      <a:endParaRPr lang="es-PE" sz="1600">
                        <a:solidFill>
                          <a:srgbClr val="3C4043"/>
                        </a:solidFill>
                        <a:effectLst/>
                      </a:endParaRPr>
                    </a:p>
                  </a:txBody>
                  <a:tcPr marL="164026" marR="164026" marT="109351" marB="1093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3C4043"/>
                          </a:solidFill>
                          <a:effectLst/>
                        </a:rPr>
                        <a:t>SQL Server</a:t>
                      </a:r>
                      <a:endParaRPr lang="es-PE" sz="1600" dirty="0">
                        <a:solidFill>
                          <a:srgbClr val="3C4043"/>
                        </a:solidFill>
                        <a:effectLst/>
                      </a:endParaRPr>
                    </a:p>
                  </a:txBody>
                  <a:tcPr marL="164026" marR="164026" marT="109351" marB="1093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3C4043"/>
                          </a:solidFill>
                          <a:effectLst/>
                        </a:rPr>
                        <a:t>PostgreSQL</a:t>
                      </a:r>
                      <a:endParaRPr lang="es-PE" sz="1600" dirty="0">
                        <a:solidFill>
                          <a:srgbClr val="3C4043"/>
                        </a:solidFill>
                        <a:effectLst/>
                      </a:endParaRPr>
                    </a:p>
                  </a:txBody>
                  <a:tcPr marL="164026" marR="164026" marT="109351" marB="1093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53946"/>
                  </a:ext>
                </a:extLst>
              </a:tr>
              <a:tr h="415533">
                <a:tc>
                  <a:txBody>
                    <a:bodyPr/>
                    <a:lstStyle/>
                    <a:p>
                      <a:r>
                        <a:rPr lang="es-PE" sz="1600">
                          <a:solidFill>
                            <a:srgbClr val="3C4043"/>
                          </a:solidFill>
                          <a:effectLst/>
                        </a:rPr>
                        <a:t>SELECT …</a:t>
                      </a:r>
                    </a:p>
                  </a:txBody>
                  <a:tcPr marL="164026" marR="164026" marT="109351" marB="1093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>
                          <a:solidFill>
                            <a:srgbClr val="3C4043"/>
                          </a:solidFill>
                          <a:effectLst/>
                        </a:rPr>
                        <a:t>Select [col1], [col2]</a:t>
                      </a:r>
                    </a:p>
                  </a:txBody>
                  <a:tcPr marL="164026" marR="164026" marT="109351" marB="1093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>
                          <a:solidFill>
                            <a:srgbClr val="3C4043"/>
                          </a:solidFill>
                          <a:effectLst/>
                        </a:rPr>
                        <a:t>SELECT col1, col2</a:t>
                      </a:r>
                    </a:p>
                  </a:txBody>
                  <a:tcPr marL="164026" marR="164026" marT="109351" marB="1093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258483"/>
                  </a:ext>
                </a:extLst>
              </a:tr>
              <a:tr h="415533"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rgbClr val="3C4043"/>
                          </a:solidFill>
                          <a:effectLst/>
                        </a:rPr>
                        <a:t>Alias para columnas y tablas</a:t>
                      </a:r>
                    </a:p>
                  </a:txBody>
                  <a:tcPr marL="164026" marR="164026" marT="109351" marB="1093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>
                          <a:solidFill>
                            <a:srgbClr val="3C4043"/>
                          </a:solidFill>
                          <a:effectLst/>
                        </a:rPr>
                        <a:t>SELECT AVG(col1)=avg1</a:t>
                      </a:r>
                    </a:p>
                  </a:txBody>
                  <a:tcPr marL="164026" marR="164026" marT="109351" marB="1093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3C4043"/>
                          </a:solidFill>
                          <a:effectLst/>
                        </a:rPr>
                        <a:t>SELECT AVG(col1) AS avg1</a:t>
                      </a:r>
                    </a:p>
                  </a:txBody>
                  <a:tcPr marL="164026" marR="164026" marT="109351" marB="1093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025684"/>
                  </a:ext>
                </a:extLst>
              </a:tr>
              <a:tr h="612364">
                <a:tc>
                  <a:txBody>
                    <a:bodyPr/>
                    <a:lstStyle/>
                    <a:p>
                      <a:r>
                        <a:rPr lang="es-PE" sz="1600">
                          <a:solidFill>
                            <a:srgbClr val="3C4043"/>
                          </a:solidFill>
                          <a:effectLst/>
                        </a:rPr>
                        <a:t>Trabajo con fechas</a:t>
                      </a:r>
                    </a:p>
                  </a:txBody>
                  <a:tcPr marL="164026" marR="164026" marT="109351" marB="1093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>
                          <a:solidFill>
                            <a:srgbClr val="3C4043"/>
                          </a:solidFill>
                          <a:effectLst/>
                        </a:rPr>
                        <a:t>GETDATE() DATEPART()</a:t>
                      </a:r>
                    </a:p>
                  </a:txBody>
                  <a:tcPr marL="164026" marR="164026" marT="109351" marB="1093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 dirty="0" err="1">
                          <a:solidFill>
                            <a:srgbClr val="3C4043"/>
                          </a:solidFill>
                          <a:effectLst/>
                        </a:rPr>
                        <a:t>CURRENT_DATE</a:t>
                      </a:r>
                      <a:r>
                        <a:rPr lang="es-PE" sz="1600" dirty="0">
                          <a:solidFill>
                            <a:srgbClr val="3C4043"/>
                          </a:solidFill>
                          <a:effectLst/>
                        </a:rPr>
                        <a:t>() </a:t>
                      </a:r>
                      <a:r>
                        <a:rPr lang="es-PE" sz="1600" dirty="0" err="1">
                          <a:solidFill>
                            <a:srgbClr val="3C4043"/>
                          </a:solidFill>
                          <a:effectLst/>
                        </a:rPr>
                        <a:t>CURRENT_TIME</a:t>
                      </a:r>
                      <a:r>
                        <a:rPr lang="es-PE" sz="1600" dirty="0">
                          <a:solidFill>
                            <a:srgbClr val="3C4043"/>
                          </a:solidFill>
                          <a:effectLst/>
                        </a:rPr>
                        <a:t>() </a:t>
                      </a:r>
                      <a:r>
                        <a:rPr lang="es-PE" sz="1600" dirty="0" err="1">
                          <a:solidFill>
                            <a:srgbClr val="3C4043"/>
                          </a:solidFill>
                          <a:effectLst/>
                        </a:rPr>
                        <a:t>EXTRACT</a:t>
                      </a:r>
                      <a:r>
                        <a:rPr lang="es-PE" sz="1600" dirty="0">
                          <a:solidFill>
                            <a:srgbClr val="3C4043"/>
                          </a:solidFill>
                          <a:effectLst/>
                        </a:rPr>
                        <a:t>()</a:t>
                      </a:r>
                    </a:p>
                  </a:txBody>
                  <a:tcPr marL="164026" marR="164026" marT="109351" marB="1093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68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317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533400" y="1219200"/>
            <a:ext cx="11049000" cy="312200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 algn="ctr">
              <a:spcBef>
                <a:spcPts val="345"/>
              </a:spcBef>
            </a:pPr>
            <a:r>
              <a:rPr lang="es-ES" sz="4000" b="1" spc="-5" dirty="0">
                <a:solidFill>
                  <a:srgbClr val="FF0000"/>
                </a:solidFill>
                <a:latin typeface="Arial"/>
                <a:cs typeface="Arial"/>
              </a:rPr>
              <a:t>¿Cómo difiere la sintaxis de consultas y funciones entre PostgreSQL y SQL Server, y cómo influye esto en el rendimiento y la flexibilidad de desarrollo en proyectos profesionales?</a:t>
            </a:r>
            <a:endParaRPr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43434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Интеграция PostgreSQL с MS SQL Server">
            <a:extLst>
              <a:ext uri="{FF2B5EF4-FFF2-40B4-BE49-F238E27FC236}">
                <a16:creationId xmlns:a16="http://schemas.microsoft.com/office/drawing/2014/main" id="{2C4F766E-F23D-4055-AE23-FD831575F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2209800" cy="85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D375A2E-BD9D-4E09-A7E5-9B572171A828}"/>
              </a:ext>
            </a:extLst>
          </p:cNvPr>
          <p:cNvSpPr txBox="1"/>
          <p:nvPr/>
        </p:nvSpPr>
        <p:spPr>
          <a:xfrm>
            <a:off x="533400" y="1245129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Ventajas y Desventajas de Procedimientos Almacenados en PostgreSQL y SQL Server</a:t>
            </a:r>
            <a:endParaRPr lang="es-PE" sz="2400" b="1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FDF4DCC-09D4-4A66-917C-1FF13D23D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749910"/>
              </p:ext>
            </p:extLst>
          </p:nvPr>
        </p:nvGraphicFramePr>
        <p:xfrm>
          <a:off x="609600" y="1752600"/>
          <a:ext cx="10896600" cy="4393656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067137">
                  <a:extLst>
                    <a:ext uri="{9D8B030D-6E8A-4147-A177-3AD203B41FA5}">
                      <a16:colId xmlns:a16="http://schemas.microsoft.com/office/drawing/2014/main" val="940711118"/>
                    </a:ext>
                  </a:extLst>
                </a:gridCol>
                <a:gridCol w="2092355">
                  <a:extLst>
                    <a:ext uri="{9D8B030D-6E8A-4147-A177-3AD203B41FA5}">
                      <a16:colId xmlns:a16="http://schemas.microsoft.com/office/drawing/2014/main" val="1878698002"/>
                    </a:ext>
                  </a:extLst>
                </a:gridCol>
                <a:gridCol w="1512547">
                  <a:extLst>
                    <a:ext uri="{9D8B030D-6E8A-4147-A177-3AD203B41FA5}">
                      <a16:colId xmlns:a16="http://schemas.microsoft.com/office/drawing/2014/main" val="943494740"/>
                    </a:ext>
                  </a:extLst>
                </a:gridCol>
                <a:gridCol w="2747782">
                  <a:extLst>
                    <a:ext uri="{9D8B030D-6E8A-4147-A177-3AD203B41FA5}">
                      <a16:colId xmlns:a16="http://schemas.microsoft.com/office/drawing/2014/main" val="3703363260"/>
                    </a:ext>
                  </a:extLst>
                </a:gridCol>
                <a:gridCol w="2476779">
                  <a:extLst>
                    <a:ext uri="{9D8B030D-6E8A-4147-A177-3AD203B41FA5}">
                      <a16:colId xmlns:a16="http://schemas.microsoft.com/office/drawing/2014/main" val="3163134501"/>
                    </a:ext>
                  </a:extLst>
                </a:gridCol>
              </a:tblGrid>
              <a:tr h="4534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u="none" strike="noStrike" dirty="0">
                          <a:effectLst/>
                        </a:rPr>
                        <a:t>Característica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u="none" strike="noStrike" dirty="0">
                          <a:effectLst/>
                        </a:rPr>
                        <a:t>PostgreSQL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u="none" strike="noStrike" dirty="0">
                          <a:effectLst/>
                        </a:rPr>
                        <a:t>SQL Server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u="none" strike="noStrike" dirty="0">
                          <a:effectLst/>
                        </a:rPr>
                        <a:t>Ventajas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u="none" strike="noStrike" dirty="0">
                          <a:effectLst/>
                        </a:rPr>
                        <a:t>Desventajas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extLst>
                  <a:ext uri="{0D108BD9-81ED-4DB2-BD59-A6C34878D82A}">
                    <a16:rowId xmlns:a16="http://schemas.microsoft.com/office/drawing/2014/main" val="1238756709"/>
                  </a:ext>
                </a:extLst>
              </a:tr>
              <a:tr h="24937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u="none" strike="noStrike">
                          <a:effectLst/>
                        </a:rPr>
                        <a:t>Lenguaje de Procedimiento</a:t>
                      </a:r>
                      <a:endParaRPr lang="es-P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u="none" strike="noStrike">
                          <a:effectLst/>
                        </a:rPr>
                        <a:t>PL/pgSQL, PL/Python, PL/Perl, etc.</a:t>
                      </a:r>
                      <a:endParaRPr lang="es-PE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u="none" strike="noStrike">
                          <a:effectLst/>
                        </a:rPr>
                        <a:t>T-SQL (Transact-SQL)</a:t>
                      </a:r>
                      <a:endParaRPr lang="es-PE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PostgreSQL soporta múltiples lenguajes de procedimiento, lo que permite mayor flexibilidad.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La multiplicidad de lenguajes puede complicar la administración y el mantenimiento.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extLst>
                  <a:ext uri="{0D108BD9-81ED-4DB2-BD59-A6C34878D82A}">
                    <a16:rowId xmlns:a16="http://schemas.microsoft.com/office/drawing/2014/main" val="1438262928"/>
                  </a:ext>
                </a:extLst>
              </a:tr>
              <a:tr h="340054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u="none" strike="noStrike">
                          <a:effectLst/>
                        </a:rPr>
                        <a:t>Compatibilidad</a:t>
                      </a:r>
                      <a:endParaRPr lang="es-P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Alta compatibilidad con el estándar SQL.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Fuerte compatibilidad con productos Microsoft y el ecosistema SQL Server.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PostgreSQL es más adherente a los estándares SQL, lo que puede facilitar la portabilidad.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SQL Server tiene integraciones profundas con herramientas de Microsoft, que pueden ser ventajosas en entornos específicos.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extLst>
                  <a:ext uri="{0D108BD9-81ED-4DB2-BD59-A6C34878D82A}">
                    <a16:rowId xmlns:a16="http://schemas.microsoft.com/office/drawing/2014/main" val="1406771846"/>
                  </a:ext>
                </a:extLst>
              </a:tr>
              <a:tr h="204032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u="none" strike="noStrike" dirty="0">
                          <a:effectLst/>
                        </a:rPr>
                        <a:t>Manejo de Errores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Soporte robusto con bloques EXCEPTION.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Manejo de errores con TRY...CATCH.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Ambos ofrecen mecanismos robustos de manejo de errores.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 dirty="0">
                          <a:effectLst/>
                        </a:rPr>
                        <a:t>La sintaxis y el manejo pueden variar, lo que requiere adaptación entre sistemas.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extLst>
                  <a:ext uri="{0D108BD9-81ED-4DB2-BD59-A6C34878D82A}">
                    <a16:rowId xmlns:a16="http://schemas.microsoft.com/office/drawing/2014/main" val="1445431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086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Интеграция PostgreSQL с MS SQL Server">
            <a:extLst>
              <a:ext uri="{FF2B5EF4-FFF2-40B4-BE49-F238E27FC236}">
                <a16:creationId xmlns:a16="http://schemas.microsoft.com/office/drawing/2014/main" id="{2C4F766E-F23D-4055-AE23-FD831575F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2209800" cy="85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D375A2E-BD9D-4E09-A7E5-9B572171A828}"/>
              </a:ext>
            </a:extLst>
          </p:cNvPr>
          <p:cNvSpPr txBox="1"/>
          <p:nvPr/>
        </p:nvSpPr>
        <p:spPr>
          <a:xfrm>
            <a:off x="533400" y="1245129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Ventajas y Desventajas de Procedimientos Almacenados en PostgreSQL y SQL Server</a:t>
            </a:r>
            <a:endParaRPr lang="es-PE" sz="2400" b="1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FDF4DCC-09D4-4A66-917C-1FF13D23D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966000"/>
              </p:ext>
            </p:extLst>
          </p:nvPr>
        </p:nvGraphicFramePr>
        <p:xfrm>
          <a:off x="609600" y="1752600"/>
          <a:ext cx="10896600" cy="4392522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067137">
                  <a:extLst>
                    <a:ext uri="{9D8B030D-6E8A-4147-A177-3AD203B41FA5}">
                      <a16:colId xmlns:a16="http://schemas.microsoft.com/office/drawing/2014/main" val="940711118"/>
                    </a:ext>
                  </a:extLst>
                </a:gridCol>
                <a:gridCol w="2092355">
                  <a:extLst>
                    <a:ext uri="{9D8B030D-6E8A-4147-A177-3AD203B41FA5}">
                      <a16:colId xmlns:a16="http://schemas.microsoft.com/office/drawing/2014/main" val="1878698002"/>
                    </a:ext>
                  </a:extLst>
                </a:gridCol>
                <a:gridCol w="1512547">
                  <a:extLst>
                    <a:ext uri="{9D8B030D-6E8A-4147-A177-3AD203B41FA5}">
                      <a16:colId xmlns:a16="http://schemas.microsoft.com/office/drawing/2014/main" val="943494740"/>
                    </a:ext>
                  </a:extLst>
                </a:gridCol>
                <a:gridCol w="2747782">
                  <a:extLst>
                    <a:ext uri="{9D8B030D-6E8A-4147-A177-3AD203B41FA5}">
                      <a16:colId xmlns:a16="http://schemas.microsoft.com/office/drawing/2014/main" val="3703363260"/>
                    </a:ext>
                  </a:extLst>
                </a:gridCol>
                <a:gridCol w="2476779">
                  <a:extLst>
                    <a:ext uri="{9D8B030D-6E8A-4147-A177-3AD203B41FA5}">
                      <a16:colId xmlns:a16="http://schemas.microsoft.com/office/drawing/2014/main" val="3163134501"/>
                    </a:ext>
                  </a:extLst>
                </a:gridCol>
              </a:tblGrid>
              <a:tr h="4534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u="none" strike="noStrike" dirty="0">
                          <a:effectLst/>
                        </a:rPr>
                        <a:t>Característica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u="none" strike="noStrike" dirty="0">
                          <a:effectLst/>
                        </a:rPr>
                        <a:t>PostgreSQL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u="none" strike="noStrike" dirty="0">
                          <a:effectLst/>
                        </a:rPr>
                        <a:t>SQL Server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u="none" strike="noStrike" dirty="0">
                          <a:effectLst/>
                        </a:rPr>
                        <a:t>Ventajas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u="none" strike="noStrike" dirty="0">
                          <a:effectLst/>
                        </a:rPr>
                        <a:t>Desventajas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extLst>
                  <a:ext uri="{0D108BD9-81ED-4DB2-BD59-A6C34878D82A}">
                    <a16:rowId xmlns:a16="http://schemas.microsoft.com/office/drawing/2014/main" val="1238756709"/>
                  </a:ext>
                </a:extLst>
              </a:tr>
              <a:tr h="340054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u="none" strike="noStrike">
                          <a:effectLst/>
                        </a:rPr>
                        <a:t>Rendimiento</a:t>
                      </a:r>
                      <a:endParaRPr lang="es-P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Buen rendimiento para cargas mixtas y OLTP/OLAP.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Excelente rendimiento en entornos OLTP, con optimización avanzada para procedimientos almacenados.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PostgreSQL maneja bien diferentes tipos de carga de trabajo.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 dirty="0">
                          <a:effectLst/>
                        </a:rPr>
                        <a:t>SQL Server está altamente optimizado para procedimientos almacenados, lo que puede resultar en un mejor rendimiento en ciertos casos.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extLst>
                  <a:ext uri="{0D108BD9-81ED-4DB2-BD59-A6C34878D82A}">
                    <a16:rowId xmlns:a16="http://schemas.microsoft.com/office/drawing/2014/main" val="1901645878"/>
                  </a:ext>
                </a:extLst>
              </a:tr>
              <a:tr h="22670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u="none" strike="noStrike">
                          <a:effectLst/>
                        </a:rPr>
                        <a:t>Escalabilidad</a:t>
                      </a:r>
                      <a:endParaRPr lang="es-P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Muy escalable, soporta grandes volúmenes de datos y conexiones concurrentes.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Altamente escalable, con soporte para grandes bases de datos y múltiples instancias.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Ambos sistemas son altamente escalables y soportan grandes volúmenes de datos.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 dirty="0">
                          <a:effectLst/>
                        </a:rPr>
                        <a:t>La escalabilidad puede depender de la configuración y el hardware subyacente.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extLst>
                  <a:ext uri="{0D108BD9-81ED-4DB2-BD59-A6C34878D82A}">
                    <a16:rowId xmlns:a16="http://schemas.microsoft.com/office/drawing/2014/main" val="1798545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654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Интеграция PostgreSQL с MS SQL Server">
            <a:extLst>
              <a:ext uri="{FF2B5EF4-FFF2-40B4-BE49-F238E27FC236}">
                <a16:creationId xmlns:a16="http://schemas.microsoft.com/office/drawing/2014/main" id="{2C4F766E-F23D-4055-AE23-FD831575F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2209800" cy="85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D375A2E-BD9D-4E09-A7E5-9B572171A828}"/>
              </a:ext>
            </a:extLst>
          </p:cNvPr>
          <p:cNvSpPr txBox="1"/>
          <p:nvPr/>
        </p:nvSpPr>
        <p:spPr>
          <a:xfrm>
            <a:off x="533400" y="1245129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Ventajas y Desventajas de Procedimientos Almacenados en PostgreSQL y SQL Server</a:t>
            </a:r>
            <a:endParaRPr lang="es-PE" sz="2400" b="1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FDF4DCC-09D4-4A66-917C-1FF13D23D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289318"/>
              </p:ext>
            </p:extLst>
          </p:nvPr>
        </p:nvGraphicFramePr>
        <p:xfrm>
          <a:off x="609600" y="1752600"/>
          <a:ext cx="10896600" cy="2746602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067137">
                  <a:extLst>
                    <a:ext uri="{9D8B030D-6E8A-4147-A177-3AD203B41FA5}">
                      <a16:colId xmlns:a16="http://schemas.microsoft.com/office/drawing/2014/main" val="940711118"/>
                    </a:ext>
                  </a:extLst>
                </a:gridCol>
                <a:gridCol w="2092355">
                  <a:extLst>
                    <a:ext uri="{9D8B030D-6E8A-4147-A177-3AD203B41FA5}">
                      <a16:colId xmlns:a16="http://schemas.microsoft.com/office/drawing/2014/main" val="1878698002"/>
                    </a:ext>
                  </a:extLst>
                </a:gridCol>
                <a:gridCol w="1512547">
                  <a:extLst>
                    <a:ext uri="{9D8B030D-6E8A-4147-A177-3AD203B41FA5}">
                      <a16:colId xmlns:a16="http://schemas.microsoft.com/office/drawing/2014/main" val="943494740"/>
                    </a:ext>
                  </a:extLst>
                </a:gridCol>
                <a:gridCol w="2747782">
                  <a:extLst>
                    <a:ext uri="{9D8B030D-6E8A-4147-A177-3AD203B41FA5}">
                      <a16:colId xmlns:a16="http://schemas.microsoft.com/office/drawing/2014/main" val="3703363260"/>
                    </a:ext>
                  </a:extLst>
                </a:gridCol>
                <a:gridCol w="2476779">
                  <a:extLst>
                    <a:ext uri="{9D8B030D-6E8A-4147-A177-3AD203B41FA5}">
                      <a16:colId xmlns:a16="http://schemas.microsoft.com/office/drawing/2014/main" val="3163134501"/>
                    </a:ext>
                  </a:extLst>
                </a:gridCol>
              </a:tblGrid>
              <a:tr h="4534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u="none" strike="noStrike" dirty="0">
                          <a:effectLst/>
                        </a:rPr>
                        <a:t>Característica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u="none" strike="noStrike" dirty="0">
                          <a:effectLst/>
                        </a:rPr>
                        <a:t>PostgreSQL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u="none" strike="noStrike" dirty="0">
                          <a:effectLst/>
                        </a:rPr>
                        <a:t>SQL Server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u="none" strike="noStrike" dirty="0">
                          <a:effectLst/>
                        </a:rPr>
                        <a:t>Ventajas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u="none" strike="noStrike" dirty="0">
                          <a:effectLst/>
                        </a:rPr>
                        <a:t>Desventajas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extLst>
                  <a:ext uri="{0D108BD9-81ED-4DB2-BD59-A6C34878D82A}">
                    <a16:rowId xmlns:a16="http://schemas.microsoft.com/office/drawing/2014/main" val="1238756709"/>
                  </a:ext>
                </a:extLst>
              </a:tr>
              <a:tr h="27204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u="none" strike="noStrike">
                          <a:effectLst/>
                        </a:rPr>
                        <a:t>Facilidad de Uso</a:t>
                      </a:r>
                      <a:endParaRPr lang="es-P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Buena documentación y comunidad activa.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Extensa documentación oficial y soporte empresarial.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PostgreSQL tiene una comunidad activa y abundantes recursos en línea.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 dirty="0">
                          <a:effectLst/>
                        </a:rPr>
                        <a:t>SQL Server ofrece soporte oficial y documentación detallada, con integración en el ecosistema Microsoft.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extLst>
                  <a:ext uri="{0D108BD9-81ED-4DB2-BD59-A6C34878D82A}">
                    <a16:rowId xmlns:a16="http://schemas.microsoft.com/office/drawing/2014/main" val="2542583895"/>
                  </a:ext>
                </a:extLst>
              </a:tr>
              <a:tr h="181362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u="none" strike="noStrike">
                          <a:effectLst/>
                        </a:rPr>
                        <a:t>Costo</a:t>
                      </a:r>
                      <a:endParaRPr lang="es-P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Open-source, sin costos de licencia.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u="none" strike="noStrike">
                          <a:effectLst/>
                        </a:rPr>
                        <a:t>Licencia comercial, puede ser costoso.</a:t>
                      </a:r>
                      <a:endParaRPr lang="es-PE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>
                          <a:effectLst/>
                        </a:rPr>
                        <a:t>PostgreSQL es gratuito y de código abierto.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u="none" strike="noStrike" dirty="0">
                          <a:effectLst/>
                        </a:rPr>
                        <a:t>SQL Server puede ser costoso, especialmente en grandes implementaciones.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34" marR="1134" marT="1134" marB="0" anchor="ctr"/>
                </a:tc>
                <a:extLst>
                  <a:ext uri="{0D108BD9-81ED-4DB2-BD59-A6C34878D82A}">
                    <a16:rowId xmlns:a16="http://schemas.microsoft.com/office/drawing/2014/main" val="3780723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713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1409700" y="1532145"/>
            <a:ext cx="9372600" cy="250645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 algn="ctr">
              <a:spcBef>
                <a:spcPts val="345"/>
              </a:spcBef>
            </a:pPr>
            <a:r>
              <a:rPr lang="es-ES" sz="4000" b="1" spc="-5" dirty="0">
                <a:solidFill>
                  <a:srgbClr val="FF0000"/>
                </a:solidFill>
                <a:latin typeface="Arial"/>
                <a:cs typeface="Arial"/>
              </a:rPr>
              <a:t>¿Cuáles son las diferencias clave entre los procedimientos almacenados en PostgreSQL y SQL Server?</a:t>
            </a:r>
            <a:endParaRPr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43434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21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Интеграция PostgreSQL с MS SQL Server">
            <a:extLst>
              <a:ext uri="{FF2B5EF4-FFF2-40B4-BE49-F238E27FC236}">
                <a16:creationId xmlns:a16="http://schemas.microsoft.com/office/drawing/2014/main" id="{8A5403A5-4883-4D10-BD93-C5D70A3B7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2209800" cy="85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994C580-86E8-498D-9C50-3FF42FA871E1}"/>
              </a:ext>
            </a:extLst>
          </p:cNvPr>
          <p:cNvSpPr txBox="1"/>
          <p:nvPr/>
        </p:nvSpPr>
        <p:spPr>
          <a:xfrm>
            <a:off x="533400" y="1317595"/>
            <a:ext cx="746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000" b="1" dirty="0">
                <a:solidFill>
                  <a:srgbClr val="C00000"/>
                </a:solidFill>
                <a:latin typeface="Arial"/>
                <a:cs typeface="Arial"/>
              </a:rPr>
              <a:t>Administración de usuarios</a:t>
            </a:r>
            <a:r>
              <a:rPr lang="es-ES" sz="2000" b="1" dirty="0">
                <a:latin typeface="Arial"/>
                <a:cs typeface="Arial"/>
              </a:rPr>
              <a:t>, seguridad y </a:t>
            </a:r>
            <a:r>
              <a:rPr lang="es-ES" sz="2000" b="1" dirty="0" err="1">
                <a:latin typeface="Arial"/>
                <a:cs typeface="Arial"/>
              </a:rPr>
              <a:t>backup</a:t>
            </a:r>
            <a:r>
              <a:rPr lang="es-ES" sz="2000" b="1" dirty="0">
                <a:latin typeface="Arial"/>
                <a:cs typeface="Arial"/>
              </a:rPr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F1DBD73-5256-4D9B-9C05-DB45F9543677}"/>
              </a:ext>
            </a:extLst>
          </p:cNvPr>
          <p:cNvSpPr txBox="1"/>
          <p:nvPr/>
        </p:nvSpPr>
        <p:spPr>
          <a:xfrm>
            <a:off x="566057" y="1752600"/>
            <a:ext cx="5377544" cy="449353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sz="2200" b="1" dirty="0"/>
              <a:t>PostgreSQL</a:t>
            </a:r>
          </a:p>
          <a:p>
            <a:pPr algn="just"/>
            <a:r>
              <a:rPr lang="es-ES" sz="2200" b="1" dirty="0"/>
              <a:t>Roles y permisos:</a:t>
            </a:r>
            <a:endParaRPr lang="es-ES" sz="22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dirty="0"/>
              <a:t>PostgreSQL utiliza un sistema de roles para gestionar la administración de usuarios y permisos.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dirty="0"/>
              <a:t>Roles pueden ser de dos tipos: </a:t>
            </a:r>
            <a:r>
              <a:rPr lang="es-ES" sz="2200" b="1" dirty="0" err="1"/>
              <a:t>Login</a:t>
            </a:r>
            <a:r>
              <a:rPr lang="es-ES" sz="2200" b="1" dirty="0"/>
              <a:t> Roles</a:t>
            </a:r>
            <a:r>
              <a:rPr lang="es-ES" sz="2200" dirty="0"/>
              <a:t> (usuarios) y </a:t>
            </a:r>
            <a:r>
              <a:rPr lang="es-ES" sz="2200" b="1" dirty="0" err="1"/>
              <a:t>Group</a:t>
            </a:r>
            <a:r>
              <a:rPr lang="es-ES" sz="2200" b="1" dirty="0"/>
              <a:t> Roles</a:t>
            </a:r>
            <a:r>
              <a:rPr lang="es-ES" sz="2200" dirty="0"/>
              <a:t> (grupos de usuarios).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dirty="0"/>
              <a:t>Los permisos se otorgan a roles y pueden ser de varios tipos, como </a:t>
            </a:r>
            <a:r>
              <a:rPr lang="es-ES" sz="2200" dirty="0" err="1"/>
              <a:t>SELECT</a:t>
            </a:r>
            <a:r>
              <a:rPr lang="es-ES" sz="2200" dirty="0"/>
              <a:t>, </a:t>
            </a:r>
            <a:r>
              <a:rPr lang="es-ES" sz="2200" dirty="0" err="1"/>
              <a:t>INSERT</a:t>
            </a:r>
            <a:r>
              <a:rPr lang="es-ES" sz="2200" dirty="0"/>
              <a:t>, </a:t>
            </a:r>
            <a:r>
              <a:rPr lang="es-ES" sz="2200" dirty="0" err="1"/>
              <a:t>UPDATE</a:t>
            </a:r>
            <a:r>
              <a:rPr lang="es-ES" sz="2200" dirty="0"/>
              <a:t>, </a:t>
            </a:r>
            <a:r>
              <a:rPr lang="es-ES" sz="2200" dirty="0" err="1"/>
              <a:t>DELETE</a:t>
            </a:r>
            <a:r>
              <a:rPr lang="es-ES" sz="2200" dirty="0"/>
              <a:t>, entre otros.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dirty="0"/>
              <a:t>Los roles pueden heredar permisos de otros roles.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50CCCF4-78BE-49D1-A2BE-C1AE3239E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1" y="1752600"/>
            <a:ext cx="5257800" cy="4493538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SQL Server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Roles y permisos:</a:t>
            </a:r>
            <a:endParaRPr kumimoji="0" lang="es-PE" altLang="es-PE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SQL Server también utiliza un sistema de roles para gestionar la administración de usuarios y permisos.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Hay dos tipos principales de roles: </a:t>
            </a:r>
            <a:r>
              <a:rPr kumimoji="0" lang="es-PE" altLang="es-PE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Server Roles</a:t>
            </a:r>
            <a:r>
              <a:rPr kumimoji="0" lang="es-PE" altLang="es-PE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(roles del servidor) y </a:t>
            </a:r>
            <a:r>
              <a:rPr kumimoji="0" lang="es-PE" altLang="es-PE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Database</a:t>
            </a:r>
            <a:r>
              <a:rPr kumimoji="0" lang="es-PE" altLang="es-PE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Roles</a:t>
            </a:r>
            <a:r>
              <a:rPr kumimoji="0" lang="es-PE" altLang="es-PE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(roles de la base de datos).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Permite la asignación de permisos a nivel de servidor y de base de datos.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Roles predefinidos como </a:t>
            </a:r>
            <a:r>
              <a:rPr kumimoji="0" lang="es-PE" altLang="es-PE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sysadmin</a:t>
            </a:r>
            <a:r>
              <a:rPr kumimoji="0" lang="es-PE" altLang="es-PE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PE" altLang="es-PE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db_owner</a:t>
            </a:r>
            <a:r>
              <a:rPr kumimoji="0" lang="es-PE" altLang="es-PE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PE" altLang="es-PE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db_datareader</a:t>
            </a:r>
            <a:r>
              <a:rPr kumimoji="0" lang="es-PE" altLang="es-PE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etc.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86457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Интеграция PostgreSQL с MS SQL Server">
            <a:extLst>
              <a:ext uri="{FF2B5EF4-FFF2-40B4-BE49-F238E27FC236}">
                <a16:creationId xmlns:a16="http://schemas.microsoft.com/office/drawing/2014/main" id="{8A5403A5-4883-4D10-BD93-C5D70A3B7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2209800" cy="85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994C580-86E8-498D-9C50-3FF42FA871E1}"/>
              </a:ext>
            </a:extLst>
          </p:cNvPr>
          <p:cNvSpPr txBox="1"/>
          <p:nvPr/>
        </p:nvSpPr>
        <p:spPr>
          <a:xfrm>
            <a:off x="533400" y="1317595"/>
            <a:ext cx="746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000" b="1" dirty="0">
                <a:latin typeface="Arial"/>
                <a:cs typeface="Arial"/>
              </a:rPr>
              <a:t>Administración de usuarios, </a:t>
            </a:r>
            <a:r>
              <a:rPr lang="es-ES" sz="2000" b="1" dirty="0">
                <a:solidFill>
                  <a:srgbClr val="C00000"/>
                </a:solidFill>
                <a:latin typeface="Arial"/>
                <a:cs typeface="Arial"/>
              </a:rPr>
              <a:t>seguridad</a:t>
            </a:r>
            <a:r>
              <a:rPr lang="es-ES" sz="2000" b="1" dirty="0">
                <a:latin typeface="Arial"/>
                <a:cs typeface="Arial"/>
              </a:rPr>
              <a:t> y </a:t>
            </a:r>
            <a:r>
              <a:rPr lang="es-ES" sz="2000" b="1" dirty="0" err="1">
                <a:latin typeface="Arial"/>
                <a:cs typeface="Arial"/>
              </a:rPr>
              <a:t>backup</a:t>
            </a:r>
            <a:r>
              <a:rPr lang="es-ES" sz="2000" b="1" dirty="0">
                <a:latin typeface="Arial"/>
                <a:cs typeface="Arial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0CF0A1-3514-42DB-9893-B72985E91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30" y="1813339"/>
            <a:ext cx="5562600" cy="440120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PostgreSQL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Autenticación:</a:t>
            </a:r>
            <a:endParaRPr kumimoji="0" lang="es-PE" altLang="es-P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PostgreSQL soporta múltiples métodos de autenticación como 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MD5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SCRAM-SHA-256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PE" altLang="es-P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LDAP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Kerberos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entre otros.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 archivo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pg_hba.conf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 utiliza para configurar los métodos de autenticación.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Cifrado:</a:t>
            </a:r>
            <a:endParaRPr kumimoji="0" lang="es-PE" altLang="es-P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Soporta cifrado SSL para la conexión entre el cliente y el servidor.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Cifrado a nivel de columna mediante extensiones.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Auditoría:</a:t>
            </a:r>
            <a:endParaRPr kumimoji="0" lang="es-PE" altLang="es-P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través de la extensión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pgaudit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PostgreSQL proporciona capacidades avanzadas de auditoría.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8D72E4E-1342-4C53-9A7A-0E1011A28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2115" y="1813339"/>
            <a:ext cx="5562600" cy="4708981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SQL Server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Autenticación:</a:t>
            </a:r>
            <a:endParaRPr kumimoji="0" lang="es-PE" altLang="es-P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SQL Server soporta autenticación de Windows y autenticación de SQL Server.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 autenticación de Windows se integra con Active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Directory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Cifrado:</a:t>
            </a:r>
            <a:endParaRPr kumimoji="0" lang="es-PE" altLang="es-P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Soporta cifrado SSL para la conexión.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Transparent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Encryption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TDE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para cifrado a nivel de base de datos.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Always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Encrypted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cifrado a nivel de columna.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Auditoría:</a:t>
            </a:r>
            <a:endParaRPr kumimoji="0" lang="es-PE" altLang="es-P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SQL Server ofrece características integradas de auditoría, incluyendo auditoría de inicio de sesión, acceso a la base de datos y cambios de datos.</a:t>
            </a:r>
          </a:p>
        </p:txBody>
      </p:sp>
    </p:spTree>
    <p:extLst>
      <p:ext uri="{BB962C8B-B14F-4D97-AF65-F5344CB8AC3E}">
        <p14:creationId xmlns:p14="http://schemas.microsoft.com/office/powerpoint/2010/main" val="3690090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Интеграция PostgreSQL с MS SQL Server">
            <a:extLst>
              <a:ext uri="{FF2B5EF4-FFF2-40B4-BE49-F238E27FC236}">
                <a16:creationId xmlns:a16="http://schemas.microsoft.com/office/drawing/2014/main" id="{8A5403A5-4883-4D10-BD93-C5D70A3B7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2209800" cy="85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92EE50B-0B1F-4005-8DFC-2924E5F87E1B}"/>
              </a:ext>
            </a:extLst>
          </p:cNvPr>
          <p:cNvSpPr txBox="1"/>
          <p:nvPr/>
        </p:nvSpPr>
        <p:spPr>
          <a:xfrm>
            <a:off x="533400" y="1200090"/>
            <a:ext cx="746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000" b="1" dirty="0">
                <a:latin typeface="Arial"/>
                <a:cs typeface="Arial"/>
              </a:rPr>
              <a:t>Administración de usuarios, seguridad y </a:t>
            </a:r>
            <a:r>
              <a:rPr lang="es-ES" sz="2000" b="1" dirty="0" err="1">
                <a:solidFill>
                  <a:srgbClr val="C00000"/>
                </a:solidFill>
                <a:latin typeface="Arial"/>
                <a:cs typeface="Arial"/>
              </a:rPr>
              <a:t>backup</a:t>
            </a:r>
            <a:r>
              <a:rPr lang="es-ES" sz="2000" b="1" dirty="0">
                <a:latin typeface="Arial"/>
                <a:cs typeface="Arial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E21947F-1E53-4D6C-B938-D73BFCF20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057" y="1752600"/>
            <a:ext cx="5239657" cy="440120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PostgreSQL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342900" marR="0" lvl="1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Backup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Lógico (</a:t>
            </a:r>
            <a:r>
              <a:rPr kumimoji="0" lang="es-PE" altLang="es-P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pg_dump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Genera un script SQL que contiene las instrucciones para recrear la base de datos. Es útil para mover datos entre diferentes versiones de PostgreSQL.</a:t>
            </a:r>
          </a:p>
          <a:p>
            <a:pPr marL="342900" marR="0" lvl="1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Backup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Físico (</a:t>
            </a:r>
            <a:r>
              <a:rPr kumimoji="0" lang="es-PE" altLang="es-P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pg_basebackup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Crea una copia física del directorio de datos de PostgreSQL. Es útil para grandes bases de datos y para realizar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backups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incrementales.</a:t>
            </a:r>
          </a:p>
          <a:p>
            <a:pPr marL="342900" marR="0" lvl="1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WAL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PE" altLang="es-P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Archiving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Permite la recuperación hasta un punto específico en el tiempo utilizando los archivos de registro de transacciones (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WAL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CD5B133-DB55-476F-BB88-2078CC312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1594877"/>
            <a:ext cx="5791200" cy="5016758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SQL Server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342900" marR="0" lvl="1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Backup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Completo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Crea una copia completa de la base de datos en un archivo .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bak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Es la base para otros tipos de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backups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342900" marR="0" lvl="1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Backup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Diferencial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Copia solo los cambios realizados desde el último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backup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completo. Ahorra tiempo y espacio en comparación con los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backups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completos.</a:t>
            </a:r>
          </a:p>
          <a:p>
            <a:pPr marL="342900" marR="0" lvl="1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Backup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Log de Transacciones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Copia los registros de transacciones, permitiendo restauraciones hasta un punto específico en el tiempo.</a:t>
            </a:r>
          </a:p>
          <a:p>
            <a:pPr marL="342900" marR="0" lvl="1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SQL Server Management Studio (</a:t>
            </a:r>
            <a:r>
              <a:rPr kumimoji="0" lang="es-PE" altLang="es-P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SSMS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Proporciona una interfaz gráfica para la administración de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backups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restauraciones y otras tareas de mantenimiento.</a:t>
            </a:r>
          </a:p>
        </p:txBody>
      </p:sp>
    </p:spTree>
    <p:extLst>
      <p:ext uri="{BB962C8B-B14F-4D97-AF65-F5344CB8AC3E}">
        <p14:creationId xmlns:p14="http://schemas.microsoft.com/office/powerpoint/2010/main" val="3311785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819150" y="1524000"/>
            <a:ext cx="10553700" cy="250645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 algn="ctr">
              <a:spcBef>
                <a:spcPts val="345"/>
              </a:spcBef>
            </a:pPr>
            <a:r>
              <a:rPr lang="es-ES" sz="4000" b="1" spc="-5" dirty="0">
                <a:solidFill>
                  <a:srgbClr val="FF0000"/>
                </a:solidFill>
                <a:latin typeface="Arial"/>
                <a:cs typeface="Arial"/>
              </a:rPr>
              <a:t>¿Qué estrategias implementan PostgreSQL y SQL Server para gestionar usuarios, asegurar la integridad de los datos y realizar copias de seguridad?</a:t>
            </a:r>
            <a:endParaRPr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43434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31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F4F96B2-8257-4187-BF20-F9EA78F3DF01}"/>
              </a:ext>
            </a:extLst>
          </p:cNvPr>
          <p:cNvSpPr/>
          <p:nvPr/>
        </p:nvSpPr>
        <p:spPr>
          <a:xfrm>
            <a:off x="0" y="2819400"/>
            <a:ext cx="12192000" cy="1219200"/>
          </a:xfrm>
          <a:custGeom>
            <a:avLst/>
            <a:gdLst/>
            <a:ahLst/>
            <a:cxnLst/>
            <a:rect l="l" t="t" r="r" b="b"/>
            <a:pathLst>
              <a:path w="9144635" h="700405">
                <a:moveTo>
                  <a:pt x="9027447" y="700199"/>
                </a:moveTo>
                <a:lnTo>
                  <a:pt x="116702" y="700199"/>
                </a:lnTo>
                <a:lnTo>
                  <a:pt x="71276" y="691028"/>
                </a:lnTo>
                <a:lnTo>
                  <a:pt x="34181" y="666018"/>
                </a:lnTo>
                <a:lnTo>
                  <a:pt x="9171" y="628923"/>
                </a:lnTo>
                <a:lnTo>
                  <a:pt x="0" y="583497"/>
                </a:lnTo>
                <a:lnTo>
                  <a:pt x="0" y="116702"/>
                </a:lnTo>
                <a:lnTo>
                  <a:pt x="9171" y="71276"/>
                </a:lnTo>
                <a:lnTo>
                  <a:pt x="34181" y="34181"/>
                </a:lnTo>
                <a:lnTo>
                  <a:pt x="71276" y="9171"/>
                </a:lnTo>
                <a:lnTo>
                  <a:pt x="116702" y="0"/>
                </a:lnTo>
                <a:lnTo>
                  <a:pt x="9027447" y="0"/>
                </a:lnTo>
                <a:lnTo>
                  <a:pt x="9072107" y="8883"/>
                </a:lnTo>
                <a:lnTo>
                  <a:pt x="9109968" y="34181"/>
                </a:lnTo>
                <a:lnTo>
                  <a:pt x="9135266" y="72042"/>
                </a:lnTo>
                <a:lnTo>
                  <a:pt x="9144149" y="116702"/>
                </a:lnTo>
                <a:lnTo>
                  <a:pt x="9144149" y="583497"/>
                </a:lnTo>
                <a:lnTo>
                  <a:pt x="9134978" y="628923"/>
                </a:lnTo>
                <a:lnTo>
                  <a:pt x="9109968" y="666018"/>
                </a:lnTo>
                <a:lnTo>
                  <a:pt x="9072873" y="691028"/>
                </a:lnTo>
                <a:lnTo>
                  <a:pt x="9027447" y="7001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15886D6-5B28-4586-B236-615F21BBBB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78672" y="3084034"/>
            <a:ext cx="363465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chemeClr val="bg1"/>
                </a:solidFill>
                <a:latin typeface="Rubik"/>
              </a:rPr>
              <a:t>Caso</a:t>
            </a:r>
            <a:r>
              <a:rPr b="1" spc="-90" dirty="0">
                <a:solidFill>
                  <a:schemeClr val="bg1"/>
                </a:solidFill>
                <a:latin typeface="Rubik"/>
              </a:rPr>
              <a:t> </a:t>
            </a:r>
            <a:r>
              <a:rPr b="1" spc="-5" dirty="0">
                <a:solidFill>
                  <a:schemeClr val="bg1"/>
                </a:solidFill>
                <a:latin typeface="Rubik"/>
              </a:rPr>
              <a:t>práctico</a:t>
            </a:r>
          </a:p>
        </p:txBody>
      </p:sp>
    </p:spTree>
    <p:extLst>
      <p:ext uri="{BB962C8B-B14F-4D97-AF65-F5344CB8AC3E}">
        <p14:creationId xmlns:p14="http://schemas.microsoft.com/office/powerpoint/2010/main" val="3460638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pic>
        <p:nvPicPr>
          <p:cNvPr id="5122" name="Picture 2" descr="una práctica ilustración plana de una computadora portátil que funciona  14982741 Vector en Vecteezy">
            <a:extLst>
              <a:ext uri="{FF2B5EF4-FFF2-40B4-BE49-F238E27FC236}">
                <a16:creationId xmlns:a16="http://schemas.microsoft.com/office/drawing/2014/main" id="{3E0F581E-C9D0-4859-A67E-A77ABF3B8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28801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53F7939A-7C5C-201B-4123-5FC85DB7FF43}"/>
              </a:ext>
            </a:extLst>
          </p:cNvPr>
          <p:cNvSpPr txBox="1"/>
          <p:nvPr/>
        </p:nvSpPr>
        <p:spPr>
          <a:xfrm>
            <a:off x="1905000" y="1066800"/>
            <a:ext cx="98298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MX" dirty="0"/>
              <a:t>Una tienda pequeña necesita implementar un sistema básico para gestionar la información de sus </a:t>
            </a:r>
            <a:r>
              <a:rPr lang="es-MX" b="1" dirty="0"/>
              <a:t>clientes, productos y ventas</a:t>
            </a:r>
            <a:r>
              <a:rPr lang="es-MX" dirty="0"/>
              <a:t>, con el objetivo de organizar sus datos y facilitar futuras consultas.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6F8DB28-D05D-26DA-0341-199F6B939410}"/>
              </a:ext>
            </a:extLst>
          </p:cNvPr>
          <p:cNvSpPr txBox="1"/>
          <p:nvPr/>
        </p:nvSpPr>
        <p:spPr>
          <a:xfrm>
            <a:off x="1828800" y="2014601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🎯 </a:t>
            </a:r>
            <a:r>
              <a:rPr lang="es-MX" dirty="0" err="1"/>
              <a:t>ObjetivoDiseñar</a:t>
            </a:r>
            <a:r>
              <a:rPr lang="es-MX" dirty="0"/>
              <a:t> el Modelo Entidad-Relación (MER) del sistema propuesto, identificando </a:t>
            </a:r>
            <a:r>
              <a:rPr lang="es-MX" dirty="0" err="1"/>
              <a:t>correctamente:EntidadesAtributosRelacionesClaves</a:t>
            </a:r>
            <a:r>
              <a:rPr lang="es-MX" dirty="0"/>
              <a:t> primarias y foráneas</a:t>
            </a:r>
            <a:endParaRPr lang="es-419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6872675-55FD-71AA-4F31-EFB8766429D6}"/>
              </a:ext>
            </a:extLst>
          </p:cNvPr>
          <p:cNvSpPr txBox="1"/>
          <p:nvPr/>
        </p:nvSpPr>
        <p:spPr>
          <a:xfrm>
            <a:off x="381000" y="2828836"/>
            <a:ext cx="11125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/>
              <a:t>Se solicita desarrollar el MER del sistema “Tienda”, considerando los siguientes requerimientos:</a:t>
            </a:r>
          </a:p>
          <a:p>
            <a:r>
              <a:rPr lang="es-MX" sz="1600" dirty="0"/>
              <a:t> 1. Identificación de </a:t>
            </a:r>
            <a:r>
              <a:rPr lang="es-MX" sz="1600" dirty="0" err="1"/>
              <a:t>entidadesEl</a:t>
            </a:r>
            <a:r>
              <a:rPr lang="es-MX" sz="1600" dirty="0"/>
              <a:t> sistema debe contemplar como mínimo las siguientes entidades:</a:t>
            </a:r>
          </a:p>
          <a:p>
            <a:r>
              <a:rPr lang="es-MX" sz="1600" b="1" dirty="0"/>
              <a:t>2. Definición de atributos </a:t>
            </a:r>
            <a:r>
              <a:rPr lang="es-MX" sz="1600" dirty="0"/>
              <a:t>Para cada entidad, el estudiante deberá definir los atributos necesarios.</a:t>
            </a:r>
          </a:p>
          <a:p>
            <a:r>
              <a:rPr lang="es-MX" sz="1600" b="1" dirty="0"/>
              <a:t>3. Relaciones</a:t>
            </a:r>
          </a:p>
          <a:p>
            <a:r>
              <a:rPr lang="es-MX" sz="1600" dirty="0"/>
              <a:t>El estudiante debe identificar y representar las relaciones entre entidades:</a:t>
            </a:r>
          </a:p>
          <a:p>
            <a:r>
              <a:rPr lang="es-MX" sz="1600" dirty="0"/>
              <a:t>Un cliente puede realizar muchas ventas </a:t>
            </a:r>
          </a:p>
          <a:p>
            <a:r>
              <a:rPr lang="es-MX" sz="1600" dirty="0"/>
              <a:t>Una venta pertenece a un cliente </a:t>
            </a:r>
          </a:p>
          <a:p>
            <a:r>
              <a:rPr lang="es-MX" sz="1600" dirty="0"/>
              <a:t>Una venta puede incluir uno o varios productos </a:t>
            </a:r>
          </a:p>
          <a:p>
            <a:r>
              <a:rPr lang="es-MX" sz="1600" dirty="0"/>
              <a:t>👉 (Esto implica una relación adicional que el estudiante debe analizar)</a:t>
            </a:r>
          </a:p>
          <a:p>
            <a:r>
              <a:rPr lang="es-MX" sz="1600" b="1" dirty="0"/>
              <a:t>4. Análisis (parte clave)</a:t>
            </a:r>
          </a:p>
          <a:p>
            <a:r>
              <a:rPr lang="es-MX" sz="1600" dirty="0"/>
              <a:t>Responder:</a:t>
            </a:r>
          </a:p>
          <a:p>
            <a:r>
              <a:rPr lang="es-MX" sz="1600" dirty="0"/>
              <a:t>¿Qué tipo de relación existe entre venta y producto? </a:t>
            </a:r>
          </a:p>
          <a:p>
            <a:r>
              <a:rPr lang="es-MX" sz="1600" dirty="0"/>
              <a:t>¿Es necesaria una entidad intermedia? ¿Por qué?</a:t>
            </a:r>
          </a:p>
          <a:p>
            <a:endParaRPr lang="es-MX" sz="1600" dirty="0"/>
          </a:p>
          <a:p>
            <a:endParaRPr lang="es-419" sz="1600" dirty="0"/>
          </a:p>
        </p:txBody>
      </p:sp>
    </p:spTree>
    <p:extLst>
      <p:ext uri="{BB962C8B-B14F-4D97-AF65-F5344CB8AC3E}">
        <p14:creationId xmlns:p14="http://schemas.microsoft.com/office/powerpoint/2010/main" val="68067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4CCFC334-434E-4946-8150-7F52AD5BD21D}"/>
              </a:ext>
            </a:extLst>
          </p:cNvPr>
          <p:cNvSpPr txBox="1"/>
          <p:nvPr/>
        </p:nvSpPr>
        <p:spPr>
          <a:xfrm>
            <a:off x="2282337" y="1780300"/>
            <a:ext cx="76273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¿Quién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quisiera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participar?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(2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voluntarios)</a:t>
            </a: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9D2CA911-F96C-4C2E-940C-40856F4E61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0555" y="2895600"/>
            <a:ext cx="2730890" cy="252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49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Conclusiones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2243577" y="2644170"/>
            <a:ext cx="76875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3200" spc="-5" dirty="0">
                <a:latin typeface="Arial"/>
                <a:cs typeface="Arial"/>
              </a:rPr>
              <a:t>Tomar apuntes de manera eficaz ayuda a consolidar el  aprendizaje y prepararse para los exámenes.</a:t>
            </a: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017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Conclusiones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2243577" y="3149025"/>
            <a:ext cx="768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3200" b="1" spc="-5" dirty="0">
                <a:latin typeface="Arial"/>
                <a:cs typeface="Arial"/>
              </a:rPr>
              <a:t>¿Qué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hemos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aprendido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el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día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de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hoy?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9" name="object 4">
            <a:extLst>
              <a:ext uri="{FF2B5EF4-FFF2-40B4-BE49-F238E27FC236}">
                <a16:creationId xmlns:a16="http://schemas.microsoft.com/office/drawing/2014/main" id="{F428FEBE-63F0-4356-811F-98BF885720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511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0ED853-C8B6-4B53-95E1-AB6F86F8C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60748"/>
            <a:ext cx="10972800" cy="3420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Sintaxis de Consultas y Funciones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PE" altLang="es-P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Utiliza una sintaxis que sigue estándares SQL más cercanos al SQL ANSI. Ofrece extensiones avanzadas y funciones adicionales para trabajar con datos JSON,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arrays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y tipos personalizados.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Server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Tiene su propia sintaxis y funciones, con extensiones específicas para Microsoft. Algunas funciones y tipos de datos son únicos de SQL Server, y el uso de T-SQL (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-SQL) proporciona características adicionales para la programación de consultas.</a:t>
            </a:r>
          </a:p>
        </p:txBody>
      </p:sp>
    </p:spTree>
    <p:extLst>
      <p:ext uri="{BB962C8B-B14F-4D97-AF65-F5344CB8AC3E}">
        <p14:creationId xmlns:p14="http://schemas.microsoft.com/office/powerpoint/2010/main" val="3581686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0ED853-C8B6-4B53-95E1-AB6F86F8C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140301"/>
            <a:ext cx="10972800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Procedimientos Almacenados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PE" altLang="es-P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Utiliza PL/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pgSQL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 propio lenguaje para procedimientos almacenados. Es bastante flexible y permite escribir procedimientos complejos.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Server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Utiliza T-SQL para procedimientos almacenados. Ofrece integración con .NET, y proporciona capacidades avanzadas como manejo de errores y transacciones.</a:t>
            </a:r>
          </a:p>
        </p:txBody>
      </p:sp>
    </p:spTree>
    <p:extLst>
      <p:ext uri="{BB962C8B-B14F-4D97-AF65-F5344CB8AC3E}">
        <p14:creationId xmlns:p14="http://schemas.microsoft.com/office/powerpoint/2010/main" val="2059309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0ED853-C8B6-4B53-95E1-AB6F86F8C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74509"/>
            <a:ext cx="109728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Administración de Usuarios y Seguridad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PE" altLang="es-P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Permite una administración de usuarios y permisos granular. La seguridad incluye características como roles y políticas de acceso basadas en objetos.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Server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También ofrece una administración detallada de usuarios y roles, con características adicionales como integración con Active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Directory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auditoría avanzada.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PE" altLang="es-P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PE" altLang="es-P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Backup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Recuperación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PE" altLang="es-P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Ofrece varias opciones de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backup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como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pg_dump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pg_basebackup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La recuperación se puede realizar a nivel de base de datos o de tabla.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Server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Proporciona una amplia gama de opciones para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backups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recuperación, incluyendo copias de seguridad completas, diferenciales y de registros de transacciones, con herramientas integradas para la administración de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backups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657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Tarea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6C1EBD77-2009-467A-8F43-D98057869CA7}"/>
              </a:ext>
            </a:extLst>
          </p:cNvPr>
          <p:cNvSpPr txBox="1"/>
          <p:nvPr/>
        </p:nvSpPr>
        <p:spPr>
          <a:xfrm>
            <a:off x="1134155" y="6027241"/>
            <a:ext cx="9704133" cy="369332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Nota:</a:t>
            </a:r>
            <a:r>
              <a:rPr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Entrega de manera EXPOSICIÓN GRUPAL.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C488054-C37C-2750-26C5-92EDD8994B72}"/>
              </a:ext>
            </a:extLst>
          </p:cNvPr>
          <p:cNvSpPr txBox="1"/>
          <p:nvPr/>
        </p:nvSpPr>
        <p:spPr>
          <a:xfrm>
            <a:off x="249477" y="1219200"/>
            <a:ext cx="11637723" cy="11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en-US" kern="1400" spc="25" dirty="0">
                <a:solidFill>
                  <a:srgbClr val="17365D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INVESTIGACIÓN: PostgreSQL vs SQL Server</a:t>
            </a:r>
          </a:p>
          <a:p>
            <a:pPr>
              <a:spcAft>
                <a:spcPts val="1500"/>
              </a:spcAft>
              <a:buNone/>
            </a:pPr>
            <a:r>
              <a:rPr lang="en-US" b="1" kern="0" dirty="0" err="1">
                <a:solidFill>
                  <a:srgbClr val="365F9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Objetivo</a:t>
            </a:r>
            <a:r>
              <a:rPr lang="es-419" b="1" kern="0" dirty="0">
                <a:solidFill>
                  <a:srgbClr val="365F91"/>
                </a:solidFill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: </a:t>
            </a:r>
            <a:r>
              <a:rPr lang="en-US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Analizar</a:t>
            </a:r>
            <a:r>
              <a:rPr lang="en-US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y </a:t>
            </a:r>
            <a:r>
              <a:rPr lang="en-US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comparar</a:t>
            </a:r>
            <a:r>
              <a:rPr lang="en-US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PostgreSQL y SQL Server para </a:t>
            </a:r>
            <a:r>
              <a:rPr lang="en-US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desarrollar</a:t>
            </a:r>
            <a:r>
              <a:rPr lang="en-US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criterio</a:t>
            </a:r>
            <a:r>
              <a:rPr lang="en-US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técnico</a:t>
            </a:r>
            <a:r>
              <a:rPr lang="en-US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en</a:t>
            </a:r>
            <a:r>
              <a:rPr lang="en-US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la </a:t>
            </a:r>
            <a:r>
              <a:rPr lang="en-US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elección</a:t>
            </a:r>
            <a:r>
              <a:rPr lang="en-US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de </a:t>
            </a:r>
            <a:r>
              <a:rPr lang="en-US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sistemas</a:t>
            </a:r>
            <a:r>
              <a:rPr lang="en-US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gestores</a:t>
            </a:r>
            <a:r>
              <a:rPr lang="en-US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de bases de </a:t>
            </a:r>
            <a:r>
              <a:rPr lang="en-US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datos</a:t>
            </a:r>
            <a:r>
              <a:rPr lang="en-US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.</a:t>
            </a:r>
            <a:endParaRPr lang="es-419" dirty="0"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9CB7B16-C334-7FFB-734B-97D794B88D0F}"/>
              </a:ext>
            </a:extLst>
          </p:cNvPr>
          <p:cNvSpPr txBox="1"/>
          <p:nvPr/>
        </p:nvSpPr>
        <p:spPr>
          <a:xfrm>
            <a:off x="249477" y="2743200"/>
            <a:ext cx="3255723" cy="289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2400"/>
              </a:spcBef>
              <a:buNone/>
            </a:pPr>
            <a:r>
              <a:rPr lang="en-US" sz="1400" b="1" kern="0" dirty="0">
                <a:solidFill>
                  <a:srgbClr val="365F9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1. </a:t>
            </a:r>
            <a:r>
              <a:rPr lang="en-US" sz="1400" b="1" kern="0" dirty="0" err="1">
                <a:solidFill>
                  <a:srgbClr val="365F9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Sintaxis</a:t>
            </a:r>
            <a:r>
              <a:rPr lang="en-US" sz="1400" b="1" kern="0" dirty="0">
                <a:solidFill>
                  <a:srgbClr val="365F9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 de </a:t>
            </a:r>
            <a:r>
              <a:rPr lang="en-US" sz="1400" b="1" kern="0" dirty="0" err="1">
                <a:solidFill>
                  <a:srgbClr val="365F9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consultas</a:t>
            </a:r>
            <a:r>
              <a:rPr lang="en-US" sz="1400" b="1" kern="0" dirty="0">
                <a:solidFill>
                  <a:srgbClr val="365F9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 y </a:t>
            </a:r>
            <a:r>
              <a:rPr lang="en-US" sz="1400" b="1" kern="0" dirty="0" err="1">
                <a:solidFill>
                  <a:srgbClr val="365F9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funciones</a:t>
            </a:r>
            <a:endParaRPr lang="es-419" sz="1400" b="1" kern="0" dirty="0">
              <a:solidFill>
                <a:srgbClr val="365F91"/>
              </a:solidFill>
              <a:effectLst/>
              <a:latin typeface="Arial" panose="020B0604020202020204" pitchFamily="34" charset="0"/>
              <a:ea typeface="MS Gothic" panose="020B0609070205080204" pitchFamily="49" charset="-128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sz="140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-</a:t>
            </a:r>
            <a:r>
              <a:rPr lang="en-US" sz="1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Comparar</a:t>
            </a:r>
            <a: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SQL </a:t>
            </a:r>
            <a:r>
              <a:rPr lang="en-US" sz="1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estándar</a:t>
            </a:r>
            <a: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vs T-SQL</a:t>
            </a:r>
            <a:b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- </a:t>
            </a:r>
            <a:r>
              <a:rPr lang="en-US" sz="1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Ejemplos</a:t>
            </a:r>
            <a: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: LIMIT vs TOP</a:t>
            </a:r>
            <a:b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- </a:t>
            </a:r>
            <a:r>
              <a:rPr lang="en-US" sz="1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Manejo</a:t>
            </a:r>
            <a: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de </a:t>
            </a:r>
            <a:r>
              <a:rPr lang="en-US" sz="1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cadenas</a:t>
            </a:r>
            <a: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y </a:t>
            </a:r>
            <a:r>
              <a:rPr lang="en-US" sz="1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fechas</a:t>
            </a:r>
            <a:endParaRPr lang="en-US" sz="1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sz="1400" b="1" kern="0" dirty="0">
                <a:solidFill>
                  <a:srgbClr val="365F9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2. </a:t>
            </a:r>
            <a:r>
              <a:rPr lang="en-US" sz="1400" b="1" kern="0" dirty="0" err="1">
                <a:solidFill>
                  <a:srgbClr val="365F9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Procedimientos</a:t>
            </a:r>
            <a:r>
              <a:rPr lang="en-US" sz="1400" b="1" kern="0" dirty="0">
                <a:solidFill>
                  <a:srgbClr val="365F9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 </a:t>
            </a:r>
            <a:r>
              <a:rPr lang="en-US" sz="1400" b="1" kern="0" dirty="0" err="1">
                <a:solidFill>
                  <a:srgbClr val="365F9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almacenados</a:t>
            </a:r>
            <a:endParaRPr lang="es-419" sz="1400" b="1" kern="0" dirty="0">
              <a:solidFill>
                <a:srgbClr val="365F91"/>
              </a:solidFill>
              <a:effectLst/>
              <a:latin typeface="Arial" panose="020B0604020202020204" pitchFamily="34" charset="0"/>
              <a:ea typeface="MS Gothic" panose="020B0609070205080204" pitchFamily="49" charset="-128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- </a:t>
            </a:r>
            <a:r>
              <a:rPr lang="en-US" sz="1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Definición</a:t>
            </a:r>
            <a:b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- </a:t>
            </a:r>
            <a:r>
              <a:rPr lang="en-US" sz="1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Comparación</a:t>
            </a:r>
            <a: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PL/</a:t>
            </a:r>
            <a:r>
              <a:rPr lang="en-US" sz="1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pgSQL</a:t>
            </a:r>
            <a: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vs T-SQL</a:t>
            </a:r>
            <a:b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- </a:t>
            </a:r>
            <a:r>
              <a:rPr lang="en-US" sz="1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Ejemplo</a:t>
            </a:r>
            <a: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en</a:t>
            </a:r>
            <a:r>
              <a:rPr lang="en-US" sz="1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ambos </a:t>
            </a:r>
            <a:r>
              <a:rPr lang="en-US" sz="1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sistemas</a:t>
            </a:r>
            <a:endParaRPr lang="es-419" sz="1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07DA925-88B6-B9FB-B90D-A3387C52391C}"/>
              </a:ext>
            </a:extLst>
          </p:cNvPr>
          <p:cNvSpPr txBox="1"/>
          <p:nvPr/>
        </p:nvSpPr>
        <p:spPr>
          <a:xfrm>
            <a:off x="3810002" y="2743200"/>
            <a:ext cx="4876800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400" b="1" dirty="0">
                <a:solidFill>
                  <a:srgbClr val="365F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Administración de usuarios y seguridad</a:t>
            </a:r>
          </a:p>
          <a:p>
            <a:pPr algn="just">
              <a:lnSpc>
                <a:spcPct val="150000"/>
              </a:lnSpc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- Roles en PostgreSQL y SQL Server</a:t>
            </a:r>
          </a:p>
          <a:p>
            <a:pPr algn="just">
              <a:lnSpc>
                <a:spcPct val="150000"/>
              </a:lnSpc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- Autenticación y permisos</a:t>
            </a:r>
          </a:p>
          <a:p>
            <a:pPr algn="just">
              <a:lnSpc>
                <a:spcPct val="150000"/>
              </a:lnSpc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- Ejemplo práctico</a:t>
            </a:r>
          </a:p>
          <a:p>
            <a:pPr algn="just">
              <a:lnSpc>
                <a:spcPct val="150000"/>
              </a:lnSpc>
            </a:pPr>
            <a:r>
              <a:rPr lang="es-MX" sz="1400" b="1" dirty="0">
                <a:solidFill>
                  <a:srgbClr val="365F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s-MX" sz="1400" b="1" dirty="0" err="1">
                <a:solidFill>
                  <a:srgbClr val="365F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Backup</a:t>
            </a:r>
            <a:r>
              <a:rPr lang="es-MX" sz="1400" b="1" dirty="0">
                <a:solidFill>
                  <a:srgbClr val="365F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recuperación</a:t>
            </a:r>
          </a:p>
          <a:p>
            <a:pPr algn="just">
              <a:lnSpc>
                <a:spcPct val="150000"/>
              </a:lnSpc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- PostgreSQL: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pg_dump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, WAL</a:t>
            </a:r>
          </a:p>
          <a:p>
            <a:pPr algn="just">
              <a:lnSpc>
                <a:spcPct val="150000"/>
              </a:lnSpc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- SQL Server: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backup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completo, diferencial y logs</a:t>
            </a:r>
          </a:p>
          <a:p>
            <a:pPr algn="just">
              <a:lnSpc>
                <a:spcPct val="150000"/>
              </a:lnSpc>
            </a:pPr>
            <a:r>
              <a:rPr lang="es-MX" sz="1400" b="1" dirty="0">
                <a:solidFill>
                  <a:srgbClr val="365F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Análisis crítico</a:t>
            </a:r>
          </a:p>
          <a:p>
            <a:pPr algn="just">
              <a:lnSpc>
                <a:spcPct val="150000"/>
              </a:lnSpc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¿Cuándo usar PostgreSQL o SQL Server? Justificar técnicamente.</a:t>
            </a:r>
          </a:p>
        </p:txBody>
      </p:sp>
    </p:spTree>
    <p:extLst>
      <p:ext uri="{BB962C8B-B14F-4D97-AF65-F5344CB8AC3E}">
        <p14:creationId xmlns:p14="http://schemas.microsoft.com/office/powerpoint/2010/main" val="7403987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Recursos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6C1EBD77-2009-467A-8F43-D98057869CA7}"/>
              </a:ext>
            </a:extLst>
          </p:cNvPr>
          <p:cNvSpPr txBox="1"/>
          <p:nvPr/>
        </p:nvSpPr>
        <p:spPr>
          <a:xfrm>
            <a:off x="1243933" y="5472302"/>
            <a:ext cx="9704133" cy="369332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Nota:</a:t>
            </a:r>
            <a:r>
              <a:rPr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s-ES"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olvides </a:t>
            </a:r>
            <a:r>
              <a:rPr lang="es-ES"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PE" sz="2400" i="1" spc="-5" dirty="0" err="1">
                <a:latin typeface="Arial" panose="020B0604020202020204" pitchFamily="34" charset="0"/>
                <a:cs typeface="Arial" panose="020B0604020202020204" pitchFamily="34" charset="0"/>
              </a:rPr>
              <a:t>ambién</a:t>
            </a:r>
            <a:r>
              <a:rPr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revisar tu plataforma </a:t>
            </a:r>
            <a:r>
              <a:rPr lang="es-ES" sz="2400" i="1" spc="-10" dirty="0" err="1">
                <a:latin typeface="Arial" panose="020B0604020202020204" pitchFamily="34" charset="0"/>
                <a:cs typeface="Arial" panose="020B0604020202020204" pitchFamily="34" charset="0"/>
              </a:rPr>
              <a:t>UTP+Class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3B0927F-97D1-45B4-AE70-5270DFA95140}"/>
              </a:ext>
            </a:extLst>
          </p:cNvPr>
          <p:cNvSpPr txBox="1"/>
          <p:nvPr/>
        </p:nvSpPr>
        <p:spPr>
          <a:xfrm>
            <a:off x="813466" y="1034509"/>
            <a:ext cx="10134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1. Videos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Video 1</a:t>
            </a:r>
            <a:r>
              <a:rPr lang="es-ES" dirty="0"/>
              <a:t>: </a:t>
            </a:r>
            <a:r>
              <a:rPr lang="es-ES" dirty="0">
                <a:hlinkClick r:id="rId3"/>
              </a:rPr>
              <a:t>https://www.youtube.com/watch?v=jxIEDKzGrOs&amp;list=PL8gxzfBmzgex2nuVanqvxoTXTPovVSwi2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Video 2</a:t>
            </a:r>
            <a:r>
              <a:rPr lang="es-ES" dirty="0"/>
              <a:t>: </a:t>
            </a:r>
            <a:r>
              <a:rPr lang="es-ES" dirty="0">
                <a:hlinkClick r:id="rId4"/>
              </a:rPr>
              <a:t>https://www.youtube.com/watch?v=n8uXBimHKwk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Video 3</a:t>
            </a:r>
            <a:r>
              <a:rPr lang="es-ES" dirty="0"/>
              <a:t>: </a:t>
            </a:r>
            <a:r>
              <a:rPr lang="es-ES" dirty="0">
                <a:hlinkClick r:id="rId5"/>
              </a:rPr>
              <a:t>https://www.youtube.com/watch?v=pyzY2JSnPvQ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Video 4</a:t>
            </a:r>
            <a:r>
              <a:rPr lang="es-ES" dirty="0"/>
              <a:t>: </a:t>
            </a:r>
            <a:r>
              <a:rPr lang="es-ES" dirty="0">
                <a:hlinkClick r:id="rId6"/>
              </a:rPr>
              <a:t>https://www.youtube.com/watch?v=tpjmONtsXKI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Video 5</a:t>
            </a:r>
            <a:r>
              <a:rPr lang="es-ES" dirty="0"/>
              <a:t>: </a:t>
            </a:r>
            <a:r>
              <a:rPr lang="es-ES" dirty="0">
                <a:hlinkClick r:id="rId7"/>
              </a:rPr>
              <a:t>https://www.youtube.com/watch?v=BlJY6mTXthY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Video 6</a:t>
            </a:r>
            <a:r>
              <a:rPr lang="es-ES" dirty="0"/>
              <a:t>: </a:t>
            </a:r>
            <a:r>
              <a:rPr lang="es-ES" dirty="0">
                <a:hlinkClick r:id="rId8"/>
              </a:rPr>
              <a:t>https://www.youtube.com/watch?v=BPldcIe2-uE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Video 7</a:t>
            </a:r>
            <a:r>
              <a:rPr lang="es-ES" dirty="0"/>
              <a:t>: </a:t>
            </a:r>
            <a:r>
              <a:rPr lang="es-ES" dirty="0">
                <a:hlinkClick r:id="rId9"/>
              </a:rPr>
              <a:t>https://www.youtube.com/watch?v=9I09LRj73Rk</a:t>
            </a:r>
            <a:endParaRPr lang="es-ES" dirty="0"/>
          </a:p>
          <a:p>
            <a:endParaRPr lang="es-ES" dirty="0"/>
          </a:p>
          <a:p>
            <a:r>
              <a:rPr lang="es-ES" sz="2400" b="1" dirty="0"/>
              <a:t>2. Páginas Web</a:t>
            </a:r>
          </a:p>
          <a:p>
            <a:r>
              <a:rPr lang="es-ES" b="1" dirty="0"/>
              <a:t> </a:t>
            </a:r>
            <a:r>
              <a:rPr lang="es-ES" b="1" dirty="0" err="1"/>
              <a:t>PW</a:t>
            </a:r>
            <a:r>
              <a:rPr lang="es-ES" b="1" dirty="0"/>
              <a:t> 1</a:t>
            </a:r>
            <a:r>
              <a:rPr lang="es-ES" dirty="0"/>
              <a:t>: </a:t>
            </a:r>
            <a:r>
              <a:rPr lang="es-ES" dirty="0">
                <a:hlinkClick r:id="rId10"/>
              </a:rPr>
              <a:t>https://www.astera.com/es/knowledge-center/postgresql-sql-server/</a:t>
            </a:r>
            <a:endParaRPr lang="es-ES" dirty="0"/>
          </a:p>
          <a:p>
            <a:r>
              <a:rPr lang="es-ES" b="1" dirty="0"/>
              <a:t> </a:t>
            </a:r>
            <a:r>
              <a:rPr lang="es-ES" b="1" dirty="0" err="1"/>
              <a:t>PW</a:t>
            </a:r>
            <a:r>
              <a:rPr lang="es-ES" b="1" dirty="0"/>
              <a:t> 2</a:t>
            </a:r>
            <a:r>
              <a:rPr lang="es-ES" dirty="0"/>
              <a:t>: </a:t>
            </a:r>
            <a:r>
              <a:rPr lang="es-ES" dirty="0">
                <a:hlinkClick r:id="rId11"/>
              </a:rPr>
              <a:t>https://kinsta.com/es/blog/postgresql-vs-mysql/</a:t>
            </a:r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599688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Tarea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24A635F-D0BC-448C-963A-9F264D0DBAC1}"/>
              </a:ext>
            </a:extLst>
          </p:cNvPr>
          <p:cNvSpPr txBox="1"/>
          <p:nvPr/>
        </p:nvSpPr>
        <p:spPr>
          <a:xfrm>
            <a:off x="914400" y="28288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MUCHAS</a:t>
            </a:r>
            <a:r>
              <a:rPr lang="es-ES" sz="3600" b="1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GRACIAS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DIOS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BENDIGA!!!</a:t>
            </a:r>
            <a:endParaRPr lang="es-P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3D95F103-6F5F-4016-A9CD-2446F09D30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7600" y="1216152"/>
            <a:ext cx="3056381" cy="44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828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191E5126-E36B-4AD7-8091-51DA2789C594}"/>
              </a:ext>
            </a:extLst>
          </p:cNvPr>
          <p:cNvGrpSpPr/>
          <p:nvPr/>
        </p:nvGrpSpPr>
        <p:grpSpPr>
          <a:xfrm>
            <a:off x="2057400" y="152400"/>
            <a:ext cx="9906000" cy="4152900"/>
            <a:chOff x="2057400" y="152400"/>
            <a:chExt cx="9906000" cy="41529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185A945-435F-4D6F-A7D2-DE90E0F720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2552700"/>
              <a:ext cx="7856700" cy="1752600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9E930664-20E1-44C4-BD93-6761C99A64C5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1400</TotalTime>
  <Words>3042</Words>
  <Application>Microsoft Office PowerPoint</Application>
  <PresentationFormat>Panorámica</PresentationFormat>
  <Paragraphs>289</Paragraphs>
  <Slides>37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8" baseType="lpstr">
      <vt:lpstr>Arial</vt:lpstr>
      <vt:lpstr>Arial MT</vt:lpstr>
      <vt:lpstr>Calibri</vt:lpstr>
      <vt:lpstr>Calibri Light</vt:lpstr>
      <vt:lpstr>CentSchbkCyrill BT</vt:lpstr>
      <vt:lpstr>Google Sans</vt:lpstr>
      <vt:lpstr>Google Sans Text</vt:lpstr>
      <vt:lpstr>Open Sans</vt:lpstr>
      <vt:lpstr>Rubik</vt:lpstr>
      <vt:lpstr>Verdana</vt:lpstr>
      <vt:lpstr>Office Theme</vt:lpstr>
      <vt:lpstr>Presentación de PowerPoint</vt:lpstr>
      <vt:lpstr>CURSO: BASE DE DATOS II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Caso práctico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VPC Networking</dc:title>
  <dc:creator>Julia</dc:creator>
  <cp:lastModifiedBy>Docente - Carlos Ignacio Flores Rujel</cp:lastModifiedBy>
  <cp:revision>118</cp:revision>
  <dcterms:created xsi:type="dcterms:W3CDTF">2024-06-11T03:36:57Z</dcterms:created>
  <dcterms:modified xsi:type="dcterms:W3CDTF">2026-04-06T17:43:39Z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2020-06-18T00:00:00Z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2024-06-11T00:00:00Z</vt:filetime>
  </property>
</Properties>
</file>