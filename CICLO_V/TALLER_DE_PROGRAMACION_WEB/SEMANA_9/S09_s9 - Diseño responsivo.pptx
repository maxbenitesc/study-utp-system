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Economica"/>
      <p:regular r:id="rId29"/>
      <p:bold r:id="rId30"/>
      <p:italic r:id="rId31"/>
      <p:boldItalic r:id="rId32"/>
    </p:embeddedFont>
    <p:embeddedFont>
      <p:font typeface="Playfair Display"/>
      <p:regular r:id="rId33"/>
      <p:bold r:id="rId34"/>
      <p:italic r:id="rId35"/>
      <p:boldItalic r:id="rId36"/>
    </p:embeddedFont>
    <p:embeddedFont>
      <p:font typeface="Roboto Mono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slide" Target="slides/slide14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6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Economica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conomica-italic.fntdata"/><Relationship Id="rId30" Type="http://schemas.openxmlformats.org/officeDocument/2006/relationships/font" Target="fonts/Economica-bold.fntdata"/><Relationship Id="rId11" Type="http://schemas.openxmlformats.org/officeDocument/2006/relationships/slide" Target="slides/slide5.xml"/><Relationship Id="rId33" Type="http://schemas.openxmlformats.org/officeDocument/2006/relationships/font" Target="fonts/PlayfairDisplay-regular.fntdata"/><Relationship Id="rId10" Type="http://schemas.openxmlformats.org/officeDocument/2006/relationships/slide" Target="slides/slide4.xml"/><Relationship Id="rId32" Type="http://schemas.openxmlformats.org/officeDocument/2006/relationships/font" Target="fonts/Economica-boldItalic.fntdata"/><Relationship Id="rId13" Type="http://schemas.openxmlformats.org/officeDocument/2006/relationships/slide" Target="slides/slide7.xml"/><Relationship Id="rId35" Type="http://schemas.openxmlformats.org/officeDocument/2006/relationships/font" Target="fonts/PlayfairDisplay-italic.fntdata"/><Relationship Id="rId12" Type="http://schemas.openxmlformats.org/officeDocument/2006/relationships/slide" Target="slides/slide6.xml"/><Relationship Id="rId34" Type="http://schemas.openxmlformats.org/officeDocument/2006/relationships/font" Target="fonts/PlayfairDisplay-bold.fntdata"/><Relationship Id="rId15" Type="http://schemas.openxmlformats.org/officeDocument/2006/relationships/slide" Target="slides/slide9.xml"/><Relationship Id="rId37" Type="http://schemas.openxmlformats.org/officeDocument/2006/relationships/font" Target="fonts/RobotoMono-regular.fntdata"/><Relationship Id="rId14" Type="http://schemas.openxmlformats.org/officeDocument/2006/relationships/slide" Target="slides/slide8.xml"/><Relationship Id="rId36" Type="http://schemas.openxmlformats.org/officeDocument/2006/relationships/font" Target="fonts/PlayfairDisplay-boldItalic.fntdata"/><Relationship Id="rId17" Type="http://schemas.openxmlformats.org/officeDocument/2006/relationships/slide" Target="slides/slide11.xml"/><Relationship Id="rId39" Type="http://schemas.openxmlformats.org/officeDocument/2006/relationships/font" Target="fonts/RobotoMono-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896cfbbdf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a896cfbbdf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96cfbbdf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a896cfbbd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896cfbbdf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a896cfbbd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896cfbbdf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a896cfbbdf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896cfbbdf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a896cfbbdf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896cfbbdf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a896cfbbdf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896cfbbdf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a896cfbbdf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896cfbbdf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a896cfbbdf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896cfbbdf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a896cfbbdf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896cfbbdf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a896cfbbdf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896cfbbdf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a896cfbbdf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896cfbbdf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896cfbbdf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896cfbbdf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896cfbbdf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896cfbbdf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896cfbbdf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896cfbbdf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896cfbbdf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896cfbbdf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896cfbbdf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896cfbbdf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896cfbbdf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896cfbbdf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a896cfbbdf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896cfbbdf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a896cfbbdf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896cfbbdf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a896cfbbdf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896cfbbdf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a896cfbbdf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896cfbbdf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a896cfbbdf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5" name="Google Shape;75;p18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6" name="Google Shape;76;p1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5" name="Google Shape;85;p20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1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2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22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5" name="Google Shape;95;p22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6" name="Google Shape;96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C31046@utp.edu.pe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hyperlink" Target="mailto:C31046@utp.edu.pe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ctrTitle"/>
          </p:nvPr>
        </p:nvSpPr>
        <p:spPr>
          <a:xfrm>
            <a:off x="2841725" y="864625"/>
            <a:ext cx="34482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5020"/>
              <a:t>TALLER DE PROGRAMACIÓN WEB</a:t>
            </a:r>
            <a:endParaRPr sz="5020"/>
          </a:p>
        </p:txBody>
      </p:sp>
      <p:sp>
        <p:nvSpPr>
          <p:cNvPr id="108" name="Google Shape;108;p25"/>
          <p:cNvSpPr txBox="1"/>
          <p:nvPr>
            <p:ph idx="1" type="subTitle"/>
          </p:nvPr>
        </p:nvSpPr>
        <p:spPr>
          <a:xfrm>
            <a:off x="3044700" y="2964199"/>
            <a:ext cx="3054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s-419" sz="2300"/>
              <a:t>M.Sc. Jesamin Zevallos Quispe</a:t>
            </a:r>
            <a:endParaRPr sz="2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s-419" sz="1575" u="sng">
                <a:solidFill>
                  <a:srgbClr val="3D85C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c29741@utp.edu.pe</a:t>
            </a:r>
            <a:endParaRPr sz="1575">
              <a:solidFill>
                <a:srgbClr val="3D85C6"/>
              </a:solidFill>
            </a:endParaRPr>
          </a:p>
        </p:txBody>
      </p:sp>
      <p:pic>
        <p:nvPicPr>
          <p:cNvPr id="109" name="Google Shape;10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5587" y="3598150"/>
            <a:ext cx="2692823" cy="82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Dudas de la clase anterior</a:t>
            </a:r>
            <a:endParaRPr/>
          </a:p>
        </p:txBody>
      </p:sp>
      <p:pic>
        <p:nvPicPr>
          <p:cNvPr id="115" name="Google Shape;11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2287" y="2844874"/>
            <a:ext cx="3939425" cy="2298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6"/>
          <p:cNvSpPr/>
          <p:nvPr/>
        </p:nvSpPr>
        <p:spPr>
          <a:xfrm flipH="1">
            <a:off x="874000" y="2078700"/>
            <a:ext cx="2302800" cy="11223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Estilos CSS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7" name="Google Shape;117;p26"/>
          <p:cNvSpPr/>
          <p:nvPr/>
        </p:nvSpPr>
        <p:spPr>
          <a:xfrm flipH="1">
            <a:off x="3420588" y="1180575"/>
            <a:ext cx="2302800" cy="1122300"/>
          </a:xfrm>
          <a:prstGeom prst="wedgeEllipseCallout">
            <a:avLst>
              <a:gd fmla="val -1117" name="adj1"/>
              <a:gd fmla="val 72798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latin typeface="Playfair Display"/>
                <a:ea typeface="Playfair Display"/>
                <a:cs typeface="Playfair Display"/>
                <a:sym typeface="Playfair Display"/>
              </a:rPr>
              <a:t>Flexbox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8" name="Google Shape;118;p26"/>
          <p:cNvSpPr/>
          <p:nvPr/>
        </p:nvSpPr>
        <p:spPr>
          <a:xfrm>
            <a:off x="6070225" y="2078700"/>
            <a:ext cx="2302800" cy="11223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latin typeface="Playfair Display"/>
                <a:ea typeface="Playfair Display"/>
                <a:cs typeface="Playfair Display"/>
                <a:sym typeface="Playfair Display"/>
              </a:rPr>
              <a:t>Grid</a:t>
            </a:r>
            <a:endParaRPr b="0" i="0" sz="14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</a:pPr>
            <a:r>
              <a:rPr b="1" lang="es-419" sz="5000"/>
              <a:t>Diseño responsivo</a:t>
            </a:r>
            <a:endParaRPr b="1" sz="5000"/>
          </a:p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s-419"/>
              <a:t>Semana 09 - Sesión 09</a:t>
            </a:r>
            <a:endParaRPr/>
          </a:p>
        </p:txBody>
      </p:sp>
      <p:pic>
        <p:nvPicPr>
          <p:cNvPr id="125" name="Google Shape;1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2464" y="3893167"/>
            <a:ext cx="2479073" cy="76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311700" y="1278250"/>
            <a:ext cx="4908900" cy="24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655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Los estudiantes usan </a:t>
            </a:r>
            <a:r>
              <a:rPr b="1" lang="es-419" sz="1700"/>
              <a:t>diferentes</a:t>
            </a:r>
            <a:r>
              <a:rPr lang="es-419" sz="1700"/>
              <a:t> dispositivos para navegar en internet (smartphones, laptops, tablets, pantallas grandes) y notan que algunas páginas se ven bien y otras no.</a:t>
            </a:r>
            <a:endParaRPr sz="1700"/>
          </a:p>
          <a:p>
            <a:pPr indent="-33655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Han experimentado interfaz </a:t>
            </a:r>
            <a:r>
              <a:rPr b="1" lang="es-419" sz="1700"/>
              <a:t>desordenada</a:t>
            </a:r>
            <a:r>
              <a:rPr lang="es-419" sz="1700"/>
              <a:t> o texto fuera de lugar cuando abren sitios desde sus celulares.</a:t>
            </a:r>
            <a:endParaRPr sz="1700"/>
          </a:p>
        </p:txBody>
      </p:sp>
      <p:sp>
        <p:nvSpPr>
          <p:cNvPr id="131" name="Google Shape;131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Conocimientos previos</a:t>
            </a:r>
            <a:endParaRPr/>
          </a:p>
        </p:txBody>
      </p:sp>
      <p:pic>
        <p:nvPicPr>
          <p:cNvPr id="132" name="Google Shape;13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1401" y="860677"/>
            <a:ext cx="2730175" cy="24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Logro de aprendizaje</a:t>
            </a:r>
            <a:endParaRPr/>
          </a:p>
        </p:txBody>
      </p:sp>
      <p:pic>
        <p:nvPicPr>
          <p:cNvPr id="138" name="Google Shape;138;p29" title="134481101-aprendizaje-en-línea-sombrero-de-graduación-libro-educación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3525" y="1513525"/>
            <a:ext cx="2492000" cy="24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9"/>
          <p:cNvSpPr txBox="1"/>
          <p:nvPr>
            <p:ph idx="1" type="body"/>
          </p:nvPr>
        </p:nvSpPr>
        <p:spPr>
          <a:xfrm>
            <a:off x="481250" y="1687925"/>
            <a:ext cx="5061900" cy="2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Al finalizar la sesión, el estudiante: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Comprende el diseño responsivpara adaptar el diseño de una web a distintos tamaños de pantalla.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Utilidad</a:t>
            </a:r>
            <a:endParaRPr/>
          </a:p>
        </p:txBody>
      </p:sp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464100" y="1147225"/>
            <a:ext cx="5193900" cy="21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 sz="1400"/>
              <a:t>¿Para qué sirve esto en la vida real?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Permite que las páginas web se </a:t>
            </a:r>
            <a:r>
              <a:rPr b="1" lang="es-419" sz="1400"/>
              <a:t>adapten automáticamente</a:t>
            </a:r>
            <a:r>
              <a:rPr lang="es-419" sz="1400"/>
              <a:t> a cualquier dispositivo sin perder usabilidad ni estética.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Es un requisito básico en el desarrollo web moderno: los usuarios acceden a sitios desde </a:t>
            </a:r>
            <a:r>
              <a:rPr b="1" lang="es-419" sz="1400"/>
              <a:t>celulares</a:t>
            </a:r>
            <a:r>
              <a:rPr lang="es-419" sz="1400"/>
              <a:t> más que desde computadoras.</a:t>
            </a:r>
            <a:endParaRPr sz="1400"/>
          </a:p>
        </p:txBody>
      </p:sp>
      <p:sp>
        <p:nvSpPr>
          <p:cNvPr id="146" name="Google Shape;146;p30"/>
          <p:cNvSpPr txBox="1"/>
          <p:nvPr>
            <p:ph idx="1" type="body"/>
          </p:nvPr>
        </p:nvSpPr>
        <p:spPr>
          <a:xfrm>
            <a:off x="464100" y="2956700"/>
            <a:ext cx="4501800" cy="16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Favorece el posicionamiento en buscadores y mejora la </a:t>
            </a:r>
            <a:r>
              <a:rPr b="1" lang="es-419" sz="1400"/>
              <a:t>experiencia</a:t>
            </a:r>
            <a:r>
              <a:rPr lang="es-419" sz="1400"/>
              <a:t> del usuario.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Es </a:t>
            </a:r>
            <a:r>
              <a:rPr b="1" lang="es-419" sz="1400"/>
              <a:t>esencial</a:t>
            </a:r>
            <a:r>
              <a:rPr lang="es-419" sz="1400"/>
              <a:t> en proyectos reales como: portales educativos, tiendas virtuales, sistemas de información y aplicaciones web.</a:t>
            </a:r>
            <a:endParaRPr sz="1400"/>
          </a:p>
        </p:txBody>
      </p:sp>
      <p:pic>
        <p:nvPicPr>
          <p:cNvPr id="147" name="Google Shape;14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0112" y="2343153"/>
            <a:ext cx="4113888" cy="248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Contenido</a:t>
            </a:r>
            <a:endParaRPr/>
          </a:p>
        </p:txBody>
      </p:sp>
      <p:sp>
        <p:nvSpPr>
          <p:cNvPr id="153" name="Google Shape;153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Diseño responsivo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Práctica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¿Qué es una Diseño Responsivo?</a:t>
            </a:r>
            <a:endParaRPr/>
          </a:p>
        </p:txBody>
      </p:sp>
      <p:sp>
        <p:nvSpPr>
          <p:cNvPr id="159" name="Google Shape;159;p32"/>
          <p:cNvSpPr txBox="1"/>
          <p:nvPr>
            <p:ph idx="4294967295" type="body"/>
          </p:nvPr>
        </p:nvSpPr>
        <p:spPr>
          <a:xfrm>
            <a:off x="464100" y="1379300"/>
            <a:ext cx="8025300" cy="19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Diseño Web Responsivo </a:t>
            </a:r>
            <a:r>
              <a:rPr b="1" lang="es-419" sz="1400"/>
              <a:t>(Responsive Web Design)</a:t>
            </a:r>
            <a:r>
              <a:rPr lang="es-419" sz="1400"/>
              <a:t> es un concepto de desarrollo web que se centra en hacer que los sitios se vean y se comporten de manera óptima en todos los dispositivos informáticos personales, desde el escritorio hasta el móvil.</a:t>
            </a:r>
            <a:endParaRPr sz="1400"/>
          </a:p>
        </p:txBody>
      </p:sp>
      <p:pic>
        <p:nvPicPr>
          <p:cNvPr id="160" name="Google Shape;160;p32"/>
          <p:cNvPicPr preferRelativeResize="0"/>
          <p:nvPr/>
        </p:nvPicPr>
        <p:blipFill rotWithShape="1">
          <a:blip r:embed="rId3">
            <a:alphaModFix/>
          </a:blip>
          <a:srcRect b="13738" l="0" r="0" t="13614"/>
          <a:stretch/>
        </p:blipFill>
        <p:spPr>
          <a:xfrm>
            <a:off x="1686875" y="2402675"/>
            <a:ext cx="5770249" cy="245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Importancia del diseño responsivo</a:t>
            </a:r>
            <a:endParaRPr/>
          </a:p>
        </p:txBody>
      </p:sp>
      <p:sp>
        <p:nvSpPr>
          <p:cNvPr id="166" name="Google Shape;166;p33"/>
          <p:cNvSpPr txBox="1"/>
          <p:nvPr>
            <p:ph idx="4294967295" type="body"/>
          </p:nvPr>
        </p:nvSpPr>
        <p:spPr>
          <a:xfrm>
            <a:off x="464100" y="1379300"/>
            <a:ext cx="3862800" cy="26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Adaptabilidad multiplataforma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Mejora la experiencia del usuario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Mayor alcance y accesibilidad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Ocupar un lugar más alto en los resultados de búsqueda</a:t>
            </a:r>
            <a:endParaRPr sz="1400"/>
          </a:p>
        </p:txBody>
      </p:sp>
      <p:pic>
        <p:nvPicPr>
          <p:cNvPr id="167" name="Google Shape;16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6848" y="1753075"/>
            <a:ext cx="4162551" cy="251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Diseño responsivo</a:t>
            </a:r>
            <a:endParaRPr/>
          </a:p>
        </p:txBody>
      </p:sp>
      <p:sp>
        <p:nvSpPr>
          <p:cNvPr id="173" name="Google Shape;173;p34"/>
          <p:cNvSpPr txBox="1"/>
          <p:nvPr>
            <p:ph idx="4294967295" type="body"/>
          </p:nvPr>
        </p:nvSpPr>
        <p:spPr>
          <a:xfrm>
            <a:off x="464100" y="1379300"/>
            <a:ext cx="7776300" cy="30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Permite que el contenido llene el contenedor y defina restricciones mínimas y máximas.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Se recomienda usar </a:t>
            </a:r>
            <a:r>
              <a:rPr b="1" lang="es-419" sz="1400"/>
              <a:t>unidades relativas</a:t>
            </a:r>
            <a:r>
              <a:rPr lang="es-419" sz="1400"/>
              <a:t> para especificar la posición y el tamaño del texto y los elementos multimedia.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-419" sz="1400"/>
              <a:t>Técnicas:</a:t>
            </a:r>
            <a:endParaRPr b="1" sz="1400"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Media Queries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Grid layout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Flexbox</a:t>
            </a:r>
            <a:endParaRPr/>
          </a:p>
        </p:txBody>
      </p:sp>
      <p:pic>
        <p:nvPicPr>
          <p:cNvPr id="174" name="Google Shape;1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7775" y="2863125"/>
            <a:ext cx="3902627" cy="20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Media Queries</a:t>
            </a:r>
            <a:endParaRPr/>
          </a:p>
        </p:txBody>
      </p:sp>
      <p:sp>
        <p:nvSpPr>
          <p:cNvPr id="180" name="Google Shape;180;p35"/>
          <p:cNvSpPr txBox="1"/>
          <p:nvPr>
            <p:ph idx="4294967295" type="body"/>
          </p:nvPr>
        </p:nvSpPr>
        <p:spPr>
          <a:xfrm>
            <a:off x="464100" y="1379300"/>
            <a:ext cx="7776300" cy="30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Permiten aplicar estilos basados ​​en las características de un dispositivo.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Media Queries son esenciales para crear páginas web responsivas.</a:t>
            </a:r>
            <a:endParaRPr sz="1400"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Utilizaremos la regla </a:t>
            </a:r>
            <a:r>
              <a:rPr b="1" lang="es-419" sz="1400"/>
              <a:t>@media</a:t>
            </a:r>
            <a:r>
              <a:rPr lang="es-419" sz="1400"/>
              <a:t> para agregar condiciones a nuestra hoja de estilo.</a:t>
            </a:r>
            <a:endParaRPr sz="1400"/>
          </a:p>
        </p:txBody>
      </p:sp>
      <p:pic>
        <p:nvPicPr>
          <p:cNvPr id="181" name="Google Shape;18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250" y="2533402"/>
            <a:ext cx="7693502" cy="17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Ejemplos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678200" y="1188375"/>
            <a:ext cx="3544200" cy="728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200">
                <a:solidFill>
                  <a:srgbClr val="0000C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1200">
                <a:solidFill>
                  <a:srgbClr val="A0101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"caja"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&gt;Hola Mundo&lt;/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29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5064550" y="1216950"/>
            <a:ext cx="3544200" cy="270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.caja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1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1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300px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1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1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300px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1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s-419" sz="1129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blue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129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@media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-419" sz="11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max-width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1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600px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1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.caja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11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s-419" sz="1129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red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89" name="Google Shape;18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192" y="2180125"/>
            <a:ext cx="1616825" cy="1632331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pic>
      <p:pic>
        <p:nvPicPr>
          <p:cNvPr id="190" name="Google Shape;19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3250" y="2180127"/>
            <a:ext cx="1616825" cy="16116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pic>
      <p:sp>
        <p:nvSpPr>
          <p:cNvPr id="191" name="Google Shape;191;p36"/>
          <p:cNvSpPr/>
          <p:nvPr/>
        </p:nvSpPr>
        <p:spPr>
          <a:xfrm>
            <a:off x="2579575" y="2764425"/>
            <a:ext cx="460800" cy="37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Ejemplos</a:t>
            </a:r>
            <a:endParaRPr/>
          </a:p>
        </p:txBody>
      </p:sp>
      <p:sp>
        <p:nvSpPr>
          <p:cNvPr id="197" name="Google Shape;197;p37"/>
          <p:cNvSpPr/>
          <p:nvPr/>
        </p:nvSpPr>
        <p:spPr>
          <a:xfrm>
            <a:off x="678200" y="1188375"/>
            <a:ext cx="3544200" cy="1493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200">
                <a:solidFill>
                  <a:srgbClr val="0000C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1200">
                <a:solidFill>
                  <a:srgbClr val="A0101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"container"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&lt;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200">
                <a:solidFill>
                  <a:srgbClr val="0000C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1200">
                <a:solidFill>
                  <a:srgbClr val="A0101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"box"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&gt;1&lt;/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&lt;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200">
                <a:solidFill>
                  <a:srgbClr val="0000C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1200">
                <a:solidFill>
                  <a:srgbClr val="A0101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"box"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&gt;2&lt;/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&lt;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200">
                <a:solidFill>
                  <a:srgbClr val="0000C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1200">
                <a:solidFill>
                  <a:srgbClr val="A0101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"box"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&gt;3&lt;/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8" name="Google Shape;198;p37"/>
          <p:cNvSpPr/>
          <p:nvPr/>
        </p:nvSpPr>
        <p:spPr>
          <a:xfrm>
            <a:off x="5064550" y="824450"/>
            <a:ext cx="3544200" cy="3798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.container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1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129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flex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1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gap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1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20px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.box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1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1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200px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1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1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200px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1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s-419" sz="1129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lightblue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1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font-weight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129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bold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1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129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large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1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line-height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1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200px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1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text-align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129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@media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-419" sz="11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max-width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1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700px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.container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11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flex-direction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129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column</a:t>
            </a: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1129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29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99" name="Google Shape;19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450" y="2920500"/>
            <a:ext cx="4328424" cy="1436229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Ejemplos</a:t>
            </a:r>
            <a:endParaRPr/>
          </a:p>
        </p:txBody>
      </p:sp>
      <p:sp>
        <p:nvSpPr>
          <p:cNvPr id="205" name="Google Shape;205;p38"/>
          <p:cNvSpPr/>
          <p:nvPr/>
        </p:nvSpPr>
        <p:spPr>
          <a:xfrm>
            <a:off x="311700" y="1188375"/>
            <a:ext cx="4040100" cy="290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200">
                <a:solidFill>
                  <a:srgbClr val="0000C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1200">
                <a:solidFill>
                  <a:srgbClr val="A0101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"container"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&lt;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200">
                <a:solidFill>
                  <a:srgbClr val="0000C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1200">
                <a:solidFill>
                  <a:srgbClr val="A0101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"header"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&gt;HEADER&lt;/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&lt;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200">
                <a:solidFill>
                  <a:srgbClr val="0000C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1200">
                <a:solidFill>
                  <a:srgbClr val="A0101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"menu"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&gt;MENU&lt;/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&lt;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200">
                <a:solidFill>
                  <a:srgbClr val="0000C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1200">
                <a:solidFill>
                  <a:srgbClr val="A0101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"content"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&gt;CONTENT&lt;/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&lt;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200">
                <a:solidFill>
                  <a:srgbClr val="0000C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1200">
                <a:solidFill>
                  <a:srgbClr val="A0101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"extra"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&gt;EXTRA&lt;/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&lt;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200">
                <a:solidFill>
                  <a:srgbClr val="0000C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-419" sz="1200">
                <a:solidFill>
                  <a:srgbClr val="A0101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"footer"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&gt;FOOTER&lt;/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lang="es-419" sz="12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2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4534000" y="315925"/>
            <a:ext cx="4445400" cy="4407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.container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9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929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grid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9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gap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9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10px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9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9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9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padding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9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10px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9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grid-template-columns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9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1fr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2fr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9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1fr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9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grid-template-rows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9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1fr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9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3fr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9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1fr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9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grid-template-areas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929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"header header header"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929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"menu content extra"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929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"footer footer footer"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.header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9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grid-area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929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header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9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s-419" sz="929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crimson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-419" sz="9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.menu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9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grid-area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929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menu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9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s-419" sz="929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royalblue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-419" sz="9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.content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9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grid-area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929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content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9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s-419" sz="929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seagreen</a:t>
            </a: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929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29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Ejemplos</a:t>
            </a:r>
            <a:endParaRPr/>
          </a:p>
        </p:txBody>
      </p:sp>
      <p:sp>
        <p:nvSpPr>
          <p:cNvPr id="212" name="Google Shape;212;p39"/>
          <p:cNvSpPr/>
          <p:nvPr/>
        </p:nvSpPr>
        <p:spPr>
          <a:xfrm>
            <a:off x="311700" y="1188375"/>
            <a:ext cx="4040100" cy="3821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solidFill>
                  <a:srgbClr val="50505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.extra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000">
                <a:solidFill>
                  <a:srgbClr val="572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grid-area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000">
                <a:solidFill>
                  <a:srgbClr val="1AB1CD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extra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000">
                <a:solidFill>
                  <a:srgbClr val="572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s-419" sz="1000">
                <a:solidFill>
                  <a:srgbClr val="70008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orange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-419" sz="1000">
                <a:solidFill>
                  <a:srgbClr val="50505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.footer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000">
                <a:solidFill>
                  <a:srgbClr val="572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grid-area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000">
                <a:solidFill>
                  <a:srgbClr val="1AB1CD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footer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000">
                <a:solidFill>
                  <a:srgbClr val="572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background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s-419" sz="1000">
                <a:solidFill>
                  <a:srgbClr val="70008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gray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-419" sz="1000">
                <a:solidFill>
                  <a:srgbClr val="50505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.container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1000">
                <a:solidFill>
                  <a:srgbClr val="107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000">
                <a:solidFill>
                  <a:srgbClr val="572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s-419" sz="1000">
                <a:solidFill>
                  <a:srgbClr val="70008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white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000">
                <a:solidFill>
                  <a:srgbClr val="572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000">
                <a:solidFill>
                  <a:srgbClr val="10604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30px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000">
                <a:solidFill>
                  <a:srgbClr val="572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000">
                <a:solidFill>
                  <a:srgbClr val="20109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flex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000">
                <a:solidFill>
                  <a:srgbClr val="572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justify-content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000">
                <a:solidFill>
                  <a:srgbClr val="20109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000">
                <a:solidFill>
                  <a:srgbClr val="572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align-items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000">
                <a:solidFill>
                  <a:srgbClr val="20109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1000">
                <a:solidFill>
                  <a:srgbClr val="57200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border-radius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1000">
                <a:solidFill>
                  <a:srgbClr val="106040"/>
                </a:solidFill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10px</a:t>
            </a: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highlight>
                  <a:srgbClr val="F5F5F5"/>
                </a:highlight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000">
              <a:highlight>
                <a:srgbClr val="F5F5F5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3" name="Google Shape;213;p39"/>
          <p:cNvSpPr/>
          <p:nvPr/>
        </p:nvSpPr>
        <p:spPr>
          <a:xfrm>
            <a:off x="4534000" y="200725"/>
            <a:ext cx="4445400" cy="4746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05425" lIns="105425" spcFirstLastPara="1" rIns="105425" wrap="square" tIns="105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i="1" lang="es-419" sz="829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/* Tablet */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-419" sz="829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@media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-419" sz="8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max-width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8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900px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8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.container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8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grid-template-columns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8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1fr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8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2fr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8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grid-template-rows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100px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1fr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100px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100px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8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grid-template-areas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"header header"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"menu content"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"extra extra"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"footer footer"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-419" sz="829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/* Móvil */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-419" sz="829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@media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-419" sz="8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max-width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8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600px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s-419" sz="829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.container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8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grid-template-columns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-419" sz="8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1fr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8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grid-template-rows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80px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80px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1fr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80px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80px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t/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-419" sz="829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grid-template-areas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"header"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"menu"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"content"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"extra"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es-419" sz="829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"footer"</a:t>
            </a: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  }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lang="es-419" sz="829"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829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250" y="366425"/>
            <a:ext cx="7700803" cy="441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174" y="331575"/>
            <a:ext cx="4502026" cy="448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9949" y="315925"/>
            <a:ext cx="2183175" cy="4696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Preguntas</a:t>
            </a:r>
            <a:endParaRPr/>
          </a:p>
        </p:txBody>
      </p:sp>
      <p:pic>
        <p:nvPicPr>
          <p:cNvPr id="234" name="Google Shape;23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6263" y="1147225"/>
            <a:ext cx="3691474" cy="36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>
            <p:ph idx="1" type="body"/>
          </p:nvPr>
        </p:nvSpPr>
        <p:spPr>
          <a:xfrm>
            <a:off x="311700" y="1225225"/>
            <a:ext cx="8520600" cy="3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s-419"/>
              <a:t>Avanzar con la integración de Responsive en su proyecto.</a:t>
            </a:r>
            <a:endParaRPr/>
          </a:p>
        </p:txBody>
      </p:sp>
      <p:sp>
        <p:nvSpPr>
          <p:cNvPr id="240" name="Google Shape;240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Práctica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Resumen de la sesión</a:t>
            </a:r>
            <a:endParaRPr/>
          </a:p>
        </p:txBody>
      </p:sp>
      <p:sp>
        <p:nvSpPr>
          <p:cNvPr id="246" name="Google Shape;246;p44"/>
          <p:cNvSpPr txBox="1"/>
          <p:nvPr/>
        </p:nvSpPr>
        <p:spPr>
          <a:xfrm>
            <a:off x="2715150" y="1790100"/>
            <a:ext cx="37137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¿Qué hemos aprendido hoy?</a:t>
            </a:r>
            <a:endParaRPr b="1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44"/>
          <p:cNvSpPr txBox="1"/>
          <p:nvPr/>
        </p:nvSpPr>
        <p:spPr>
          <a:xfrm>
            <a:off x="1696200" y="2246675"/>
            <a:ext cx="5751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Diseño responsivo</a:t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¡Gracias!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 txBox="1"/>
          <p:nvPr>
            <p:ph type="ctrTitle"/>
          </p:nvPr>
        </p:nvSpPr>
        <p:spPr>
          <a:xfrm>
            <a:off x="2841725" y="864625"/>
            <a:ext cx="34482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5020"/>
              <a:t>TALLER DE PROGRAMACIÓN WEB</a:t>
            </a:r>
            <a:endParaRPr sz="5020"/>
          </a:p>
        </p:txBody>
      </p:sp>
      <p:sp>
        <p:nvSpPr>
          <p:cNvPr id="258" name="Google Shape;258;p46"/>
          <p:cNvSpPr txBox="1"/>
          <p:nvPr>
            <p:ph idx="1" type="subTitle"/>
          </p:nvPr>
        </p:nvSpPr>
        <p:spPr>
          <a:xfrm>
            <a:off x="3044700" y="2964199"/>
            <a:ext cx="30546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s-419" sz="2300"/>
              <a:t>M.Sc. Jesamin Zevallos Quispe</a:t>
            </a:r>
            <a:endParaRPr sz="2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s-419" sz="1575" u="sng">
                <a:solidFill>
                  <a:srgbClr val="3D85C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c29741@utp.edu.pe</a:t>
            </a:r>
            <a:endParaRPr sz="1575">
              <a:solidFill>
                <a:srgbClr val="3D85C6"/>
              </a:solidFill>
            </a:endParaRPr>
          </a:p>
        </p:txBody>
      </p:sp>
      <p:pic>
        <p:nvPicPr>
          <p:cNvPr id="259" name="Google Shape;25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5587" y="3598150"/>
            <a:ext cx="2692823" cy="82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