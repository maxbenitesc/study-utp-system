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</p:sldIdLst>
  <p:sldSz cy="6858000" cx="12192000"/>
  <p:notesSz cx="12192000" cy="6858000"/>
  <p:embeddedFontLst>
    <p:embeddedFont>
      <p:font typeface="Rubik"/>
      <p:regular r:id="rId44"/>
      <p:bold r:id="rId45"/>
      <p:italic r:id="rId46"/>
      <p:boldItalic r:id="rId47"/>
    </p:embeddedFont>
    <p:embeddedFont>
      <p:font typeface="Open Sans"/>
      <p:regular r:id="rId48"/>
      <p:bold r:id="rId49"/>
      <p:italic r:id="rId50"/>
      <p:boldItalic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208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52" roundtripDataSignature="AMtx7miXEV7i8hyIfegITqCepBOAnKoxL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208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font" Target="fonts/Rubik-regular.fntdata"/><Relationship Id="rId43" Type="http://schemas.openxmlformats.org/officeDocument/2006/relationships/slide" Target="slides/slide38.xml"/><Relationship Id="rId46" Type="http://schemas.openxmlformats.org/officeDocument/2006/relationships/font" Target="fonts/Rubik-italic.fntdata"/><Relationship Id="rId45" Type="http://schemas.openxmlformats.org/officeDocument/2006/relationships/font" Target="fonts/Rubik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OpenSans-regular.fntdata"/><Relationship Id="rId47" Type="http://schemas.openxmlformats.org/officeDocument/2006/relationships/font" Target="fonts/Rubik-boldItalic.fntdata"/><Relationship Id="rId49" Type="http://schemas.openxmlformats.org/officeDocument/2006/relationships/font" Target="fonts/Open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OpenSans-boldItalic.fntdata"/><Relationship Id="rId50" Type="http://schemas.openxmlformats.org/officeDocument/2006/relationships/font" Target="fonts/OpenSans-italic.fntdata"/><Relationship Id="rId52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6905625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1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4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7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7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8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8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9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9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0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0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1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1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2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2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3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4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4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5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5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6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6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7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7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8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8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9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9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0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0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1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1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2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2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3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3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4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4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5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5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6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6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7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7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8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8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9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9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0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30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1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31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2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32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3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33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4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34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5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35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6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36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7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37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8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38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0"/>
          <p:cNvSpPr txBox="1"/>
          <p:nvPr>
            <p:ph type="title"/>
          </p:nvPr>
        </p:nvSpPr>
        <p:spPr>
          <a:xfrm>
            <a:off x="916939" y="609676"/>
            <a:ext cx="10358120" cy="697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0"/>
          <p:cNvSpPr txBox="1"/>
          <p:nvPr>
            <p:ph idx="1" type="body"/>
          </p:nvPr>
        </p:nvSpPr>
        <p:spPr>
          <a:xfrm>
            <a:off x="916939" y="1793493"/>
            <a:ext cx="10358120" cy="1858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0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0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0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 b="0" i="0" sz="18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1"/>
          <p:cNvSpPr txBox="1"/>
          <p:nvPr>
            <p:ph type="ctrTitle"/>
          </p:nvPr>
        </p:nvSpPr>
        <p:spPr>
          <a:xfrm>
            <a:off x="1734820" y="1015746"/>
            <a:ext cx="8722359" cy="1763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1"/>
          <p:cNvSpPr txBox="1"/>
          <p:nvPr>
            <p:ph idx="1" type="subTitle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1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1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1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 b="0" i="0" sz="18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2"/>
          <p:cNvSpPr txBox="1"/>
          <p:nvPr>
            <p:ph type="title"/>
          </p:nvPr>
        </p:nvSpPr>
        <p:spPr>
          <a:xfrm>
            <a:off x="916939" y="609676"/>
            <a:ext cx="10358120" cy="697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2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2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2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3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3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3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4"/>
          <p:cNvSpPr txBox="1"/>
          <p:nvPr>
            <p:ph type="title"/>
          </p:nvPr>
        </p:nvSpPr>
        <p:spPr>
          <a:xfrm>
            <a:off x="916939" y="609676"/>
            <a:ext cx="10358120" cy="697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4"/>
          <p:cNvSpPr txBox="1"/>
          <p:nvPr>
            <p:ph idx="1" type="body"/>
          </p:nvPr>
        </p:nvSpPr>
        <p:spPr>
          <a:xfrm>
            <a:off x="916939" y="1784350"/>
            <a:ext cx="4892675" cy="4026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4"/>
          <p:cNvSpPr txBox="1"/>
          <p:nvPr>
            <p:ph idx="2" type="body"/>
          </p:nvPr>
        </p:nvSpPr>
        <p:spPr>
          <a:xfrm>
            <a:off x="7660005" y="1784350"/>
            <a:ext cx="3527425" cy="4026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44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44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4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9"/>
          <p:cNvSpPr txBox="1"/>
          <p:nvPr>
            <p:ph type="title"/>
          </p:nvPr>
        </p:nvSpPr>
        <p:spPr>
          <a:xfrm>
            <a:off x="916939" y="609676"/>
            <a:ext cx="10358120" cy="697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39"/>
          <p:cNvSpPr txBox="1"/>
          <p:nvPr>
            <p:ph idx="1" type="body"/>
          </p:nvPr>
        </p:nvSpPr>
        <p:spPr>
          <a:xfrm>
            <a:off x="916939" y="1793493"/>
            <a:ext cx="10358120" cy="1858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9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9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9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youtube.com/watch?v=Atpj2UsF65M" TargetMode="External"/><Relationship Id="rId4" Type="http://schemas.openxmlformats.org/officeDocument/2006/relationships/image" Target="../media/image2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Relationship Id="rId4" Type="http://schemas.openxmlformats.org/officeDocument/2006/relationships/image" Target="../media/image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db-engines.com/en/ranking_trend" TargetMode="External"/><Relationship Id="rId4" Type="http://schemas.openxmlformats.org/officeDocument/2006/relationships/image" Target="../media/image17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1.png"/><Relationship Id="rId4" Type="http://schemas.openxmlformats.org/officeDocument/2006/relationships/image" Target="../media/image25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4.png"/><Relationship Id="rId4" Type="http://schemas.openxmlformats.org/officeDocument/2006/relationships/hyperlink" Target="https://www.youtube.com/watch?v=n8uXBimHKwk" TargetMode="External"/><Relationship Id="rId5" Type="http://schemas.openxmlformats.org/officeDocument/2006/relationships/hyperlink" Target="https://www.youtube.com/watch?v=pyzY2JSnPvQ" TargetMode="External"/><Relationship Id="rId6" Type="http://schemas.openxmlformats.org/officeDocument/2006/relationships/hyperlink" Target="https://www.youtube.com/watch?v=i8Yj8eie_zA" TargetMode="External"/><Relationship Id="rId7" Type="http://schemas.openxmlformats.org/officeDocument/2006/relationships/hyperlink" Target="https://kinsta.com/es/blog/postgresql-vs-mysql/" TargetMode="Externa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4.png"/><Relationship Id="rId4" Type="http://schemas.openxmlformats.org/officeDocument/2006/relationships/image" Target="../media/image30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arteles de normas de clase para imprimir" id="47" name="Google Shape;47;p1"/>
          <p:cNvPicPr preferRelativeResize="0"/>
          <p:nvPr/>
        </p:nvPicPr>
        <p:blipFill rotWithShape="1">
          <a:blip r:embed="rId3">
            <a:alphaModFix/>
          </a:blip>
          <a:srcRect b="15416" l="10056" r="9222" t="6806"/>
          <a:stretch/>
        </p:blipFill>
        <p:spPr>
          <a:xfrm>
            <a:off x="2400300" y="990600"/>
            <a:ext cx="7391400" cy="533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"/>
          <p:cNvSpPr txBox="1"/>
          <p:nvPr>
            <p:ph type="ctrTitle"/>
          </p:nvPr>
        </p:nvSpPr>
        <p:spPr>
          <a:xfrm>
            <a:off x="900112" y="1838144"/>
            <a:ext cx="10363199" cy="9050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6200">
            <a:spAutoFit/>
          </a:bodyPr>
          <a:lstStyle/>
          <a:p>
            <a:pPr indent="-3253104" lvl="0" marL="3268979" marR="5080" rtl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800">
                <a:latin typeface="Arial"/>
                <a:ea typeface="Arial"/>
                <a:cs typeface="Arial"/>
                <a:sym typeface="Arial"/>
              </a:rPr>
              <a:t>CURSO: BASE DE DATOS II</a:t>
            </a:r>
            <a:endParaRPr sz="4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"/>
          <p:cNvSpPr txBox="1"/>
          <p:nvPr/>
        </p:nvSpPr>
        <p:spPr>
          <a:xfrm>
            <a:off x="2767012" y="1644495"/>
            <a:ext cx="66294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800" u="none" cap="none" strike="noStrike">
                <a:solidFill>
                  <a:srgbClr val="D1052D"/>
                </a:solidFill>
                <a:latin typeface="Calibri"/>
                <a:ea typeface="Calibri"/>
                <a:cs typeface="Calibri"/>
                <a:sym typeface="Calibri"/>
              </a:rPr>
              <a:t>PRIMERA UNIDAD DE APRENDIZAJE 1: </a:t>
            </a:r>
            <a: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Bases de Datos Relacionales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 txBox="1"/>
          <p:nvPr/>
        </p:nvSpPr>
        <p:spPr>
          <a:xfrm>
            <a:off x="900111" y="2739827"/>
            <a:ext cx="10363199" cy="2975173"/>
          </a:xfrm>
          <a:prstGeom prst="rect">
            <a:avLst/>
          </a:prstGeom>
          <a:solidFill>
            <a:srgbClr val="D1052D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SESIONES N° 11 Y 12: SEMANA 6</a:t>
            </a:r>
            <a:endParaRPr b="1" i="0" sz="3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i="0" lang="es-E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Oracle vs SQL Server: </a:t>
            </a:r>
            <a:endParaRPr/>
          </a:p>
          <a:p>
            <a:pPr indent="-457200" lvl="0" marL="46990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Char char="-"/>
            </a:pPr>
            <a:r>
              <a:rPr b="0" i="0" lang="es-ES" sz="3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Sintaxis de consultas y funciones distintas a las del SQL de Microsoft.</a:t>
            </a:r>
            <a:endParaRPr/>
          </a:p>
          <a:p>
            <a:pPr indent="-457200" lvl="0" marL="46990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Char char="-"/>
            </a:pPr>
            <a:r>
              <a:rPr b="0" i="0" lang="es-ES" sz="3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Procedimientos Almacenados.</a:t>
            </a:r>
            <a:endParaRPr/>
          </a:p>
          <a:p>
            <a:pPr indent="-457200" lvl="0" marL="46990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Char char="-"/>
            </a:pPr>
            <a:r>
              <a:rPr b="0" i="0" lang="es-ES" sz="3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Administración de usuarios, seguridad y backup.</a:t>
            </a:r>
            <a:endParaRPr/>
          </a:p>
        </p:txBody>
      </p:sp>
      <p:sp>
        <p:nvSpPr>
          <p:cNvPr id="55" name="Google Shape;55;p2"/>
          <p:cNvSpPr txBox="1"/>
          <p:nvPr/>
        </p:nvSpPr>
        <p:spPr>
          <a:xfrm>
            <a:off x="3048000" y="5715000"/>
            <a:ext cx="6096000" cy="6591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800" u="none" cap="none" strike="noStrike">
                <a:solidFill>
                  <a:srgbClr val="D1052D"/>
                </a:solidFill>
                <a:latin typeface="Arial"/>
                <a:ea typeface="Arial"/>
                <a:cs typeface="Arial"/>
                <a:sym typeface="Arial"/>
              </a:rPr>
              <a:t>DOCENTES DE UTP</a:t>
            </a:r>
            <a:endParaRPr/>
          </a:p>
          <a:p>
            <a:pPr indent="0" lvl="0" marL="12700" marR="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i="0" lang="es-ES" sz="1800" u="none" cap="none" strike="noStrike">
                <a:solidFill>
                  <a:srgbClr val="D1052D"/>
                </a:solidFill>
                <a:latin typeface="Arial"/>
                <a:ea typeface="Arial"/>
                <a:cs typeface="Arial"/>
                <a:sym typeface="Arial"/>
              </a:rPr>
              <a:t>SISTEMAS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" name="Google Shape;56;p2"/>
          <p:cNvGrpSpPr/>
          <p:nvPr/>
        </p:nvGrpSpPr>
        <p:grpSpPr>
          <a:xfrm>
            <a:off x="3681788" y="152400"/>
            <a:ext cx="8281612" cy="1295400"/>
            <a:chOff x="3681788" y="152400"/>
            <a:chExt cx="8281612" cy="1295400"/>
          </a:xfrm>
        </p:grpSpPr>
        <p:pic>
          <p:nvPicPr>
            <p:cNvPr id="57" name="Google Shape;57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681788" y="370720"/>
              <a:ext cx="4828423" cy="10770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" name="Google Shape;58;p2"/>
            <p:cNvSpPr/>
            <p:nvPr/>
          </p:nvSpPr>
          <p:spPr>
            <a:xfrm>
              <a:off x="9144000" y="152400"/>
              <a:ext cx="2819400" cy="76272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"/>
          <p:cNvSpPr/>
          <p:nvPr/>
        </p:nvSpPr>
        <p:spPr>
          <a:xfrm>
            <a:off x="0" y="304801"/>
            <a:ext cx="5659755" cy="561824"/>
          </a:xfrm>
          <a:custGeom>
            <a:rect b="b" l="l" r="r" t="t"/>
            <a:pathLst>
              <a:path extrusionOk="0" h="415290" w="5659755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Motivación para el aprendizaje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" name="Google Shape;6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23651" y="313451"/>
            <a:ext cx="524749" cy="524749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3"/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65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3"/>
          <p:cNvSpPr txBox="1"/>
          <p:nvPr/>
        </p:nvSpPr>
        <p:spPr>
          <a:xfrm>
            <a:off x="2590800" y="2981235"/>
            <a:ext cx="701040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 que debemos tener en cuenta</a:t>
            </a: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" name="Google Shape;6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53600" y="6184229"/>
            <a:ext cx="445171" cy="44517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3"/>
          <p:cNvSpPr txBox="1"/>
          <p:nvPr/>
        </p:nvSpPr>
        <p:spPr>
          <a:xfrm>
            <a:off x="10198771" y="6222148"/>
            <a:ext cx="176462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minutos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"/>
          <p:cNvSpPr txBox="1"/>
          <p:nvPr/>
        </p:nvSpPr>
        <p:spPr>
          <a:xfrm>
            <a:off x="3049191" y="5486400"/>
            <a:ext cx="609361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https://www.youtube.com/watch?v=Atpj2UsF65M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" name="Google Shape;7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80837" y="1143000"/>
            <a:ext cx="6630325" cy="41344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"/>
          <p:cNvSpPr/>
          <p:nvPr/>
        </p:nvSpPr>
        <p:spPr>
          <a:xfrm>
            <a:off x="0" y="304801"/>
            <a:ext cx="5659755" cy="561824"/>
          </a:xfrm>
          <a:custGeom>
            <a:rect b="b" l="l" r="r" t="t"/>
            <a:pathLst>
              <a:path extrusionOk="0" h="415290" w="5659755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Recordando los aprendizajes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2" name="Google Shape;8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23651" y="313451"/>
            <a:ext cx="524749" cy="524749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5"/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65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5"/>
          <p:cNvSpPr txBox="1"/>
          <p:nvPr/>
        </p:nvSpPr>
        <p:spPr>
          <a:xfrm>
            <a:off x="2590800" y="2981235"/>
            <a:ext cx="701040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¿Qué vimos en la sesión anterior?</a:t>
            </a: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"/>
          <p:cNvSpPr/>
          <p:nvPr/>
        </p:nvSpPr>
        <p:spPr>
          <a:xfrm>
            <a:off x="0" y="304801"/>
            <a:ext cx="5659755" cy="561824"/>
          </a:xfrm>
          <a:custGeom>
            <a:rect b="b" l="l" r="r" t="t"/>
            <a:pathLst>
              <a:path extrusionOk="0" h="415290" w="5659755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Recordando los aprendizajes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" name="Google Shape;9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23651" y="313451"/>
            <a:ext cx="524749" cy="524749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6"/>
          <p:cNvSpPr txBox="1"/>
          <p:nvPr/>
        </p:nvSpPr>
        <p:spPr>
          <a:xfrm>
            <a:off x="723900" y="1066800"/>
            <a:ext cx="11049000" cy="24929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Mapas conceptuales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Descripción:</a:t>
            </a: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realizar mapa conceptual sobre el tema tratado anteriormente.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Oracle: 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Estructura de funcionamiento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Creación de Bases de Datos y Tablas</a:t>
            </a:r>
            <a:endParaRPr/>
          </a:p>
        </p:txBody>
      </p:sp>
      <p:pic>
        <p:nvPicPr>
          <p:cNvPr descr="Mapa mental | Conoce todo sobre ellos y di adiós al caos en tu mente" id="93" name="Google Shape;9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23873" y="2971800"/>
            <a:ext cx="6344227" cy="299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7"/>
          <p:cNvSpPr/>
          <p:nvPr/>
        </p:nvSpPr>
        <p:spPr>
          <a:xfrm>
            <a:off x="0" y="304801"/>
            <a:ext cx="5659755" cy="561824"/>
          </a:xfrm>
          <a:custGeom>
            <a:rect b="b" l="l" r="r" t="t"/>
            <a:pathLst>
              <a:path extrusionOk="0" h="415290" w="5659755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Logro de la sesión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7"/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65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7"/>
          <p:cNvSpPr txBox="1"/>
          <p:nvPr/>
        </p:nvSpPr>
        <p:spPr>
          <a:xfrm>
            <a:off x="2552700" y="2644170"/>
            <a:ext cx="7086600" cy="20621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 finalizar la unidad el alumno comprende los fundamentos y uso de otras bases de datos relacionales y los aplica a la realidad.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" name="Google Shape;10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83622" y="292547"/>
            <a:ext cx="559075" cy="5590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8"/>
          <p:cNvSpPr/>
          <p:nvPr/>
        </p:nvSpPr>
        <p:spPr>
          <a:xfrm>
            <a:off x="0" y="304801"/>
            <a:ext cx="5659755" cy="561824"/>
          </a:xfrm>
          <a:custGeom>
            <a:rect b="b" l="l" r="r" t="t"/>
            <a:pathLst>
              <a:path extrusionOk="0" h="415290" w="5659755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8"/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Importancia de la sesión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8"/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65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7875" y="304800"/>
            <a:ext cx="506725" cy="561823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8"/>
          <p:cNvSpPr txBox="1"/>
          <p:nvPr/>
        </p:nvSpPr>
        <p:spPr>
          <a:xfrm>
            <a:off x="959168" y="1295400"/>
            <a:ext cx="10224137" cy="501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Oracle vs SQL Server: Sintaxis de Consultas y Funciones: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Entender las diferencias en la sintaxis y funciones entre Oracle y SQL Server es crucial para escribir consultas eficientes y adecuadas en cada sistema. Oracle y SQL Server tienen diferencias en sus dialectos SQL, lo que afecta cómo se construyen y optimizan las consultas.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Procedimientos Almacenados: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procedimientos almacenados permiten encapsular la lógica de negocio en la base de datos, facilitando su reutilización y mejorando el rendimiento. Comparar cómo se crean y gestionan en Oracle y SQL Server ayuda a elegir la mejor práctica para cada entorno.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Administración de Usuarios, Seguridad y Backup: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administración de usuarios y la seguridad son fundamentales para proteger los datos y controlar el acceso en ambos sistemas. Además, las estrategias de backup garantizan la integridad y disponibilidad de los datos. Conocer las herramientas y métodos específicos de Oracle y SQL Server para estos aspectos permite una gestión más efectiva y segura de las bases de datos.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9"/>
          <p:cNvSpPr txBox="1"/>
          <p:nvPr/>
        </p:nvSpPr>
        <p:spPr>
          <a:xfrm>
            <a:off x="990600" y="2890391"/>
            <a:ext cx="10058400" cy="2654573"/>
          </a:xfrm>
          <a:prstGeom prst="rect">
            <a:avLst/>
          </a:prstGeom>
          <a:solidFill>
            <a:srgbClr val="D1052D"/>
          </a:solidFill>
          <a:ln cap="flat" cmpd="sng" w="9525">
            <a:solidFill>
              <a:srgbClr val="7C5F9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Oracle vs SQL Server: </a:t>
            </a:r>
            <a:endParaRPr/>
          </a:p>
          <a:p>
            <a:pPr indent="-457200" lvl="0" marL="46990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-"/>
            </a:pPr>
            <a:r>
              <a:rPr lang="es-ES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Sintaxis de consultas y funciones distintas a las del SQL de Microsoft.</a:t>
            </a:r>
            <a:endParaRPr/>
          </a:p>
          <a:p>
            <a:pPr indent="-457200" lvl="0" marL="46990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-"/>
            </a:pPr>
            <a:r>
              <a:rPr lang="es-ES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Procedimientos Almacenados.</a:t>
            </a:r>
            <a:endParaRPr/>
          </a:p>
          <a:p>
            <a:pPr indent="-457200" lvl="0" marL="46990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-"/>
            </a:pPr>
            <a:r>
              <a:rPr lang="es-ES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Administración de usuarios, seguridad y backup.</a:t>
            </a:r>
            <a:endParaRPr/>
          </a:p>
        </p:txBody>
      </p:sp>
      <p:sp>
        <p:nvSpPr>
          <p:cNvPr id="117" name="Google Shape;117;p9"/>
          <p:cNvSpPr txBox="1"/>
          <p:nvPr/>
        </p:nvSpPr>
        <p:spPr>
          <a:xfrm>
            <a:off x="1973837" y="1839217"/>
            <a:ext cx="802437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SEMANA 6: SESIONES N° 11 Y 12</a:t>
            </a:r>
            <a:endParaRPr b="1" sz="3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9"/>
          <p:cNvSpPr/>
          <p:nvPr/>
        </p:nvSpPr>
        <p:spPr>
          <a:xfrm>
            <a:off x="0" y="304801"/>
            <a:ext cx="5659755" cy="561824"/>
          </a:xfrm>
          <a:custGeom>
            <a:rect b="b" l="l" r="r" t="t"/>
            <a:pathLst>
              <a:path extrusionOk="0" h="415290" w="5659755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9"/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Temario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0" name="Google Shape;12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23651" y="313451"/>
            <a:ext cx="524749" cy="524749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9"/>
          <p:cNvSpPr txBox="1"/>
          <p:nvPr/>
        </p:nvSpPr>
        <p:spPr>
          <a:xfrm>
            <a:off x="365760" y="973304"/>
            <a:ext cx="535789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¡Que no se te escape nada de tu clase!: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0"/>
          <p:cNvSpPr txBox="1"/>
          <p:nvPr/>
        </p:nvSpPr>
        <p:spPr>
          <a:xfrm>
            <a:off x="838200" y="4961632"/>
            <a:ext cx="10515600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>
                <a:solidFill>
                  <a:srgbClr val="535353"/>
                </a:solidFill>
                <a:latin typeface="Open Sans"/>
                <a:ea typeface="Open Sans"/>
                <a:cs typeface="Open Sans"/>
                <a:sym typeface="Open Sans"/>
              </a:rPr>
              <a:t>Es casi imposible hablar de gestión de datos sin mencionar Oracle y SQL Server. Como dos de las tecnologías de sistemas de administración de bases de datos relacionales (RDBMS) más populares, tienen sus propias fortalezas y debilidades únicas. Si se ha estado preguntando en qué se diferencian Oracle y SQL Server, y cómo pueden usarlos juntos, etc.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0"/>
          <p:cNvSpPr txBox="1"/>
          <p:nvPr/>
        </p:nvSpPr>
        <p:spPr>
          <a:xfrm>
            <a:off x="5715000" y="6172200"/>
            <a:ext cx="58674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400">
                <a:solidFill>
                  <a:srgbClr val="222222"/>
                </a:solidFill>
                <a:latin typeface="Verdana"/>
                <a:ea typeface="Verdana"/>
                <a:cs typeface="Verdana"/>
                <a:sym typeface="Verdana"/>
              </a:rPr>
              <a:t>Ranking de DB-Engines: tendencia de popularidad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https://db-engines.com/en/ranking_trend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Oracle VS Microsoft SQL Server - What You Need to Know" id="128" name="Google Shape;128;p10"/>
          <p:cNvPicPr preferRelativeResize="0"/>
          <p:nvPr/>
        </p:nvPicPr>
        <p:blipFill rotWithShape="1">
          <a:blip r:embed="rId4">
            <a:alphaModFix/>
          </a:blip>
          <a:srcRect b="13177" l="0" r="1871" t="0"/>
          <a:stretch/>
        </p:blipFill>
        <p:spPr>
          <a:xfrm>
            <a:off x="3581401" y="840486"/>
            <a:ext cx="5410200" cy="31981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1"/>
          <p:cNvSpPr/>
          <p:nvPr/>
        </p:nvSpPr>
        <p:spPr>
          <a:xfrm>
            <a:off x="762000" y="381000"/>
            <a:ext cx="10363200" cy="791449"/>
          </a:xfrm>
          <a:prstGeom prst="rect">
            <a:avLst/>
          </a:prstGeom>
          <a:noFill/>
          <a:ln>
            <a:noFill/>
          </a:ln>
        </p:spPr>
        <p:txBody>
          <a:bodyPr anchorCtr="0" anchor="ctr" bIns="214225" lIns="0" spcFirstLastPara="1" rIns="0" wrap="square" tIns="1428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400"/>
              <a:buFont typeface="Arial"/>
              <a:buNone/>
            </a:pPr>
            <a:r>
              <a:rPr b="1" i="0" lang="es-ES" sz="1400" u="none" cap="none" strike="noStrike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Diferencia entre SQL Server y Oracle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En un nivel superior, esta es una descripción general básica de las diferencias entre SQL Server y Oracle:</a:t>
            </a:r>
            <a:endParaRPr/>
          </a:p>
        </p:txBody>
      </p:sp>
      <p:pic>
        <p:nvPicPr>
          <p:cNvPr id="134" name="Google Shape;13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81200" y="990600"/>
            <a:ext cx="7578706" cy="541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2"/>
          <p:cNvSpPr txBox="1"/>
          <p:nvPr/>
        </p:nvSpPr>
        <p:spPr>
          <a:xfrm>
            <a:off x="507301" y="990600"/>
            <a:ext cx="10748963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Comparación entre Oracle y SQL Server: </a:t>
            </a:r>
            <a:r>
              <a:rPr b="1" lang="es-E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="1" i="0" lang="es-E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entajas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Más allá de estas diferencias básicas, hay varias ventajas en cada sistema de administración de bases de datos que debes tener en cuenta a la hora de identificar qué se adapta mejor a tus necesidades y requisitos empresariales. 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Estas son algunas de las ventajas más comunes de Oracle:</a:t>
            </a:r>
            <a:endParaRPr/>
          </a:p>
        </p:txBody>
      </p:sp>
      <p:pic>
        <p:nvPicPr>
          <p:cNvPr id="140" name="Google Shape;14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0" y="1944707"/>
            <a:ext cx="6553200" cy="443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3"/>
          <p:cNvSpPr txBox="1"/>
          <p:nvPr/>
        </p:nvSpPr>
        <p:spPr>
          <a:xfrm>
            <a:off x="507301" y="990600"/>
            <a:ext cx="10748963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Comparación entre Oracle y SQL Server: Desventajas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Más allá de estas diferencias básicas, hay varias desventajas en cada sistema de administración de bases de datos que debes tener en cuenta a la hora de identificar qué se adapta mejor a tus necesidades y requisitos empresariales. </a:t>
            </a:r>
            <a:endParaRPr/>
          </a:p>
        </p:txBody>
      </p:sp>
      <p:pic>
        <p:nvPicPr>
          <p:cNvPr id="146" name="Google Shape;14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9200" y="1729264"/>
            <a:ext cx="8153400" cy="47531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4"/>
          <p:cNvSpPr txBox="1"/>
          <p:nvPr/>
        </p:nvSpPr>
        <p:spPr>
          <a:xfrm>
            <a:off x="538162" y="609600"/>
            <a:ext cx="10891838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Definición de Procedimientos Almacenados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procedimientos almacenados son bloques de código SQL que se almacenan y ejecutan en el servidor de la base de datos. Estos procedimientos pueden contener consultas SQL, lógica de control de flujo, manipulación de datos y más, y se utilizan para encapsular operaciones repetitivas y complejas, facilitando su reutilización y mantenimiento.</a:t>
            </a:r>
            <a:endParaRPr/>
          </a:p>
        </p:txBody>
      </p:sp>
      <p:sp>
        <p:nvSpPr>
          <p:cNvPr id="152" name="Google Shape;152;p14"/>
          <p:cNvSpPr txBox="1"/>
          <p:nvPr/>
        </p:nvSpPr>
        <p:spPr>
          <a:xfrm>
            <a:off x="574738" y="1563707"/>
            <a:ext cx="10744200" cy="830997"/>
          </a:xfrm>
          <a:prstGeom prst="rect">
            <a:avLst/>
          </a:prstGeom>
          <a:solidFill>
            <a:srgbClr val="92CCDC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Rendimiento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rendimiento de los procedimientos almacenados en Oracle y SQL Server puede variar dependiendo de varios factores, incluyendo la complejidad de las consultas, la configuración del sistema y la eficiencia del código.</a:t>
            </a:r>
            <a:endParaRPr/>
          </a:p>
        </p:txBody>
      </p:sp>
      <p:pic>
        <p:nvPicPr>
          <p:cNvPr id="153" name="Google Shape;15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81401" y="2445270"/>
            <a:ext cx="6324600" cy="41421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5"/>
          <p:cNvSpPr txBox="1"/>
          <p:nvPr/>
        </p:nvSpPr>
        <p:spPr>
          <a:xfrm>
            <a:off x="589929" y="609600"/>
            <a:ext cx="1089183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Definición de Procedimientos Almacenados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procedimientos almacenados son bloques de código SQL que se almacenan y ejecutan en el servidor de la base de datos.</a:t>
            </a:r>
            <a:endParaRPr/>
          </a:p>
        </p:txBody>
      </p:sp>
      <p:sp>
        <p:nvSpPr>
          <p:cNvPr id="159" name="Google Shape;159;p15"/>
          <p:cNvSpPr txBox="1"/>
          <p:nvPr/>
        </p:nvSpPr>
        <p:spPr>
          <a:xfrm>
            <a:off x="641697" y="1194375"/>
            <a:ext cx="10788301" cy="954107"/>
          </a:xfrm>
          <a:prstGeom prst="rect">
            <a:avLst/>
          </a:prstGeom>
          <a:solidFill>
            <a:srgbClr val="D9959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Escalabilidad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La escalabilidad de los procedimientos almacenados en Oracle y SQL Server se refiere a la capacidad de estos sistemas para manejar un aumento en la carga de trabajo sin una degradación significativa en el rendimiento. A continuación, se compara la escalabilidad de procedimientos almacenados en ambos sistemas:</a:t>
            </a:r>
            <a:endParaRPr/>
          </a:p>
        </p:txBody>
      </p:sp>
      <p:pic>
        <p:nvPicPr>
          <p:cNvPr id="160" name="Google Shape;16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90800" y="2175913"/>
            <a:ext cx="6858000" cy="45584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6"/>
          <p:cNvSpPr txBox="1"/>
          <p:nvPr/>
        </p:nvSpPr>
        <p:spPr>
          <a:xfrm>
            <a:off x="562625" y="1230617"/>
            <a:ext cx="10744200" cy="36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80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Sintaxis y lenguaje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SQL Server y Oracle usan el lenguaje de consulta en SQL estándar, pero también implementan su propia versión del lenguaje SQL, un dialecto de SQL. 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SQL Server usa Transact-SQL o T-SQL, que proporciona las mismas funciones de SQL y agrega varias extensiones de programación de propiedad exclusiva. En Oracle, puedes usar SQL junto con su propio lenguaje de procedimiento que te permite crear funciones, activar procedimientos y agregar estructuras de control a SQL. 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sintaxis es muy similar, aunque hay algunas diferencias notables. Estos son algunos ejemplos de las diferencias más básicas entre SQL Server y Oracle: 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7"/>
          <p:cNvSpPr txBox="1"/>
          <p:nvPr>
            <p:ph type="title"/>
          </p:nvPr>
        </p:nvSpPr>
        <p:spPr>
          <a:xfrm>
            <a:off x="916940" y="838200"/>
            <a:ext cx="1035812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/>
              <a:t>SQL Server (T-SQL) y Oracle (PL/SQL) tienen diferencias en su sintaxis que pueden afectar cómo se escriben y ejecutan consultas, procedimientos almacenados y otros objetos de base de datos. Aquí tienes una comparación de algunas de las diferencias clave en la sintaxis entre ambos sistemas:</a:t>
            </a:r>
            <a:endParaRPr sz="1600"/>
          </a:p>
        </p:txBody>
      </p:sp>
      <p:pic>
        <p:nvPicPr>
          <p:cNvPr id="171" name="Google Shape;17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9800" y="1576864"/>
            <a:ext cx="7543800" cy="52396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8"/>
          <p:cNvSpPr txBox="1"/>
          <p:nvPr/>
        </p:nvSpPr>
        <p:spPr>
          <a:xfrm>
            <a:off x="533400" y="1219200"/>
            <a:ext cx="11049000" cy="3122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3800">
            <a:spAutoFit/>
          </a:bodyPr>
          <a:lstStyle/>
          <a:p>
            <a:pPr indent="-445770" lvl="0" marL="457834" marR="508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4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¿Cómo difiere la sintaxis de consultas y funciones entre Oracle y SQL Server, y cómo influye esto en el rendimiento y la flexibilidad de desarrollo en proyectos profesionales?</a:t>
            </a:r>
            <a:endParaRPr sz="40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7" name="Google Shape;17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0" y="4343400"/>
            <a:ext cx="1524000" cy="152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9"/>
          <p:cNvSpPr txBox="1"/>
          <p:nvPr/>
        </p:nvSpPr>
        <p:spPr>
          <a:xfrm>
            <a:off x="609600" y="762000"/>
            <a:ext cx="109728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Ventajas de los Procedimientos Almacenados en Oracle y SQL Server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3" name="Google Shape;18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371600"/>
            <a:ext cx="10143437" cy="50269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0"/>
          <p:cNvSpPr txBox="1"/>
          <p:nvPr/>
        </p:nvSpPr>
        <p:spPr>
          <a:xfrm>
            <a:off x="609600" y="762000"/>
            <a:ext cx="109728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Desventajas de los Procedimientos Almacenados en Oracle y SQL Server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9" name="Google Shape;18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7800" y="1359027"/>
            <a:ext cx="9080043" cy="473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1"/>
          <p:cNvSpPr txBox="1"/>
          <p:nvPr/>
        </p:nvSpPr>
        <p:spPr>
          <a:xfrm>
            <a:off x="1409700" y="1532145"/>
            <a:ext cx="9372600" cy="2506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3800">
            <a:spAutoFit/>
          </a:bodyPr>
          <a:lstStyle/>
          <a:p>
            <a:pPr indent="-445770" lvl="0" marL="457834" marR="508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4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¿Cuáles son las diferencias clave entre los procedimientos almacenados en Oracle y SQL Server?</a:t>
            </a:r>
            <a:endParaRPr sz="40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5" name="Google Shape;19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0" y="4343400"/>
            <a:ext cx="1524000" cy="152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2"/>
          <p:cNvSpPr txBox="1"/>
          <p:nvPr>
            <p:ph type="title"/>
          </p:nvPr>
        </p:nvSpPr>
        <p:spPr>
          <a:xfrm>
            <a:off x="652461" y="83242"/>
            <a:ext cx="1035812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/>
              <a:t>Administración de usuarios en Oracle versus SQL Server</a:t>
            </a:r>
            <a:endParaRPr sz="1600"/>
          </a:p>
        </p:txBody>
      </p:sp>
      <p:pic>
        <p:nvPicPr>
          <p:cNvPr id="201" name="Google Shape;20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44226" y="359943"/>
            <a:ext cx="5974589" cy="61452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3"/>
          <p:cNvSpPr txBox="1"/>
          <p:nvPr/>
        </p:nvSpPr>
        <p:spPr>
          <a:xfrm>
            <a:off x="266700" y="457200"/>
            <a:ext cx="116586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Aquí tienes una tabla que compara la administración de seguridad en Oracle y SQL Server, cubriendo varios aspectos como autenticación, autorización, cifrado, auditoría y más:</a:t>
            </a:r>
            <a:endParaRPr/>
          </a:p>
        </p:txBody>
      </p:sp>
      <p:pic>
        <p:nvPicPr>
          <p:cNvPr id="207" name="Google Shape;20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57800" y="1219200"/>
            <a:ext cx="4800600" cy="55513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4"/>
          <p:cNvSpPr txBox="1"/>
          <p:nvPr>
            <p:ph type="title"/>
          </p:nvPr>
        </p:nvSpPr>
        <p:spPr>
          <a:xfrm>
            <a:off x="916940" y="304800"/>
            <a:ext cx="1035812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/>
              <a:t>Administración de backup en Oracle versus SQL Server</a:t>
            </a:r>
            <a:endParaRPr/>
          </a:p>
        </p:txBody>
      </p:sp>
      <p:pic>
        <p:nvPicPr>
          <p:cNvPr id="213" name="Google Shape;21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0" y="551021"/>
            <a:ext cx="5562600" cy="62488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5"/>
          <p:cNvSpPr txBox="1"/>
          <p:nvPr/>
        </p:nvSpPr>
        <p:spPr>
          <a:xfrm>
            <a:off x="819150" y="1524000"/>
            <a:ext cx="10553700" cy="2506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3800">
            <a:spAutoFit/>
          </a:bodyPr>
          <a:lstStyle/>
          <a:p>
            <a:pPr indent="-445770" lvl="0" marL="457834" marR="508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4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¿Qué estrategias implementan Oracle y SQL Server para gestionar usuarios, asegurar la integridad de los datos y realizar copias de seguridad?</a:t>
            </a:r>
            <a:endParaRPr sz="40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" name="Google Shape;21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0" y="4343400"/>
            <a:ext cx="1524000" cy="152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6"/>
          <p:cNvSpPr/>
          <p:nvPr/>
        </p:nvSpPr>
        <p:spPr>
          <a:xfrm>
            <a:off x="0" y="2819400"/>
            <a:ext cx="12192000" cy="1219200"/>
          </a:xfrm>
          <a:custGeom>
            <a:rect b="b" l="l" r="r" t="t"/>
            <a:pathLst>
              <a:path extrusionOk="0" h="700405" w="9144635">
                <a:moveTo>
                  <a:pt x="9027447" y="700199"/>
                </a:moveTo>
                <a:lnTo>
                  <a:pt x="116702" y="700199"/>
                </a:lnTo>
                <a:lnTo>
                  <a:pt x="71276" y="691028"/>
                </a:lnTo>
                <a:lnTo>
                  <a:pt x="34181" y="666018"/>
                </a:lnTo>
                <a:lnTo>
                  <a:pt x="9171" y="628923"/>
                </a:lnTo>
                <a:lnTo>
                  <a:pt x="0" y="583497"/>
                </a:lnTo>
                <a:lnTo>
                  <a:pt x="0" y="116702"/>
                </a:lnTo>
                <a:lnTo>
                  <a:pt x="9171" y="71276"/>
                </a:lnTo>
                <a:lnTo>
                  <a:pt x="34181" y="34181"/>
                </a:lnTo>
                <a:lnTo>
                  <a:pt x="71276" y="9171"/>
                </a:lnTo>
                <a:lnTo>
                  <a:pt x="116702" y="0"/>
                </a:lnTo>
                <a:lnTo>
                  <a:pt x="9027447" y="0"/>
                </a:lnTo>
                <a:lnTo>
                  <a:pt x="9072107" y="8883"/>
                </a:lnTo>
                <a:lnTo>
                  <a:pt x="9109968" y="34181"/>
                </a:lnTo>
                <a:lnTo>
                  <a:pt x="9135266" y="72042"/>
                </a:lnTo>
                <a:lnTo>
                  <a:pt x="9144149" y="116702"/>
                </a:lnTo>
                <a:lnTo>
                  <a:pt x="9144149" y="583497"/>
                </a:lnTo>
                <a:lnTo>
                  <a:pt x="9134978" y="628923"/>
                </a:lnTo>
                <a:lnTo>
                  <a:pt x="9109968" y="666018"/>
                </a:lnTo>
                <a:lnTo>
                  <a:pt x="9072873" y="691028"/>
                </a:lnTo>
                <a:lnTo>
                  <a:pt x="9027447" y="700199"/>
                </a:lnTo>
                <a:close/>
              </a:path>
            </a:pathLst>
          </a:custGeom>
          <a:solidFill>
            <a:srgbClr val="D1052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6"/>
          <p:cNvSpPr txBox="1"/>
          <p:nvPr>
            <p:ph type="title"/>
          </p:nvPr>
        </p:nvSpPr>
        <p:spPr>
          <a:xfrm>
            <a:off x="4278672" y="3084034"/>
            <a:ext cx="3634655" cy="6899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Caso práctico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7"/>
          <p:cNvSpPr/>
          <p:nvPr/>
        </p:nvSpPr>
        <p:spPr>
          <a:xfrm>
            <a:off x="0" y="304801"/>
            <a:ext cx="5659755" cy="561824"/>
          </a:xfrm>
          <a:custGeom>
            <a:rect b="b" l="l" r="r" t="t"/>
            <a:pathLst>
              <a:path extrusionOk="0" h="415290" w="5659755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7"/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Caso práctico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7"/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65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3" name="Google Shape;23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73909" y="304800"/>
            <a:ext cx="626891" cy="5618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a práctica ilustración plana de una computadora portátil que funciona  14982741 Vector en Vecteezy" id="234" name="Google Shape;234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800" y="1181100"/>
            <a:ext cx="3429000" cy="34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7"/>
          <p:cNvSpPr txBox="1"/>
          <p:nvPr/>
        </p:nvSpPr>
        <p:spPr>
          <a:xfrm>
            <a:off x="3886200" y="1413858"/>
            <a:ext cx="7184136" cy="3139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Caso Práctico: Procedimiento Almacenado en Oracle versus SQL Server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este caso práctico, compararemos la implementación de un procedimiento almacenado en Oracle y SQL Server. Supongamos que tenemos una base de datos para una librería, y queremos crear un procedimiento almacenado que actualice el precio de un libro basado en su ISBN.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Requisitos del Procedimiento Almacenado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Tomar el ISBN del libro como parámetro de entrada.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Tomar el nuevo precio como parámetro de entrada.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Actualizar el precio del libro en la base de datos.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Retornar un mensaje indicando si la actualización fue exitosa o no.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8"/>
          <p:cNvSpPr/>
          <p:nvPr/>
        </p:nvSpPr>
        <p:spPr>
          <a:xfrm>
            <a:off x="0" y="304801"/>
            <a:ext cx="5659755" cy="561824"/>
          </a:xfrm>
          <a:custGeom>
            <a:rect b="b" l="l" r="r" t="t"/>
            <a:pathLst>
              <a:path extrusionOk="0" h="415290" w="5659755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8"/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Caso práctico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8"/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65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3" name="Google Shape;24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73909" y="304800"/>
            <a:ext cx="626891" cy="561824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8"/>
          <p:cNvSpPr txBox="1"/>
          <p:nvPr/>
        </p:nvSpPr>
        <p:spPr>
          <a:xfrm>
            <a:off x="2282337" y="1780300"/>
            <a:ext cx="7627325" cy="4437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¿Quién quisiera participar? (2 voluntarios)</a:t>
            </a:r>
            <a:endParaRPr/>
          </a:p>
        </p:txBody>
      </p:sp>
      <p:pic>
        <p:nvPicPr>
          <p:cNvPr id="245" name="Google Shape;24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30555" y="2895600"/>
            <a:ext cx="2730890" cy="25203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9"/>
          <p:cNvSpPr/>
          <p:nvPr/>
        </p:nvSpPr>
        <p:spPr>
          <a:xfrm>
            <a:off x="0" y="304801"/>
            <a:ext cx="5659755" cy="561824"/>
          </a:xfrm>
          <a:custGeom>
            <a:rect b="b" l="l" r="r" t="t"/>
            <a:pathLst>
              <a:path extrusionOk="0" h="415290" w="5659755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9"/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Caso práctico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9"/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65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29"/>
          <p:cNvSpPr txBox="1"/>
          <p:nvPr/>
        </p:nvSpPr>
        <p:spPr>
          <a:xfrm>
            <a:off x="3039354" y="1831852"/>
            <a:ext cx="6096000" cy="1154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¿Qué se les hizo más fácil?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None/>
            </a:pPr>
            <a:r>
              <a:rPr lang="es-E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¿Qué se les hizo más retador?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4" name="Google Shape;254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53000" y="3618011"/>
            <a:ext cx="2047300" cy="204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66673" y="318461"/>
            <a:ext cx="548164" cy="5481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0"/>
          <p:cNvSpPr/>
          <p:nvPr/>
        </p:nvSpPr>
        <p:spPr>
          <a:xfrm>
            <a:off x="0" y="304801"/>
            <a:ext cx="5659755" cy="561824"/>
          </a:xfrm>
          <a:custGeom>
            <a:rect b="b" l="l" r="r" t="t"/>
            <a:pathLst>
              <a:path extrusionOk="0" h="415290" w="5659755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30"/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Conclusiones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30"/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65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30"/>
          <p:cNvSpPr txBox="1"/>
          <p:nvPr/>
        </p:nvSpPr>
        <p:spPr>
          <a:xfrm>
            <a:off x="2243577" y="2644170"/>
            <a:ext cx="7687554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Tomar apuntes de manera eficaz ayuda a consolidar el  aprendizaje y prepararse para los exámenes.</a:t>
            </a:r>
            <a:endParaRPr/>
          </a:p>
        </p:txBody>
      </p:sp>
      <p:pic>
        <p:nvPicPr>
          <p:cNvPr id="264" name="Google Shape;26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05310" y="304802"/>
            <a:ext cx="561824" cy="561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1"/>
          <p:cNvSpPr/>
          <p:nvPr/>
        </p:nvSpPr>
        <p:spPr>
          <a:xfrm>
            <a:off x="0" y="304801"/>
            <a:ext cx="5659755" cy="561824"/>
          </a:xfrm>
          <a:custGeom>
            <a:rect b="b" l="l" r="r" t="t"/>
            <a:pathLst>
              <a:path extrusionOk="0" h="415290" w="5659755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31"/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Conclusiones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31"/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65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31"/>
          <p:cNvSpPr txBox="1"/>
          <p:nvPr/>
        </p:nvSpPr>
        <p:spPr>
          <a:xfrm>
            <a:off x="2243577" y="3149025"/>
            <a:ext cx="768755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¿Qué hemos aprendido el día de hoy?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3" name="Google Shape;273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66673" y="318461"/>
            <a:ext cx="548164" cy="5481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2"/>
          <p:cNvSpPr/>
          <p:nvPr/>
        </p:nvSpPr>
        <p:spPr>
          <a:xfrm>
            <a:off x="609600" y="457200"/>
            <a:ext cx="10972800" cy="1631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Sintaxis de Consultas y Funciones</a:t>
            </a: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sintaxis de consultas y funciones en SQL Server y Oracle presenta diferencias y similitudes. Aquí tienes una tabla comparativa que destaca algunas de las diferencias clave en la sintaxis de consultas y funciones entre estos dos sistemas de gestión de bases de datos.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9" name="Google Shape;279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7000" y="2051840"/>
            <a:ext cx="6248400" cy="48326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3"/>
          <p:cNvSpPr/>
          <p:nvPr/>
        </p:nvSpPr>
        <p:spPr>
          <a:xfrm>
            <a:off x="609600" y="1573465"/>
            <a:ext cx="10972800" cy="1938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Procedimientos Almacenados</a:t>
            </a: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Oracle</a:t>
            </a: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Utiliza su propio lenguaje para procedimientos almacenados. Es bastante flexible y permite escribir procedimientos complejos.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SQL Server</a:t>
            </a: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Utiliza T-SQL para procedimientos almacenados. Ofrece integración con .NET, y proporciona capacidades avanzadas como manejo de errores y transacciones.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4"/>
          <p:cNvSpPr/>
          <p:nvPr/>
        </p:nvSpPr>
        <p:spPr>
          <a:xfrm>
            <a:off x="609600" y="1074509"/>
            <a:ext cx="10972800" cy="47089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Administración de Usuarios y Seguridad</a:t>
            </a: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Oracle</a:t>
            </a: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Permite una administración de usuarios y permisos granular. La seguridad incluye características como roles y políticas de acceso basadas en objetos.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SQL Server</a:t>
            </a: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También ofrece una administración detallada de usuarios y roles, con características adicionales como integración con Active Directory y auditoría avanzada.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Backup y Recuperación</a:t>
            </a: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Oracle</a:t>
            </a: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Ofrece varias opciones de backup. La recuperación se puede realizar a nivel de base de datos o de tabla.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SQL Server</a:t>
            </a: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Proporciona una amplia gama de opciones para backups y recuperación, incluyendo copias de seguridad completas, diferenciales y de registros de transacciones, con herramientas integradas para la administración de backups.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5"/>
          <p:cNvSpPr/>
          <p:nvPr/>
        </p:nvSpPr>
        <p:spPr>
          <a:xfrm>
            <a:off x="0" y="304801"/>
            <a:ext cx="5659755" cy="561824"/>
          </a:xfrm>
          <a:custGeom>
            <a:rect b="b" l="l" r="r" t="t"/>
            <a:pathLst>
              <a:path extrusionOk="0" h="415290" w="5659755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35"/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Tarea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35"/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65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7" name="Google Shape;29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05310" y="304802"/>
            <a:ext cx="561824" cy="561824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35"/>
          <p:cNvSpPr txBox="1"/>
          <p:nvPr/>
        </p:nvSpPr>
        <p:spPr>
          <a:xfrm>
            <a:off x="1243933" y="5472302"/>
            <a:ext cx="9704133" cy="369332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E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Nota: Entrega de manera escrita, en la siguiente clase.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35"/>
          <p:cNvSpPr txBox="1"/>
          <p:nvPr/>
        </p:nvSpPr>
        <p:spPr>
          <a:xfrm>
            <a:off x="856327" y="1276637"/>
            <a:ext cx="10096501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Oracle vs MySQL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Realizar una comparación de: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Sintaxis de consultas y funciones 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Procedimientos Almacenados.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Administración de usuarios, seguridad y backup.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Trabajar con cuadros para que se pueda entender el trabajo realizado.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6"/>
          <p:cNvSpPr/>
          <p:nvPr/>
        </p:nvSpPr>
        <p:spPr>
          <a:xfrm>
            <a:off x="0" y="304801"/>
            <a:ext cx="5659755" cy="561824"/>
          </a:xfrm>
          <a:custGeom>
            <a:rect b="b" l="l" r="r" t="t"/>
            <a:pathLst>
              <a:path extrusionOk="0" h="415290" w="5659755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36"/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Recursos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36"/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65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7" name="Google Shape;30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05310" y="304802"/>
            <a:ext cx="561824" cy="561824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36"/>
          <p:cNvSpPr txBox="1"/>
          <p:nvPr/>
        </p:nvSpPr>
        <p:spPr>
          <a:xfrm>
            <a:off x="1243933" y="5472302"/>
            <a:ext cx="9704133" cy="369332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E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Nota: No olvides también revisar tu plataforma UTP+Class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36"/>
          <p:cNvSpPr txBox="1"/>
          <p:nvPr/>
        </p:nvSpPr>
        <p:spPr>
          <a:xfrm>
            <a:off x="813466" y="1034509"/>
            <a:ext cx="10134600" cy="3046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Videos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Video 1</a:t>
            </a: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s-E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https://www.youtube.com/watch?v=n8uXBimHKwk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Video 2</a:t>
            </a: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s-E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https://www.youtube.com/watch?v=pyzY2JSnPvQ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Video 3</a:t>
            </a: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s-E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https://www.youtube.com/watch?v=i8Yj8eie_zA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Páginas Web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PW 1: https://www.guru99.com/es/oracle-vs-sql-server.html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PW 2</a:t>
            </a: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s-E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https://kinsta.com/es/blog/Oracle-vs-mysql/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7"/>
          <p:cNvSpPr/>
          <p:nvPr/>
        </p:nvSpPr>
        <p:spPr>
          <a:xfrm>
            <a:off x="0" y="304801"/>
            <a:ext cx="5659755" cy="561824"/>
          </a:xfrm>
          <a:custGeom>
            <a:rect b="b" l="l" r="r" t="t"/>
            <a:pathLst>
              <a:path extrusionOk="0" h="415290" w="5659755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37"/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Tarea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6" name="Google Shape;316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05310" y="304802"/>
            <a:ext cx="561824" cy="561824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37"/>
          <p:cNvSpPr txBox="1"/>
          <p:nvPr/>
        </p:nvSpPr>
        <p:spPr>
          <a:xfrm>
            <a:off x="914400" y="2828835"/>
            <a:ext cx="609600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MUCHAS GRACIAS QUE DIOS LOS BENDIGA!!!</a:t>
            </a:r>
            <a:endParaRPr b="1"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8" name="Google Shape;318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67600" y="1216152"/>
            <a:ext cx="3056381" cy="44256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" name="Google Shape;323;p38"/>
          <p:cNvGrpSpPr/>
          <p:nvPr/>
        </p:nvGrpSpPr>
        <p:grpSpPr>
          <a:xfrm>
            <a:off x="2057400" y="152400"/>
            <a:ext cx="9906000" cy="4152900"/>
            <a:chOff x="2057400" y="152400"/>
            <a:chExt cx="9906000" cy="4152900"/>
          </a:xfrm>
        </p:grpSpPr>
        <p:pic>
          <p:nvPicPr>
            <p:cNvPr id="324" name="Google Shape;324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057400" y="2552700"/>
              <a:ext cx="7856700" cy="1752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5" name="Google Shape;325;p38"/>
            <p:cNvSpPr/>
            <p:nvPr/>
          </p:nvSpPr>
          <p:spPr>
            <a:xfrm>
              <a:off x="9144000" y="152400"/>
              <a:ext cx="2819400" cy="76272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2024-06-11T03:36:57Z</dcterms:created>
  <dc:creator>Julia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2020-06-18T00:00:00Z</vt:filetime>
  </property>
  <property fmtid="{D5CDD505-2E9C-101B-9397-08002B2CF9AE}" pid="3" name="Creator">
    <vt:lpwstr>Microsoft® PowerPoint® para Office 365</vt:lpwstr>
  </property>
  <property fmtid="{D5CDD505-2E9C-101B-9397-08002B2CF9AE}" pid="4" name="LastSaved">
    <vt:filetime>2024-06-11T00:00:00Z</vt:filetime>
  </property>
</Properties>
</file>