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"/>
    <p:sldId id="277" r:id="rId3"/>
    <p:sldId id="300" r:id="rId4"/>
    <p:sldId id="276" r:id="rId5"/>
    <p:sldId id="301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5" r:id="rId19"/>
    <p:sldId id="282" r:id="rId20"/>
    <p:sldId id="271" r:id="rId21"/>
    <p:sldId id="285" r:id="rId22"/>
    <p:sldId id="273" r:id="rId23"/>
    <p:sldId id="286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59" autoAdjust="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0.jpe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矢量圆点底纹设计图__条纹线条_底纹边框_设计图库_昵图网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89"/>
          <a:stretch/>
        </p:blipFill>
        <p:spPr bwMode="auto">
          <a:xfrm>
            <a:off x="18579" y="0"/>
            <a:ext cx="912542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14647"/>
            <a:ext cx="7772400" cy="1470025"/>
          </a:xfrm>
        </p:spPr>
        <p:txBody>
          <a:bodyPr>
            <a:noAutofit/>
          </a:bodyPr>
          <a:lstStyle/>
          <a:p>
            <a:r>
              <a:rPr lang="es-MX" sz="4000" b="1" dirty="0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SISTEMAS OPERATIVOS</a:t>
            </a:r>
            <a:endParaRPr sz="4000" b="1" dirty="0">
              <a:solidFill>
                <a:srgbClr val="EA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14837"/>
            <a:ext cx="6400800" cy="1752600"/>
          </a:xfrm>
        </p:spPr>
        <p:txBody>
          <a:bodyPr>
            <a:normAutofit fontScale="92500"/>
          </a:bodyPr>
          <a:lstStyle/>
          <a:p>
            <a:r>
              <a:rPr lang="es-MX" sz="2400" dirty="0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 a los sistemas operativos: Estructura de sistemas operativos y comandos Linux</a:t>
            </a:r>
            <a:endParaRPr lang="es-PE" sz="2400" dirty="0">
              <a:solidFill>
                <a:srgbClr val="EA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PE" sz="2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Mg. Francisco Ramírez Muñoz</a:t>
            </a:r>
            <a:endParaRPr sz="2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PE" sz="2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C28059@utp.edu.pe</a:t>
            </a:r>
            <a:endParaRPr sz="2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th.bing.com/th/id/R.20e59202c60fbf9d35eb9de67c32cce4?rik=bc%2b7DuRbJ8AF%2fQ&amp;pid=ImgRaw&amp;r=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1028" y="5105400"/>
            <a:ext cx="3128702" cy="751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/>
          <p:cNvSpPr/>
          <p:nvPr/>
        </p:nvSpPr>
        <p:spPr>
          <a:xfrm>
            <a:off x="2331098" y="2553654"/>
            <a:ext cx="44818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SEMANA 02 – SESIÓN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182" y="931079"/>
            <a:ext cx="5535336" cy="689612"/>
          </a:xfrm>
          <a:prstGeom prst="rect">
            <a:avLst/>
          </a:prstGeom>
        </p:spPr>
        <p:txBody>
          <a:bodyPr vert="horz" wrap="square" lIns="0" tIns="12383" rIns="0" bIns="0" rtlCol="0" anchor="ctr">
            <a:spAutoFit/>
          </a:bodyPr>
          <a:lstStyle/>
          <a:p>
            <a:pPr marL="9525">
              <a:spcBef>
                <a:spcPts val="98"/>
              </a:spcBef>
            </a:pPr>
            <a:r>
              <a:rPr dirty="0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Logro</a:t>
            </a:r>
            <a:r>
              <a:rPr spc="-53" dirty="0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pc="-56" dirty="0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8" dirty="0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aprendizaje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379619" y="5687140"/>
            <a:ext cx="82867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38" dirty="0">
                <a:solidFill>
                  <a:srgbClr val="868686"/>
                </a:solidFill>
                <a:latin typeface="Arial MT"/>
                <a:cs typeface="Arial MT"/>
              </a:rPr>
              <a:t>5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8721" y="4360363"/>
            <a:ext cx="2218936" cy="1984775"/>
          </a:xfrm>
          <a:prstGeom prst="rect">
            <a:avLst/>
          </a:prstGeom>
        </p:spPr>
      </p:pic>
      <p:pic>
        <p:nvPicPr>
          <p:cNvPr id="7" name="Picture 2" descr="https://th.bing.com/th/id/R.20e59202c60fbf9d35eb9de67c32cce4?rik=bc%2b7DuRbJ8AF%2fQ&amp;pid=ImgRaw&amp;r=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183403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F38F739F-A63D-4FDB-93BB-022FCCAAA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182" y="2027806"/>
            <a:ext cx="775129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MX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 finalizar la sesión el estudiante logra: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9F8F3C2-2CE4-4476-95C7-C2C2C22F4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320" y="2604281"/>
            <a:ext cx="7811159" cy="1649437"/>
          </a:xfrm>
        </p:spPr>
        <p:txBody>
          <a:bodyPr>
            <a:normAutofit/>
          </a:bodyPr>
          <a:lstStyle/>
          <a:p>
            <a:pPr marL="0" indent="0">
              <a:buNone/>
              <a:defRPr sz="1400"/>
            </a:pPr>
            <a:r>
              <a:rPr lang="es-MX" sz="1800" dirty="0"/>
              <a:t>- Comprender la estructura y funciones del </a:t>
            </a:r>
            <a:r>
              <a:rPr lang="es-MX" sz="1800" dirty="0" err="1"/>
              <a:t>Kernel</a:t>
            </a:r>
            <a:r>
              <a:rPr lang="es-MX" sz="1800" dirty="0"/>
              <a:t>, Shell y proceso de arranque.</a:t>
            </a:r>
          </a:p>
          <a:p>
            <a:pPr marL="0" indent="0">
              <a:buNone/>
              <a:defRPr sz="1400"/>
            </a:pPr>
            <a:r>
              <a:rPr lang="es-MX" sz="1800" dirty="0"/>
              <a:t>- Reconocer la importancia del software libre y sus distribuciones.</a:t>
            </a:r>
          </a:p>
          <a:p>
            <a:pPr marL="0" indent="0">
              <a:buNone/>
              <a:defRPr sz="1400"/>
            </a:pPr>
            <a:r>
              <a:rPr lang="es-MX" sz="1800" dirty="0"/>
              <a:t>- Manejar comandos básicos de Linux (</a:t>
            </a:r>
            <a:r>
              <a:rPr lang="es-MX" sz="1800" dirty="0" err="1"/>
              <a:t>pwd</a:t>
            </a:r>
            <a:r>
              <a:rPr lang="es-MX" sz="1800" dirty="0"/>
              <a:t>, cd, </a:t>
            </a:r>
            <a:r>
              <a:rPr lang="es-MX" sz="1800" dirty="0" err="1"/>
              <a:t>ls</a:t>
            </a:r>
            <a:r>
              <a:rPr lang="es-MX" sz="1800" dirty="0"/>
              <a:t>, </a:t>
            </a:r>
            <a:r>
              <a:rPr lang="es-MX" sz="1800" dirty="0" err="1"/>
              <a:t>cat</a:t>
            </a:r>
            <a:r>
              <a:rPr lang="es-MX" sz="1800" dirty="0"/>
              <a:t>, more, </a:t>
            </a:r>
            <a:r>
              <a:rPr lang="es-MX" sz="1800" dirty="0" err="1"/>
              <a:t>less</a:t>
            </a:r>
            <a:r>
              <a:rPr lang="es-MX" sz="1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588629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182" y="1041109"/>
            <a:ext cx="5535336" cy="469552"/>
          </a:xfrm>
          <a:prstGeom prst="rect">
            <a:avLst/>
          </a:prstGeom>
        </p:spPr>
        <p:txBody>
          <a:bodyPr vert="horz" wrap="square" lIns="0" tIns="12383" rIns="0" bIns="0" rtlCol="0" anchor="ctr">
            <a:spAutoFit/>
          </a:bodyPr>
          <a:lstStyle/>
          <a:p>
            <a:pPr marL="9525">
              <a:spcBef>
                <a:spcPts val="98"/>
              </a:spcBef>
            </a:pPr>
            <a:r>
              <a:rPr lang="es-MX" dirty="0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TEMARIO</a:t>
            </a:r>
            <a:endParaRPr spc="-8" dirty="0">
              <a:solidFill>
                <a:srgbClr val="EA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79619" y="5687140"/>
            <a:ext cx="82867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38" dirty="0">
                <a:solidFill>
                  <a:srgbClr val="868686"/>
                </a:solidFill>
                <a:latin typeface="Arial MT"/>
                <a:cs typeface="Arial MT"/>
              </a:rPr>
              <a:t>5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Picture 2" descr="https://th.bing.com/th/id/R.20e59202c60fbf9d35eb9de67c32cce4?rik=bc%2b7DuRbJ8AF%2fQ&amp;pid=ImgRaw&amp;r=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183403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6" name="Picture 2" descr="Temario de Ayudante de Biblioteca de la Administración General del Estado.  - Bibliopos: Biblioteca de recursos para Bibliotecarios y Opositores">
            <a:extLst>
              <a:ext uri="{FF2B5EF4-FFF2-40B4-BE49-F238E27FC236}">
                <a16:creationId xmlns:a16="http://schemas.microsoft.com/office/drawing/2014/main" id="{86F851AF-FC8C-43F8-A52F-C2FAF0D5E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845" y="3135802"/>
            <a:ext cx="3254616" cy="3126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A12AB816-343E-48F0-B544-2DE1142B0832}"/>
              </a:ext>
            </a:extLst>
          </p:cNvPr>
          <p:cNvSpPr/>
          <p:nvPr/>
        </p:nvSpPr>
        <p:spPr>
          <a:xfrm>
            <a:off x="1009408" y="1771771"/>
            <a:ext cx="56806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Estructura de un Sistema Operativo.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El </a:t>
            </a:r>
            <a:r>
              <a:rPr lang="es-MX" dirty="0" err="1"/>
              <a:t>Kernel</a:t>
            </a:r>
            <a:r>
              <a:rPr lang="es-MX" dirty="0"/>
              <a:t>, Shell y el modo de arranque.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El Software libre, distribuciones.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Comandos Linux: </a:t>
            </a:r>
            <a:r>
              <a:rPr lang="es-MX" dirty="0" err="1"/>
              <a:t>pwd</a:t>
            </a:r>
            <a:r>
              <a:rPr lang="es-MX" dirty="0"/>
              <a:t>, cd, </a:t>
            </a:r>
            <a:r>
              <a:rPr lang="es-MX" dirty="0" err="1"/>
              <a:t>ls</a:t>
            </a:r>
            <a:r>
              <a:rPr lang="es-MX" dirty="0"/>
              <a:t>, </a:t>
            </a:r>
            <a:r>
              <a:rPr lang="es-MX" dirty="0" err="1"/>
              <a:t>cat</a:t>
            </a:r>
            <a:r>
              <a:rPr lang="es-MX" dirty="0"/>
              <a:t>, more, </a:t>
            </a:r>
            <a:r>
              <a:rPr lang="es-MX" dirty="0" err="1"/>
              <a:t>less</a:t>
            </a:r>
            <a:r>
              <a:rPr lang="es-MX" dirty="0"/>
              <a:t>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428123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0225" y="911520"/>
            <a:ext cx="6377834" cy="689612"/>
          </a:xfrm>
          <a:prstGeom prst="rect">
            <a:avLst/>
          </a:prstGeom>
        </p:spPr>
        <p:txBody>
          <a:bodyPr vert="horz" wrap="square" lIns="0" tIns="12383" rIns="0" bIns="0" rtlCol="0" anchor="ctr">
            <a:spAutoFit/>
          </a:bodyPr>
          <a:lstStyle/>
          <a:p>
            <a:pPr marL="9525">
              <a:spcBef>
                <a:spcPts val="98"/>
              </a:spcBef>
            </a:pPr>
            <a:r>
              <a:rPr b="1" dirty="0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Conocimientos</a:t>
            </a:r>
            <a:r>
              <a:rPr b="1" spc="-195" dirty="0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8" dirty="0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0225" y="2181719"/>
            <a:ext cx="4371603" cy="2326117"/>
          </a:xfrm>
          <a:prstGeom prst="rect">
            <a:avLst/>
          </a:prstGeom>
        </p:spPr>
        <p:txBody>
          <a:bodyPr vert="horz" wrap="square" lIns="0" tIns="109061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400"/>
            </a:pPr>
            <a:r>
              <a:rPr lang="es-MX" sz="2400" dirty="0"/>
              <a:t>¿Cuál es la diferencia entre un </a:t>
            </a:r>
            <a:r>
              <a:rPr lang="es-MX" sz="2400" dirty="0" err="1"/>
              <a:t>kernel</a:t>
            </a:r>
            <a:r>
              <a:rPr lang="es-MX" sz="2400" dirty="0"/>
              <a:t> monolítico y uno modular?</a:t>
            </a:r>
          </a:p>
          <a:p>
            <a:pPr marL="342900" indent="-342900">
              <a:buFont typeface="Arial" panose="020B0604020202020204" pitchFamily="34" charset="0"/>
              <a:buChar char="•"/>
              <a:defRPr sz="1400"/>
            </a:pPr>
            <a:r>
              <a:rPr lang="es-MX" sz="2400" dirty="0"/>
              <a:t>¿Cómo influye el proceso de arranque en la disponibilidad del sistema?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379619" y="5687140"/>
            <a:ext cx="82867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38" dirty="0">
                <a:solidFill>
                  <a:srgbClr val="868686"/>
                </a:solidFill>
                <a:latin typeface="Arial MT"/>
                <a:cs typeface="Arial MT"/>
              </a:rPr>
              <a:t>3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20" name="Picture 2" descr="https://th.bing.com/th/id/R.20e59202c60fbf9d35eb9de67c32cce4?rik=bc%2b7DuRbJ8AF%2fQ&amp;pid=ImgRaw&amp;r=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183403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4" name="Picture 2" descr="Conclusiones">
            <a:extLst>
              <a:ext uri="{FF2B5EF4-FFF2-40B4-BE49-F238E27FC236}">
                <a16:creationId xmlns:a16="http://schemas.microsoft.com/office/drawing/2014/main" id="{F835A54B-7AA1-46C2-84F9-A7E6DFB10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9717" y="1957834"/>
            <a:ext cx="3676683" cy="3676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7752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0225" y="1021550"/>
            <a:ext cx="6377834" cy="469552"/>
          </a:xfrm>
          <a:prstGeom prst="rect">
            <a:avLst/>
          </a:prstGeom>
        </p:spPr>
        <p:txBody>
          <a:bodyPr vert="horz" wrap="square" lIns="0" tIns="12383" rIns="0" bIns="0" rtlCol="0" anchor="ctr">
            <a:spAutoFit/>
          </a:bodyPr>
          <a:lstStyle/>
          <a:p>
            <a:pPr marL="9525">
              <a:spcBef>
                <a:spcPts val="98"/>
              </a:spcBef>
            </a:pPr>
            <a:r>
              <a:rPr lang="es-MX" b="1" dirty="0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UTILIDAD</a:t>
            </a:r>
            <a:endParaRPr b="1" spc="-8" dirty="0">
              <a:solidFill>
                <a:srgbClr val="EA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79619" y="5687140"/>
            <a:ext cx="82867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38" dirty="0">
                <a:solidFill>
                  <a:srgbClr val="868686"/>
                </a:solidFill>
                <a:latin typeface="Arial MT"/>
                <a:cs typeface="Arial MT"/>
              </a:rPr>
              <a:t>3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20" name="Picture 2" descr="https://th.bing.com/th/id/R.20e59202c60fbf9d35eb9de67c32cce4?rik=bc%2b7DuRbJ8AF%2fQ&amp;pid=ImgRaw&amp;r=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183403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0" name="Picture 2" descr="Qué es el margen de utilidad y cómo se calcula? | Retail">
            <a:extLst>
              <a:ext uri="{FF2B5EF4-FFF2-40B4-BE49-F238E27FC236}">
                <a16:creationId xmlns:a16="http://schemas.microsoft.com/office/drawing/2014/main" id="{FE1679EA-D4EF-4188-BAA5-4CECB172C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0294" y="2027738"/>
            <a:ext cx="3335530" cy="333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15861F9-1D0D-43C8-B314-AA93B1769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66425"/>
            <a:ext cx="4508695" cy="2715064"/>
          </a:xfrm>
        </p:spPr>
        <p:txBody>
          <a:bodyPr>
            <a:normAutofit/>
          </a:bodyPr>
          <a:lstStyle/>
          <a:p>
            <a:pPr>
              <a:defRPr sz="1400"/>
            </a:pPr>
            <a:r>
              <a:rPr sz="2000" dirty="0" err="1"/>
              <a:t>Esta</a:t>
            </a:r>
            <a:r>
              <a:rPr sz="2000" dirty="0"/>
              <a:t> </a:t>
            </a:r>
            <a:r>
              <a:rPr sz="2000" dirty="0" err="1"/>
              <a:t>sesión</a:t>
            </a:r>
            <a:r>
              <a:rPr sz="2000" dirty="0"/>
              <a:t> </a:t>
            </a:r>
            <a:r>
              <a:rPr sz="2000" dirty="0" err="1"/>
              <a:t>permitirá</a:t>
            </a:r>
            <a:r>
              <a:rPr sz="2000" dirty="0"/>
              <a:t> </a:t>
            </a:r>
            <a:r>
              <a:rPr lang="es-MX" sz="2000" dirty="0"/>
              <a:t>Identificar y comprender los componentes clave de un sistema operativo.</a:t>
            </a:r>
          </a:p>
          <a:p>
            <a:pPr>
              <a:defRPr sz="1400"/>
            </a:pPr>
            <a:r>
              <a:rPr lang="es-MX" sz="2000" dirty="0"/>
              <a:t>Analizar el papel del </a:t>
            </a:r>
            <a:r>
              <a:rPr lang="es-MX" sz="2000" dirty="0" err="1"/>
              <a:t>Kernel</a:t>
            </a:r>
            <a:r>
              <a:rPr lang="es-MX" sz="2000" dirty="0"/>
              <a:t> y Shell en la interacción hardware-software.</a:t>
            </a:r>
          </a:p>
          <a:p>
            <a:pPr>
              <a:defRPr sz="1400"/>
            </a:pPr>
            <a:r>
              <a:rPr lang="es-MX" sz="2000" dirty="0"/>
              <a:t>Aplicar comandos Linux para la administración básica del sistema.</a:t>
            </a:r>
          </a:p>
        </p:txBody>
      </p:sp>
    </p:spTree>
    <p:extLst>
      <p:ext uri="{BB962C8B-B14F-4D97-AF65-F5344CB8AC3E}">
        <p14:creationId xmlns:p14="http://schemas.microsoft.com/office/powerpoint/2010/main" val="2147840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rgbClr val="FF0000"/>
                </a:solidFill>
              </a:rPr>
              <a:t>Estructura</a:t>
            </a:r>
            <a:r>
              <a:rPr dirty="0">
                <a:solidFill>
                  <a:srgbClr val="FF0000"/>
                </a:solidFill>
              </a:rPr>
              <a:t> de un Sistema </a:t>
            </a:r>
            <a:r>
              <a:rPr dirty="0" err="1">
                <a:solidFill>
                  <a:srgbClr val="FF0000"/>
                </a:solidFill>
              </a:rPr>
              <a:t>Operativo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988255"/>
          </a:xfrm>
        </p:spPr>
        <p:txBody>
          <a:bodyPr/>
          <a:lstStyle/>
          <a:p>
            <a:pPr>
              <a:defRPr sz="1400"/>
            </a:pPr>
            <a:r>
              <a:rPr dirty="0"/>
              <a:t>Se </a:t>
            </a:r>
            <a:r>
              <a:rPr dirty="0" err="1"/>
              <a:t>compone</a:t>
            </a:r>
            <a:r>
              <a:rPr dirty="0"/>
              <a:t> </a:t>
            </a:r>
            <a:r>
              <a:rPr dirty="0" err="1"/>
              <a:t>principalmente</a:t>
            </a:r>
            <a:r>
              <a:rPr dirty="0"/>
              <a:t> del Kernel, Shell y </a:t>
            </a:r>
            <a:r>
              <a:rPr dirty="0" err="1"/>
              <a:t>herramientas</a:t>
            </a:r>
            <a:r>
              <a:rPr dirty="0"/>
              <a:t> del </a:t>
            </a:r>
            <a:r>
              <a:rPr dirty="0" err="1"/>
              <a:t>sistema</a:t>
            </a:r>
            <a:r>
              <a:rPr dirty="0"/>
              <a:t>.</a:t>
            </a:r>
          </a:p>
          <a:p>
            <a:pPr>
              <a:defRPr sz="1400"/>
            </a:pPr>
            <a:r>
              <a:rPr dirty="0" err="1"/>
              <a:t>Permite</a:t>
            </a:r>
            <a:r>
              <a:rPr dirty="0"/>
              <a:t> la </a:t>
            </a:r>
            <a:r>
              <a:rPr dirty="0" err="1"/>
              <a:t>comunicación</a:t>
            </a:r>
            <a:r>
              <a:rPr dirty="0"/>
              <a:t> entre hardware y software, </a:t>
            </a:r>
            <a:r>
              <a:rPr dirty="0" err="1"/>
              <a:t>administrando</a:t>
            </a:r>
            <a:r>
              <a:rPr dirty="0"/>
              <a:t> </a:t>
            </a:r>
            <a:r>
              <a:rPr dirty="0" err="1"/>
              <a:t>recursos</a:t>
            </a:r>
            <a:r>
              <a:rPr dirty="0"/>
              <a:t>.</a:t>
            </a:r>
          </a:p>
          <a:p>
            <a:pPr>
              <a:defRPr sz="1400"/>
            </a:pPr>
            <a:r>
              <a:rPr dirty="0" err="1"/>
              <a:t>Ejemplo</a:t>
            </a:r>
            <a:r>
              <a:rPr dirty="0"/>
              <a:t>: </a:t>
            </a:r>
            <a:r>
              <a:rPr dirty="0" err="1"/>
              <a:t>En</a:t>
            </a:r>
            <a:r>
              <a:rPr dirty="0"/>
              <a:t> Linux, el Kernel </a:t>
            </a:r>
            <a:r>
              <a:rPr dirty="0" err="1"/>
              <a:t>gestiona</a:t>
            </a:r>
            <a:r>
              <a:rPr dirty="0"/>
              <a:t> CPU, </a:t>
            </a:r>
            <a:r>
              <a:rPr dirty="0" err="1"/>
              <a:t>memoria</a:t>
            </a:r>
            <a:r>
              <a:rPr dirty="0"/>
              <a:t> y </a:t>
            </a:r>
            <a:r>
              <a:rPr dirty="0" err="1"/>
              <a:t>dispositivos</a:t>
            </a:r>
            <a:r>
              <a:rPr dirty="0"/>
              <a:t>.</a:t>
            </a:r>
          </a:p>
        </p:txBody>
      </p:sp>
      <p:pic>
        <p:nvPicPr>
          <p:cNvPr id="4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FDF71140-A594-47FF-A745-844985FBB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3440" y="6160330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0" name="Picture 2" descr="Sistemas Operativos 1 : 1.5 Estructura: Niveles o Estratos de Diseño">
            <a:extLst>
              <a:ext uri="{FF2B5EF4-FFF2-40B4-BE49-F238E27FC236}">
                <a16:creationId xmlns:a16="http://schemas.microsoft.com/office/drawing/2014/main" id="{DDAA6816-B158-410B-832C-F8C9741FE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90" y="2588455"/>
            <a:ext cx="7391400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El Kernel - </a:t>
            </a:r>
            <a:r>
              <a:rPr dirty="0" err="1">
                <a:solidFill>
                  <a:srgbClr val="FF0000"/>
                </a:solidFill>
              </a:rPr>
              <a:t>Definición</a:t>
            </a:r>
            <a:r>
              <a:rPr dirty="0">
                <a:solidFill>
                  <a:srgbClr val="FF0000"/>
                </a:solidFill>
              </a:rPr>
              <a:t> y </a:t>
            </a:r>
            <a:r>
              <a:rPr dirty="0" err="1">
                <a:solidFill>
                  <a:srgbClr val="FF0000"/>
                </a:solidFill>
              </a:rPr>
              <a:t>Funciones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424354"/>
          </a:xfrm>
        </p:spPr>
        <p:txBody>
          <a:bodyPr/>
          <a:lstStyle/>
          <a:p>
            <a:pPr>
              <a:defRPr sz="1400"/>
            </a:pPr>
            <a:r>
              <a:rPr dirty="0"/>
              <a:t>Es el </a:t>
            </a:r>
            <a:r>
              <a:rPr dirty="0" err="1"/>
              <a:t>núcleo</a:t>
            </a:r>
            <a:r>
              <a:rPr dirty="0"/>
              <a:t> del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operativo</a:t>
            </a:r>
            <a:r>
              <a:rPr dirty="0"/>
              <a:t>, </a:t>
            </a:r>
            <a:r>
              <a:rPr dirty="0" err="1"/>
              <a:t>encargado</a:t>
            </a:r>
            <a:r>
              <a:rPr dirty="0"/>
              <a:t> de </a:t>
            </a:r>
            <a:r>
              <a:rPr dirty="0" err="1"/>
              <a:t>administrar</a:t>
            </a:r>
            <a:r>
              <a:rPr dirty="0"/>
              <a:t>:</a:t>
            </a:r>
          </a:p>
          <a:p>
            <a:pPr>
              <a:defRPr sz="1400"/>
            </a:pPr>
            <a:r>
              <a:rPr dirty="0"/>
              <a:t>- </a:t>
            </a:r>
            <a:r>
              <a:rPr dirty="0" err="1"/>
              <a:t>Procesos</a:t>
            </a:r>
            <a:r>
              <a:rPr dirty="0"/>
              <a:t>: </a:t>
            </a:r>
            <a:r>
              <a:rPr dirty="0" err="1"/>
              <a:t>planificación</a:t>
            </a:r>
            <a:r>
              <a:rPr dirty="0"/>
              <a:t>, </a:t>
            </a:r>
            <a:r>
              <a:rPr dirty="0" err="1"/>
              <a:t>ejecución</a:t>
            </a:r>
            <a:r>
              <a:rPr dirty="0"/>
              <a:t> y </a:t>
            </a:r>
            <a:r>
              <a:rPr dirty="0" err="1"/>
              <a:t>finalización</a:t>
            </a:r>
            <a:r>
              <a:rPr dirty="0"/>
              <a:t>.</a:t>
            </a:r>
          </a:p>
          <a:p>
            <a:pPr>
              <a:defRPr sz="1400"/>
            </a:pPr>
            <a:r>
              <a:rPr dirty="0"/>
              <a:t>- Memoria: </a:t>
            </a:r>
            <a:r>
              <a:rPr dirty="0" err="1"/>
              <a:t>asignación</a:t>
            </a:r>
            <a:r>
              <a:rPr dirty="0"/>
              <a:t>, </a:t>
            </a:r>
            <a:r>
              <a:rPr dirty="0" err="1"/>
              <a:t>protección</a:t>
            </a:r>
            <a:r>
              <a:rPr dirty="0"/>
              <a:t> y </a:t>
            </a:r>
            <a:r>
              <a:rPr dirty="0" err="1"/>
              <a:t>liberación</a:t>
            </a:r>
            <a:r>
              <a:rPr dirty="0"/>
              <a:t>.</a:t>
            </a:r>
          </a:p>
          <a:p>
            <a:pPr>
              <a:defRPr sz="1400"/>
            </a:pPr>
            <a:r>
              <a:rPr dirty="0"/>
              <a:t>- </a:t>
            </a:r>
            <a:r>
              <a:rPr dirty="0" err="1"/>
              <a:t>Dispositivos</a:t>
            </a:r>
            <a:r>
              <a:rPr dirty="0"/>
              <a:t>: </a:t>
            </a:r>
            <a:r>
              <a:rPr dirty="0" err="1"/>
              <a:t>controladores</a:t>
            </a:r>
            <a:r>
              <a:rPr dirty="0"/>
              <a:t> y </a:t>
            </a:r>
            <a:r>
              <a:rPr dirty="0" err="1"/>
              <a:t>comunicación</a:t>
            </a:r>
            <a:r>
              <a:rPr dirty="0"/>
              <a:t>.</a:t>
            </a:r>
          </a:p>
          <a:p>
            <a:pPr>
              <a:defRPr sz="1400"/>
            </a:pPr>
            <a:r>
              <a:rPr dirty="0" err="1"/>
              <a:t>Ejemplo</a:t>
            </a:r>
            <a:r>
              <a:rPr dirty="0"/>
              <a:t>: Linux Kernel 6.x </a:t>
            </a:r>
            <a:r>
              <a:rPr dirty="0" err="1"/>
              <a:t>soporta</a:t>
            </a:r>
            <a:r>
              <a:rPr dirty="0"/>
              <a:t> </a:t>
            </a:r>
            <a:r>
              <a:rPr dirty="0" err="1"/>
              <a:t>múltiples</a:t>
            </a:r>
            <a:r>
              <a:rPr dirty="0"/>
              <a:t> </a:t>
            </a:r>
            <a:r>
              <a:rPr dirty="0" err="1"/>
              <a:t>arquitecturas</a:t>
            </a:r>
            <a:r>
              <a:rPr dirty="0"/>
              <a:t> y drivers.</a:t>
            </a:r>
          </a:p>
        </p:txBody>
      </p:sp>
      <p:pic>
        <p:nvPicPr>
          <p:cNvPr id="4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018B9D33-FBD5-43B8-BFC6-61B3CD9DE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3440" y="6027029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 descr="Kernel, qué es y para que sirve">
            <a:extLst>
              <a:ext uri="{FF2B5EF4-FFF2-40B4-BE49-F238E27FC236}">
                <a16:creationId xmlns:a16="http://schemas.microsoft.com/office/drawing/2014/main" id="{570D9956-9609-4E5C-815A-C3F07B3BB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12" y="3207118"/>
            <a:ext cx="2472250" cy="2940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Qué es el kernel en informática">
            <a:extLst>
              <a:ext uri="{FF2B5EF4-FFF2-40B4-BE49-F238E27FC236}">
                <a16:creationId xmlns:a16="http://schemas.microsoft.com/office/drawing/2014/main" id="{9AE93D51-34AA-420B-8ADF-B3FAA336A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3034" y="3343911"/>
            <a:ext cx="4445391" cy="2500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rgbClr val="FF0000"/>
                </a:solidFill>
              </a:rPr>
              <a:t>Tipos</a:t>
            </a:r>
            <a:r>
              <a:rPr dirty="0">
                <a:solidFill>
                  <a:srgbClr val="FF0000"/>
                </a:solidFill>
              </a:rPr>
              <a:t> de Kernel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4938"/>
            <a:ext cx="8229600" cy="1705708"/>
          </a:xfrm>
        </p:spPr>
        <p:txBody>
          <a:bodyPr/>
          <a:lstStyle/>
          <a:p>
            <a:pPr marL="0" indent="0">
              <a:buNone/>
              <a:defRPr sz="1400"/>
            </a:pPr>
            <a:r>
              <a:rPr dirty="0"/>
              <a:t>1. </a:t>
            </a:r>
            <a:r>
              <a:rPr dirty="0" err="1"/>
              <a:t>Monolítico</a:t>
            </a:r>
            <a:r>
              <a:rPr dirty="0"/>
              <a:t>: </a:t>
            </a:r>
            <a:r>
              <a:rPr dirty="0" err="1"/>
              <a:t>Todo</a:t>
            </a:r>
            <a:r>
              <a:rPr dirty="0"/>
              <a:t> el </a:t>
            </a:r>
            <a:r>
              <a:rPr dirty="0" err="1"/>
              <a:t>código</a:t>
            </a:r>
            <a:r>
              <a:rPr dirty="0"/>
              <a:t> del kernel se </a:t>
            </a:r>
            <a:r>
              <a:rPr dirty="0" err="1"/>
              <a:t>ejecuta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modo supervisor.</a:t>
            </a:r>
          </a:p>
          <a:p>
            <a:pPr marL="0" indent="0">
              <a:buNone/>
              <a:defRPr sz="1400"/>
            </a:pPr>
            <a:r>
              <a:rPr dirty="0"/>
              <a:t>2. Microkernel: </a:t>
            </a:r>
            <a:r>
              <a:rPr dirty="0" err="1"/>
              <a:t>Funciones</a:t>
            </a:r>
            <a:r>
              <a:rPr dirty="0"/>
              <a:t> </a:t>
            </a:r>
            <a:r>
              <a:rPr dirty="0" err="1"/>
              <a:t>básicas</a:t>
            </a:r>
            <a:r>
              <a:rPr dirty="0"/>
              <a:t>, el resto se </a:t>
            </a:r>
            <a:r>
              <a:rPr dirty="0" err="1"/>
              <a:t>ejecuta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servicios</a:t>
            </a:r>
            <a:r>
              <a:rPr dirty="0"/>
              <a:t>.</a:t>
            </a:r>
          </a:p>
          <a:p>
            <a:pPr marL="0" indent="0">
              <a:buNone/>
              <a:defRPr sz="1400"/>
            </a:pPr>
            <a:r>
              <a:rPr dirty="0"/>
              <a:t>3. </a:t>
            </a:r>
            <a:r>
              <a:rPr dirty="0" err="1"/>
              <a:t>Híbrido</a:t>
            </a:r>
            <a:r>
              <a:rPr dirty="0"/>
              <a:t>: </a:t>
            </a:r>
            <a:r>
              <a:rPr dirty="0" err="1"/>
              <a:t>Combinación</a:t>
            </a:r>
            <a:r>
              <a:rPr dirty="0"/>
              <a:t> de ambos.</a:t>
            </a:r>
          </a:p>
          <a:p>
            <a:pPr marL="0" indent="0">
              <a:buNone/>
              <a:defRPr sz="1400"/>
            </a:pPr>
            <a:r>
              <a:rPr dirty="0" err="1"/>
              <a:t>Tabla</a:t>
            </a:r>
            <a:r>
              <a:rPr dirty="0"/>
              <a:t> </a:t>
            </a:r>
            <a:r>
              <a:rPr dirty="0" err="1"/>
              <a:t>comparativa</a:t>
            </a:r>
            <a:r>
              <a:rPr dirty="0"/>
              <a:t>:</a:t>
            </a:r>
          </a:p>
          <a:p>
            <a:pPr marL="0" indent="0">
              <a:buNone/>
              <a:defRPr sz="1400"/>
            </a:pPr>
            <a:r>
              <a:rPr dirty="0" err="1"/>
              <a:t>Monolítico</a:t>
            </a:r>
            <a:r>
              <a:rPr dirty="0"/>
              <a:t>: </a:t>
            </a:r>
            <a:r>
              <a:rPr dirty="0" err="1"/>
              <a:t>rendimiento</a:t>
            </a:r>
            <a:r>
              <a:rPr dirty="0"/>
              <a:t> alto, </a:t>
            </a:r>
            <a:r>
              <a:rPr dirty="0" err="1"/>
              <a:t>difícil</a:t>
            </a:r>
            <a:r>
              <a:rPr dirty="0"/>
              <a:t> </a:t>
            </a:r>
            <a:r>
              <a:rPr dirty="0" err="1"/>
              <a:t>mantenimiento</a:t>
            </a:r>
            <a:r>
              <a:rPr dirty="0"/>
              <a:t>.</a:t>
            </a:r>
          </a:p>
          <a:p>
            <a:pPr marL="0" indent="0">
              <a:buNone/>
              <a:defRPr sz="1400"/>
            </a:pPr>
            <a:r>
              <a:rPr dirty="0"/>
              <a:t>Microkernel: </a:t>
            </a:r>
            <a:r>
              <a:rPr dirty="0" err="1"/>
              <a:t>modularidad</a:t>
            </a:r>
            <a:r>
              <a:rPr dirty="0"/>
              <a:t> </a:t>
            </a:r>
            <a:r>
              <a:rPr dirty="0" err="1"/>
              <a:t>alta</a:t>
            </a:r>
            <a:r>
              <a:rPr dirty="0"/>
              <a:t>, </a:t>
            </a:r>
            <a:r>
              <a:rPr dirty="0" err="1"/>
              <a:t>menor</a:t>
            </a:r>
            <a:r>
              <a:rPr dirty="0"/>
              <a:t> </a:t>
            </a:r>
            <a:r>
              <a:rPr dirty="0" err="1"/>
              <a:t>rendimiento</a:t>
            </a:r>
            <a:r>
              <a:rPr dirty="0"/>
              <a:t>.</a:t>
            </a:r>
          </a:p>
        </p:txBody>
      </p:sp>
      <p:pic>
        <p:nvPicPr>
          <p:cNvPr id="4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F2BEE771-F2EA-43C2-B504-DC5FF1D25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29" y="5724696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KERNEL :: SISTEMAS OPERATIVOS">
            <a:extLst>
              <a:ext uri="{FF2B5EF4-FFF2-40B4-BE49-F238E27FC236}">
                <a16:creationId xmlns:a16="http://schemas.microsoft.com/office/drawing/2014/main" id="{E1EB815E-8D9E-493A-B145-D65E6E254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947" y="2897945"/>
            <a:ext cx="5921053" cy="3912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Shell - </a:t>
            </a:r>
            <a:r>
              <a:rPr dirty="0" err="1">
                <a:solidFill>
                  <a:srgbClr val="FF0000"/>
                </a:solidFill>
              </a:rPr>
              <a:t>Definición</a:t>
            </a:r>
            <a:r>
              <a:rPr dirty="0">
                <a:solidFill>
                  <a:srgbClr val="FF0000"/>
                </a:solidFill>
              </a:rPr>
              <a:t> y </a:t>
            </a:r>
            <a:r>
              <a:rPr dirty="0" err="1">
                <a:solidFill>
                  <a:srgbClr val="FF0000"/>
                </a:solidFill>
              </a:rPr>
              <a:t>Funciones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dirty="0"/>
              <a:t>Es el </a:t>
            </a:r>
            <a:r>
              <a:rPr dirty="0" err="1"/>
              <a:t>intérprete</a:t>
            </a:r>
            <a:r>
              <a:rPr dirty="0"/>
              <a:t> de </a:t>
            </a:r>
            <a:r>
              <a:rPr dirty="0" err="1"/>
              <a:t>comandos</a:t>
            </a:r>
            <a:r>
              <a:rPr dirty="0"/>
              <a:t> que </a:t>
            </a:r>
            <a:r>
              <a:rPr dirty="0" err="1"/>
              <a:t>permite</a:t>
            </a:r>
            <a:r>
              <a:rPr dirty="0"/>
              <a:t> al </a:t>
            </a:r>
            <a:r>
              <a:rPr dirty="0" err="1"/>
              <a:t>usuario</a:t>
            </a:r>
            <a:r>
              <a:rPr dirty="0"/>
              <a:t> </a:t>
            </a:r>
            <a:r>
              <a:rPr dirty="0" err="1"/>
              <a:t>interactuar</a:t>
            </a:r>
            <a:r>
              <a:rPr dirty="0"/>
              <a:t> con el SO.</a:t>
            </a:r>
          </a:p>
          <a:p>
            <a:pPr>
              <a:defRPr sz="1400"/>
            </a:pPr>
            <a:r>
              <a:rPr dirty="0" err="1"/>
              <a:t>Tipos</a:t>
            </a:r>
            <a:r>
              <a:rPr dirty="0"/>
              <a:t>:</a:t>
            </a:r>
          </a:p>
          <a:p>
            <a:pPr>
              <a:defRPr sz="1400"/>
            </a:pPr>
            <a:r>
              <a:rPr dirty="0"/>
              <a:t>- Shell de </a:t>
            </a:r>
            <a:r>
              <a:rPr dirty="0" err="1"/>
              <a:t>texto</a:t>
            </a:r>
            <a:r>
              <a:rPr dirty="0"/>
              <a:t> (Bash, </a:t>
            </a:r>
            <a:r>
              <a:rPr dirty="0" err="1"/>
              <a:t>Zsh</a:t>
            </a:r>
            <a:r>
              <a:rPr dirty="0"/>
              <a:t>)</a:t>
            </a:r>
          </a:p>
          <a:p>
            <a:pPr>
              <a:defRPr sz="1400"/>
            </a:pPr>
            <a:r>
              <a:rPr dirty="0"/>
              <a:t>- Shell </a:t>
            </a:r>
            <a:r>
              <a:rPr dirty="0" err="1"/>
              <a:t>gráfico</a:t>
            </a:r>
            <a:r>
              <a:rPr dirty="0"/>
              <a:t> (GUI)</a:t>
            </a:r>
          </a:p>
          <a:p>
            <a:pPr>
              <a:defRPr sz="1400"/>
            </a:pPr>
            <a:r>
              <a:rPr dirty="0" err="1"/>
              <a:t>Ejemplo</a:t>
            </a:r>
            <a:r>
              <a:rPr dirty="0"/>
              <a:t>: Bash es la shell por </a:t>
            </a:r>
            <a:r>
              <a:rPr dirty="0" err="1"/>
              <a:t>defecto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mayoría</a:t>
            </a:r>
            <a:r>
              <a:rPr dirty="0"/>
              <a:t> de </a:t>
            </a:r>
            <a:r>
              <a:rPr dirty="0" err="1"/>
              <a:t>distribuciones</a:t>
            </a:r>
            <a:r>
              <a:rPr dirty="0"/>
              <a:t> Linux.</a:t>
            </a:r>
          </a:p>
        </p:txBody>
      </p:sp>
      <p:pic>
        <p:nvPicPr>
          <p:cNvPr id="4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A86A4BB7-6F9D-4CE7-819A-CE403BDFE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3440" y="6027029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El entorno del SHELL - weblinus">
            <a:extLst>
              <a:ext uri="{FF2B5EF4-FFF2-40B4-BE49-F238E27FC236}">
                <a16:creationId xmlns:a16="http://schemas.microsoft.com/office/drawing/2014/main" id="{D3EEB652-EC3C-4E02-B311-240FA8573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191046"/>
            <a:ext cx="6553200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rgbClr val="FF0000"/>
                </a:solidFill>
              </a:rPr>
              <a:t>Proceso</a:t>
            </a:r>
            <a:r>
              <a:rPr dirty="0">
                <a:solidFill>
                  <a:srgbClr val="FF0000"/>
                </a:solidFill>
              </a:rPr>
              <a:t> de </a:t>
            </a:r>
            <a:r>
              <a:rPr dirty="0" err="1">
                <a:solidFill>
                  <a:srgbClr val="FF0000"/>
                </a:solidFill>
              </a:rPr>
              <a:t>Arranque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0712"/>
            <a:ext cx="8229600" cy="1705708"/>
          </a:xfrm>
        </p:spPr>
        <p:txBody>
          <a:bodyPr/>
          <a:lstStyle/>
          <a:p>
            <a:pPr marL="0" indent="0">
              <a:buNone/>
              <a:defRPr sz="1400"/>
            </a:pPr>
            <a:r>
              <a:rPr dirty="0" err="1"/>
              <a:t>Etapas</a:t>
            </a:r>
            <a:r>
              <a:rPr dirty="0"/>
              <a:t>:</a:t>
            </a:r>
          </a:p>
          <a:p>
            <a:pPr marL="0" indent="0">
              <a:buNone/>
              <a:defRPr sz="1400"/>
            </a:pPr>
            <a:r>
              <a:rPr dirty="0"/>
              <a:t>1. BIOS/UEFI: </a:t>
            </a:r>
            <a:r>
              <a:rPr dirty="0" err="1"/>
              <a:t>inicializa</a:t>
            </a:r>
            <a:r>
              <a:rPr dirty="0"/>
              <a:t> hardware.</a:t>
            </a:r>
          </a:p>
          <a:p>
            <a:pPr marL="0" indent="0">
              <a:buNone/>
              <a:defRPr sz="1400"/>
            </a:pPr>
            <a:r>
              <a:rPr dirty="0"/>
              <a:t>2. </a:t>
            </a:r>
            <a:r>
              <a:rPr dirty="0" err="1"/>
              <a:t>Cargador</a:t>
            </a:r>
            <a:r>
              <a:rPr dirty="0"/>
              <a:t> de </a:t>
            </a:r>
            <a:r>
              <a:rPr dirty="0" err="1"/>
              <a:t>arranque</a:t>
            </a:r>
            <a:r>
              <a:rPr dirty="0"/>
              <a:t> (GRUB): </a:t>
            </a:r>
            <a:r>
              <a:rPr dirty="0" err="1"/>
              <a:t>selecciona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.</a:t>
            </a:r>
          </a:p>
          <a:p>
            <a:pPr marL="0" indent="0">
              <a:buNone/>
              <a:defRPr sz="1400"/>
            </a:pPr>
            <a:r>
              <a:rPr dirty="0"/>
              <a:t>3. Kernel: se </a:t>
            </a:r>
            <a:r>
              <a:rPr dirty="0" err="1"/>
              <a:t>carga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memoria</a:t>
            </a:r>
            <a:r>
              <a:rPr dirty="0"/>
              <a:t> y se </a:t>
            </a:r>
            <a:r>
              <a:rPr dirty="0" err="1"/>
              <a:t>inicia</a:t>
            </a:r>
            <a:r>
              <a:rPr dirty="0"/>
              <a:t>.</a:t>
            </a:r>
          </a:p>
          <a:p>
            <a:pPr marL="0" indent="0">
              <a:buNone/>
              <a:defRPr sz="1400"/>
            </a:pPr>
            <a:r>
              <a:rPr dirty="0"/>
              <a:t>4. Init/</a:t>
            </a:r>
            <a:r>
              <a:rPr dirty="0" err="1"/>
              <a:t>systemd</a:t>
            </a:r>
            <a:r>
              <a:rPr dirty="0"/>
              <a:t>: </a:t>
            </a:r>
            <a:r>
              <a:rPr dirty="0" err="1"/>
              <a:t>arranca</a:t>
            </a:r>
            <a:r>
              <a:rPr dirty="0"/>
              <a:t> </a:t>
            </a:r>
            <a:r>
              <a:rPr dirty="0" err="1"/>
              <a:t>servicios</a:t>
            </a:r>
            <a:r>
              <a:rPr dirty="0"/>
              <a:t> y </a:t>
            </a:r>
            <a:r>
              <a:rPr dirty="0" err="1"/>
              <a:t>sesiones</a:t>
            </a:r>
            <a:r>
              <a:rPr dirty="0"/>
              <a:t>.</a:t>
            </a:r>
          </a:p>
          <a:p>
            <a:pPr marL="0" indent="0">
              <a:buNone/>
              <a:defRPr sz="1400"/>
            </a:pPr>
            <a:r>
              <a:rPr dirty="0" err="1"/>
              <a:t>Ejemplo</a:t>
            </a:r>
            <a:r>
              <a:rPr dirty="0"/>
              <a:t>: GRUB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seleccionar</a:t>
            </a:r>
            <a:r>
              <a:rPr dirty="0"/>
              <a:t> entre Windows y Linux.</a:t>
            </a:r>
          </a:p>
        </p:txBody>
      </p:sp>
      <p:pic>
        <p:nvPicPr>
          <p:cNvPr id="4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6B894922-B8B2-43E2-AED2-0BF4B6C93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3440" y="6027029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Arranque: ¿Cómo funciona el proceso de inicio de un sistema operativo?">
            <a:extLst>
              <a:ext uri="{FF2B5EF4-FFF2-40B4-BE49-F238E27FC236}">
                <a16:creationId xmlns:a16="http://schemas.microsoft.com/office/drawing/2014/main" id="{44955312-FABA-4EE0-9B7C-253426A1D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84" y="3305909"/>
            <a:ext cx="4856110" cy="3253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Software Libre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002323"/>
          </a:xfrm>
        </p:spPr>
        <p:txBody>
          <a:bodyPr/>
          <a:lstStyle/>
          <a:p>
            <a:pPr>
              <a:defRPr sz="1400"/>
            </a:pPr>
            <a:r>
              <a:rPr dirty="0" err="1"/>
              <a:t>Definición</a:t>
            </a:r>
            <a:r>
              <a:rPr dirty="0"/>
              <a:t>: Software que </a:t>
            </a:r>
            <a:r>
              <a:rPr dirty="0" err="1"/>
              <a:t>garantiza</a:t>
            </a:r>
            <a:r>
              <a:rPr dirty="0"/>
              <a:t> </a:t>
            </a:r>
            <a:r>
              <a:rPr dirty="0" err="1"/>
              <a:t>libertad</a:t>
            </a:r>
            <a:r>
              <a:rPr dirty="0"/>
              <a:t> de </a:t>
            </a:r>
            <a:r>
              <a:rPr dirty="0" err="1"/>
              <a:t>uso</a:t>
            </a:r>
            <a:r>
              <a:rPr dirty="0"/>
              <a:t>, </a:t>
            </a:r>
            <a:r>
              <a:rPr dirty="0" err="1"/>
              <a:t>estudio</a:t>
            </a:r>
            <a:r>
              <a:rPr dirty="0"/>
              <a:t>, </a:t>
            </a:r>
            <a:r>
              <a:rPr dirty="0" err="1"/>
              <a:t>modificación</a:t>
            </a:r>
            <a:r>
              <a:rPr dirty="0"/>
              <a:t> y </a:t>
            </a:r>
            <a:r>
              <a:rPr dirty="0" err="1"/>
              <a:t>distribución</a:t>
            </a:r>
            <a:r>
              <a:rPr dirty="0"/>
              <a:t>.</a:t>
            </a:r>
          </a:p>
          <a:p>
            <a:pPr>
              <a:defRPr sz="1400"/>
            </a:pPr>
            <a:r>
              <a:rPr dirty="0" err="1"/>
              <a:t>Ejemplo</a:t>
            </a:r>
            <a:r>
              <a:rPr dirty="0"/>
              <a:t>: GNU/Linux, LibreOffice.</a:t>
            </a:r>
          </a:p>
          <a:p>
            <a:pPr>
              <a:defRPr sz="1400"/>
            </a:pPr>
            <a:r>
              <a:rPr dirty="0" err="1"/>
              <a:t>Ventajas</a:t>
            </a:r>
            <a:r>
              <a:rPr dirty="0"/>
              <a:t>: </a:t>
            </a:r>
            <a:r>
              <a:rPr dirty="0" err="1"/>
              <a:t>transparencia</a:t>
            </a:r>
            <a:r>
              <a:rPr dirty="0"/>
              <a:t>, </a:t>
            </a:r>
            <a:r>
              <a:rPr dirty="0" err="1"/>
              <a:t>comunidad</a:t>
            </a:r>
            <a:r>
              <a:rPr dirty="0"/>
              <a:t>, sin </a:t>
            </a:r>
            <a:r>
              <a:rPr dirty="0" err="1"/>
              <a:t>costos</a:t>
            </a:r>
            <a:r>
              <a:rPr dirty="0"/>
              <a:t> de </a:t>
            </a:r>
            <a:r>
              <a:rPr dirty="0" err="1"/>
              <a:t>licencia</a:t>
            </a:r>
            <a:r>
              <a:rPr dirty="0"/>
              <a:t>.</a:t>
            </a:r>
          </a:p>
        </p:txBody>
      </p:sp>
      <p:pic>
        <p:nvPicPr>
          <p:cNvPr id="4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D5AD731F-F5DA-4C0D-A769-E2A2C0650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3440" y="6027029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Software libre | SistemaLMS Wiki | Fandom">
            <a:extLst>
              <a:ext uri="{FF2B5EF4-FFF2-40B4-BE49-F238E27FC236}">
                <a16:creationId xmlns:a16="http://schemas.microsoft.com/office/drawing/2014/main" id="{612CAFB2-811B-49AB-A7E9-7D958CDB0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717" y="2998274"/>
            <a:ext cx="32004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rgbClr val="FF0000"/>
                </a:solidFill>
              </a:rPr>
              <a:t>Distribuciones</a:t>
            </a:r>
            <a:r>
              <a:rPr dirty="0">
                <a:solidFill>
                  <a:srgbClr val="FF0000"/>
                </a:solidFill>
              </a:rPr>
              <a:t> de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0951" y="1428189"/>
            <a:ext cx="2722098" cy="1480625"/>
          </a:xfrm>
        </p:spPr>
        <p:txBody>
          <a:bodyPr/>
          <a:lstStyle/>
          <a:p>
            <a:pPr>
              <a:defRPr sz="1400"/>
            </a:pPr>
            <a:r>
              <a:rPr dirty="0" err="1"/>
              <a:t>Ejemplos</a:t>
            </a:r>
            <a:r>
              <a:rPr dirty="0"/>
              <a:t>:</a:t>
            </a:r>
          </a:p>
          <a:p>
            <a:pPr>
              <a:defRPr sz="1400"/>
            </a:pPr>
            <a:r>
              <a:rPr dirty="0"/>
              <a:t>- Ubuntu: </a:t>
            </a:r>
            <a:r>
              <a:rPr dirty="0" err="1"/>
              <a:t>fácil</a:t>
            </a:r>
            <a:r>
              <a:rPr dirty="0"/>
              <a:t> de </a:t>
            </a:r>
            <a:r>
              <a:rPr dirty="0" err="1"/>
              <a:t>usar</a:t>
            </a:r>
            <a:r>
              <a:rPr dirty="0"/>
              <a:t>.</a:t>
            </a:r>
          </a:p>
          <a:p>
            <a:pPr>
              <a:defRPr sz="1400"/>
            </a:pPr>
            <a:r>
              <a:rPr dirty="0"/>
              <a:t>- Fedora: </a:t>
            </a:r>
            <a:r>
              <a:rPr dirty="0" err="1"/>
              <a:t>últimas</a:t>
            </a:r>
            <a:r>
              <a:rPr dirty="0"/>
              <a:t> </a:t>
            </a:r>
            <a:r>
              <a:rPr dirty="0" err="1"/>
              <a:t>tecnologías</a:t>
            </a:r>
            <a:r>
              <a:rPr dirty="0"/>
              <a:t>.</a:t>
            </a:r>
          </a:p>
          <a:p>
            <a:pPr>
              <a:defRPr sz="1400"/>
            </a:pPr>
            <a:r>
              <a:rPr dirty="0"/>
              <a:t>- Debian: </a:t>
            </a:r>
            <a:r>
              <a:rPr dirty="0" err="1"/>
              <a:t>estabilidad</a:t>
            </a:r>
            <a:r>
              <a:rPr dirty="0"/>
              <a:t>..</a:t>
            </a:r>
          </a:p>
        </p:txBody>
      </p:sp>
      <p:pic>
        <p:nvPicPr>
          <p:cNvPr id="4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8AE56D8A-131C-41A5-8199-364717676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3440" y="6027029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Las distribuciones Linux más buscadas de 2015">
            <a:extLst>
              <a:ext uri="{FF2B5EF4-FFF2-40B4-BE49-F238E27FC236}">
                <a16:creationId xmlns:a16="http://schemas.microsoft.com/office/drawing/2014/main" id="{877FCD5E-ABCC-4DFB-9B1A-443697C63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5" y="2836154"/>
            <a:ext cx="6572250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rgbClr val="FF0000"/>
                </a:solidFill>
              </a:rPr>
              <a:t>Comando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pwd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39683" y="1624820"/>
            <a:ext cx="3664634" cy="1044526"/>
          </a:xfrm>
        </p:spPr>
        <p:txBody>
          <a:bodyPr/>
          <a:lstStyle/>
          <a:p>
            <a:pPr>
              <a:defRPr sz="1400"/>
            </a:pPr>
            <a:r>
              <a:rPr dirty="0" err="1"/>
              <a:t>Muestra</a:t>
            </a:r>
            <a:r>
              <a:rPr dirty="0"/>
              <a:t> el </a:t>
            </a:r>
            <a:r>
              <a:rPr dirty="0" err="1"/>
              <a:t>directorio</a:t>
            </a:r>
            <a:r>
              <a:rPr dirty="0"/>
              <a:t> de </a:t>
            </a:r>
            <a:r>
              <a:rPr dirty="0" err="1"/>
              <a:t>trabajo</a:t>
            </a:r>
            <a:r>
              <a:rPr dirty="0"/>
              <a:t> actual.</a:t>
            </a:r>
          </a:p>
          <a:p>
            <a:pPr>
              <a:defRPr sz="1400"/>
            </a:pPr>
            <a:r>
              <a:rPr dirty="0" err="1"/>
              <a:t>Ejemplo</a:t>
            </a:r>
            <a:r>
              <a:rPr dirty="0"/>
              <a:t>: /home/</a:t>
            </a:r>
            <a:r>
              <a:rPr dirty="0" err="1"/>
              <a:t>usuario</a:t>
            </a:r>
            <a:endParaRPr dirty="0"/>
          </a:p>
          <a:p>
            <a:pPr>
              <a:defRPr sz="1400"/>
            </a:pPr>
            <a:r>
              <a:rPr dirty="0" err="1"/>
              <a:t>Uso</a:t>
            </a:r>
            <a:r>
              <a:rPr dirty="0"/>
              <a:t>: </a:t>
            </a:r>
            <a:r>
              <a:rPr dirty="0" err="1"/>
              <a:t>pwd</a:t>
            </a:r>
            <a:endParaRPr dirty="0"/>
          </a:p>
        </p:txBody>
      </p:sp>
      <p:pic>
        <p:nvPicPr>
          <p:cNvPr id="4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DCCBFB4C-BF09-4D07-A26B-9C83AAF55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3440" y="6027029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wd - Wikipedia, la enciclopedia libre">
            <a:extLst>
              <a:ext uri="{FF2B5EF4-FFF2-40B4-BE49-F238E27FC236}">
                <a16:creationId xmlns:a16="http://schemas.microsoft.com/office/drawing/2014/main" id="{8D7224B9-B2E8-4BAD-93AA-9DA13AD41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175" y="3081142"/>
            <a:ext cx="4057650" cy="233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rgbClr val="FF0000"/>
                </a:solidFill>
              </a:rPr>
              <a:t>Comando</a:t>
            </a:r>
            <a:r>
              <a:rPr dirty="0">
                <a:solidFill>
                  <a:srgbClr val="FF0000"/>
                </a:solidFill>
              </a:rPr>
              <a:t> 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0187" y="1417638"/>
            <a:ext cx="2623625" cy="1016391"/>
          </a:xfrm>
        </p:spPr>
        <p:txBody>
          <a:bodyPr/>
          <a:lstStyle/>
          <a:p>
            <a:pPr>
              <a:defRPr sz="1400"/>
            </a:pPr>
            <a:r>
              <a:rPr dirty="0"/>
              <a:t>Cambia de </a:t>
            </a:r>
            <a:r>
              <a:rPr dirty="0" err="1"/>
              <a:t>directorio</a:t>
            </a:r>
            <a:r>
              <a:rPr dirty="0"/>
              <a:t>.</a:t>
            </a:r>
          </a:p>
          <a:p>
            <a:pPr>
              <a:defRPr sz="1400"/>
            </a:pPr>
            <a:r>
              <a:rPr dirty="0" err="1"/>
              <a:t>Ejemplo</a:t>
            </a:r>
            <a:r>
              <a:rPr dirty="0"/>
              <a:t>: cd /</a:t>
            </a:r>
            <a:r>
              <a:rPr dirty="0" err="1"/>
              <a:t>etc</a:t>
            </a:r>
            <a:endParaRPr dirty="0"/>
          </a:p>
          <a:p>
            <a:pPr>
              <a:defRPr sz="1400"/>
            </a:pPr>
            <a:r>
              <a:rPr dirty="0" err="1"/>
              <a:t>Notas</a:t>
            </a:r>
            <a:r>
              <a:rPr dirty="0"/>
              <a:t>: cd .. </a:t>
            </a:r>
            <a:r>
              <a:rPr dirty="0" err="1"/>
              <a:t>sube</a:t>
            </a:r>
            <a:r>
              <a:rPr dirty="0"/>
              <a:t> un </a:t>
            </a:r>
            <a:r>
              <a:rPr dirty="0" err="1"/>
              <a:t>nivel</a:t>
            </a:r>
            <a:r>
              <a:rPr dirty="0"/>
              <a:t>.</a:t>
            </a:r>
          </a:p>
        </p:txBody>
      </p:sp>
      <p:pic>
        <p:nvPicPr>
          <p:cNvPr id="4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041745C6-73B9-4B4F-B5B2-EF13C1231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3440" y="6027029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Comando CD en CMD - Sintaxis y ejemplos de uso | Tutorial de CMD |  Abrirllave.com">
            <a:extLst>
              <a:ext uri="{FF2B5EF4-FFF2-40B4-BE49-F238E27FC236}">
                <a16:creationId xmlns:a16="http://schemas.microsoft.com/office/drawing/2014/main" id="{C5F632EF-608A-4FC8-82FF-54D595280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688" y="2630487"/>
            <a:ext cx="4238625" cy="280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rgbClr val="FF0000"/>
                </a:solidFill>
              </a:rPr>
              <a:t>Comando</a:t>
            </a:r>
            <a:r>
              <a:rPr dirty="0">
                <a:solidFill>
                  <a:srgbClr val="FF0000"/>
                </a:solidFill>
              </a:rPr>
              <a:t> 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5867" y="1417638"/>
            <a:ext cx="3172265" cy="974188"/>
          </a:xfrm>
        </p:spPr>
        <p:txBody>
          <a:bodyPr/>
          <a:lstStyle/>
          <a:p>
            <a:pPr>
              <a:defRPr sz="1400"/>
            </a:pPr>
            <a:r>
              <a:rPr dirty="0"/>
              <a:t>Lista </a:t>
            </a:r>
            <a:r>
              <a:rPr dirty="0" err="1"/>
              <a:t>archivos</a:t>
            </a:r>
            <a:r>
              <a:rPr dirty="0"/>
              <a:t> y </a:t>
            </a:r>
            <a:r>
              <a:rPr dirty="0" err="1"/>
              <a:t>directorios</a:t>
            </a:r>
            <a:r>
              <a:rPr dirty="0"/>
              <a:t>.</a:t>
            </a:r>
          </a:p>
          <a:p>
            <a:pPr>
              <a:defRPr sz="1400"/>
            </a:pPr>
            <a:r>
              <a:rPr dirty="0" err="1"/>
              <a:t>Opciones</a:t>
            </a:r>
            <a:r>
              <a:rPr dirty="0"/>
              <a:t>: -l (</a:t>
            </a:r>
            <a:r>
              <a:rPr dirty="0" err="1"/>
              <a:t>detalles</a:t>
            </a:r>
            <a:r>
              <a:rPr dirty="0"/>
              <a:t>), -a (</a:t>
            </a:r>
            <a:r>
              <a:rPr dirty="0" err="1"/>
              <a:t>ocultos</a:t>
            </a:r>
            <a:r>
              <a:rPr dirty="0"/>
              <a:t>)</a:t>
            </a:r>
          </a:p>
          <a:p>
            <a:pPr>
              <a:defRPr sz="1400"/>
            </a:pPr>
            <a:r>
              <a:rPr dirty="0" err="1"/>
              <a:t>Ejemplo</a:t>
            </a:r>
            <a:r>
              <a:rPr dirty="0"/>
              <a:t>: ls -la</a:t>
            </a:r>
          </a:p>
        </p:txBody>
      </p:sp>
      <p:pic>
        <p:nvPicPr>
          <p:cNvPr id="4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867DAF5F-AB90-4E4E-803D-4E966949A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3440" y="6027029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ls - Wikipedia, la enciclopedia libre">
            <a:extLst>
              <a:ext uri="{FF2B5EF4-FFF2-40B4-BE49-F238E27FC236}">
                <a16:creationId xmlns:a16="http://schemas.microsoft.com/office/drawing/2014/main" id="{7164CE7E-3C72-4AE4-B8A0-9B7F30AFE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286" y="2560638"/>
            <a:ext cx="4273428" cy="2825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rgbClr val="FF0000"/>
                </a:solidFill>
              </a:rPr>
              <a:t>Comando</a:t>
            </a:r>
            <a:r>
              <a:rPr dirty="0">
                <a:solidFill>
                  <a:srgbClr val="FF0000"/>
                </a:solidFill>
              </a:rPr>
              <a:t> cat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4175" y="1417638"/>
            <a:ext cx="3875649" cy="889782"/>
          </a:xfrm>
        </p:spPr>
        <p:txBody>
          <a:bodyPr/>
          <a:lstStyle/>
          <a:p>
            <a:pPr>
              <a:defRPr sz="1400"/>
            </a:pPr>
            <a:r>
              <a:rPr dirty="0" err="1"/>
              <a:t>Muestra</a:t>
            </a:r>
            <a:r>
              <a:rPr dirty="0"/>
              <a:t> el </a:t>
            </a:r>
            <a:r>
              <a:rPr dirty="0" err="1"/>
              <a:t>contenido</a:t>
            </a:r>
            <a:r>
              <a:rPr dirty="0"/>
              <a:t> de un </a:t>
            </a:r>
            <a:r>
              <a:rPr dirty="0" err="1"/>
              <a:t>archivo</a:t>
            </a:r>
            <a:r>
              <a:rPr dirty="0"/>
              <a:t>.</a:t>
            </a:r>
          </a:p>
          <a:p>
            <a:pPr>
              <a:defRPr sz="1400"/>
            </a:pPr>
            <a:r>
              <a:rPr dirty="0" err="1"/>
              <a:t>Ejemplo</a:t>
            </a:r>
            <a:r>
              <a:rPr dirty="0"/>
              <a:t>: cat archivo.txt</a:t>
            </a:r>
          </a:p>
          <a:p>
            <a:pPr>
              <a:defRPr sz="1400"/>
            </a:pPr>
            <a:r>
              <a:rPr dirty="0" err="1"/>
              <a:t>Limitaciones</a:t>
            </a:r>
            <a:r>
              <a:rPr dirty="0"/>
              <a:t>: no es ideal para </a:t>
            </a:r>
            <a:r>
              <a:rPr dirty="0" err="1"/>
              <a:t>archivos</a:t>
            </a:r>
            <a:r>
              <a:rPr dirty="0"/>
              <a:t> largos.</a:t>
            </a:r>
          </a:p>
        </p:txBody>
      </p:sp>
      <p:pic>
        <p:nvPicPr>
          <p:cNvPr id="4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56F2723C-1BDB-49EE-951F-2AF8BB2AC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3440" y="6027029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ómo usar comando cat Linux - Solvetic">
            <a:extLst>
              <a:ext uri="{FF2B5EF4-FFF2-40B4-BE49-F238E27FC236}">
                <a16:creationId xmlns:a16="http://schemas.microsoft.com/office/drawing/2014/main" id="{79E77E73-0040-407D-8275-777ACBA18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3872" y="2356255"/>
            <a:ext cx="5196253" cy="3445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rgbClr val="FF0000"/>
                </a:solidFill>
              </a:rPr>
              <a:t>Comandos</a:t>
            </a:r>
            <a:r>
              <a:rPr dirty="0">
                <a:solidFill>
                  <a:srgbClr val="FF0000"/>
                </a:solidFill>
              </a:rPr>
              <a:t> more y less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7652" y="1276644"/>
            <a:ext cx="4508695" cy="960120"/>
          </a:xfrm>
        </p:spPr>
        <p:txBody>
          <a:bodyPr/>
          <a:lstStyle/>
          <a:p>
            <a:pPr>
              <a:defRPr sz="1400"/>
            </a:pPr>
            <a:r>
              <a:t>Permiten paginar el contenido de archivos.</a:t>
            </a:r>
          </a:p>
          <a:p>
            <a:pPr>
              <a:defRPr sz="1400"/>
            </a:pPr>
            <a:r>
              <a:t>Ejemplo: more archivo.txt, less archivo.txt</a:t>
            </a:r>
          </a:p>
          <a:p>
            <a:pPr>
              <a:defRPr sz="1400"/>
            </a:pPr>
            <a:r>
              <a:t>Diferencia: less permite desplazamiento bidireccional.</a:t>
            </a:r>
          </a:p>
        </p:txBody>
      </p:sp>
      <p:pic>
        <p:nvPicPr>
          <p:cNvPr id="4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64F159E0-F314-4635-AC81-B8047B4A6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3440" y="6027029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ore (comando) - Wikipedia, la enciclopedia libre">
            <a:extLst>
              <a:ext uri="{FF2B5EF4-FFF2-40B4-BE49-F238E27FC236}">
                <a16:creationId xmlns:a16="http://schemas.microsoft.com/office/drawing/2014/main" id="{EF747F8C-AA84-458D-993D-C1D11B030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613" y="2419643"/>
            <a:ext cx="4802772" cy="2981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矢量圆点底纹设计图__条纹线条_底纹边框_设计图库_昵图网">
            <a:extLst>
              <a:ext uri="{FF2B5EF4-FFF2-40B4-BE49-F238E27FC236}">
                <a16:creationId xmlns:a16="http://schemas.microsoft.com/office/drawing/2014/main" id="{E75EF429-7F8E-4A2B-A162-8E6BFD8FD1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89"/>
          <a:stretch/>
        </p:blipFill>
        <p:spPr bwMode="auto">
          <a:xfrm>
            <a:off x="18579" y="0"/>
            <a:ext cx="912542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2919046" cy="1143000"/>
          </a:xfrm>
        </p:spPr>
        <p:txBody>
          <a:bodyPr/>
          <a:lstStyle/>
          <a:p>
            <a:r>
              <a:rPr dirty="0" err="1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Preguntas</a:t>
            </a:r>
            <a:endParaRPr dirty="0">
              <a:solidFill>
                <a:srgbClr val="EA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¿</a:t>
            </a:r>
            <a:r>
              <a:rPr dirty="0" err="1"/>
              <a:t>Tienes</a:t>
            </a:r>
            <a:r>
              <a:rPr dirty="0"/>
              <a:t> </a:t>
            </a:r>
            <a:r>
              <a:rPr dirty="0" err="1"/>
              <a:t>alguna</a:t>
            </a:r>
            <a:r>
              <a:rPr dirty="0"/>
              <a:t> </a:t>
            </a:r>
            <a:r>
              <a:rPr dirty="0" err="1"/>
              <a:t>duda</a:t>
            </a:r>
            <a:r>
              <a:rPr dirty="0"/>
              <a:t> o </a:t>
            </a:r>
            <a:r>
              <a:rPr dirty="0" err="1"/>
              <a:t>comentario</a:t>
            </a:r>
            <a:r>
              <a:rPr dirty="0"/>
              <a:t>?</a:t>
            </a:r>
          </a:p>
        </p:txBody>
      </p:sp>
      <p:pic>
        <p:nvPicPr>
          <p:cNvPr id="1026" name="Picture 2" descr="Papeles sueltos: Preguntas de investigación">
            <a:extLst>
              <a:ext uri="{FF2B5EF4-FFF2-40B4-BE49-F238E27FC236}">
                <a16:creationId xmlns:a16="http://schemas.microsoft.com/office/drawing/2014/main" id="{A6980E81-800F-4661-9909-40F1492E4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339" y="2299102"/>
            <a:ext cx="7047434" cy="4192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28BA53B1-41F2-4A3F-ABB9-4919A9CEA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183403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矢量圆点底纹设计图__条纹线条_底纹边框_设计图库_昵图网">
            <a:extLst>
              <a:ext uri="{FF2B5EF4-FFF2-40B4-BE49-F238E27FC236}">
                <a16:creationId xmlns:a16="http://schemas.microsoft.com/office/drawing/2014/main" id="{E75EF429-7F8E-4A2B-A162-8E6BFD8FD1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89"/>
          <a:stretch/>
        </p:blipFill>
        <p:spPr bwMode="auto">
          <a:xfrm>
            <a:off x="18579" y="0"/>
            <a:ext cx="912542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397348" cy="1143000"/>
          </a:xfrm>
        </p:spPr>
        <p:txBody>
          <a:bodyPr>
            <a:normAutofit fontScale="90000"/>
          </a:bodyPr>
          <a:lstStyle/>
          <a:p>
            <a:r>
              <a:rPr lang="es-MX" dirty="0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</a:t>
            </a:r>
            <a:endParaRPr dirty="0">
              <a:solidFill>
                <a:srgbClr val="EA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28BA53B1-41F2-4A3F-ABB9-4919A9CEA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183403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Tipos de algoritmos más utilizados en marketing digital | Inesdi">
            <a:extLst>
              <a:ext uri="{FF2B5EF4-FFF2-40B4-BE49-F238E27FC236}">
                <a16:creationId xmlns:a16="http://schemas.microsoft.com/office/drawing/2014/main" id="{D9BE7B00-C55F-4E46-8848-FA1670380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456" y="1692276"/>
            <a:ext cx="6415127" cy="4002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2532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60571"/>
            <a:ext cx="8229600" cy="1143000"/>
          </a:xfrm>
        </p:spPr>
        <p:txBody>
          <a:bodyPr/>
          <a:lstStyle/>
          <a:p>
            <a:r>
              <a:rPr lang="es-PE" dirty="0">
                <a:solidFill>
                  <a:srgbClr val="FF0000"/>
                </a:solidFill>
              </a:rPr>
              <a:t>EJERCICIO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8500" y="1471113"/>
            <a:ext cx="4986997" cy="125554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  <a:defRPr sz="1400"/>
            </a:pPr>
            <a:r>
              <a:rPr sz="1600" dirty="0" err="1"/>
              <a:t>Crea</a:t>
            </a:r>
            <a:r>
              <a:rPr sz="1600" dirty="0"/>
              <a:t> un script </a:t>
            </a:r>
            <a:r>
              <a:rPr sz="1600" dirty="0" err="1"/>
              <a:t>en</a:t>
            </a:r>
            <a:r>
              <a:rPr sz="1600" dirty="0"/>
              <a:t> Bash que:</a:t>
            </a:r>
          </a:p>
          <a:p>
            <a:pPr marL="0" indent="0">
              <a:buNone/>
              <a:defRPr sz="1400"/>
            </a:pPr>
            <a:r>
              <a:rPr sz="1600" dirty="0"/>
              <a:t>1. </a:t>
            </a:r>
            <a:r>
              <a:rPr sz="1600" dirty="0" err="1"/>
              <a:t>Muestre</a:t>
            </a:r>
            <a:r>
              <a:rPr sz="1600" dirty="0"/>
              <a:t> el </a:t>
            </a:r>
            <a:r>
              <a:rPr sz="1600" dirty="0" err="1"/>
              <a:t>directorio</a:t>
            </a:r>
            <a:r>
              <a:rPr sz="1600" dirty="0"/>
              <a:t> actual.</a:t>
            </a:r>
          </a:p>
          <a:p>
            <a:pPr marL="0" indent="0">
              <a:buNone/>
              <a:defRPr sz="1400"/>
            </a:pPr>
            <a:r>
              <a:rPr sz="1600" dirty="0"/>
              <a:t>2. </a:t>
            </a:r>
            <a:r>
              <a:rPr sz="1600" dirty="0" err="1"/>
              <a:t>Liste</a:t>
            </a:r>
            <a:r>
              <a:rPr sz="1600" dirty="0"/>
              <a:t> </a:t>
            </a:r>
            <a:r>
              <a:rPr sz="1600" dirty="0" err="1"/>
              <a:t>todos</a:t>
            </a:r>
            <a:r>
              <a:rPr sz="1600" dirty="0"/>
              <a:t> los </a:t>
            </a:r>
            <a:r>
              <a:rPr sz="1600" dirty="0" err="1"/>
              <a:t>archivos</a:t>
            </a:r>
            <a:r>
              <a:rPr sz="1600" dirty="0"/>
              <a:t>.</a:t>
            </a:r>
          </a:p>
          <a:p>
            <a:pPr marL="0" indent="0">
              <a:buNone/>
              <a:defRPr sz="1400"/>
            </a:pPr>
            <a:r>
              <a:rPr sz="1600" dirty="0"/>
              <a:t>3. </a:t>
            </a:r>
            <a:r>
              <a:rPr sz="1600" dirty="0" err="1"/>
              <a:t>Muestre</a:t>
            </a:r>
            <a:r>
              <a:rPr sz="1600" dirty="0"/>
              <a:t> el </a:t>
            </a:r>
            <a:r>
              <a:rPr sz="1600" dirty="0" err="1"/>
              <a:t>contenido</a:t>
            </a:r>
            <a:r>
              <a:rPr sz="1600" dirty="0"/>
              <a:t> de un </a:t>
            </a:r>
            <a:r>
              <a:rPr sz="1600" dirty="0" err="1"/>
              <a:t>archivo</a:t>
            </a:r>
            <a:r>
              <a:rPr sz="1600" dirty="0"/>
              <a:t> </a:t>
            </a:r>
            <a:r>
              <a:rPr sz="1600" dirty="0" err="1"/>
              <a:t>especificado</a:t>
            </a:r>
            <a:r>
              <a:rPr sz="1600" dirty="0"/>
              <a:t> por el </a:t>
            </a:r>
            <a:r>
              <a:rPr sz="1600" dirty="0" err="1"/>
              <a:t>usuario</a:t>
            </a:r>
            <a:r>
              <a:rPr sz="1600" dirty="0"/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B7050C-39BC-4FCB-9F1F-E9A92C84384E}"/>
              </a:ext>
            </a:extLst>
          </p:cNvPr>
          <p:cNvSpPr txBox="1">
            <a:spLocks/>
          </p:cNvSpPr>
          <p:nvPr/>
        </p:nvSpPr>
        <p:spPr>
          <a:xfrm>
            <a:off x="344659" y="28575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>
                <a:solidFill>
                  <a:srgbClr val="FF0000"/>
                </a:solidFill>
              </a:rPr>
              <a:t>Ejercicio 2</a:t>
            </a:r>
            <a:endParaRPr lang="es-PE" dirty="0">
              <a:solidFill>
                <a:srgbClr val="FF000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719C24-8484-4757-8F0F-35A300A854A2}"/>
              </a:ext>
            </a:extLst>
          </p:cNvPr>
          <p:cNvSpPr txBox="1">
            <a:spLocks/>
          </p:cNvSpPr>
          <p:nvPr/>
        </p:nvSpPr>
        <p:spPr>
          <a:xfrm>
            <a:off x="2242040" y="4212957"/>
            <a:ext cx="4181620" cy="805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/>
            </a:pPr>
            <a:r>
              <a:rPr lang="es-MX" sz="1800"/>
              <a:t>Simula el proceso de arranque describiendo cada etapa con ejemplos prácticos en una máquina virtual Linux.</a:t>
            </a:r>
            <a:endParaRPr lang="es-MX" sz="1800" dirty="0"/>
          </a:p>
        </p:txBody>
      </p:sp>
      <p:pic>
        <p:nvPicPr>
          <p:cNvPr id="6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C5927DE4-92CB-46DF-B02C-DC80BD4BB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183403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矢量圆点底纹设计图__条纹线条_底纹边框_设计图库_昵图网">
            <a:extLst>
              <a:ext uri="{FF2B5EF4-FFF2-40B4-BE49-F238E27FC236}">
                <a16:creationId xmlns:a16="http://schemas.microsoft.com/office/drawing/2014/main" id="{E75EF429-7F8E-4A2B-A162-8E6BFD8FD1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89"/>
          <a:stretch/>
        </p:blipFill>
        <p:spPr bwMode="auto">
          <a:xfrm>
            <a:off x="18579" y="0"/>
            <a:ext cx="912542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247" y="1048361"/>
            <a:ext cx="4536831" cy="1143000"/>
          </a:xfrm>
        </p:spPr>
        <p:txBody>
          <a:bodyPr>
            <a:normAutofit fontScale="90000"/>
          </a:bodyPr>
          <a:lstStyle/>
          <a:p>
            <a:r>
              <a:rPr lang="es-MX" dirty="0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CONCLUSIONES</a:t>
            </a:r>
            <a:endParaRPr dirty="0">
              <a:solidFill>
                <a:srgbClr val="EA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947033"/>
            <a:ext cx="4722928" cy="1765177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¿</a:t>
            </a:r>
            <a:r>
              <a:rPr lang="es-MX" dirty="0"/>
              <a:t>Qué aprendiste en esta sesión</a:t>
            </a:r>
            <a:r>
              <a:rPr dirty="0"/>
              <a:t>?</a:t>
            </a:r>
            <a:endParaRPr lang="es-MX" dirty="0"/>
          </a:p>
          <a:p>
            <a:r>
              <a:rPr lang="es-MX" dirty="0"/>
              <a:t>T</a:t>
            </a:r>
            <a:r>
              <a:rPr lang="es-PE" dirty="0"/>
              <a:t>e invitamos a compartir tus conclusiones en clase</a:t>
            </a:r>
            <a:endParaRPr dirty="0"/>
          </a:p>
        </p:txBody>
      </p:sp>
      <p:pic>
        <p:nvPicPr>
          <p:cNvPr id="7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28BA53B1-41F2-4A3F-ABB9-4919A9CEA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183403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apeles sueltos: Las conclusiones y revisión de la introducción y objetvos">
            <a:extLst>
              <a:ext uri="{FF2B5EF4-FFF2-40B4-BE49-F238E27FC236}">
                <a16:creationId xmlns:a16="http://schemas.microsoft.com/office/drawing/2014/main" id="{DCE8AC76-83F8-4ADC-818F-7CDA6046F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0870" y="1997146"/>
            <a:ext cx="2682386" cy="3335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672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456" y="979187"/>
            <a:ext cx="8229600" cy="1143000"/>
          </a:xfrm>
        </p:spPr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Resume</a:t>
            </a:r>
            <a:r>
              <a:rPr lang="es-MX" dirty="0">
                <a:solidFill>
                  <a:srgbClr val="FF0000"/>
                </a:solidFill>
              </a:rPr>
              <a:t>n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4905" y="2354580"/>
            <a:ext cx="5736101" cy="2681653"/>
          </a:xfrm>
        </p:spPr>
        <p:txBody>
          <a:bodyPr>
            <a:normAutofit/>
          </a:bodyPr>
          <a:lstStyle/>
          <a:p>
            <a:pPr marL="0" indent="0">
              <a:buNone/>
              <a:defRPr sz="1400"/>
            </a:pPr>
            <a:r>
              <a:rPr sz="1800" dirty="0"/>
              <a:t>- El Kernel </a:t>
            </a:r>
            <a:r>
              <a:rPr sz="1800" dirty="0" err="1"/>
              <a:t>administra</a:t>
            </a:r>
            <a:r>
              <a:rPr sz="1800" dirty="0"/>
              <a:t> </a:t>
            </a:r>
            <a:r>
              <a:rPr sz="1800" dirty="0" err="1"/>
              <a:t>recursos</a:t>
            </a:r>
            <a:r>
              <a:rPr sz="1800" dirty="0"/>
              <a:t> y </a:t>
            </a:r>
            <a:r>
              <a:rPr sz="1800" dirty="0" err="1"/>
              <a:t>procesos</a:t>
            </a:r>
            <a:r>
              <a:rPr sz="1800" dirty="0"/>
              <a:t>.</a:t>
            </a:r>
          </a:p>
          <a:p>
            <a:pPr marL="0" indent="0">
              <a:buNone/>
              <a:defRPr sz="1400"/>
            </a:pPr>
            <a:r>
              <a:rPr sz="1800" dirty="0"/>
              <a:t>- El Shell es la </a:t>
            </a:r>
            <a:r>
              <a:rPr sz="1800" dirty="0" err="1"/>
              <a:t>interfaz</a:t>
            </a:r>
            <a:r>
              <a:rPr sz="1800" dirty="0"/>
              <a:t> con el </a:t>
            </a:r>
            <a:r>
              <a:rPr sz="1800" dirty="0" err="1"/>
              <a:t>usuario</a:t>
            </a:r>
            <a:r>
              <a:rPr sz="1800" dirty="0"/>
              <a:t>.</a:t>
            </a:r>
          </a:p>
          <a:p>
            <a:pPr marL="0" indent="0">
              <a:buNone/>
              <a:defRPr sz="1400"/>
            </a:pPr>
            <a:r>
              <a:rPr sz="1800" dirty="0"/>
              <a:t>- El </a:t>
            </a:r>
            <a:r>
              <a:rPr sz="1800" dirty="0" err="1"/>
              <a:t>proceso</a:t>
            </a:r>
            <a:r>
              <a:rPr sz="1800" dirty="0"/>
              <a:t> de </a:t>
            </a:r>
            <a:r>
              <a:rPr sz="1800" dirty="0" err="1"/>
              <a:t>arranque</a:t>
            </a:r>
            <a:r>
              <a:rPr sz="1800" dirty="0"/>
              <a:t> </a:t>
            </a:r>
            <a:r>
              <a:rPr sz="1800" dirty="0" err="1"/>
              <a:t>inicializa</a:t>
            </a:r>
            <a:r>
              <a:rPr sz="1800" dirty="0"/>
              <a:t> hardware y software.</a:t>
            </a:r>
          </a:p>
          <a:p>
            <a:pPr marL="0" indent="0">
              <a:buNone/>
              <a:defRPr sz="1400"/>
            </a:pPr>
            <a:r>
              <a:rPr sz="1800" dirty="0"/>
              <a:t>- El software libre y las </a:t>
            </a:r>
            <a:r>
              <a:rPr sz="1800" dirty="0" err="1"/>
              <a:t>distribuciones</a:t>
            </a:r>
            <a:r>
              <a:rPr sz="1800" dirty="0"/>
              <a:t> Linux </a:t>
            </a:r>
            <a:r>
              <a:rPr sz="1800" dirty="0" err="1"/>
              <a:t>ofrecen</a:t>
            </a:r>
            <a:r>
              <a:rPr sz="1800" dirty="0"/>
              <a:t> </a:t>
            </a:r>
            <a:r>
              <a:rPr sz="1800" dirty="0" err="1"/>
              <a:t>flexibilidad</a:t>
            </a:r>
            <a:r>
              <a:rPr sz="1800" dirty="0"/>
              <a:t>.</a:t>
            </a:r>
          </a:p>
          <a:p>
            <a:pPr marL="0" indent="0">
              <a:buNone/>
              <a:defRPr sz="1400"/>
            </a:pPr>
            <a:r>
              <a:rPr sz="1800" dirty="0"/>
              <a:t>- </a:t>
            </a:r>
            <a:r>
              <a:rPr sz="1800" dirty="0" err="1"/>
              <a:t>Comandos</a:t>
            </a:r>
            <a:r>
              <a:rPr sz="1800" dirty="0"/>
              <a:t> </a:t>
            </a:r>
            <a:r>
              <a:rPr sz="1800" dirty="0" err="1"/>
              <a:t>básicos</a:t>
            </a:r>
            <a:r>
              <a:rPr sz="1800" dirty="0"/>
              <a:t> </a:t>
            </a:r>
            <a:r>
              <a:rPr sz="1800" dirty="0" err="1"/>
              <a:t>facilitan</a:t>
            </a:r>
            <a:r>
              <a:rPr sz="1800" dirty="0"/>
              <a:t> la </a:t>
            </a:r>
            <a:r>
              <a:rPr sz="1800" dirty="0" err="1"/>
              <a:t>administración</a:t>
            </a:r>
            <a:r>
              <a:rPr sz="1800" dirty="0"/>
              <a:t> del </a:t>
            </a:r>
            <a:r>
              <a:rPr sz="1800" dirty="0" err="1"/>
              <a:t>sistema</a:t>
            </a:r>
            <a:r>
              <a:rPr sz="1800" dirty="0"/>
              <a:t>.</a:t>
            </a:r>
          </a:p>
        </p:txBody>
      </p:sp>
      <p:pic>
        <p:nvPicPr>
          <p:cNvPr id="4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0012F549-9090-465B-910C-498F3E0C5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183403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矢量圆点底纹设计图__条纹线条_底纹边框_设计图库_昵图网">
            <a:extLst>
              <a:ext uri="{FF2B5EF4-FFF2-40B4-BE49-F238E27FC236}">
                <a16:creationId xmlns:a16="http://schemas.microsoft.com/office/drawing/2014/main" id="{E75EF429-7F8E-4A2B-A162-8E6BFD8FD1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89"/>
          <a:stretch/>
        </p:blipFill>
        <p:spPr bwMode="auto">
          <a:xfrm>
            <a:off x="18579" y="0"/>
            <a:ext cx="912542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28BA53B1-41F2-4A3F-ABB9-4919A9CEA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81" y="2321692"/>
            <a:ext cx="7100238" cy="170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5242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764</Words>
  <Application>Microsoft Office PowerPoint</Application>
  <PresentationFormat>Presentación en pantalla (4:3)</PresentationFormat>
  <Paragraphs>104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Arial MT</vt:lpstr>
      <vt:lpstr>Calibri</vt:lpstr>
      <vt:lpstr>Office Theme</vt:lpstr>
      <vt:lpstr>SISTEMAS OPERATIVOS</vt:lpstr>
      <vt:lpstr>Logro de aprendizaje</vt:lpstr>
      <vt:lpstr>TEMARIO</vt:lpstr>
      <vt:lpstr>Conocimientos previos</vt:lpstr>
      <vt:lpstr>UTILIDAD</vt:lpstr>
      <vt:lpstr>Estructura de un Sistema Operativo</vt:lpstr>
      <vt:lpstr>El Kernel - Definición y Funciones</vt:lpstr>
      <vt:lpstr>Tipos de Kernel</vt:lpstr>
      <vt:lpstr>Shell - Definición y Funciones</vt:lpstr>
      <vt:lpstr>Proceso de Arranque</vt:lpstr>
      <vt:lpstr>Software Libre</vt:lpstr>
      <vt:lpstr>Distribuciones de Linux</vt:lpstr>
      <vt:lpstr>Comando pwd</vt:lpstr>
      <vt:lpstr>Comando cd</vt:lpstr>
      <vt:lpstr>Comando ls</vt:lpstr>
      <vt:lpstr>Comando cat</vt:lpstr>
      <vt:lpstr>Comandos more y less</vt:lpstr>
      <vt:lpstr>Preguntas</vt:lpstr>
      <vt:lpstr>EJERCICIOS</vt:lpstr>
      <vt:lpstr>EJERCICIO 1</vt:lpstr>
      <vt:lpstr>CONCLUSIONES</vt:lpstr>
      <vt:lpstr>Resumen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OPERATIVOS</dc:title>
  <dc:subject/>
  <dc:creator>Gabriela</dc:creator>
  <cp:keywords/>
  <dc:description>generated using python-pptx</dc:description>
  <cp:lastModifiedBy>Gabriela</cp:lastModifiedBy>
  <cp:revision>4</cp:revision>
  <dcterms:created xsi:type="dcterms:W3CDTF">2013-01-27T09:14:16Z</dcterms:created>
  <dcterms:modified xsi:type="dcterms:W3CDTF">2025-08-08T22:42:25Z</dcterms:modified>
  <cp:category/>
</cp:coreProperties>
</file>