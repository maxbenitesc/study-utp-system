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7" r:id="rId3"/>
    <p:sldId id="300" r:id="rId4"/>
    <p:sldId id="276" r:id="rId5"/>
    <p:sldId id="30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82" r:id="rId20"/>
    <p:sldId id="271" r:id="rId21"/>
    <p:sldId id="272" r:id="rId22"/>
    <p:sldId id="285" r:id="rId23"/>
    <p:sldId id="273" r:id="rId24"/>
    <p:sldId id="28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矢量圆点底纹设计图__条纹线条_底纹边框_设计图库_昵图网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14647"/>
            <a:ext cx="7772400" cy="1470025"/>
          </a:xfrm>
        </p:spPr>
        <p:txBody>
          <a:bodyPr>
            <a:noAutofit/>
          </a:bodyPr>
          <a:lstStyle/>
          <a:p>
            <a:r>
              <a:rPr lang="es-MX" sz="4000"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OPERATIVOS</a:t>
            </a:r>
            <a:endParaRPr sz="4000" b="1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4837"/>
            <a:ext cx="6400800" cy="1752600"/>
          </a:xfrm>
        </p:spPr>
        <p:txBody>
          <a:bodyPr>
            <a:normAutofit/>
          </a:bodyPr>
          <a:lstStyle/>
          <a:p>
            <a:r>
              <a:rPr lang="es-MX" sz="2400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los sistemas operativos</a:t>
            </a:r>
            <a:endParaRPr lang="es-PE" sz="2400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Mg. Francisco Ramírez Muñoz</a:t>
            </a:r>
            <a:endParaRPr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C28059@utp.edu.pe</a:t>
            </a:r>
            <a:endParaRPr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28" y="5105400"/>
            <a:ext cx="3128702" cy="75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331098" y="2553654"/>
            <a:ext cx="4481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02 – SESIÓN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2" y="931079"/>
            <a:ext cx="5535336" cy="68961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Logro</a:t>
            </a:r>
            <a:r>
              <a:rPr spc="-53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pc="-56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8721" y="4360363"/>
            <a:ext cx="2218936" cy="1984775"/>
          </a:xfrm>
          <a:prstGeom prst="rect">
            <a:avLst/>
          </a:prstGeom>
        </p:spPr>
      </p:pic>
      <p:pic>
        <p:nvPicPr>
          <p:cNvPr id="7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38F739F-A63D-4FDB-93BB-022FCCAA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2" y="2027806"/>
            <a:ext cx="77512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 finalizar la sesión el estudiante logra: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F8F3C2-2CE4-4476-95C7-C2C2C22F4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20" y="2604281"/>
            <a:ext cx="7811159" cy="1649437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Comprender</a:t>
            </a:r>
            <a:r>
              <a:rPr dirty="0"/>
              <a:t> el </a:t>
            </a:r>
            <a:r>
              <a:rPr dirty="0" err="1"/>
              <a:t>concepto</a:t>
            </a:r>
            <a:r>
              <a:rPr dirty="0"/>
              <a:t> y </a:t>
            </a:r>
            <a:r>
              <a:rPr dirty="0" err="1"/>
              <a:t>propósito</a:t>
            </a:r>
            <a:r>
              <a:rPr dirty="0"/>
              <a:t> de los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Analizar</a:t>
            </a:r>
            <a:r>
              <a:rPr dirty="0"/>
              <a:t> la </a:t>
            </a:r>
            <a:r>
              <a:rPr dirty="0" err="1"/>
              <a:t>evolución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de los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Identificar</a:t>
            </a:r>
            <a:r>
              <a:rPr dirty="0"/>
              <a:t> y </a:t>
            </a:r>
            <a:r>
              <a:rPr dirty="0" err="1"/>
              <a:t>describir</a:t>
            </a:r>
            <a:r>
              <a:rPr dirty="0"/>
              <a:t> los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 de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Aplicar</a:t>
            </a:r>
            <a:r>
              <a:rPr dirty="0"/>
              <a:t> los </a:t>
            </a:r>
            <a:r>
              <a:rPr dirty="0" err="1"/>
              <a:t>conocimientos</a:t>
            </a:r>
            <a:r>
              <a:rPr dirty="0"/>
              <a:t> </a:t>
            </a:r>
            <a:r>
              <a:rPr dirty="0" err="1"/>
              <a:t>adquiridos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 </a:t>
            </a:r>
            <a:r>
              <a:rPr dirty="0" err="1"/>
              <a:t>relacionados</a:t>
            </a:r>
            <a:r>
              <a:rPr dirty="0"/>
              <a:t> con la </a:t>
            </a:r>
            <a:r>
              <a:rPr dirty="0" err="1"/>
              <a:t>gestión</a:t>
            </a:r>
            <a:r>
              <a:rPr dirty="0"/>
              <a:t> y </a:t>
            </a:r>
            <a:r>
              <a:rPr dirty="0" err="1"/>
              <a:t>funcionamiento</a:t>
            </a:r>
            <a:r>
              <a:rPr dirty="0"/>
              <a:t> de los SO.</a:t>
            </a:r>
          </a:p>
        </p:txBody>
      </p:sp>
    </p:spTree>
    <p:extLst>
      <p:ext uri="{BB962C8B-B14F-4D97-AF65-F5344CB8AC3E}">
        <p14:creationId xmlns:p14="http://schemas.microsoft.com/office/powerpoint/2010/main" val="258862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2" y="1041109"/>
            <a:ext cx="5535336" cy="46955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TEMARIO</a:t>
            </a:r>
            <a:endParaRPr spc="-8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38F739F-A63D-4FDB-93BB-022FCCAA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21" y="2212472"/>
            <a:ext cx="77512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Técnicas de Comunicación de E/S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Proceso de instalación de un sistema operativo de la familia Linux.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Temario de Ayudante de Biblioteca de la Administración General del Estado.  - Bibliopos: Biblioteca de recursos para Bibliotecarios y Opositores">
            <a:extLst>
              <a:ext uri="{FF2B5EF4-FFF2-40B4-BE49-F238E27FC236}">
                <a16:creationId xmlns:a16="http://schemas.microsoft.com/office/drawing/2014/main" id="{86F851AF-FC8C-43F8-A52F-C2FAF0D5E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845" y="3135802"/>
            <a:ext cx="3254616" cy="312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12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225" y="911520"/>
            <a:ext cx="6377834" cy="68961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Conocimientos</a:t>
            </a:r>
            <a:r>
              <a:rPr b="1" spc="-195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8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0225" y="2181719"/>
            <a:ext cx="4371603" cy="3180197"/>
          </a:xfrm>
          <a:prstGeom prst="rect">
            <a:avLst/>
          </a:prstGeom>
        </p:spPr>
        <p:txBody>
          <a:bodyPr vert="horz" wrap="square" lIns="0" tIns="109061" rIns="0" bIns="0" rtlCol="0">
            <a:spAutoFit/>
          </a:bodyPr>
          <a:lstStyle/>
          <a:p>
            <a:pPr marL="314801" indent="-305276">
              <a:spcBef>
                <a:spcPts val="859"/>
              </a:spcBef>
              <a:buFontTx/>
              <a:buChar char="•"/>
              <a:tabLst>
                <a:tab pos="314801" algn="l"/>
              </a:tabLst>
            </a:pPr>
            <a:r>
              <a:rPr lang="es-MX" sz="2400" dirty="0"/>
              <a:t>¿Cómo interactúa el hardware con el software para ejecutar tareas en un sistema informático?</a:t>
            </a:r>
          </a:p>
          <a:p>
            <a:pPr marL="314801" indent="-305276">
              <a:spcBef>
                <a:spcPts val="859"/>
              </a:spcBef>
              <a:buChar char="•"/>
              <a:tabLst>
                <a:tab pos="314801" algn="l"/>
              </a:tabLst>
            </a:pPr>
            <a:r>
              <a:rPr lang="es-MX" sz="2400" dirty="0"/>
              <a:t>¿Qué conocimientos previos tienes sobre el rol del sistema operativo en una computadora personal o servidor?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0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Conclusiones">
            <a:extLst>
              <a:ext uri="{FF2B5EF4-FFF2-40B4-BE49-F238E27FC236}">
                <a16:creationId xmlns:a16="http://schemas.microsoft.com/office/drawing/2014/main" id="{F835A54B-7AA1-46C2-84F9-A7E6DFB10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717" y="1957834"/>
            <a:ext cx="3676683" cy="36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75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225" y="1021550"/>
            <a:ext cx="6377834" cy="469552"/>
          </a:xfrm>
          <a:prstGeom prst="rect">
            <a:avLst/>
          </a:prstGeom>
        </p:spPr>
        <p:txBody>
          <a:bodyPr vert="horz" wrap="square" lIns="0" tIns="12383" rIns="0" bIns="0" rtlCol="0" anchor="ctr">
            <a:spAutoFit/>
          </a:bodyPr>
          <a:lstStyle/>
          <a:p>
            <a:pPr marL="9525">
              <a:spcBef>
                <a:spcPts val="98"/>
              </a:spcBef>
            </a:pPr>
            <a:r>
              <a:rPr lang="es-MX" b="1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UTILIDAD</a:t>
            </a:r>
            <a:endParaRPr b="1" spc="-8"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9619" y="5687140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868686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0" name="Picture 2" descr="https://th.bing.com/th/id/R.20e59202c60fbf9d35eb9de67c32cce4?rik=bc%2b7DuRbJ8AF%2fQ&amp;pid=ImgRaw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Qué es el margen de utilidad y cómo se calcula? | Retail">
            <a:extLst>
              <a:ext uri="{FF2B5EF4-FFF2-40B4-BE49-F238E27FC236}">
                <a16:creationId xmlns:a16="http://schemas.microsoft.com/office/drawing/2014/main" id="{FE1679EA-D4EF-4188-BAA5-4CECB172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294" y="2027738"/>
            <a:ext cx="3335530" cy="333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5861F9-1D0D-43C8-B314-AA93B1769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66425"/>
            <a:ext cx="4508695" cy="39597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 </a:t>
            </a:r>
            <a:r>
              <a:rPr dirty="0" err="1"/>
              <a:t>permitirá</a:t>
            </a:r>
            <a:r>
              <a:rPr dirty="0"/>
              <a:t>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los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 </a:t>
            </a:r>
            <a:r>
              <a:rPr dirty="0" err="1"/>
              <a:t>gestionan</a:t>
            </a:r>
            <a:r>
              <a:rPr dirty="0"/>
              <a:t> los </a:t>
            </a:r>
            <a:r>
              <a:rPr dirty="0" err="1"/>
              <a:t>recursos</a:t>
            </a:r>
            <a:r>
              <a:rPr dirty="0"/>
              <a:t> de hardware y software. </a:t>
            </a:r>
          </a:p>
          <a:p>
            <a:pPr algn="just"/>
            <a:r>
              <a:rPr dirty="0" err="1"/>
              <a:t>Además</a:t>
            </a:r>
            <a:r>
              <a:rPr dirty="0"/>
              <a:t>, se </a:t>
            </a:r>
            <a:r>
              <a:rPr dirty="0" err="1"/>
              <a:t>podrán</a:t>
            </a:r>
            <a:r>
              <a:rPr dirty="0"/>
              <a:t> </a:t>
            </a:r>
            <a:r>
              <a:rPr dirty="0" err="1"/>
              <a:t>identificar</a:t>
            </a:r>
            <a:r>
              <a:rPr dirty="0"/>
              <a:t> sus </a:t>
            </a:r>
            <a:r>
              <a:rPr dirty="0" err="1"/>
              <a:t>componentes</a:t>
            </a:r>
            <a:r>
              <a:rPr dirty="0"/>
              <a:t>,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e </a:t>
            </a:r>
            <a:r>
              <a:rPr dirty="0" err="1"/>
              <a:t>importancia</a:t>
            </a:r>
            <a:r>
              <a:rPr dirty="0"/>
              <a:t> para el </a:t>
            </a:r>
            <a:r>
              <a:rPr dirty="0" err="1"/>
              <a:t>funcionamiento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de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 </a:t>
            </a:r>
            <a:r>
              <a:rPr dirty="0" err="1"/>
              <a:t>informático</a:t>
            </a:r>
            <a:r>
              <a:rPr dirty="0"/>
              <a:t> </a:t>
            </a:r>
            <a:r>
              <a:rPr dirty="0" err="1"/>
              <a:t>moderno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784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¿</a:t>
            </a:r>
            <a:r>
              <a:rPr b="1" dirty="0" err="1">
                <a:solidFill>
                  <a:srgbClr val="FF0000"/>
                </a:solidFill>
              </a:rPr>
              <a:t>Qué</a:t>
            </a:r>
            <a:r>
              <a:rPr b="1" dirty="0">
                <a:solidFill>
                  <a:srgbClr val="FF0000"/>
                </a:solidFill>
              </a:rPr>
              <a:t> es un Sistema </a:t>
            </a:r>
            <a:r>
              <a:rPr b="1" dirty="0" err="1">
                <a:solidFill>
                  <a:srgbClr val="FF0000"/>
                </a:solidFill>
              </a:rPr>
              <a:t>Operativo</a:t>
            </a:r>
            <a:r>
              <a:rPr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dirty="0"/>
              <a:t>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(SO) es un software que </a:t>
            </a:r>
            <a:r>
              <a:rPr dirty="0" err="1"/>
              <a:t>actúa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intermediario</a:t>
            </a:r>
            <a:r>
              <a:rPr dirty="0"/>
              <a:t> entre el hardware del </a:t>
            </a:r>
            <a:r>
              <a:rPr dirty="0" err="1"/>
              <a:t>computador</a:t>
            </a:r>
            <a:r>
              <a:rPr dirty="0"/>
              <a:t> y los </a:t>
            </a:r>
            <a:r>
              <a:rPr dirty="0" err="1"/>
              <a:t>programas</a:t>
            </a:r>
            <a:r>
              <a:rPr dirty="0"/>
              <a:t> de </a:t>
            </a:r>
            <a:r>
              <a:rPr dirty="0" err="1"/>
              <a:t>usuario</a:t>
            </a:r>
            <a:r>
              <a:rPr dirty="0"/>
              <a:t>. </a:t>
            </a:r>
          </a:p>
          <a:p>
            <a:pPr marL="0" indent="0" algn="just">
              <a:buNone/>
            </a:pPr>
            <a:r>
              <a:rPr dirty="0" err="1"/>
              <a:t>Gestiona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CPU, </a:t>
            </a:r>
            <a:r>
              <a:rPr dirty="0" err="1"/>
              <a:t>memoria</a:t>
            </a:r>
            <a:r>
              <a:rPr dirty="0"/>
              <a:t>, </a:t>
            </a:r>
            <a:r>
              <a:rPr dirty="0" err="1"/>
              <a:t>dispositivos</a:t>
            </a:r>
            <a:r>
              <a:rPr dirty="0"/>
              <a:t> de entrada/</a:t>
            </a:r>
            <a:r>
              <a:rPr dirty="0" err="1"/>
              <a:t>salida</a:t>
            </a:r>
            <a:r>
              <a:rPr dirty="0"/>
              <a:t> y </a:t>
            </a:r>
            <a:r>
              <a:rPr dirty="0" err="1"/>
              <a:t>almacenamiento</a:t>
            </a:r>
            <a:r>
              <a:rPr dirty="0"/>
              <a:t>.</a:t>
            </a:r>
          </a:p>
          <a:p>
            <a:pPr marL="0" indent="0" algn="just">
              <a:buNone/>
            </a:pPr>
            <a:endParaRPr dirty="0"/>
          </a:p>
          <a:p>
            <a:pPr marL="0" indent="0" algn="just">
              <a:buNone/>
            </a:pPr>
            <a:r>
              <a:rPr b="1" dirty="0" err="1"/>
              <a:t>Ejemplos</a:t>
            </a:r>
            <a:r>
              <a:rPr b="1" dirty="0"/>
              <a:t>:</a:t>
            </a:r>
          </a:p>
          <a:p>
            <a:pPr marL="0" indent="0" algn="just">
              <a:buNone/>
            </a:pPr>
            <a:r>
              <a:rPr dirty="0"/>
              <a:t>• Windows 11</a:t>
            </a:r>
          </a:p>
          <a:p>
            <a:pPr marL="0" indent="0" algn="just">
              <a:buNone/>
            </a:pPr>
            <a:r>
              <a:rPr dirty="0"/>
              <a:t>• macOS Sonoma</a:t>
            </a:r>
          </a:p>
          <a:p>
            <a:pPr marL="0" indent="0" algn="just">
              <a:buNone/>
            </a:pPr>
            <a:r>
              <a:rPr dirty="0"/>
              <a:t>• Linux Ubuntu</a:t>
            </a:r>
          </a:p>
          <a:p>
            <a:pPr marL="0" indent="0" algn="just">
              <a:buNone/>
            </a:pPr>
            <a:r>
              <a:rPr dirty="0"/>
              <a:t>• Android</a:t>
            </a:r>
          </a:p>
          <a:p>
            <a:pPr marL="0" indent="0" algn="just">
              <a:buNone/>
            </a:pPr>
            <a:endParaRPr dirty="0"/>
          </a:p>
          <a:p>
            <a:pPr marL="0" indent="0" algn="just">
              <a:buNone/>
            </a:pPr>
            <a:r>
              <a:rPr b="1" dirty="0" err="1"/>
              <a:t>Características</a:t>
            </a:r>
            <a:r>
              <a:rPr b="1" dirty="0"/>
              <a:t>: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Multitarea</a:t>
            </a:r>
            <a:endParaRPr dirty="0"/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recursos</a:t>
            </a:r>
            <a:endParaRPr dirty="0"/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de </a:t>
            </a:r>
            <a:r>
              <a:rPr dirty="0" err="1"/>
              <a:t>usuario</a:t>
            </a:r>
            <a:endParaRPr dirty="0"/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protección</a:t>
            </a:r>
            <a:endParaRPr dirty="0"/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6FB0C918-2D11-4BF3-B5F1-3DA278F0F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Funciones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Principales</a:t>
            </a:r>
            <a:r>
              <a:rPr b="1" dirty="0">
                <a:solidFill>
                  <a:srgbClr val="FF0000"/>
                </a:solidFill>
              </a:rPr>
              <a:t> del 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Administración</a:t>
            </a:r>
            <a:r>
              <a:rPr dirty="0"/>
              <a:t> de </a:t>
            </a:r>
            <a:r>
              <a:rPr dirty="0" err="1"/>
              <a:t>procesos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Administración</a:t>
            </a:r>
            <a:r>
              <a:rPr dirty="0"/>
              <a:t> de </a:t>
            </a:r>
            <a:r>
              <a:rPr dirty="0" err="1"/>
              <a:t>memoria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Gestión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archivos</a:t>
            </a:r>
            <a:endParaRPr dirty="0"/>
          </a:p>
          <a:p>
            <a:pPr marL="0" indent="0">
              <a:buNone/>
            </a:pPr>
            <a:r>
              <a:rPr dirty="0"/>
              <a:t>• Control de </a:t>
            </a:r>
            <a:r>
              <a:rPr dirty="0" err="1"/>
              <a:t>dispositivos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de </a:t>
            </a:r>
            <a:r>
              <a:rPr dirty="0" err="1"/>
              <a:t>usuario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Tabla</a:t>
            </a:r>
            <a:r>
              <a:rPr dirty="0"/>
              <a:t>: </a:t>
            </a:r>
            <a:r>
              <a:rPr dirty="0" err="1"/>
              <a:t>Relación</a:t>
            </a:r>
            <a:r>
              <a:rPr dirty="0"/>
              <a:t> entre </a:t>
            </a:r>
            <a:r>
              <a:rPr dirty="0" err="1"/>
              <a:t>funciones</a:t>
            </a:r>
            <a:r>
              <a:rPr dirty="0"/>
              <a:t> y </a:t>
            </a:r>
            <a:r>
              <a:rPr dirty="0" err="1"/>
              <a:t>componentes</a:t>
            </a:r>
            <a:r>
              <a:rPr dirty="0"/>
              <a:t> de hardware/software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Función</a:t>
            </a:r>
            <a:r>
              <a:rPr dirty="0"/>
              <a:t>              | </a:t>
            </a:r>
            <a:r>
              <a:rPr dirty="0" err="1"/>
              <a:t>Recurso</a:t>
            </a:r>
            <a:r>
              <a:rPr dirty="0"/>
              <a:t> </a:t>
            </a:r>
            <a:r>
              <a:rPr dirty="0" err="1"/>
              <a:t>gestionado</a:t>
            </a:r>
            <a:r>
              <a:rPr dirty="0"/>
              <a:t>       |</a:t>
            </a:r>
          </a:p>
          <a:p>
            <a:pPr marL="0" indent="0">
              <a:buNone/>
            </a:pPr>
            <a:r>
              <a:rPr dirty="0"/>
              <a:t>|----------------------|--------------------------|</a:t>
            </a:r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Administración</a:t>
            </a:r>
            <a:r>
              <a:rPr dirty="0"/>
              <a:t> CPU   | </a:t>
            </a:r>
            <a:r>
              <a:rPr dirty="0" err="1"/>
              <a:t>Procesador</a:t>
            </a:r>
            <a:r>
              <a:rPr dirty="0"/>
              <a:t>               |</a:t>
            </a:r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Administración</a:t>
            </a:r>
            <a:r>
              <a:rPr dirty="0"/>
              <a:t> Mem   | RAM, </a:t>
            </a:r>
            <a:r>
              <a:rPr dirty="0" err="1"/>
              <a:t>caché</a:t>
            </a:r>
            <a:r>
              <a:rPr dirty="0"/>
              <a:t>               |</a:t>
            </a:r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archivos</a:t>
            </a:r>
            <a:r>
              <a:rPr dirty="0"/>
              <a:t>     | Disco </a:t>
            </a:r>
            <a:r>
              <a:rPr dirty="0" err="1"/>
              <a:t>duro</a:t>
            </a:r>
            <a:r>
              <a:rPr dirty="0"/>
              <a:t>, SSD          |</a:t>
            </a:r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Dispositivos</a:t>
            </a:r>
            <a:r>
              <a:rPr dirty="0"/>
              <a:t>         | Entrada/Salida (E/S)     |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AFF21952-0165-46EC-A28D-448D7F063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solidFill>
                  <a:srgbClr val="FF0000"/>
                </a:solidFill>
              </a:rPr>
              <a:t>Evolución</a:t>
            </a:r>
            <a:r>
              <a:rPr b="1" dirty="0">
                <a:solidFill>
                  <a:srgbClr val="FF0000"/>
                </a:solidFill>
              </a:rPr>
              <a:t> de los SO - Primera </a:t>
            </a:r>
            <a:r>
              <a:rPr b="1" dirty="0" err="1">
                <a:solidFill>
                  <a:srgbClr val="FF0000"/>
                </a:solidFill>
              </a:rPr>
              <a:t>Generación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664" y="1923757"/>
            <a:ext cx="7828671" cy="35767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Años</a:t>
            </a:r>
            <a:r>
              <a:rPr dirty="0"/>
              <a:t> 40–50: Sin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directa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hardware (con </a:t>
            </a:r>
            <a:r>
              <a:rPr dirty="0" err="1"/>
              <a:t>interruptores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• No </a:t>
            </a:r>
            <a:r>
              <a:rPr dirty="0" err="1"/>
              <a:t>había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automatización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Computadoras</a:t>
            </a:r>
            <a:r>
              <a:rPr dirty="0"/>
              <a:t> ENIAC y UNIVAC.</a:t>
            </a:r>
          </a:p>
          <a:p>
            <a:pPr marL="0" indent="0">
              <a:buNone/>
            </a:pPr>
            <a:r>
              <a:rPr dirty="0" err="1"/>
              <a:t>Desventaja</a:t>
            </a:r>
            <a:r>
              <a:rPr dirty="0"/>
              <a:t>: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poco</a:t>
            </a:r>
            <a:r>
              <a:rPr dirty="0"/>
              <a:t> </a:t>
            </a:r>
            <a:r>
              <a:rPr dirty="0" err="1"/>
              <a:t>amigable</a:t>
            </a:r>
            <a:r>
              <a:rPr dirty="0"/>
              <a:t> para el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6A73A50-87AE-48D7-B995-3C915DE15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solidFill>
                  <a:srgbClr val="FF0000"/>
                </a:solidFill>
              </a:rPr>
              <a:t>Evolución</a:t>
            </a:r>
            <a:r>
              <a:rPr b="1" dirty="0">
                <a:solidFill>
                  <a:srgbClr val="FF0000"/>
                </a:solidFill>
              </a:rPr>
              <a:t> de los SO - Segunda </a:t>
            </a:r>
            <a:r>
              <a:rPr b="1" dirty="0" err="1">
                <a:solidFill>
                  <a:srgbClr val="FF0000"/>
                </a:solidFill>
              </a:rPr>
              <a:t>Generación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754945"/>
            <a:ext cx="8011551" cy="40550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Años</a:t>
            </a:r>
            <a:r>
              <a:rPr dirty="0"/>
              <a:t> 50–60: </a:t>
            </a:r>
            <a:r>
              <a:rPr dirty="0" err="1"/>
              <a:t>Sistemas</a:t>
            </a:r>
            <a:r>
              <a:rPr dirty="0"/>
              <a:t> por </a:t>
            </a:r>
            <a:r>
              <a:rPr dirty="0" err="1"/>
              <a:t>lotes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tarjetas</a:t>
            </a:r>
            <a:r>
              <a:rPr dirty="0"/>
              <a:t> </a:t>
            </a:r>
            <a:r>
              <a:rPr dirty="0" err="1"/>
              <a:t>perforadas</a:t>
            </a:r>
            <a:r>
              <a:rPr dirty="0"/>
              <a:t> para </a:t>
            </a:r>
            <a:r>
              <a:rPr dirty="0" err="1"/>
              <a:t>cargar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Se introduce el Monitor </a:t>
            </a:r>
            <a:r>
              <a:rPr dirty="0" err="1"/>
              <a:t>Residente</a:t>
            </a:r>
            <a:r>
              <a:rPr dirty="0"/>
              <a:t> (</a:t>
            </a:r>
            <a:r>
              <a:rPr dirty="0" err="1"/>
              <a:t>inicio</a:t>
            </a:r>
            <a:r>
              <a:rPr dirty="0"/>
              <a:t> de </a:t>
            </a:r>
            <a:r>
              <a:rPr dirty="0" err="1"/>
              <a:t>automatización</a:t>
            </a:r>
            <a:r>
              <a:rPr dirty="0"/>
              <a:t>).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 IBM 7090.</a:t>
            </a:r>
          </a:p>
          <a:p>
            <a:pPr marL="0" indent="0">
              <a:buNone/>
            </a:pPr>
            <a:r>
              <a:rPr dirty="0" err="1"/>
              <a:t>Ventaja</a:t>
            </a:r>
            <a:r>
              <a:rPr dirty="0"/>
              <a:t>: </a:t>
            </a:r>
            <a:r>
              <a:rPr dirty="0" err="1"/>
              <a:t>Reducción</a:t>
            </a:r>
            <a:r>
              <a:rPr dirty="0"/>
              <a:t> del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muerto</a:t>
            </a:r>
            <a:r>
              <a:rPr dirty="0"/>
              <a:t> del CPU.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FC83B338-3D54-440E-86DB-08229A5C6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solidFill>
                  <a:srgbClr val="FF0000"/>
                </a:solidFill>
              </a:rPr>
              <a:t>Evolución</a:t>
            </a:r>
            <a:r>
              <a:rPr b="1" dirty="0">
                <a:solidFill>
                  <a:srgbClr val="FF0000"/>
                </a:solidFill>
              </a:rPr>
              <a:t> de los SO - </a:t>
            </a:r>
            <a:r>
              <a:rPr b="1" dirty="0" err="1">
                <a:solidFill>
                  <a:srgbClr val="FF0000"/>
                </a:solidFill>
              </a:rPr>
              <a:t>Tercera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Generación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495" y="1849215"/>
            <a:ext cx="7899009" cy="389357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Años</a:t>
            </a:r>
            <a:r>
              <a:rPr dirty="0"/>
              <a:t> 60–70: </a:t>
            </a:r>
            <a:r>
              <a:rPr dirty="0" err="1"/>
              <a:t>Multiprogramación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SO </a:t>
            </a:r>
            <a:r>
              <a:rPr dirty="0" err="1"/>
              <a:t>controlaba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a la </a:t>
            </a:r>
            <a:r>
              <a:rPr dirty="0" err="1"/>
              <a:t>vez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de </a:t>
            </a:r>
            <a:r>
              <a:rPr dirty="0" err="1"/>
              <a:t>línea</a:t>
            </a:r>
            <a:r>
              <a:rPr dirty="0"/>
              <a:t> de </a:t>
            </a:r>
            <a:r>
              <a:rPr dirty="0" err="1"/>
              <a:t>comandos</a:t>
            </a:r>
            <a:r>
              <a:rPr dirty="0"/>
              <a:t> (CLI).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 Unix (1969).</a:t>
            </a:r>
          </a:p>
          <a:p>
            <a:pPr marL="0" indent="0">
              <a:buNone/>
            </a:pPr>
            <a:r>
              <a:rPr dirty="0" err="1"/>
              <a:t>Ventaja</a:t>
            </a:r>
            <a:r>
              <a:rPr dirty="0"/>
              <a:t>: Mayor </a:t>
            </a:r>
            <a:r>
              <a:rPr dirty="0" err="1"/>
              <a:t>eficiencia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A0DC1F8F-DB3F-4241-9473-987CD5BAE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solidFill>
                  <a:srgbClr val="FF0000"/>
                </a:solidFill>
              </a:rPr>
              <a:t>Evolución</a:t>
            </a:r>
            <a:r>
              <a:rPr b="1" dirty="0">
                <a:solidFill>
                  <a:srgbClr val="FF0000"/>
                </a:solidFill>
              </a:rPr>
              <a:t> de los SO - </a:t>
            </a:r>
            <a:r>
              <a:rPr b="1" dirty="0" err="1">
                <a:solidFill>
                  <a:srgbClr val="FF0000"/>
                </a:solidFill>
              </a:rPr>
              <a:t>Cuarta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Generación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157" y="1778877"/>
            <a:ext cx="8039686" cy="378103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Años</a:t>
            </a:r>
            <a:r>
              <a:rPr dirty="0"/>
              <a:t> 80–</a:t>
            </a:r>
            <a:r>
              <a:rPr dirty="0" err="1"/>
              <a:t>Presente</a:t>
            </a:r>
            <a:r>
              <a:rPr dirty="0"/>
              <a:t>: SO </a:t>
            </a:r>
            <a:r>
              <a:rPr dirty="0" err="1"/>
              <a:t>personales</a:t>
            </a:r>
            <a:r>
              <a:rPr dirty="0"/>
              <a:t> y </a:t>
            </a:r>
            <a:r>
              <a:rPr dirty="0" err="1"/>
              <a:t>móviles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Aparición</a:t>
            </a:r>
            <a:r>
              <a:rPr dirty="0"/>
              <a:t> de GUI (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gráfica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distribuidos</a:t>
            </a:r>
            <a:r>
              <a:rPr dirty="0"/>
              <a:t> y </a:t>
            </a:r>
            <a:r>
              <a:rPr dirty="0" err="1"/>
              <a:t>móviles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 Windows, Android, macOS.</a:t>
            </a:r>
          </a:p>
          <a:p>
            <a:pPr marL="0" indent="0">
              <a:buNone/>
            </a:pPr>
            <a:r>
              <a:rPr dirty="0" err="1"/>
              <a:t>Ventaja</a:t>
            </a:r>
            <a:r>
              <a:rPr dirty="0"/>
              <a:t>: </a:t>
            </a:r>
            <a:r>
              <a:rPr dirty="0" err="1"/>
              <a:t>Facilidad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, </a:t>
            </a:r>
            <a:r>
              <a:rPr dirty="0" err="1"/>
              <a:t>portabilidad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F5B1073D-704D-4994-9930-7BD337DCA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solidFill>
                  <a:srgbClr val="FF0000"/>
                </a:solidFill>
              </a:rPr>
              <a:t>Componentes</a:t>
            </a:r>
            <a:r>
              <a:rPr b="1" dirty="0">
                <a:solidFill>
                  <a:srgbClr val="FF0000"/>
                </a:solidFill>
              </a:rPr>
              <a:t> del SO: </a:t>
            </a:r>
            <a:r>
              <a:rPr b="1" dirty="0" err="1">
                <a:solidFill>
                  <a:srgbClr val="FF0000"/>
                </a:solidFill>
              </a:rPr>
              <a:t>Núcleo</a:t>
            </a:r>
            <a:r>
              <a:rPr b="1" dirty="0">
                <a:solidFill>
                  <a:srgbClr val="FF0000"/>
                </a:solidFill>
              </a:rPr>
              <a:t> (Kernel)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732" y="1494007"/>
            <a:ext cx="7800535" cy="4358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Es el </a:t>
            </a:r>
            <a:r>
              <a:rPr dirty="0" err="1"/>
              <a:t>núcleo</a:t>
            </a:r>
            <a:r>
              <a:rPr dirty="0"/>
              <a:t> central del SO. </a:t>
            </a:r>
            <a:r>
              <a:rPr dirty="0" err="1"/>
              <a:t>Responsable</a:t>
            </a:r>
            <a:r>
              <a:rPr dirty="0"/>
              <a:t> de la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 y </a:t>
            </a:r>
            <a:r>
              <a:rPr dirty="0" err="1"/>
              <a:t>comunicación</a:t>
            </a:r>
            <a:r>
              <a:rPr dirty="0"/>
              <a:t> entre software y hardware.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Funciones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Planificación</a:t>
            </a:r>
            <a:r>
              <a:rPr dirty="0"/>
              <a:t> de </a:t>
            </a:r>
            <a:r>
              <a:rPr dirty="0" err="1"/>
              <a:t>procesos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memoria</a:t>
            </a:r>
            <a:endParaRPr dirty="0"/>
          </a:p>
          <a:p>
            <a:pPr marL="0" indent="0">
              <a:buNone/>
            </a:pPr>
            <a:r>
              <a:rPr dirty="0"/>
              <a:t>• Control de </a:t>
            </a:r>
            <a:r>
              <a:rPr dirty="0" err="1"/>
              <a:t>dispositivos</a:t>
            </a: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 Linux </a:t>
            </a:r>
            <a:r>
              <a:rPr dirty="0" err="1"/>
              <a:t>utiliza</a:t>
            </a:r>
            <a:r>
              <a:rPr dirty="0"/>
              <a:t> un kernel </a:t>
            </a:r>
            <a:r>
              <a:rPr dirty="0" err="1"/>
              <a:t>monolítico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C5326872-D3E2-4AF3-87DD-0AC68B7D2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Gestión</a:t>
            </a:r>
            <a:r>
              <a:rPr b="1" dirty="0">
                <a:solidFill>
                  <a:srgbClr val="FF0000"/>
                </a:solidFill>
              </a:rPr>
              <a:t> de </a:t>
            </a:r>
            <a:r>
              <a:rPr b="1" dirty="0" err="1">
                <a:solidFill>
                  <a:srgbClr val="FF0000"/>
                </a:solidFill>
              </a:rPr>
              <a:t>Procesos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Maneja</a:t>
            </a:r>
            <a:r>
              <a:rPr dirty="0"/>
              <a:t> la </a:t>
            </a:r>
            <a:r>
              <a:rPr dirty="0" err="1"/>
              <a:t>creación</a:t>
            </a:r>
            <a:r>
              <a:rPr dirty="0"/>
              <a:t>, </a:t>
            </a:r>
            <a:r>
              <a:rPr dirty="0" err="1"/>
              <a:t>planificación</a:t>
            </a:r>
            <a:r>
              <a:rPr dirty="0"/>
              <a:t> y </a:t>
            </a:r>
            <a:r>
              <a:rPr dirty="0" err="1"/>
              <a:t>terminación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PCB (Process Control Block).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 err="1"/>
              <a:t>Tabla</a:t>
            </a:r>
            <a:r>
              <a:rPr b="1" dirty="0"/>
              <a:t>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Proceso</a:t>
            </a:r>
            <a:r>
              <a:rPr dirty="0"/>
              <a:t>       | Estado     |</a:t>
            </a:r>
          </a:p>
          <a:p>
            <a:pPr marL="0" indent="0">
              <a:buNone/>
            </a:pPr>
            <a:r>
              <a:rPr dirty="0"/>
              <a:t>|---------------|------------|</a:t>
            </a:r>
          </a:p>
          <a:p>
            <a:pPr marL="0" indent="0">
              <a:buNone/>
            </a:pPr>
            <a:r>
              <a:rPr dirty="0"/>
              <a:t>| P1            | </a:t>
            </a:r>
            <a:r>
              <a:rPr dirty="0" err="1"/>
              <a:t>Ejecutando</a:t>
            </a:r>
            <a:r>
              <a:rPr dirty="0"/>
              <a:t> |</a:t>
            </a:r>
          </a:p>
          <a:p>
            <a:pPr marL="0" indent="0">
              <a:buNone/>
            </a:pPr>
            <a:r>
              <a:rPr dirty="0"/>
              <a:t>| P2            | </a:t>
            </a:r>
            <a:r>
              <a:rPr dirty="0" err="1"/>
              <a:t>Listo</a:t>
            </a:r>
            <a:r>
              <a:rPr dirty="0"/>
              <a:t>      |</a:t>
            </a:r>
          </a:p>
          <a:p>
            <a:pPr marL="0" indent="0">
              <a:buNone/>
            </a:pPr>
            <a:r>
              <a:rPr dirty="0"/>
              <a:t>| P3            | </a:t>
            </a:r>
            <a:r>
              <a:rPr dirty="0" err="1"/>
              <a:t>Espera</a:t>
            </a:r>
            <a:r>
              <a:rPr dirty="0"/>
              <a:t>     |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B9AEEDD1-3A19-4BD5-8ED9-54A466DC4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Gestión</a:t>
            </a:r>
            <a:r>
              <a:rPr b="1" dirty="0">
                <a:solidFill>
                  <a:srgbClr val="FF0000"/>
                </a:solidFill>
              </a:rPr>
              <a:t> de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809457"/>
            <a:ext cx="7955280" cy="323908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RAM a los </a:t>
            </a:r>
            <a:r>
              <a:rPr dirty="0" err="1"/>
              <a:t>procesos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Controla</a:t>
            </a:r>
            <a:r>
              <a:rPr dirty="0"/>
              <a:t> la </a:t>
            </a:r>
            <a:r>
              <a:rPr dirty="0" err="1"/>
              <a:t>memoria</a:t>
            </a:r>
            <a:r>
              <a:rPr dirty="0"/>
              <a:t> virtual y </a:t>
            </a:r>
            <a:r>
              <a:rPr dirty="0" err="1"/>
              <a:t>física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Utiliza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paginación</a:t>
            </a:r>
            <a:r>
              <a:rPr dirty="0"/>
              <a:t> y </a:t>
            </a:r>
            <a:r>
              <a:rPr dirty="0" err="1"/>
              <a:t>segmentación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Un </a:t>
            </a:r>
            <a:r>
              <a:rPr dirty="0" err="1"/>
              <a:t>programa</a:t>
            </a:r>
            <a:r>
              <a:rPr dirty="0"/>
              <a:t> de 1GB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usar</a:t>
            </a:r>
            <a:r>
              <a:rPr dirty="0"/>
              <a:t> 200MB </a:t>
            </a:r>
            <a:r>
              <a:rPr dirty="0" err="1"/>
              <a:t>en</a:t>
            </a:r>
            <a:r>
              <a:rPr dirty="0"/>
              <a:t> RAM y el resto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memoria</a:t>
            </a:r>
            <a:r>
              <a:rPr dirty="0"/>
              <a:t> virtual.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A269DF48-21A6-4F9D-85FB-27FB1901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Sistema de </a:t>
            </a:r>
            <a:r>
              <a:rPr b="1" dirty="0" err="1">
                <a:solidFill>
                  <a:srgbClr val="FF0000"/>
                </a:solidFill>
              </a:rPr>
              <a:t>Archivos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427" y="1740877"/>
            <a:ext cx="7927145" cy="38439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Organiza</a:t>
            </a:r>
            <a:r>
              <a:rPr dirty="0"/>
              <a:t>, </a:t>
            </a:r>
            <a:r>
              <a:rPr dirty="0" err="1"/>
              <a:t>almacena</a:t>
            </a:r>
            <a:r>
              <a:rPr dirty="0"/>
              <a:t> y accede a </a:t>
            </a: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dispositivos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Tipos</a:t>
            </a:r>
            <a:r>
              <a:rPr dirty="0"/>
              <a:t>: FAT32, NTFS, ext4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 err="1"/>
              <a:t>Funciones</a:t>
            </a:r>
            <a:r>
              <a:rPr b="1"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Jerarquía</a:t>
            </a:r>
            <a:r>
              <a:rPr dirty="0"/>
              <a:t> de </a:t>
            </a:r>
            <a:r>
              <a:rPr dirty="0" err="1"/>
              <a:t>carpetas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Permisos</a:t>
            </a:r>
            <a:r>
              <a:rPr dirty="0"/>
              <a:t> de </a:t>
            </a:r>
            <a:r>
              <a:rPr dirty="0" err="1"/>
              <a:t>acceso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Manejadores</a:t>
            </a:r>
            <a:r>
              <a:rPr dirty="0"/>
              <a:t> de </a:t>
            </a:r>
            <a:r>
              <a:rPr dirty="0" err="1"/>
              <a:t>archivos</a:t>
            </a:r>
            <a:endParaRPr dirty="0"/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52A771C8-9B27-447C-89E4-347B570A6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Gestión</a:t>
            </a:r>
            <a:r>
              <a:rPr b="1" dirty="0">
                <a:solidFill>
                  <a:srgbClr val="FF0000"/>
                </a:solidFill>
              </a:rPr>
              <a:t> de </a:t>
            </a:r>
            <a:r>
              <a:rPr b="1" dirty="0" err="1">
                <a:solidFill>
                  <a:srgbClr val="FF0000"/>
                </a:solidFill>
              </a:rPr>
              <a:t>Dispositivos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575" y="1504558"/>
            <a:ext cx="6232849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Administra</a:t>
            </a:r>
            <a:r>
              <a:rPr dirty="0"/>
              <a:t> </a:t>
            </a:r>
            <a:r>
              <a:rPr dirty="0" err="1"/>
              <a:t>dispositivos</a:t>
            </a:r>
            <a:r>
              <a:rPr dirty="0"/>
              <a:t> de entrada/</a:t>
            </a:r>
            <a:r>
              <a:rPr dirty="0" err="1"/>
              <a:t>salida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Utiliza</a:t>
            </a:r>
            <a:r>
              <a:rPr dirty="0"/>
              <a:t> </a:t>
            </a:r>
            <a:r>
              <a:rPr dirty="0" err="1"/>
              <a:t>controladores</a:t>
            </a:r>
            <a:r>
              <a:rPr dirty="0"/>
              <a:t> (drivers) para </a:t>
            </a:r>
            <a:r>
              <a:rPr dirty="0" err="1"/>
              <a:t>interactuar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Ejemplos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Mouse, </a:t>
            </a:r>
            <a:r>
              <a:rPr dirty="0" err="1"/>
              <a:t>teclado</a:t>
            </a:r>
            <a:r>
              <a:rPr dirty="0"/>
              <a:t>, </a:t>
            </a:r>
            <a:r>
              <a:rPr dirty="0" err="1"/>
              <a:t>impresora</a:t>
            </a:r>
            <a:r>
              <a:rPr dirty="0"/>
              <a:t>, disco </a:t>
            </a:r>
            <a:r>
              <a:rPr dirty="0" err="1"/>
              <a:t>externo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 err="1"/>
              <a:t>Tabla</a:t>
            </a:r>
            <a:r>
              <a:rPr b="1" dirty="0"/>
              <a:t>: </a:t>
            </a:r>
            <a:r>
              <a:rPr dirty="0" err="1"/>
              <a:t>Relación</a:t>
            </a:r>
            <a:r>
              <a:rPr dirty="0"/>
              <a:t> de </a:t>
            </a:r>
            <a:r>
              <a:rPr dirty="0" err="1"/>
              <a:t>Dispositivo</a:t>
            </a:r>
            <a:r>
              <a:rPr dirty="0"/>
              <a:t> ↔ Driver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Dispositivo</a:t>
            </a:r>
            <a:r>
              <a:rPr dirty="0"/>
              <a:t>   | Driver </a:t>
            </a:r>
            <a:r>
              <a:rPr dirty="0" err="1"/>
              <a:t>asociado</a:t>
            </a:r>
            <a:r>
              <a:rPr dirty="0"/>
              <a:t>       |</a:t>
            </a:r>
          </a:p>
          <a:p>
            <a:pPr marL="0" indent="0">
              <a:buNone/>
            </a:pPr>
            <a:r>
              <a:rPr dirty="0"/>
              <a:t>|---------------|------------------------|</a:t>
            </a:r>
          </a:p>
          <a:p>
            <a:pPr marL="0" indent="0">
              <a:buNone/>
            </a:pPr>
            <a:r>
              <a:rPr dirty="0"/>
              <a:t>| </a:t>
            </a:r>
            <a:r>
              <a:rPr dirty="0" err="1"/>
              <a:t>Impresora</a:t>
            </a:r>
            <a:r>
              <a:rPr dirty="0"/>
              <a:t> HP  | hp-</a:t>
            </a:r>
            <a:r>
              <a:rPr dirty="0" err="1"/>
              <a:t>laserjet</a:t>
            </a:r>
            <a:r>
              <a:rPr dirty="0"/>
              <a:t>-driver     |</a:t>
            </a:r>
          </a:p>
          <a:p>
            <a:pPr marL="0" indent="0">
              <a:buNone/>
            </a:pPr>
            <a:r>
              <a:rPr dirty="0"/>
              <a:t>| GPU NVIDIA    | </a:t>
            </a:r>
            <a:r>
              <a:rPr dirty="0" err="1"/>
              <a:t>nvidia</a:t>
            </a:r>
            <a:r>
              <a:rPr dirty="0"/>
              <a:t>-driver          |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79A8CD7F-B7A6-4B88-9D99-0D53775FE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Interfaz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Gráfica</a:t>
            </a:r>
            <a:r>
              <a:rPr dirty="0"/>
              <a:t> (GUI): Windows, macOS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Línea</a:t>
            </a:r>
            <a:r>
              <a:rPr dirty="0"/>
              <a:t> de </a:t>
            </a:r>
            <a:r>
              <a:rPr dirty="0" err="1"/>
              <a:t>Comandos</a:t>
            </a:r>
            <a:r>
              <a:rPr dirty="0"/>
              <a:t> (CLI): Linux, Unix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Ventajas</a:t>
            </a:r>
            <a:r>
              <a:rPr dirty="0"/>
              <a:t> GUI: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Intuitiva</a:t>
            </a:r>
            <a:r>
              <a:rPr dirty="0"/>
              <a:t>, visual, </a:t>
            </a:r>
            <a:r>
              <a:rPr dirty="0" err="1"/>
              <a:t>amigable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Ventajas</a:t>
            </a:r>
            <a:r>
              <a:rPr dirty="0"/>
              <a:t> CLI: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Potente</a:t>
            </a:r>
            <a:r>
              <a:rPr dirty="0"/>
              <a:t>, flexible, </a:t>
            </a:r>
            <a:r>
              <a:rPr dirty="0" err="1"/>
              <a:t>útil</a:t>
            </a:r>
            <a:r>
              <a:rPr dirty="0"/>
              <a:t> para </a:t>
            </a:r>
            <a:r>
              <a:rPr dirty="0" err="1"/>
              <a:t>administración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CC139DA0-B4C0-46C3-B859-8F36C015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6019970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19046" cy="1143000"/>
          </a:xfrm>
        </p:spPr>
        <p:txBody>
          <a:bodyPr/>
          <a:lstStyle/>
          <a:p>
            <a:r>
              <a:rPr dirty="0" err="1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Tienes</a:t>
            </a:r>
            <a:r>
              <a:rPr dirty="0"/>
              <a:t> </a:t>
            </a:r>
            <a:r>
              <a:rPr dirty="0" err="1"/>
              <a:t>alguna</a:t>
            </a:r>
            <a:r>
              <a:rPr dirty="0"/>
              <a:t> </a:t>
            </a:r>
            <a:r>
              <a:rPr dirty="0" err="1"/>
              <a:t>duda</a:t>
            </a:r>
            <a:r>
              <a:rPr dirty="0"/>
              <a:t> o </a:t>
            </a:r>
            <a:r>
              <a:rPr dirty="0" err="1"/>
              <a:t>comentario</a:t>
            </a:r>
            <a:r>
              <a:rPr dirty="0"/>
              <a:t>?</a:t>
            </a:r>
          </a:p>
        </p:txBody>
      </p:sp>
      <p:pic>
        <p:nvPicPr>
          <p:cNvPr id="1026" name="Picture 2" descr="Papeles sueltos: Preguntas de investigación">
            <a:extLst>
              <a:ext uri="{FF2B5EF4-FFF2-40B4-BE49-F238E27FC236}">
                <a16:creationId xmlns:a16="http://schemas.microsoft.com/office/drawing/2014/main" id="{A6980E81-800F-4661-9909-40F1492E4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39" y="2299102"/>
            <a:ext cx="7047434" cy="419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97348" cy="1143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 de algoritmos más utilizados en marketing digital | Inesdi">
            <a:extLst>
              <a:ext uri="{FF2B5EF4-FFF2-40B4-BE49-F238E27FC236}">
                <a16:creationId xmlns:a16="http://schemas.microsoft.com/office/drawing/2014/main" id="{D9BE7B00-C55F-4E46-8848-FA167038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56" y="1692276"/>
            <a:ext cx="6415127" cy="400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532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998"/>
            <a:ext cx="8229600" cy="1143000"/>
          </a:xfrm>
        </p:spPr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Ejercicio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Práctico</a:t>
            </a:r>
            <a:r>
              <a:rPr b="1" dirty="0">
                <a:solidFill>
                  <a:srgbClr val="FF0000"/>
                </a:solidFill>
              </a:rPr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223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Analiza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actual (Windows, Linux o Android) e </a:t>
            </a:r>
            <a:r>
              <a:rPr dirty="0" err="1"/>
              <a:t>identifica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Sus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  <a:p>
            <a:pPr marL="0" indent="0">
              <a:buNone/>
            </a:pPr>
            <a:r>
              <a:rPr dirty="0"/>
              <a:t>• Tipo de kernel </a:t>
            </a:r>
            <a:r>
              <a:rPr dirty="0" err="1"/>
              <a:t>utilizado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Interfaz</a:t>
            </a:r>
            <a:r>
              <a:rPr dirty="0"/>
              <a:t> de </a:t>
            </a:r>
            <a:r>
              <a:rPr dirty="0" err="1"/>
              <a:t>usuario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Elabora</a:t>
            </a:r>
            <a:r>
              <a:rPr dirty="0"/>
              <a:t> un </a:t>
            </a:r>
            <a:r>
              <a:rPr dirty="0" err="1"/>
              <a:t>cuadro</a:t>
            </a:r>
            <a:r>
              <a:rPr dirty="0"/>
              <a:t> </a:t>
            </a:r>
            <a:r>
              <a:rPr dirty="0" err="1"/>
              <a:t>comparativo</a:t>
            </a:r>
            <a:r>
              <a:rPr dirty="0"/>
              <a:t> entre sus </a:t>
            </a:r>
            <a:r>
              <a:rPr dirty="0" err="1"/>
              <a:t>características</a:t>
            </a:r>
            <a:r>
              <a:rPr dirty="0"/>
              <a:t> y las de </a:t>
            </a:r>
            <a:r>
              <a:rPr dirty="0" err="1"/>
              <a:t>otro</a:t>
            </a:r>
            <a:r>
              <a:rPr dirty="0"/>
              <a:t> SO.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52C893FF-E727-41FD-A92F-2D225F7A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2407"/>
            <a:ext cx="8229600" cy="1143000"/>
          </a:xfrm>
        </p:spPr>
        <p:txBody>
          <a:bodyPr/>
          <a:lstStyle/>
          <a:p>
            <a:r>
              <a:rPr b="1">
                <a:solidFill>
                  <a:srgbClr val="FF0000"/>
                </a:solidFill>
              </a:rPr>
              <a:t>Ejercicio Práctico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25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Simula</a:t>
            </a:r>
            <a:r>
              <a:rPr dirty="0"/>
              <a:t> el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de 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creación</a:t>
            </a:r>
            <a:r>
              <a:rPr dirty="0"/>
              <a:t> hasta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finalización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Define los </a:t>
            </a:r>
            <a:r>
              <a:rPr dirty="0" err="1"/>
              <a:t>estados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Representa</a:t>
            </a:r>
            <a:r>
              <a:rPr dirty="0"/>
              <a:t> los </a:t>
            </a:r>
            <a:r>
              <a:rPr dirty="0" err="1"/>
              <a:t>cambios</a:t>
            </a:r>
            <a:r>
              <a:rPr dirty="0"/>
              <a:t> de </a:t>
            </a:r>
            <a:r>
              <a:rPr dirty="0" err="1"/>
              <a:t>estado</a:t>
            </a:r>
            <a:r>
              <a:rPr dirty="0"/>
              <a:t> con un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con un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práctico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E29DE8DD-6665-414F-B7ED-5C571E3C2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47" y="1048361"/>
            <a:ext cx="4536831" cy="1143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EA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dirty="0">
              <a:solidFill>
                <a:srgbClr val="EA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947033"/>
            <a:ext cx="4722928" cy="176517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¿</a:t>
            </a:r>
            <a:r>
              <a:rPr lang="es-MX" dirty="0"/>
              <a:t>Qué aprendiste en esta sesión</a:t>
            </a:r>
            <a:r>
              <a:rPr dirty="0"/>
              <a:t>?</a:t>
            </a:r>
            <a:endParaRPr lang="es-MX" dirty="0"/>
          </a:p>
          <a:p>
            <a:r>
              <a:rPr lang="es-MX" dirty="0"/>
              <a:t>T</a:t>
            </a:r>
            <a:r>
              <a:rPr lang="es-PE" dirty="0"/>
              <a:t>e invitamos a compartir tus conclusiones en clase</a:t>
            </a:r>
            <a:endParaRPr dirty="0"/>
          </a:p>
        </p:txBody>
      </p:sp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peles sueltos: Las conclusiones y revisión de la introducción y objetvos">
            <a:extLst>
              <a:ext uri="{FF2B5EF4-FFF2-40B4-BE49-F238E27FC236}">
                <a16:creationId xmlns:a16="http://schemas.microsoft.com/office/drawing/2014/main" id="{DCE8AC76-83F8-4ADC-818F-7CDA6046F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70" y="1997146"/>
            <a:ext cx="2682386" cy="33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7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Resumen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es </a:t>
            </a:r>
            <a:r>
              <a:rPr dirty="0" err="1"/>
              <a:t>esencial</a:t>
            </a:r>
            <a:r>
              <a:rPr dirty="0"/>
              <a:t> para el </a:t>
            </a:r>
            <a:r>
              <a:rPr dirty="0" err="1"/>
              <a:t>funcionamiento</a:t>
            </a:r>
            <a:r>
              <a:rPr dirty="0"/>
              <a:t> de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informático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Ha </a:t>
            </a:r>
            <a:r>
              <a:rPr dirty="0" err="1"/>
              <a:t>evolucionado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simples </a:t>
            </a:r>
            <a:r>
              <a:rPr dirty="0" err="1"/>
              <a:t>gestores</a:t>
            </a:r>
            <a:r>
              <a:rPr dirty="0"/>
              <a:t> de </a:t>
            </a:r>
            <a:r>
              <a:rPr dirty="0" err="1"/>
              <a:t>lotes</a:t>
            </a:r>
            <a:r>
              <a:rPr dirty="0"/>
              <a:t> hasta </a:t>
            </a:r>
            <a:r>
              <a:rPr dirty="0" err="1"/>
              <a:t>plataformas</a:t>
            </a:r>
            <a:r>
              <a:rPr dirty="0"/>
              <a:t> </a:t>
            </a:r>
            <a:r>
              <a:rPr dirty="0" err="1"/>
              <a:t>complejas</a:t>
            </a:r>
            <a:r>
              <a:rPr dirty="0"/>
              <a:t> </a:t>
            </a:r>
            <a:r>
              <a:rPr dirty="0" err="1"/>
              <a:t>multitarea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compuesto</a:t>
            </a:r>
            <a:r>
              <a:rPr dirty="0"/>
              <a:t> por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módulos</a:t>
            </a:r>
            <a:r>
              <a:rPr dirty="0"/>
              <a:t> (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, </a:t>
            </a:r>
            <a:r>
              <a:rPr dirty="0" err="1"/>
              <a:t>memoria</a:t>
            </a:r>
            <a:r>
              <a:rPr dirty="0"/>
              <a:t>, </a:t>
            </a:r>
            <a:r>
              <a:rPr dirty="0" err="1"/>
              <a:t>archivos</a:t>
            </a:r>
            <a:r>
              <a:rPr dirty="0"/>
              <a:t>, </a:t>
            </a:r>
            <a:r>
              <a:rPr dirty="0" err="1"/>
              <a:t>dispositivos</a:t>
            </a:r>
            <a:r>
              <a:rPr dirty="0"/>
              <a:t>, </a:t>
            </a:r>
            <a:r>
              <a:rPr dirty="0" err="1"/>
              <a:t>interfaz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estudio</a:t>
            </a:r>
            <a:r>
              <a:rPr dirty="0"/>
              <a:t> es fundamental para </a:t>
            </a:r>
            <a:r>
              <a:rPr dirty="0" err="1"/>
              <a:t>comprender</a:t>
            </a:r>
            <a:r>
              <a:rPr dirty="0"/>
              <a:t> la </a:t>
            </a:r>
            <a:r>
              <a:rPr dirty="0" err="1"/>
              <a:t>arquitectura</a:t>
            </a:r>
            <a:r>
              <a:rPr dirty="0"/>
              <a:t> y </a:t>
            </a:r>
            <a:r>
              <a:rPr dirty="0" err="1"/>
              <a:t>funcionamiento</a:t>
            </a:r>
            <a:r>
              <a:rPr dirty="0"/>
              <a:t> de </a:t>
            </a:r>
            <a:r>
              <a:rPr dirty="0" err="1"/>
              <a:t>computadoras</a:t>
            </a:r>
            <a:r>
              <a:rPr dirty="0"/>
              <a:t> y </a:t>
            </a:r>
            <a:r>
              <a:rPr dirty="0" err="1"/>
              <a:t>dispositivos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.</a:t>
            </a:r>
          </a:p>
        </p:txBody>
      </p:sp>
      <p:pic>
        <p:nvPicPr>
          <p:cNvPr id="4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AA8913ED-2A44-4B8C-8A6C-F070C1725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3403"/>
            <a:ext cx="2344930" cy="5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矢量圆点底纹设计图__条纹线条_底纹边框_设计图库_昵图网">
            <a:extLst>
              <a:ext uri="{FF2B5EF4-FFF2-40B4-BE49-F238E27FC236}">
                <a16:creationId xmlns:a16="http://schemas.microsoft.com/office/drawing/2014/main" id="{E75EF429-7F8E-4A2B-A162-8E6BFD8FD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/>
        </p:blipFill>
        <p:spPr bwMode="auto">
          <a:xfrm>
            <a:off x="18579" y="0"/>
            <a:ext cx="91254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h.bing.com/th/id/R.20e59202c60fbf9d35eb9de67c32cce4?rik=bc%2b7DuRbJ8AF%2fQ&amp;pid=ImgRaw&amp;r=0">
            <a:extLst>
              <a:ext uri="{FF2B5EF4-FFF2-40B4-BE49-F238E27FC236}">
                <a16:creationId xmlns:a16="http://schemas.microsoft.com/office/drawing/2014/main" id="{28BA53B1-41F2-4A3F-ABB9-4919A9CE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81" y="2321692"/>
            <a:ext cx="7100238" cy="170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989</Words>
  <Application>Microsoft Office PowerPoint</Application>
  <PresentationFormat>Presentación en pantalla (4:3)</PresentationFormat>
  <Paragraphs>161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Arial MT</vt:lpstr>
      <vt:lpstr>Calibri</vt:lpstr>
      <vt:lpstr>Office Theme</vt:lpstr>
      <vt:lpstr>SISTEMAS OPERATIVOS</vt:lpstr>
      <vt:lpstr>Logro de aprendizaje</vt:lpstr>
      <vt:lpstr>TEMARIO</vt:lpstr>
      <vt:lpstr>Conocimientos previos</vt:lpstr>
      <vt:lpstr>UTILIDAD</vt:lpstr>
      <vt:lpstr>¿Qué es un Sistema Operativo?</vt:lpstr>
      <vt:lpstr>Funciones Principales del SO</vt:lpstr>
      <vt:lpstr>Evolución de los SO - Primera Generación</vt:lpstr>
      <vt:lpstr>Evolución de los SO - Segunda Generación</vt:lpstr>
      <vt:lpstr>Evolución de los SO - Tercera Generación</vt:lpstr>
      <vt:lpstr>Evolución de los SO - Cuarta Generación</vt:lpstr>
      <vt:lpstr>Componentes del SO: Núcleo (Kernel)</vt:lpstr>
      <vt:lpstr>Gestión de Procesos</vt:lpstr>
      <vt:lpstr>Gestión de Memoria</vt:lpstr>
      <vt:lpstr>Sistema de Archivos</vt:lpstr>
      <vt:lpstr>Gestión de Dispositivos</vt:lpstr>
      <vt:lpstr>Interfaz de Usuario</vt:lpstr>
      <vt:lpstr>Preguntas</vt:lpstr>
      <vt:lpstr>EJERCICIOS</vt:lpstr>
      <vt:lpstr>Ejercicio Práctico 1</vt:lpstr>
      <vt:lpstr>Ejercicio Práctico 2</vt:lpstr>
      <vt:lpstr>CONCLUSIONES</vt:lpstr>
      <vt:lpstr>Resumen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subject/>
  <dc:creator>Gabriela</dc:creator>
  <cp:keywords/>
  <dc:description>generated using python-pptx</dc:description>
  <cp:lastModifiedBy>Gabriela</cp:lastModifiedBy>
  <cp:revision>4</cp:revision>
  <dcterms:created xsi:type="dcterms:W3CDTF">2013-01-27T09:14:16Z</dcterms:created>
  <dcterms:modified xsi:type="dcterms:W3CDTF">2025-08-07T18:16:11Z</dcterms:modified>
  <cp:category/>
</cp:coreProperties>
</file>