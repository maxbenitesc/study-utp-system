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363" r:id="rId3"/>
    <p:sldId id="365" r:id="rId4"/>
    <p:sldId id="351" r:id="rId5"/>
    <p:sldId id="352" r:id="rId6"/>
    <p:sldId id="344" r:id="rId7"/>
    <p:sldId id="366" r:id="rId8"/>
    <p:sldId id="371" r:id="rId9"/>
    <p:sldId id="372" r:id="rId10"/>
    <p:sldId id="373" r:id="rId11"/>
    <p:sldId id="374" r:id="rId12"/>
    <p:sldId id="353" r:id="rId13"/>
    <p:sldId id="354" r:id="rId14"/>
    <p:sldId id="356" r:id="rId15"/>
    <p:sldId id="375" r:id="rId16"/>
    <p:sldId id="376" r:id="rId17"/>
    <p:sldId id="377" r:id="rId18"/>
    <p:sldId id="378" r:id="rId19"/>
    <p:sldId id="357" r:id="rId20"/>
    <p:sldId id="358" r:id="rId21"/>
    <p:sldId id="359" r:id="rId22"/>
    <p:sldId id="360" r:id="rId23"/>
    <p:sldId id="362" r:id="rId24"/>
    <p:sldId id="273" r:id="rId25"/>
  </p:sldIdLst>
  <p:sldSz cx="12192000" cy="6858000"/>
  <p:notesSz cx="12192000" cy="6858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1052D"/>
    <a:srgbClr val="BEC3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67" d="100"/>
          <a:sy n="67" d="100"/>
        </p:scale>
        <p:origin x="756" y="7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C9654E5-2B86-4061-BA67-8AB4A0612CCD}" type="datetimeFigureOut">
              <a:rPr lang="es-PE" smtClean="0"/>
              <a:t>13/03/2025</a:t>
            </a:fld>
            <a:endParaRPr lang="es-PE"/>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529008C-742E-4A65-BF8A-7341D8FA0032}" type="slidenum">
              <a:rPr lang="es-PE" smtClean="0"/>
              <a:t>‹Nº›</a:t>
            </a:fld>
            <a:endParaRPr lang="es-PE"/>
          </a:p>
        </p:txBody>
      </p:sp>
    </p:spTree>
    <p:extLst>
      <p:ext uri="{BB962C8B-B14F-4D97-AF65-F5344CB8AC3E}">
        <p14:creationId xmlns:p14="http://schemas.microsoft.com/office/powerpoint/2010/main" val="4162588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734820" y="1015746"/>
            <a:ext cx="8722359" cy="1763395"/>
          </a:xfrm>
          <a:prstGeom prst="rect">
            <a:avLst/>
          </a:prstGeom>
        </p:spPr>
        <p:txBody>
          <a:bodyPr wrap="square" lIns="0" tIns="0" rIns="0" bIns="0">
            <a:spAutoFit/>
          </a:bodyPr>
          <a:lstStyle>
            <a:lvl1pPr>
              <a:defRPr sz="60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916939" y="1784350"/>
            <a:ext cx="4892675" cy="4026535"/>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sz="half" idx="3"/>
          </p:nvPr>
        </p:nvSpPr>
        <p:spPr>
          <a:xfrm>
            <a:off x="7660005" y="1784350"/>
            <a:ext cx="3527425" cy="4026535"/>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6939" y="609676"/>
            <a:ext cx="10358120" cy="697230"/>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6939" y="1793493"/>
            <a:ext cx="10358120" cy="185864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3/13/2025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900112" y="1838144"/>
            <a:ext cx="10363199" cy="905056"/>
          </a:xfrm>
          <a:prstGeom prst="rect">
            <a:avLst/>
          </a:prstGeom>
        </p:spPr>
        <p:txBody>
          <a:bodyPr vert="horz" wrap="square" lIns="0" tIns="116205" rIns="0" bIns="0" rtlCol="0">
            <a:spAutoFit/>
          </a:bodyPr>
          <a:lstStyle/>
          <a:p>
            <a:pPr marL="3268979" marR="5080" indent="-3253104" algn="ctr">
              <a:lnSpc>
                <a:spcPts val="6480"/>
              </a:lnSpc>
              <a:spcBef>
                <a:spcPts val="915"/>
              </a:spcBef>
            </a:pPr>
            <a:r>
              <a:rPr lang="es-ES" sz="4800" spc="-45" dirty="0">
                <a:latin typeface="CentSchbkCyrill BT" panose="02040603050705020303" pitchFamily="18" charset="-52"/>
              </a:rPr>
              <a:t>CURSO: BASE DE DATOS II</a:t>
            </a:r>
            <a:endParaRPr sz="4800" spc="-35" dirty="0">
              <a:latin typeface="CentSchbkCyrill BT" panose="02040603050705020303" pitchFamily="18" charset="-52"/>
            </a:endParaRPr>
          </a:p>
        </p:txBody>
      </p:sp>
      <p:sp>
        <p:nvSpPr>
          <p:cNvPr id="6" name="CuadroTexto 5">
            <a:extLst>
              <a:ext uri="{FF2B5EF4-FFF2-40B4-BE49-F238E27FC236}">
                <a16:creationId xmlns:a16="http://schemas.microsoft.com/office/drawing/2014/main" id="{A985DEC5-F30D-46A1-8619-3D91E66BBC7E}"/>
              </a:ext>
            </a:extLst>
          </p:cNvPr>
          <p:cNvSpPr txBox="1"/>
          <p:nvPr/>
        </p:nvSpPr>
        <p:spPr>
          <a:xfrm>
            <a:off x="2767012" y="1644495"/>
            <a:ext cx="6629400" cy="369332"/>
          </a:xfrm>
          <a:prstGeom prst="rect">
            <a:avLst/>
          </a:prstGeom>
          <a:noFill/>
        </p:spPr>
        <p:txBody>
          <a:bodyPr wrap="square">
            <a:spAutoFit/>
          </a:bodyPr>
          <a:lstStyle/>
          <a:p>
            <a:pPr algn="ctr"/>
            <a:r>
              <a:rPr lang="es-ES" b="1" dirty="0">
                <a:solidFill>
                  <a:srgbClr val="D1052D"/>
                </a:solidFill>
              </a:rPr>
              <a:t>PRIMERA UNIDAD DE APRENDIZAJE 1: </a:t>
            </a:r>
            <a:r>
              <a:rPr lang="es-ES" dirty="0"/>
              <a:t>Bases de Datos Relacionales</a:t>
            </a:r>
            <a:endParaRPr lang="es-PE" dirty="0"/>
          </a:p>
        </p:txBody>
      </p:sp>
      <p:sp>
        <p:nvSpPr>
          <p:cNvPr id="8" name="CuadroTexto 7">
            <a:extLst>
              <a:ext uri="{FF2B5EF4-FFF2-40B4-BE49-F238E27FC236}">
                <a16:creationId xmlns:a16="http://schemas.microsoft.com/office/drawing/2014/main" id="{851E8A21-5A38-43E7-AE9D-98AA48814941}"/>
              </a:ext>
            </a:extLst>
          </p:cNvPr>
          <p:cNvSpPr txBox="1"/>
          <p:nvPr/>
        </p:nvSpPr>
        <p:spPr>
          <a:xfrm>
            <a:off x="1966912" y="2971800"/>
            <a:ext cx="8258176" cy="2580194"/>
          </a:xfrm>
          <a:prstGeom prst="rect">
            <a:avLst/>
          </a:prstGeom>
          <a:solidFill>
            <a:srgbClr val="D1052D"/>
          </a:solid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marL="12700" algn="ctr">
              <a:lnSpc>
                <a:spcPct val="100000"/>
              </a:lnSpc>
              <a:spcBef>
                <a:spcPts val="100"/>
              </a:spcBef>
            </a:pPr>
            <a:r>
              <a:rPr lang="es-PE" sz="3200" b="1" spc="-25" dirty="0">
                <a:solidFill>
                  <a:schemeClr val="bg1"/>
                </a:solidFill>
                <a:latin typeface="Arial"/>
                <a:cs typeface="Arial"/>
              </a:rPr>
              <a:t>SESIÓN </a:t>
            </a:r>
            <a:r>
              <a:rPr lang="es-PE" sz="3200" b="1" spc="-25" dirty="0" err="1">
                <a:solidFill>
                  <a:schemeClr val="bg1"/>
                </a:solidFill>
                <a:latin typeface="Arial"/>
                <a:cs typeface="Arial"/>
              </a:rPr>
              <a:t>N°</a:t>
            </a:r>
            <a:r>
              <a:rPr lang="es-PE" sz="3200" b="1" spc="-25" dirty="0">
                <a:solidFill>
                  <a:schemeClr val="bg1"/>
                </a:solidFill>
                <a:latin typeface="Arial"/>
                <a:cs typeface="Arial"/>
              </a:rPr>
              <a:t> 8:</a:t>
            </a:r>
            <a:endParaRPr lang="es-PE" sz="3200" b="1" spc="85" dirty="0">
              <a:solidFill>
                <a:schemeClr val="bg1"/>
              </a:solidFill>
              <a:latin typeface="Arial"/>
              <a:cs typeface="Arial"/>
            </a:endParaRPr>
          </a:p>
          <a:p>
            <a:pPr marL="12700">
              <a:lnSpc>
                <a:spcPct val="100000"/>
              </a:lnSpc>
              <a:spcBef>
                <a:spcPts val="100"/>
              </a:spcBef>
            </a:pPr>
            <a:r>
              <a:rPr lang="es-ES" sz="3200" dirty="0">
                <a:solidFill>
                  <a:schemeClr val="bg1"/>
                </a:solidFill>
              </a:rPr>
              <a:t>Fragmentación: Vertical y Horizontal - Procesamiento de consultas en bases de datos distribuidas.</a:t>
            </a:r>
          </a:p>
          <a:p>
            <a:pPr marL="12700">
              <a:lnSpc>
                <a:spcPct val="100000"/>
              </a:lnSpc>
              <a:spcBef>
                <a:spcPts val="100"/>
              </a:spcBef>
            </a:pPr>
            <a:r>
              <a:rPr lang="es-ES" sz="3200" dirty="0">
                <a:solidFill>
                  <a:schemeClr val="bg1"/>
                </a:solidFill>
              </a:rPr>
              <a:t>(Descomposición, Localización, Optimización)</a:t>
            </a:r>
            <a:endParaRPr lang="es-PE" sz="3200" dirty="0">
              <a:solidFill>
                <a:schemeClr val="bg1"/>
              </a:solidFill>
              <a:latin typeface="Arial"/>
              <a:cs typeface="Arial"/>
            </a:endParaRPr>
          </a:p>
        </p:txBody>
      </p:sp>
      <p:sp>
        <p:nvSpPr>
          <p:cNvPr id="9" name="CuadroTexto 8">
            <a:extLst>
              <a:ext uri="{FF2B5EF4-FFF2-40B4-BE49-F238E27FC236}">
                <a16:creationId xmlns:a16="http://schemas.microsoft.com/office/drawing/2014/main" id="{679D4BDE-00D9-4634-BFF4-101BA4E8B52C}"/>
              </a:ext>
            </a:extLst>
          </p:cNvPr>
          <p:cNvSpPr txBox="1"/>
          <p:nvPr/>
        </p:nvSpPr>
        <p:spPr>
          <a:xfrm>
            <a:off x="3048000" y="5715000"/>
            <a:ext cx="6096000" cy="659155"/>
          </a:xfrm>
          <a:prstGeom prst="rect">
            <a:avLst/>
          </a:prstGeom>
          <a:noFill/>
        </p:spPr>
        <p:txBody>
          <a:bodyPr wrap="square">
            <a:spAutoFit/>
          </a:bodyPr>
          <a:lstStyle/>
          <a:p>
            <a:pPr marL="12700" algn="ctr">
              <a:lnSpc>
                <a:spcPct val="100000"/>
              </a:lnSpc>
              <a:spcBef>
                <a:spcPts val="100"/>
              </a:spcBef>
            </a:pPr>
            <a:r>
              <a:rPr lang="es-PE" sz="1800" b="1" spc="-25" dirty="0">
                <a:solidFill>
                  <a:srgbClr val="D1052D"/>
                </a:solidFill>
                <a:latin typeface="Arial"/>
                <a:cs typeface="Arial"/>
              </a:rPr>
              <a:t>DOCENTES DE UTP</a:t>
            </a:r>
          </a:p>
          <a:p>
            <a:pPr marL="12700" algn="ctr">
              <a:lnSpc>
                <a:spcPct val="100000"/>
              </a:lnSpc>
              <a:spcBef>
                <a:spcPts val="100"/>
              </a:spcBef>
            </a:pPr>
            <a:r>
              <a:rPr lang="es-PE" b="1" spc="-25" dirty="0">
                <a:solidFill>
                  <a:srgbClr val="D1052D"/>
                </a:solidFill>
                <a:latin typeface="Arial"/>
                <a:cs typeface="Arial"/>
              </a:rPr>
              <a:t>SISTEMAS</a:t>
            </a:r>
            <a:endParaRPr lang="es-PE" sz="1800" dirty="0">
              <a:latin typeface="Arial"/>
              <a:cs typeface="Arial"/>
            </a:endParaRPr>
          </a:p>
        </p:txBody>
      </p:sp>
      <p:grpSp>
        <p:nvGrpSpPr>
          <p:cNvPr id="5" name="Grupo 4">
            <a:extLst>
              <a:ext uri="{FF2B5EF4-FFF2-40B4-BE49-F238E27FC236}">
                <a16:creationId xmlns:a16="http://schemas.microsoft.com/office/drawing/2014/main" id="{B5B956ED-21D5-4069-B69B-4CE9E409433F}"/>
              </a:ext>
            </a:extLst>
          </p:cNvPr>
          <p:cNvGrpSpPr/>
          <p:nvPr/>
        </p:nvGrpSpPr>
        <p:grpSpPr>
          <a:xfrm>
            <a:off x="3681788" y="152400"/>
            <a:ext cx="8281612" cy="1295400"/>
            <a:chOff x="3681788" y="152400"/>
            <a:chExt cx="8281612" cy="1295400"/>
          </a:xfrm>
        </p:grpSpPr>
        <p:pic>
          <p:nvPicPr>
            <p:cNvPr id="4" name="object 4"/>
            <p:cNvPicPr/>
            <p:nvPr/>
          </p:nvPicPr>
          <p:blipFill>
            <a:blip r:embed="rId2" cstate="print"/>
            <a:stretch>
              <a:fillRect/>
            </a:stretch>
          </p:blipFill>
          <p:spPr>
            <a:xfrm>
              <a:off x="3681788" y="370720"/>
              <a:ext cx="4828423" cy="1077080"/>
            </a:xfrm>
            <a:prstGeom prst="rect">
              <a:avLst/>
            </a:prstGeom>
          </p:spPr>
        </p:pic>
        <p:sp>
          <p:nvSpPr>
            <p:cNvPr id="3" name="Rectángulo 2">
              <a:extLst>
                <a:ext uri="{FF2B5EF4-FFF2-40B4-BE49-F238E27FC236}">
                  <a16:creationId xmlns:a16="http://schemas.microsoft.com/office/drawing/2014/main" id="{EBA6524E-EDB1-4440-AE90-883F7F1FD18C}"/>
                </a:ext>
              </a:extLst>
            </p:cNvPr>
            <p:cNvSpPr/>
            <p:nvPr/>
          </p:nvSpPr>
          <p:spPr>
            <a:xfrm>
              <a:off x="9144000" y="152400"/>
              <a:ext cx="2819400" cy="762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FFFFFF"/>
                </a:solidFill>
                <a:latin typeface="Arial"/>
                <a:cs typeface="Arial"/>
              </a:rPr>
              <a:t>Recordando</a:t>
            </a:r>
            <a:r>
              <a:rPr sz="2400" b="1" spc="-45" dirty="0">
                <a:solidFill>
                  <a:srgbClr val="FFFFFF"/>
                </a:solidFill>
                <a:latin typeface="Arial"/>
                <a:cs typeface="Arial"/>
              </a:rPr>
              <a:t> </a:t>
            </a:r>
            <a:r>
              <a:rPr sz="2400" b="1" spc="-5" dirty="0">
                <a:solidFill>
                  <a:srgbClr val="FFFFFF"/>
                </a:solidFill>
                <a:latin typeface="Arial"/>
                <a:cs typeface="Arial"/>
              </a:rPr>
              <a:t>los</a:t>
            </a:r>
            <a:r>
              <a:rPr sz="2400" b="1" spc="-40" dirty="0">
                <a:solidFill>
                  <a:srgbClr val="FFFFFF"/>
                </a:solidFill>
                <a:latin typeface="Arial"/>
                <a:cs typeface="Arial"/>
              </a:rPr>
              <a:t> </a:t>
            </a:r>
            <a:r>
              <a:rPr sz="2400" b="1" spc="-5" dirty="0">
                <a:solidFill>
                  <a:srgbClr val="FFFFFF"/>
                </a:solidFill>
                <a:latin typeface="Arial"/>
                <a:cs typeface="Arial"/>
              </a:rPr>
              <a:t>aprendizajes</a:t>
            </a:r>
            <a:endParaRPr sz="2400" dirty="0">
              <a:latin typeface="Arial"/>
              <a:cs typeface="Arial"/>
            </a:endParaRPr>
          </a:p>
        </p:txBody>
      </p:sp>
      <p:pic>
        <p:nvPicPr>
          <p:cNvPr id="7" name="object 7">
            <a:extLst>
              <a:ext uri="{FF2B5EF4-FFF2-40B4-BE49-F238E27FC236}">
                <a16:creationId xmlns:a16="http://schemas.microsoft.com/office/drawing/2014/main" id="{9328E6EB-B063-4713-BFB4-0B0FA7721878}"/>
              </a:ext>
            </a:extLst>
          </p:cNvPr>
          <p:cNvPicPr/>
          <p:nvPr/>
        </p:nvPicPr>
        <p:blipFill>
          <a:blip r:embed="rId2" cstate="print"/>
          <a:stretch>
            <a:fillRect/>
          </a:stretch>
        </p:blipFill>
        <p:spPr>
          <a:xfrm>
            <a:off x="5723651" y="313451"/>
            <a:ext cx="524749" cy="524749"/>
          </a:xfrm>
          <a:prstGeom prst="rect">
            <a:avLst/>
          </a:prstGeom>
        </p:spPr>
      </p:pic>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sp>
        <p:nvSpPr>
          <p:cNvPr id="10" name="CuadroTexto 9">
            <a:extLst>
              <a:ext uri="{FF2B5EF4-FFF2-40B4-BE49-F238E27FC236}">
                <a16:creationId xmlns:a16="http://schemas.microsoft.com/office/drawing/2014/main" id="{4D11C75D-199E-45B8-BA8D-17CD6C160246}"/>
              </a:ext>
            </a:extLst>
          </p:cNvPr>
          <p:cNvSpPr txBox="1"/>
          <p:nvPr/>
        </p:nvSpPr>
        <p:spPr>
          <a:xfrm>
            <a:off x="2590800" y="2981235"/>
            <a:ext cx="7010400" cy="1200329"/>
          </a:xfrm>
          <a:prstGeom prst="rect">
            <a:avLst/>
          </a:prstGeom>
          <a:noFill/>
        </p:spPr>
        <p:txBody>
          <a:bodyPr wrap="square">
            <a:spAutoFit/>
          </a:bodyPr>
          <a:lstStyle/>
          <a:p>
            <a:pPr algn="ctr"/>
            <a:r>
              <a:rPr lang="es-ES" sz="3600" b="1" spc="-5" dirty="0">
                <a:latin typeface="Arial"/>
                <a:cs typeface="Arial"/>
              </a:rPr>
              <a:t>¿Qué</a:t>
            </a:r>
            <a:r>
              <a:rPr lang="es-ES" sz="3600" b="1" spc="-20" dirty="0">
                <a:latin typeface="Arial"/>
                <a:cs typeface="Arial"/>
              </a:rPr>
              <a:t> </a:t>
            </a:r>
            <a:r>
              <a:rPr lang="es-ES" sz="3600" b="1" spc="-5" dirty="0">
                <a:latin typeface="Arial"/>
                <a:cs typeface="Arial"/>
              </a:rPr>
              <a:t>vimos</a:t>
            </a:r>
            <a:r>
              <a:rPr lang="es-ES" sz="3600" b="1" spc="-20" dirty="0">
                <a:latin typeface="Arial"/>
                <a:cs typeface="Arial"/>
              </a:rPr>
              <a:t> </a:t>
            </a:r>
            <a:r>
              <a:rPr lang="es-ES" sz="3600" b="1" spc="-5" dirty="0">
                <a:latin typeface="Arial"/>
                <a:cs typeface="Arial"/>
              </a:rPr>
              <a:t>en</a:t>
            </a:r>
            <a:r>
              <a:rPr lang="es-ES" sz="3600" b="1" spc="-20" dirty="0">
                <a:latin typeface="Arial"/>
                <a:cs typeface="Arial"/>
              </a:rPr>
              <a:t> </a:t>
            </a:r>
            <a:r>
              <a:rPr lang="es-ES" sz="3600" b="1" spc="-5" dirty="0">
                <a:latin typeface="Arial"/>
                <a:cs typeface="Arial"/>
              </a:rPr>
              <a:t>la</a:t>
            </a:r>
            <a:r>
              <a:rPr lang="es-ES" sz="3600" b="1" spc="-20" dirty="0">
                <a:latin typeface="Arial"/>
                <a:cs typeface="Arial"/>
              </a:rPr>
              <a:t> </a:t>
            </a:r>
            <a:r>
              <a:rPr lang="es-ES" sz="3600" b="1" spc="-5" dirty="0">
                <a:latin typeface="Arial"/>
                <a:cs typeface="Arial"/>
              </a:rPr>
              <a:t>sesión</a:t>
            </a:r>
            <a:r>
              <a:rPr lang="es-ES" sz="3600" b="1" spc="-20" dirty="0">
                <a:latin typeface="Arial"/>
                <a:cs typeface="Arial"/>
              </a:rPr>
              <a:t> </a:t>
            </a:r>
            <a:r>
              <a:rPr lang="es-ES" sz="3600" b="1" spc="-5" dirty="0">
                <a:latin typeface="Arial"/>
                <a:cs typeface="Arial"/>
              </a:rPr>
              <a:t>anterior?</a:t>
            </a:r>
            <a:endParaRPr lang="es-ES" sz="3600" dirty="0">
              <a:latin typeface="Arial"/>
              <a:cs typeface="Arial"/>
            </a:endParaRPr>
          </a:p>
        </p:txBody>
      </p:sp>
    </p:spTree>
    <p:extLst>
      <p:ext uri="{BB962C8B-B14F-4D97-AF65-F5344CB8AC3E}">
        <p14:creationId xmlns:p14="http://schemas.microsoft.com/office/powerpoint/2010/main" val="777175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FFFFFF"/>
                </a:solidFill>
                <a:latin typeface="Arial"/>
                <a:cs typeface="Arial"/>
              </a:rPr>
              <a:t>Recordando</a:t>
            </a:r>
            <a:r>
              <a:rPr sz="2400" b="1" spc="-45" dirty="0">
                <a:solidFill>
                  <a:srgbClr val="FFFFFF"/>
                </a:solidFill>
                <a:latin typeface="Arial"/>
                <a:cs typeface="Arial"/>
              </a:rPr>
              <a:t> </a:t>
            </a:r>
            <a:r>
              <a:rPr sz="2400" b="1" spc="-5" dirty="0">
                <a:solidFill>
                  <a:srgbClr val="FFFFFF"/>
                </a:solidFill>
                <a:latin typeface="Arial"/>
                <a:cs typeface="Arial"/>
              </a:rPr>
              <a:t>los</a:t>
            </a:r>
            <a:r>
              <a:rPr sz="2400" b="1" spc="-40" dirty="0">
                <a:solidFill>
                  <a:srgbClr val="FFFFFF"/>
                </a:solidFill>
                <a:latin typeface="Arial"/>
                <a:cs typeface="Arial"/>
              </a:rPr>
              <a:t> </a:t>
            </a:r>
            <a:r>
              <a:rPr sz="2400" b="1" spc="-5" dirty="0">
                <a:solidFill>
                  <a:srgbClr val="FFFFFF"/>
                </a:solidFill>
                <a:latin typeface="Arial"/>
                <a:cs typeface="Arial"/>
              </a:rPr>
              <a:t>aprendizajes</a:t>
            </a:r>
            <a:endParaRPr sz="2400" dirty="0">
              <a:latin typeface="Arial"/>
              <a:cs typeface="Arial"/>
            </a:endParaRPr>
          </a:p>
        </p:txBody>
      </p:sp>
      <p:pic>
        <p:nvPicPr>
          <p:cNvPr id="7" name="object 7">
            <a:extLst>
              <a:ext uri="{FF2B5EF4-FFF2-40B4-BE49-F238E27FC236}">
                <a16:creationId xmlns:a16="http://schemas.microsoft.com/office/drawing/2014/main" id="{9328E6EB-B063-4713-BFB4-0B0FA7721878}"/>
              </a:ext>
            </a:extLst>
          </p:cNvPr>
          <p:cNvPicPr/>
          <p:nvPr/>
        </p:nvPicPr>
        <p:blipFill>
          <a:blip r:embed="rId2" cstate="print"/>
          <a:stretch>
            <a:fillRect/>
          </a:stretch>
        </p:blipFill>
        <p:spPr>
          <a:xfrm>
            <a:off x="5723651" y="313451"/>
            <a:ext cx="524749" cy="524749"/>
          </a:xfrm>
          <a:prstGeom prst="rect">
            <a:avLst/>
          </a:prstGeom>
        </p:spPr>
      </p:pic>
      <p:sp>
        <p:nvSpPr>
          <p:cNvPr id="2" name="Rectangle 1">
            <a:extLst>
              <a:ext uri="{FF2B5EF4-FFF2-40B4-BE49-F238E27FC236}">
                <a16:creationId xmlns:a16="http://schemas.microsoft.com/office/drawing/2014/main" id="{6800CAAE-8A3B-4207-99E1-3C6408BF2BC2}"/>
              </a:ext>
            </a:extLst>
          </p:cNvPr>
          <p:cNvSpPr>
            <a:spLocks noChangeArrowheads="1"/>
          </p:cNvSpPr>
          <p:nvPr/>
        </p:nvSpPr>
        <p:spPr bwMode="auto">
          <a:xfrm>
            <a:off x="1333500" y="1720840"/>
            <a:ext cx="95250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ctr" defTabSz="914400" rtl="0" eaLnBrk="0" fontAlgn="base" latinLnBrk="0" hangingPunct="0">
              <a:lnSpc>
                <a:spcPct val="100000"/>
              </a:lnSpc>
              <a:spcBef>
                <a:spcPct val="0"/>
              </a:spcBef>
              <a:spcAft>
                <a:spcPct val="0"/>
              </a:spcAft>
              <a:buClrTx/>
              <a:buSzTx/>
              <a:tabLst/>
            </a:pPr>
            <a:r>
              <a:rPr kumimoji="0" lang="es-PE" altLang="es-PE" sz="2400" b="1" i="0" u="none" strike="noStrike" cap="none" normalizeH="0" baseline="0" dirty="0">
                <a:ln>
                  <a:noFill/>
                </a:ln>
                <a:solidFill>
                  <a:schemeClr val="tx1"/>
                </a:solidFill>
                <a:effectLst/>
                <a:latin typeface="Arial" panose="020B0604020202020204" pitchFamily="34" charset="0"/>
              </a:rPr>
              <a:t>¿Qué entiendes por bases de datos distribuidas?</a:t>
            </a:r>
            <a:r>
              <a:rPr kumimoji="0" lang="es-PE" altLang="es-PE" sz="2400" b="0" i="0" u="none" strike="noStrike" cap="none" normalizeH="0" baseline="0" dirty="0">
                <a:ln>
                  <a:noFill/>
                </a:ln>
                <a:solidFill>
                  <a:schemeClr val="tx1"/>
                </a:solidFill>
                <a:effectLst/>
                <a:latin typeface="Arial" panose="020B0604020202020204" pitchFamily="34" charset="0"/>
              </a:rPr>
              <a:t> </a:t>
            </a:r>
          </a:p>
          <a:p>
            <a:pPr marR="0" lvl="0" algn="ctr" defTabSz="914400" rtl="0" eaLnBrk="0" fontAlgn="base" latinLnBrk="0" hangingPunct="0">
              <a:lnSpc>
                <a:spcPct val="100000"/>
              </a:lnSpc>
              <a:spcBef>
                <a:spcPct val="0"/>
              </a:spcBef>
              <a:spcAft>
                <a:spcPct val="0"/>
              </a:spcAft>
              <a:buClrTx/>
              <a:buSzTx/>
              <a:tabLst/>
            </a:pPr>
            <a:endParaRPr kumimoji="0" lang="es-PE" altLang="es-PE" sz="2400" b="0" i="0" u="none" strike="noStrike" cap="none" normalizeH="0" baseline="0" dirty="0">
              <a:ln>
                <a:noFill/>
              </a:ln>
              <a:solidFill>
                <a:schemeClr val="tx1"/>
              </a:solidFill>
              <a:effectLst/>
              <a:latin typeface="Arial" panose="020B0604020202020204" pitchFamily="34" charset="0"/>
            </a:endParaRPr>
          </a:p>
          <a:p>
            <a:pPr marR="0" lvl="0" algn="ctr" defTabSz="914400" rtl="0" eaLnBrk="0" fontAlgn="base" latinLnBrk="0" hangingPunct="0">
              <a:lnSpc>
                <a:spcPct val="100000"/>
              </a:lnSpc>
              <a:spcBef>
                <a:spcPct val="0"/>
              </a:spcBef>
              <a:spcAft>
                <a:spcPct val="0"/>
              </a:spcAft>
              <a:buClrTx/>
              <a:buSzTx/>
              <a:tabLst/>
            </a:pPr>
            <a:r>
              <a:rPr kumimoji="0" lang="es-PE" altLang="es-PE" sz="2400" b="1" i="0" u="none" strike="noStrike" cap="none" normalizeH="0" baseline="0" dirty="0">
                <a:ln>
                  <a:noFill/>
                </a:ln>
                <a:solidFill>
                  <a:schemeClr val="tx1"/>
                </a:solidFill>
                <a:effectLst/>
                <a:latin typeface="Arial" panose="020B0604020202020204" pitchFamily="34" charset="0"/>
              </a:rPr>
              <a:t>¿Cuáles son las ventajas de utilizar bases de datos distribuidas en comparación con bases de datos centralizadas?</a:t>
            </a:r>
            <a:r>
              <a:rPr kumimoji="0" lang="es-PE" altLang="es-PE" sz="2400" b="0" i="0" u="none" strike="noStrike" cap="none" normalizeH="0" baseline="0" dirty="0">
                <a:ln>
                  <a:noFill/>
                </a:ln>
                <a:solidFill>
                  <a:schemeClr val="tx1"/>
                </a:solidFill>
                <a:effectLst/>
                <a:latin typeface="Arial" panose="020B0604020202020204" pitchFamily="34" charset="0"/>
              </a:rPr>
              <a:t> </a:t>
            </a:r>
          </a:p>
          <a:p>
            <a:pPr marR="0" lvl="0" algn="ctr" defTabSz="914400" rtl="0" eaLnBrk="0" fontAlgn="base" latinLnBrk="0" hangingPunct="0">
              <a:lnSpc>
                <a:spcPct val="100000"/>
              </a:lnSpc>
              <a:spcBef>
                <a:spcPct val="0"/>
              </a:spcBef>
              <a:spcAft>
                <a:spcPct val="0"/>
              </a:spcAft>
              <a:buClrTx/>
              <a:buSzTx/>
              <a:tabLst/>
            </a:pPr>
            <a:endParaRPr kumimoji="0" lang="es-PE" altLang="es-PE" sz="2400" b="0" i="0" u="none" strike="noStrike" cap="none" normalizeH="0" baseline="0" dirty="0">
              <a:ln>
                <a:noFill/>
              </a:ln>
              <a:solidFill>
                <a:schemeClr val="tx1"/>
              </a:solidFill>
              <a:effectLst/>
              <a:latin typeface="Arial" panose="020B0604020202020204" pitchFamily="34" charset="0"/>
            </a:endParaRPr>
          </a:p>
          <a:p>
            <a:pPr marR="0" lvl="0" algn="ctr" defTabSz="914400" rtl="0" eaLnBrk="0" fontAlgn="base" latinLnBrk="0" hangingPunct="0">
              <a:lnSpc>
                <a:spcPct val="100000"/>
              </a:lnSpc>
              <a:spcBef>
                <a:spcPct val="0"/>
              </a:spcBef>
              <a:spcAft>
                <a:spcPct val="0"/>
              </a:spcAft>
              <a:buClrTx/>
              <a:buSzTx/>
              <a:tabLst/>
            </a:pPr>
            <a:r>
              <a:rPr kumimoji="0" lang="es-PE" altLang="es-PE" sz="2400" b="1" i="0" u="none" strike="noStrike" cap="none" normalizeH="0" baseline="0" dirty="0">
                <a:ln>
                  <a:noFill/>
                </a:ln>
                <a:solidFill>
                  <a:schemeClr val="tx1"/>
                </a:solidFill>
                <a:effectLst/>
                <a:latin typeface="Arial" panose="020B0604020202020204" pitchFamily="34" charset="0"/>
              </a:rPr>
              <a:t>¿Sabes qué es la fragmentación de bases de datos?</a:t>
            </a:r>
          </a:p>
          <a:p>
            <a:pPr marR="0" lvl="0" algn="ctr" defTabSz="914400" rtl="0" eaLnBrk="0" fontAlgn="base" latinLnBrk="0" hangingPunct="0">
              <a:lnSpc>
                <a:spcPct val="100000"/>
              </a:lnSpc>
              <a:spcBef>
                <a:spcPct val="0"/>
              </a:spcBef>
              <a:spcAft>
                <a:spcPct val="0"/>
              </a:spcAft>
              <a:buClrTx/>
              <a:buSzTx/>
              <a:tabLst/>
            </a:pPr>
            <a:r>
              <a:rPr kumimoji="0" lang="es-PE" altLang="es-PE" sz="2400" b="0" i="0" u="none" strike="noStrike" cap="none" normalizeH="0" baseline="0" dirty="0">
                <a:ln>
                  <a:noFill/>
                </a:ln>
                <a:solidFill>
                  <a:schemeClr val="tx1"/>
                </a:solidFill>
                <a:effectLst/>
                <a:latin typeface="Arial" panose="020B0604020202020204" pitchFamily="34" charset="0"/>
              </a:rPr>
              <a:t> </a:t>
            </a:r>
          </a:p>
          <a:p>
            <a:pPr marR="0" lvl="0" algn="ctr" defTabSz="914400" rtl="0" eaLnBrk="0" fontAlgn="base" latinLnBrk="0" hangingPunct="0">
              <a:lnSpc>
                <a:spcPct val="100000"/>
              </a:lnSpc>
              <a:spcBef>
                <a:spcPct val="0"/>
              </a:spcBef>
              <a:spcAft>
                <a:spcPct val="0"/>
              </a:spcAft>
              <a:buClrTx/>
              <a:buSzTx/>
              <a:tabLst/>
            </a:pPr>
            <a:r>
              <a:rPr kumimoji="0" lang="es-PE" altLang="es-PE" sz="2400" b="1" i="0" u="none" strike="noStrike" cap="none" normalizeH="0" baseline="0" dirty="0">
                <a:ln>
                  <a:noFill/>
                </a:ln>
                <a:solidFill>
                  <a:schemeClr val="tx1"/>
                </a:solidFill>
                <a:effectLst/>
                <a:latin typeface="Arial" panose="020B0604020202020204" pitchFamily="34" charset="0"/>
              </a:rPr>
              <a:t>¿Qué diferencias existen entre fragmentación horizontal y vertical en bases de datos distribuidas?</a:t>
            </a:r>
            <a:r>
              <a:rPr kumimoji="0" lang="es-PE" altLang="es-PE"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151727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Logro de la sesión</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sp>
        <p:nvSpPr>
          <p:cNvPr id="9" name="CuadroTexto 8">
            <a:extLst>
              <a:ext uri="{FF2B5EF4-FFF2-40B4-BE49-F238E27FC236}">
                <a16:creationId xmlns:a16="http://schemas.microsoft.com/office/drawing/2014/main" id="{82A6F3E7-9979-4364-9955-A30A48479D96}"/>
              </a:ext>
            </a:extLst>
          </p:cNvPr>
          <p:cNvSpPr txBox="1"/>
          <p:nvPr/>
        </p:nvSpPr>
        <p:spPr>
          <a:xfrm>
            <a:off x="2590800" y="1999327"/>
            <a:ext cx="7086600" cy="2862322"/>
          </a:xfrm>
          <a:prstGeom prst="rect">
            <a:avLst/>
          </a:prstGeom>
          <a:noFill/>
        </p:spPr>
        <p:txBody>
          <a:bodyPr wrap="square">
            <a:spAutoFit/>
          </a:bodyPr>
          <a:lstStyle/>
          <a:p>
            <a:pPr algn="ctr"/>
            <a:r>
              <a:rPr lang="es-ES" sz="3600" spc="-5" dirty="0">
                <a:latin typeface="Arial MT"/>
                <a:cs typeface="Arial MT"/>
              </a:rPr>
              <a:t>Al finalizar la unidad el participante aplica los conceptos de bases de datos distribuidas para una gestión adecuada</a:t>
            </a:r>
          </a:p>
          <a:p>
            <a:pPr algn="ctr"/>
            <a:r>
              <a:rPr lang="es-ES" sz="3600" spc="-5" dirty="0">
                <a:latin typeface="Arial MT"/>
                <a:cs typeface="Arial MT"/>
              </a:rPr>
              <a:t>de la información.</a:t>
            </a:r>
            <a:endParaRPr lang="es-ES" sz="3600" dirty="0">
              <a:latin typeface="Arial MT"/>
              <a:cs typeface="Arial MT"/>
            </a:endParaRPr>
          </a:p>
        </p:txBody>
      </p:sp>
      <p:pic>
        <p:nvPicPr>
          <p:cNvPr id="11" name="object 6">
            <a:extLst>
              <a:ext uri="{FF2B5EF4-FFF2-40B4-BE49-F238E27FC236}">
                <a16:creationId xmlns:a16="http://schemas.microsoft.com/office/drawing/2014/main" id="{C7336562-8237-4C19-BF2E-C16CE9CE1CBF}"/>
              </a:ext>
            </a:extLst>
          </p:cNvPr>
          <p:cNvPicPr/>
          <p:nvPr/>
        </p:nvPicPr>
        <p:blipFill>
          <a:blip r:embed="rId2" cstate="print"/>
          <a:stretch>
            <a:fillRect/>
          </a:stretch>
        </p:blipFill>
        <p:spPr>
          <a:xfrm>
            <a:off x="5783622" y="292547"/>
            <a:ext cx="559075" cy="559062"/>
          </a:xfrm>
          <a:prstGeom prst="rect">
            <a:avLst/>
          </a:prstGeom>
        </p:spPr>
      </p:pic>
    </p:spTree>
    <p:extLst>
      <p:ext uri="{BB962C8B-B14F-4D97-AF65-F5344CB8AC3E}">
        <p14:creationId xmlns:p14="http://schemas.microsoft.com/office/powerpoint/2010/main" val="1968228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Importancia de la sesión</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sp>
        <p:nvSpPr>
          <p:cNvPr id="9" name="CuadroTexto 8">
            <a:extLst>
              <a:ext uri="{FF2B5EF4-FFF2-40B4-BE49-F238E27FC236}">
                <a16:creationId xmlns:a16="http://schemas.microsoft.com/office/drawing/2014/main" id="{82A6F3E7-9979-4364-9955-A30A48479D96}"/>
              </a:ext>
            </a:extLst>
          </p:cNvPr>
          <p:cNvSpPr txBox="1"/>
          <p:nvPr/>
        </p:nvSpPr>
        <p:spPr>
          <a:xfrm>
            <a:off x="685800" y="1263908"/>
            <a:ext cx="10744200" cy="4832092"/>
          </a:xfrm>
          <a:prstGeom prst="rect">
            <a:avLst/>
          </a:prstGeom>
          <a:noFill/>
        </p:spPr>
        <p:txBody>
          <a:bodyPr wrap="square">
            <a:spAutoFit/>
          </a:bodyPr>
          <a:lstStyle/>
          <a:p>
            <a:pPr algn="ctr"/>
            <a:r>
              <a:rPr lang="es-ES" sz="2800" spc="-5" dirty="0">
                <a:latin typeface="Arial MT"/>
                <a:cs typeface="Arial MT"/>
              </a:rPr>
              <a:t>La fragmentación (vertical y horizontal) es crucial en el diseño de bases de datos distribuidas porque permite dividir los datos en fragmentos más pequeños, lo que mejora el rendimiento y la escalabilidad. La descomposición garantiza que los datos estén distribuidos eficientemente, optimizando el acceso y almacenamiento. La localización de los fragmentos permite un acceso más rápido y reduce la latencia, ya que los datos se almacenan cerca de donde se utilizan. Finalmente, la optimización de consultas asegura que las búsquedas y actualizaciones se realicen de manera eficiente, minimizando el tráfico entre nodos y mejorando el tiempo de respuesta.</a:t>
            </a:r>
          </a:p>
        </p:txBody>
      </p:sp>
      <p:pic>
        <p:nvPicPr>
          <p:cNvPr id="12" name="object 10">
            <a:extLst>
              <a:ext uri="{FF2B5EF4-FFF2-40B4-BE49-F238E27FC236}">
                <a16:creationId xmlns:a16="http://schemas.microsoft.com/office/drawing/2014/main" id="{BD6947E1-33EA-4945-AA08-BDC665508EC5}"/>
              </a:ext>
            </a:extLst>
          </p:cNvPr>
          <p:cNvPicPr/>
          <p:nvPr/>
        </p:nvPicPr>
        <p:blipFill>
          <a:blip r:embed="rId2" cstate="print"/>
          <a:stretch>
            <a:fillRect/>
          </a:stretch>
        </p:blipFill>
        <p:spPr>
          <a:xfrm>
            <a:off x="5817875" y="304800"/>
            <a:ext cx="506725" cy="561823"/>
          </a:xfrm>
          <a:prstGeom prst="rect">
            <a:avLst/>
          </a:prstGeom>
        </p:spPr>
      </p:pic>
    </p:spTree>
    <p:extLst>
      <p:ext uri="{BB962C8B-B14F-4D97-AF65-F5344CB8AC3E}">
        <p14:creationId xmlns:p14="http://schemas.microsoft.com/office/powerpoint/2010/main" val="1418980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CD923E2-6C48-4276-9BEB-1846D11A67A4}"/>
              </a:ext>
            </a:extLst>
          </p:cNvPr>
          <p:cNvSpPr txBox="1"/>
          <p:nvPr/>
        </p:nvSpPr>
        <p:spPr>
          <a:xfrm>
            <a:off x="1966912" y="2890391"/>
            <a:ext cx="8258176" cy="2074927"/>
          </a:xfrm>
          <a:prstGeom prst="rect">
            <a:avLst/>
          </a:prstGeom>
          <a:solidFill>
            <a:srgbClr val="D1052D"/>
          </a:solidFill>
        </p:spPr>
        <p:style>
          <a:lnRef idx="1">
            <a:schemeClr val="accent4"/>
          </a:lnRef>
          <a:fillRef idx="2">
            <a:schemeClr val="accent4"/>
          </a:fillRef>
          <a:effectRef idx="1">
            <a:schemeClr val="accent4"/>
          </a:effectRef>
          <a:fontRef idx="minor">
            <a:schemeClr val="dk1"/>
          </a:fontRef>
        </p:style>
        <p:txBody>
          <a:bodyPr wrap="square">
            <a:spAutoFit/>
          </a:bodyPr>
          <a:lstStyle/>
          <a:p>
            <a:pPr marL="12700">
              <a:lnSpc>
                <a:spcPct val="100000"/>
              </a:lnSpc>
              <a:spcBef>
                <a:spcPts val="100"/>
              </a:spcBef>
            </a:pPr>
            <a:r>
              <a:rPr lang="es-ES" sz="3200" dirty="0">
                <a:solidFill>
                  <a:schemeClr val="bg1"/>
                </a:solidFill>
              </a:rPr>
              <a:t>Fragmentación: Vertical y Horizontal - Procesamiento de consultas en bases de datos distribuidas.</a:t>
            </a:r>
          </a:p>
          <a:p>
            <a:pPr marL="12700">
              <a:lnSpc>
                <a:spcPct val="100000"/>
              </a:lnSpc>
              <a:spcBef>
                <a:spcPts val="100"/>
              </a:spcBef>
            </a:pPr>
            <a:r>
              <a:rPr lang="es-ES" sz="3200" dirty="0">
                <a:solidFill>
                  <a:schemeClr val="bg1"/>
                </a:solidFill>
              </a:rPr>
              <a:t>(Descomposición, Localización, Optimización)</a:t>
            </a:r>
            <a:endParaRPr lang="es-PE" sz="3200" dirty="0">
              <a:solidFill>
                <a:schemeClr val="bg1"/>
              </a:solidFill>
              <a:latin typeface="Arial"/>
              <a:cs typeface="Arial"/>
            </a:endParaRPr>
          </a:p>
        </p:txBody>
      </p:sp>
      <p:sp>
        <p:nvSpPr>
          <p:cNvPr id="7" name="CuadroTexto 6">
            <a:extLst>
              <a:ext uri="{FF2B5EF4-FFF2-40B4-BE49-F238E27FC236}">
                <a16:creationId xmlns:a16="http://schemas.microsoft.com/office/drawing/2014/main" id="{1452D0D8-40D1-4D69-8E9B-067B07521DBF}"/>
              </a:ext>
            </a:extLst>
          </p:cNvPr>
          <p:cNvSpPr txBox="1"/>
          <p:nvPr/>
        </p:nvSpPr>
        <p:spPr>
          <a:xfrm>
            <a:off x="4076700" y="1991427"/>
            <a:ext cx="4038600" cy="646331"/>
          </a:xfrm>
          <a:prstGeom prst="rect">
            <a:avLst/>
          </a:prstGeom>
          <a:noFill/>
        </p:spPr>
        <p:txBody>
          <a:bodyPr wrap="square">
            <a:spAutoFit/>
          </a:bodyPr>
          <a:lstStyle/>
          <a:p>
            <a:pPr marL="12700" algn="ctr">
              <a:lnSpc>
                <a:spcPct val="100000"/>
              </a:lnSpc>
              <a:spcBef>
                <a:spcPts val="100"/>
              </a:spcBef>
            </a:pPr>
            <a:r>
              <a:rPr lang="es-PE" sz="3600" b="1" spc="-25" dirty="0">
                <a:solidFill>
                  <a:srgbClr val="000000"/>
                </a:solidFill>
                <a:latin typeface="Arial"/>
                <a:cs typeface="Arial"/>
              </a:rPr>
              <a:t>SESIÓN </a:t>
            </a:r>
            <a:r>
              <a:rPr lang="es-PE" sz="3600" b="1" spc="-25" dirty="0" err="1">
                <a:solidFill>
                  <a:srgbClr val="000000"/>
                </a:solidFill>
                <a:latin typeface="Arial"/>
                <a:cs typeface="Arial"/>
              </a:rPr>
              <a:t>N°</a:t>
            </a:r>
            <a:r>
              <a:rPr lang="es-PE" sz="3600" b="1" spc="-25" dirty="0">
                <a:solidFill>
                  <a:srgbClr val="000000"/>
                </a:solidFill>
                <a:latin typeface="Arial"/>
                <a:cs typeface="Arial"/>
              </a:rPr>
              <a:t> 8:</a:t>
            </a:r>
            <a:endParaRPr lang="es-PE" sz="3600" b="1" spc="85" dirty="0">
              <a:solidFill>
                <a:srgbClr val="000000"/>
              </a:solidFill>
              <a:latin typeface="Arial"/>
              <a:cs typeface="Arial"/>
            </a:endParaRPr>
          </a:p>
        </p:txBody>
      </p:sp>
      <p:sp>
        <p:nvSpPr>
          <p:cNvPr id="8" name="object 4">
            <a:extLst>
              <a:ext uri="{FF2B5EF4-FFF2-40B4-BE49-F238E27FC236}">
                <a16:creationId xmlns:a16="http://schemas.microsoft.com/office/drawing/2014/main" id="{44A62F85-1502-4D7C-93F5-FDF5EB2D1026}"/>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9" name="object 6">
            <a:extLst>
              <a:ext uri="{FF2B5EF4-FFF2-40B4-BE49-F238E27FC236}">
                <a16:creationId xmlns:a16="http://schemas.microsoft.com/office/drawing/2014/main" id="{31BDD320-46CF-4CF8-8ED7-B9CC2CD22623}"/>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T</a:t>
            </a:r>
            <a:r>
              <a:rPr lang="es-PE" sz="2400" b="1" spc="-5" dirty="0" err="1">
                <a:solidFill>
                  <a:srgbClr val="FFFFFF"/>
                </a:solidFill>
                <a:latin typeface="Arial"/>
                <a:cs typeface="Arial"/>
              </a:rPr>
              <a:t>emario</a:t>
            </a:r>
            <a:endParaRPr lang="es-PE" sz="2400" dirty="0">
              <a:latin typeface="Arial"/>
              <a:cs typeface="Arial"/>
            </a:endParaRPr>
          </a:p>
        </p:txBody>
      </p:sp>
      <p:pic>
        <p:nvPicPr>
          <p:cNvPr id="10" name="object 7">
            <a:extLst>
              <a:ext uri="{FF2B5EF4-FFF2-40B4-BE49-F238E27FC236}">
                <a16:creationId xmlns:a16="http://schemas.microsoft.com/office/drawing/2014/main" id="{229EF982-4AD6-41B4-B055-812DA365FB4C}"/>
              </a:ext>
            </a:extLst>
          </p:cNvPr>
          <p:cNvPicPr/>
          <p:nvPr/>
        </p:nvPicPr>
        <p:blipFill>
          <a:blip r:embed="rId2" cstate="print"/>
          <a:stretch>
            <a:fillRect/>
          </a:stretch>
        </p:blipFill>
        <p:spPr>
          <a:xfrm>
            <a:off x="5723651" y="313451"/>
            <a:ext cx="524749" cy="524749"/>
          </a:xfrm>
          <a:prstGeom prst="rect">
            <a:avLst/>
          </a:prstGeom>
        </p:spPr>
      </p:pic>
      <p:sp>
        <p:nvSpPr>
          <p:cNvPr id="11" name="CuadroTexto 10">
            <a:extLst>
              <a:ext uri="{FF2B5EF4-FFF2-40B4-BE49-F238E27FC236}">
                <a16:creationId xmlns:a16="http://schemas.microsoft.com/office/drawing/2014/main" id="{25EB02CA-766A-4A3B-83E2-2CF011B7FD7D}"/>
              </a:ext>
            </a:extLst>
          </p:cNvPr>
          <p:cNvSpPr txBox="1"/>
          <p:nvPr/>
        </p:nvSpPr>
        <p:spPr>
          <a:xfrm>
            <a:off x="365760" y="973304"/>
            <a:ext cx="5357891" cy="400110"/>
          </a:xfrm>
          <a:prstGeom prst="rect">
            <a:avLst/>
          </a:prstGeom>
          <a:noFill/>
        </p:spPr>
        <p:txBody>
          <a:bodyPr wrap="square">
            <a:spAutoFit/>
          </a:bodyPr>
          <a:lstStyle/>
          <a:p>
            <a:r>
              <a:rPr lang="es-ES" sz="2000" b="1" spc="-5" dirty="0">
                <a:latin typeface="Arial"/>
                <a:cs typeface="Arial"/>
              </a:rPr>
              <a:t>¡Que no se te escape nada de tu clase!:</a:t>
            </a:r>
            <a:endParaRPr lang="es-ES" sz="2000" dirty="0">
              <a:latin typeface="Arial"/>
              <a:cs typeface="Arial"/>
            </a:endParaRPr>
          </a:p>
        </p:txBody>
      </p:sp>
    </p:spTree>
    <p:extLst>
      <p:ext uri="{BB962C8B-B14F-4D97-AF65-F5344CB8AC3E}">
        <p14:creationId xmlns:p14="http://schemas.microsoft.com/office/powerpoint/2010/main" val="32021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E0DF083-256E-4217-85DE-2720C572DEEB}"/>
              </a:ext>
            </a:extLst>
          </p:cNvPr>
          <p:cNvSpPr txBox="1"/>
          <p:nvPr/>
        </p:nvSpPr>
        <p:spPr>
          <a:xfrm>
            <a:off x="685800" y="914400"/>
            <a:ext cx="6093618" cy="4832092"/>
          </a:xfrm>
          <a:prstGeom prst="rect">
            <a:avLst/>
          </a:prstGeom>
          <a:noFill/>
        </p:spPr>
        <p:txBody>
          <a:bodyPr wrap="square">
            <a:spAutoFit/>
          </a:bodyPr>
          <a:lstStyle/>
          <a:p>
            <a:r>
              <a:rPr lang="es-ES" sz="2800" b="1" dirty="0"/>
              <a:t>Fragmentación Horizontal:</a:t>
            </a:r>
          </a:p>
          <a:p>
            <a:endParaRPr lang="es-ES" sz="2800" dirty="0"/>
          </a:p>
          <a:p>
            <a:pPr>
              <a:buFont typeface="Arial" panose="020B0604020202020204" pitchFamily="34" charset="0"/>
              <a:buChar char="•"/>
            </a:pPr>
            <a:r>
              <a:rPr lang="es-ES" sz="2800" dirty="0"/>
              <a:t>Es el proceso de dividir una base de datos en fragmentos más pequeños, distribuyéndolos entre diferentes nodos de un sistema distribuido, basándose generalmente en un atributo (por ejemplo, registros de clientes por zona geográfica). Cada fragmento tiene el mismo esquema, pero con diferentes subconjuntos de datos.</a:t>
            </a:r>
          </a:p>
        </p:txBody>
      </p:sp>
      <p:pic>
        <p:nvPicPr>
          <p:cNvPr id="2050" name="Picture 2" descr="Bases de Datos Distribuidas: Actividad #11">
            <a:extLst>
              <a:ext uri="{FF2B5EF4-FFF2-40B4-BE49-F238E27FC236}">
                <a16:creationId xmlns:a16="http://schemas.microsoft.com/office/drawing/2014/main" id="{A1D4C1AD-6A3E-499A-8272-D8427EA46D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9418" y="1524000"/>
            <a:ext cx="5107782" cy="4010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9497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E0DF083-256E-4217-85DE-2720C572DEEB}"/>
              </a:ext>
            </a:extLst>
          </p:cNvPr>
          <p:cNvSpPr txBox="1"/>
          <p:nvPr/>
        </p:nvSpPr>
        <p:spPr>
          <a:xfrm>
            <a:off x="533400" y="797510"/>
            <a:ext cx="5181600" cy="4832092"/>
          </a:xfrm>
          <a:prstGeom prst="rect">
            <a:avLst/>
          </a:prstGeom>
          <a:noFill/>
        </p:spPr>
        <p:txBody>
          <a:bodyPr wrap="square">
            <a:spAutoFit/>
          </a:bodyPr>
          <a:lstStyle/>
          <a:p>
            <a:r>
              <a:rPr lang="es-ES" sz="2800" b="1" dirty="0"/>
              <a:t>Fragmentación Vertical:</a:t>
            </a:r>
          </a:p>
          <a:p>
            <a:endParaRPr lang="es-ES" sz="2800" dirty="0"/>
          </a:p>
          <a:p>
            <a:pPr>
              <a:buFont typeface="Arial" panose="020B0604020202020204" pitchFamily="34" charset="0"/>
              <a:buChar char="•"/>
            </a:pPr>
            <a:r>
              <a:rPr lang="es-ES" sz="2800" dirty="0"/>
              <a:t>Consiste en dividir una base de datos en fragmentos basados en atributos de las tablas. Cada fragmento contiene un conjunto de columnas de una tabla original. Este tipo de fragmentación es útil cuando ciertas columnas de una tabla se acceden más frecuentemente que otras.</a:t>
            </a:r>
          </a:p>
        </p:txBody>
      </p:sp>
      <p:pic>
        <p:nvPicPr>
          <p:cNvPr id="3074" name="Picture 2" descr="Bases de Datos Distribuidas: Actividad #11">
            <a:extLst>
              <a:ext uri="{FF2B5EF4-FFF2-40B4-BE49-F238E27FC236}">
                <a16:creationId xmlns:a16="http://schemas.microsoft.com/office/drawing/2014/main" id="{96B6AADB-27BF-47C7-AEDB-86A0D7F072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1704975"/>
            <a:ext cx="6045186" cy="3448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804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E0DF083-256E-4217-85DE-2720C572DEEB}"/>
              </a:ext>
            </a:extLst>
          </p:cNvPr>
          <p:cNvSpPr txBox="1"/>
          <p:nvPr/>
        </p:nvSpPr>
        <p:spPr>
          <a:xfrm>
            <a:off x="685800" y="914400"/>
            <a:ext cx="6093618" cy="3108543"/>
          </a:xfrm>
          <a:prstGeom prst="rect">
            <a:avLst/>
          </a:prstGeom>
          <a:noFill/>
        </p:spPr>
        <p:txBody>
          <a:bodyPr wrap="square">
            <a:spAutoFit/>
          </a:bodyPr>
          <a:lstStyle/>
          <a:p>
            <a:r>
              <a:rPr lang="es-ES" sz="2800" b="1" dirty="0"/>
              <a:t>Descomposición:</a:t>
            </a:r>
          </a:p>
          <a:p>
            <a:endParaRPr lang="es-ES" sz="2800" dirty="0"/>
          </a:p>
          <a:p>
            <a:pPr>
              <a:buFont typeface="Arial" panose="020B0604020202020204" pitchFamily="34" charset="0"/>
              <a:buChar char="•"/>
            </a:pPr>
            <a:r>
              <a:rPr lang="es-ES" sz="2800" dirty="0"/>
              <a:t>La descomposición es el proceso de dividir una base de datos en fragmentos. La clave de la descomposición es la forma en que los datos se distribuyen para lograr una alta eficiencia de acceso.</a:t>
            </a:r>
          </a:p>
        </p:txBody>
      </p:sp>
      <p:pic>
        <p:nvPicPr>
          <p:cNvPr id="6146" name="Picture 2" descr="Sesion 28-DescomposicionConsultasLocalizacionDatos">
            <a:extLst>
              <a:ext uri="{FF2B5EF4-FFF2-40B4-BE49-F238E27FC236}">
                <a16:creationId xmlns:a16="http://schemas.microsoft.com/office/drawing/2014/main" id="{F3B6C293-1D04-4FBD-B14A-35099DE8E4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800" y="1676400"/>
            <a:ext cx="3824287" cy="3740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2789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0B25882-9664-4A0F-80A4-737060656BC6}"/>
              </a:ext>
            </a:extLst>
          </p:cNvPr>
          <p:cNvSpPr txBox="1"/>
          <p:nvPr/>
        </p:nvSpPr>
        <p:spPr>
          <a:xfrm>
            <a:off x="685800" y="1524000"/>
            <a:ext cx="4953000" cy="3970318"/>
          </a:xfrm>
          <a:prstGeom prst="rect">
            <a:avLst/>
          </a:prstGeom>
          <a:noFill/>
        </p:spPr>
        <p:txBody>
          <a:bodyPr wrap="square">
            <a:spAutoFit/>
          </a:bodyPr>
          <a:lstStyle/>
          <a:p>
            <a:r>
              <a:rPr lang="es-ES" sz="2800" b="1" dirty="0"/>
              <a:t>Localización:</a:t>
            </a:r>
          </a:p>
          <a:p>
            <a:endParaRPr lang="es-ES" sz="2800" dirty="0"/>
          </a:p>
          <a:p>
            <a:pPr>
              <a:buFont typeface="Arial" panose="020B0604020202020204" pitchFamily="34" charset="0"/>
              <a:buChar char="•"/>
            </a:pPr>
            <a:r>
              <a:rPr lang="es-ES" sz="2800" dirty="0"/>
              <a:t>Se refiere a la ubicación física de los fragmentos en los diferentes nodos del sistema distribuido. La localización de datos es crucial para garantizar una eficiente distribución y acceso.</a:t>
            </a:r>
          </a:p>
        </p:txBody>
      </p:sp>
      <p:pic>
        <p:nvPicPr>
          <p:cNvPr id="4098" name="Picture 2" descr="Unidad 3 Unidad 3 - Issuu">
            <a:extLst>
              <a:ext uri="{FF2B5EF4-FFF2-40B4-BE49-F238E27FC236}">
                <a16:creationId xmlns:a16="http://schemas.microsoft.com/office/drawing/2014/main" id="{E816D5BC-C0BB-4B97-85A9-9C71584C45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1143000"/>
            <a:ext cx="5476875" cy="4397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4800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0B25882-9664-4A0F-80A4-737060656BC6}"/>
              </a:ext>
            </a:extLst>
          </p:cNvPr>
          <p:cNvSpPr txBox="1"/>
          <p:nvPr/>
        </p:nvSpPr>
        <p:spPr>
          <a:xfrm>
            <a:off x="685800" y="914400"/>
            <a:ext cx="6093618" cy="4401205"/>
          </a:xfrm>
          <a:prstGeom prst="rect">
            <a:avLst/>
          </a:prstGeom>
          <a:noFill/>
        </p:spPr>
        <p:txBody>
          <a:bodyPr wrap="square">
            <a:spAutoFit/>
          </a:bodyPr>
          <a:lstStyle/>
          <a:p>
            <a:r>
              <a:rPr lang="es-ES" sz="2800" b="1" dirty="0"/>
              <a:t>Optimización:</a:t>
            </a:r>
          </a:p>
          <a:p>
            <a:endParaRPr lang="es-ES" sz="2800" dirty="0"/>
          </a:p>
          <a:p>
            <a:pPr>
              <a:buFont typeface="Arial" panose="020B0604020202020204" pitchFamily="34" charset="0"/>
              <a:buChar char="•"/>
            </a:pPr>
            <a:r>
              <a:rPr lang="es-ES" sz="2800" dirty="0"/>
              <a:t>Se trata de la mejora del rendimiento de las consultas y la gestión de los fragmentos. La optimización incluye la elección de fragmentos relevantes para una consulta, la minimización de transferencias entre nodos, y la reducción de la latencia en el acceso a los datos..</a:t>
            </a:r>
          </a:p>
        </p:txBody>
      </p:sp>
      <p:pic>
        <p:nvPicPr>
          <p:cNvPr id="5122" name="Picture 2" descr="DESCOMPOSICIÓN Y OPTIMIZACIÓN DE CONSULTAS EN UN GESTOR DE BASES DE DATOS  FEDERADAS">
            <a:extLst>
              <a:ext uri="{FF2B5EF4-FFF2-40B4-BE49-F238E27FC236}">
                <a16:creationId xmlns:a16="http://schemas.microsoft.com/office/drawing/2014/main" id="{341F8718-ED76-418E-AAA7-75CAAB01EF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6600" y="1752600"/>
            <a:ext cx="3076090" cy="2877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824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4B727177-CD63-448F-86E2-C4B737A1688F}"/>
              </a:ext>
            </a:extLst>
          </p:cNvPr>
          <p:cNvSpPr txBox="1"/>
          <p:nvPr/>
        </p:nvSpPr>
        <p:spPr>
          <a:xfrm>
            <a:off x="2630296" y="1676935"/>
            <a:ext cx="6931407" cy="1890902"/>
          </a:xfrm>
          <a:prstGeom prst="rect">
            <a:avLst/>
          </a:prstGeom>
        </p:spPr>
        <p:txBody>
          <a:bodyPr vert="horz" wrap="square" lIns="0" tIns="43815" rIns="0" bIns="0" rtlCol="0">
            <a:spAutoFit/>
          </a:bodyPr>
          <a:lstStyle/>
          <a:p>
            <a:pPr marL="457834" marR="5080" indent="-445770" algn="ctr">
              <a:spcBef>
                <a:spcPts val="345"/>
              </a:spcBef>
            </a:pPr>
            <a:r>
              <a:rPr lang="es-ES" sz="4000" b="1" spc="-5" dirty="0">
                <a:latin typeface="Arial"/>
                <a:cs typeface="Arial"/>
              </a:rPr>
              <a:t>¿Qué es la fragmentación horizontal y cómo difiere de la vertical?</a:t>
            </a:r>
            <a:endParaRPr sz="4000" dirty="0">
              <a:latin typeface="Arial"/>
              <a:cs typeface="Arial"/>
            </a:endParaRPr>
          </a:p>
        </p:txBody>
      </p:sp>
      <p:pic>
        <p:nvPicPr>
          <p:cNvPr id="5" name="object 3">
            <a:extLst>
              <a:ext uri="{FF2B5EF4-FFF2-40B4-BE49-F238E27FC236}">
                <a16:creationId xmlns:a16="http://schemas.microsoft.com/office/drawing/2014/main" id="{4461D143-19CF-4D8B-9B32-64AE4A532D81}"/>
              </a:ext>
            </a:extLst>
          </p:cNvPr>
          <p:cNvPicPr/>
          <p:nvPr/>
        </p:nvPicPr>
        <p:blipFill>
          <a:blip r:embed="rId2" cstate="print"/>
          <a:stretch>
            <a:fillRect/>
          </a:stretch>
        </p:blipFill>
        <p:spPr>
          <a:xfrm>
            <a:off x="5334000" y="4038600"/>
            <a:ext cx="1524000" cy="1524000"/>
          </a:xfrm>
          <a:prstGeom prst="rect">
            <a:avLst/>
          </a:prstGeom>
        </p:spPr>
      </p:pic>
    </p:spTree>
    <p:extLst>
      <p:ext uri="{BB962C8B-B14F-4D97-AF65-F5344CB8AC3E}">
        <p14:creationId xmlns:p14="http://schemas.microsoft.com/office/powerpoint/2010/main" val="1577521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a:extLst>
              <a:ext uri="{FF2B5EF4-FFF2-40B4-BE49-F238E27FC236}">
                <a16:creationId xmlns:a16="http://schemas.microsoft.com/office/drawing/2014/main" id="{BF4F96B2-8257-4187-BF20-F9EA78F3DF01}"/>
              </a:ext>
            </a:extLst>
          </p:cNvPr>
          <p:cNvSpPr/>
          <p:nvPr/>
        </p:nvSpPr>
        <p:spPr>
          <a:xfrm>
            <a:off x="0" y="2819400"/>
            <a:ext cx="12192000" cy="1219200"/>
          </a:xfrm>
          <a:custGeom>
            <a:avLst/>
            <a:gdLst/>
            <a:ahLst/>
            <a:cxnLst/>
            <a:rect l="l" t="t" r="r" b="b"/>
            <a:pathLst>
              <a:path w="9144635" h="700405">
                <a:moveTo>
                  <a:pt x="9027447" y="700199"/>
                </a:moveTo>
                <a:lnTo>
                  <a:pt x="116702" y="700199"/>
                </a:lnTo>
                <a:lnTo>
                  <a:pt x="71276" y="691028"/>
                </a:lnTo>
                <a:lnTo>
                  <a:pt x="34181" y="666018"/>
                </a:lnTo>
                <a:lnTo>
                  <a:pt x="9171" y="628923"/>
                </a:lnTo>
                <a:lnTo>
                  <a:pt x="0" y="583497"/>
                </a:lnTo>
                <a:lnTo>
                  <a:pt x="0" y="116702"/>
                </a:lnTo>
                <a:lnTo>
                  <a:pt x="9171" y="71276"/>
                </a:lnTo>
                <a:lnTo>
                  <a:pt x="34181" y="34181"/>
                </a:lnTo>
                <a:lnTo>
                  <a:pt x="71276" y="9171"/>
                </a:lnTo>
                <a:lnTo>
                  <a:pt x="116702" y="0"/>
                </a:lnTo>
                <a:lnTo>
                  <a:pt x="9027447" y="0"/>
                </a:lnTo>
                <a:lnTo>
                  <a:pt x="9072107" y="8883"/>
                </a:lnTo>
                <a:lnTo>
                  <a:pt x="9109968" y="34181"/>
                </a:lnTo>
                <a:lnTo>
                  <a:pt x="9135266" y="72042"/>
                </a:lnTo>
                <a:lnTo>
                  <a:pt x="9144149" y="116702"/>
                </a:lnTo>
                <a:lnTo>
                  <a:pt x="9144149" y="583497"/>
                </a:lnTo>
                <a:lnTo>
                  <a:pt x="9134978" y="628923"/>
                </a:lnTo>
                <a:lnTo>
                  <a:pt x="9109968" y="666018"/>
                </a:lnTo>
                <a:lnTo>
                  <a:pt x="9072873" y="691028"/>
                </a:lnTo>
                <a:lnTo>
                  <a:pt x="9027447" y="700199"/>
                </a:lnTo>
                <a:close/>
              </a:path>
            </a:pathLst>
          </a:custGeom>
          <a:solidFill>
            <a:srgbClr val="D1052D"/>
          </a:solidFill>
        </p:spPr>
        <p:txBody>
          <a:bodyPr wrap="square" lIns="0" tIns="0" rIns="0" bIns="0" rtlCol="0"/>
          <a:lstStyle/>
          <a:p>
            <a:endParaRPr/>
          </a:p>
        </p:txBody>
      </p:sp>
      <p:sp>
        <p:nvSpPr>
          <p:cNvPr id="5" name="object 5">
            <a:extLst>
              <a:ext uri="{FF2B5EF4-FFF2-40B4-BE49-F238E27FC236}">
                <a16:creationId xmlns:a16="http://schemas.microsoft.com/office/drawing/2014/main" id="{A15886D6-5B28-4586-B236-615F21BBBBE5}"/>
              </a:ext>
            </a:extLst>
          </p:cNvPr>
          <p:cNvSpPr txBox="1">
            <a:spLocks noGrp="1"/>
          </p:cNvSpPr>
          <p:nvPr>
            <p:ph type="title"/>
          </p:nvPr>
        </p:nvSpPr>
        <p:spPr>
          <a:xfrm>
            <a:off x="4278672" y="3084034"/>
            <a:ext cx="3634655" cy="689932"/>
          </a:xfrm>
          <a:prstGeom prst="rect">
            <a:avLst/>
          </a:prstGeom>
        </p:spPr>
        <p:txBody>
          <a:bodyPr vert="horz" wrap="square" lIns="0" tIns="12700" rIns="0" bIns="0" rtlCol="0">
            <a:spAutoFit/>
          </a:bodyPr>
          <a:lstStyle/>
          <a:p>
            <a:pPr marL="12700" algn="ctr">
              <a:lnSpc>
                <a:spcPct val="100000"/>
              </a:lnSpc>
              <a:spcBef>
                <a:spcPts val="100"/>
              </a:spcBef>
            </a:pPr>
            <a:r>
              <a:rPr b="1" spc="-5" dirty="0">
                <a:solidFill>
                  <a:schemeClr val="bg1"/>
                </a:solidFill>
                <a:latin typeface="Rubik"/>
              </a:rPr>
              <a:t>Caso</a:t>
            </a:r>
            <a:r>
              <a:rPr b="1" spc="-90" dirty="0">
                <a:solidFill>
                  <a:schemeClr val="bg1"/>
                </a:solidFill>
                <a:latin typeface="Rubik"/>
              </a:rPr>
              <a:t> </a:t>
            </a:r>
            <a:r>
              <a:rPr b="1" spc="-5" dirty="0">
                <a:solidFill>
                  <a:schemeClr val="bg1"/>
                </a:solidFill>
                <a:latin typeface="Rubik"/>
              </a:rPr>
              <a:t>práctico</a:t>
            </a:r>
          </a:p>
        </p:txBody>
      </p:sp>
    </p:spTree>
    <p:extLst>
      <p:ext uri="{BB962C8B-B14F-4D97-AF65-F5344CB8AC3E}">
        <p14:creationId xmlns:p14="http://schemas.microsoft.com/office/powerpoint/2010/main" val="3460638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Caso práctico</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pic>
        <p:nvPicPr>
          <p:cNvPr id="10" name="object 5">
            <a:extLst>
              <a:ext uri="{FF2B5EF4-FFF2-40B4-BE49-F238E27FC236}">
                <a16:creationId xmlns:a16="http://schemas.microsoft.com/office/drawing/2014/main" id="{435EC088-AD41-45D0-BAA6-A29C3F48F98C}"/>
              </a:ext>
            </a:extLst>
          </p:cNvPr>
          <p:cNvPicPr/>
          <p:nvPr/>
        </p:nvPicPr>
        <p:blipFill>
          <a:blip r:embed="rId2" cstate="print"/>
          <a:stretch>
            <a:fillRect/>
          </a:stretch>
        </p:blipFill>
        <p:spPr>
          <a:xfrm>
            <a:off x="5773909" y="304800"/>
            <a:ext cx="626891" cy="561824"/>
          </a:xfrm>
          <a:prstGeom prst="rect">
            <a:avLst/>
          </a:prstGeom>
        </p:spPr>
      </p:pic>
      <p:sp>
        <p:nvSpPr>
          <p:cNvPr id="9" name="CuadroTexto 8">
            <a:extLst>
              <a:ext uri="{FF2B5EF4-FFF2-40B4-BE49-F238E27FC236}">
                <a16:creationId xmlns:a16="http://schemas.microsoft.com/office/drawing/2014/main" id="{E7370C3A-95FF-42DE-B12F-8A77A82DA926}"/>
              </a:ext>
            </a:extLst>
          </p:cNvPr>
          <p:cNvSpPr txBox="1"/>
          <p:nvPr/>
        </p:nvSpPr>
        <p:spPr>
          <a:xfrm>
            <a:off x="533400" y="1373862"/>
            <a:ext cx="10668000" cy="2677656"/>
          </a:xfrm>
          <a:prstGeom prst="rect">
            <a:avLst/>
          </a:prstGeom>
          <a:noFill/>
        </p:spPr>
        <p:txBody>
          <a:bodyPr wrap="square">
            <a:spAutoFit/>
          </a:bodyPr>
          <a:lstStyle/>
          <a:p>
            <a:r>
              <a:rPr lang="es-ES" sz="2800" b="1" dirty="0"/>
              <a:t>Ejemplo de Fragmentación Horizontal:</a:t>
            </a:r>
            <a:endParaRPr lang="es-ES" sz="2800" dirty="0"/>
          </a:p>
          <a:p>
            <a:pPr>
              <a:buFont typeface="Arial" panose="020B0604020202020204" pitchFamily="34" charset="0"/>
              <a:buChar char="•"/>
            </a:pPr>
            <a:r>
              <a:rPr lang="es-ES" sz="2800" dirty="0"/>
              <a:t>Considera una base de datos de clientes de una empresa. Divide los clientes por zonas geográficas (norte, sur, este, oeste). Cada nodo del sistema distribuido almacenará los clientes de una zona específica. ¿Cómo afectaría la consulta de clientes en una zona determinada el rendimiento de la base de datos distribuida?</a:t>
            </a:r>
          </a:p>
        </p:txBody>
      </p:sp>
    </p:spTree>
    <p:extLst>
      <p:ext uri="{BB962C8B-B14F-4D97-AF65-F5344CB8AC3E}">
        <p14:creationId xmlns:p14="http://schemas.microsoft.com/office/powerpoint/2010/main" val="68067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Caso práctico</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pic>
        <p:nvPicPr>
          <p:cNvPr id="10" name="object 5">
            <a:extLst>
              <a:ext uri="{FF2B5EF4-FFF2-40B4-BE49-F238E27FC236}">
                <a16:creationId xmlns:a16="http://schemas.microsoft.com/office/drawing/2014/main" id="{435EC088-AD41-45D0-BAA6-A29C3F48F98C}"/>
              </a:ext>
            </a:extLst>
          </p:cNvPr>
          <p:cNvPicPr/>
          <p:nvPr/>
        </p:nvPicPr>
        <p:blipFill>
          <a:blip r:embed="rId2" cstate="print"/>
          <a:stretch>
            <a:fillRect/>
          </a:stretch>
        </p:blipFill>
        <p:spPr>
          <a:xfrm>
            <a:off x="5773909" y="304800"/>
            <a:ext cx="626891" cy="561824"/>
          </a:xfrm>
          <a:prstGeom prst="rect">
            <a:avLst/>
          </a:prstGeom>
        </p:spPr>
      </p:pic>
      <p:sp>
        <p:nvSpPr>
          <p:cNvPr id="9" name="CuadroTexto 8">
            <a:extLst>
              <a:ext uri="{FF2B5EF4-FFF2-40B4-BE49-F238E27FC236}">
                <a16:creationId xmlns:a16="http://schemas.microsoft.com/office/drawing/2014/main" id="{E7370C3A-95FF-42DE-B12F-8A77A82DA926}"/>
              </a:ext>
            </a:extLst>
          </p:cNvPr>
          <p:cNvSpPr txBox="1"/>
          <p:nvPr/>
        </p:nvSpPr>
        <p:spPr>
          <a:xfrm>
            <a:off x="533400" y="1373862"/>
            <a:ext cx="10668000" cy="2677656"/>
          </a:xfrm>
          <a:prstGeom prst="rect">
            <a:avLst/>
          </a:prstGeom>
          <a:noFill/>
        </p:spPr>
        <p:txBody>
          <a:bodyPr wrap="square">
            <a:spAutoFit/>
          </a:bodyPr>
          <a:lstStyle/>
          <a:p>
            <a:r>
              <a:rPr lang="es-ES" sz="2800" b="1" dirty="0"/>
              <a:t>Ejemplo de Fragmentación Vertical:</a:t>
            </a:r>
            <a:endParaRPr lang="es-ES" sz="2800" dirty="0"/>
          </a:p>
          <a:p>
            <a:pPr>
              <a:buFont typeface="Arial" panose="020B0604020202020204" pitchFamily="34" charset="0"/>
              <a:buChar char="•"/>
            </a:pPr>
            <a:r>
              <a:rPr lang="es-ES" sz="2800" dirty="0"/>
              <a:t>Imagina que tienes una tabla de empleados con columnas como "ID", "Nombre", "Dirección", "Salario" y "Fecha de Contratación". Si las consultas se centran principalmente en los "ID" y "Nombre", ¿qué fragmentación vertical aplicarías para mejorar la eficiencia de estas consultas?</a:t>
            </a:r>
          </a:p>
        </p:txBody>
      </p:sp>
    </p:spTree>
    <p:extLst>
      <p:ext uri="{BB962C8B-B14F-4D97-AF65-F5344CB8AC3E}">
        <p14:creationId xmlns:p14="http://schemas.microsoft.com/office/powerpoint/2010/main" val="3761178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Caso práctico</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pic>
        <p:nvPicPr>
          <p:cNvPr id="10" name="object 5">
            <a:extLst>
              <a:ext uri="{FF2B5EF4-FFF2-40B4-BE49-F238E27FC236}">
                <a16:creationId xmlns:a16="http://schemas.microsoft.com/office/drawing/2014/main" id="{435EC088-AD41-45D0-BAA6-A29C3F48F98C}"/>
              </a:ext>
            </a:extLst>
          </p:cNvPr>
          <p:cNvPicPr/>
          <p:nvPr/>
        </p:nvPicPr>
        <p:blipFill>
          <a:blip r:embed="rId2" cstate="print"/>
          <a:stretch>
            <a:fillRect/>
          </a:stretch>
        </p:blipFill>
        <p:spPr>
          <a:xfrm>
            <a:off x="5773909" y="304800"/>
            <a:ext cx="626891" cy="561824"/>
          </a:xfrm>
          <a:prstGeom prst="rect">
            <a:avLst/>
          </a:prstGeom>
        </p:spPr>
      </p:pic>
      <p:sp>
        <p:nvSpPr>
          <p:cNvPr id="9" name="CuadroTexto 8">
            <a:extLst>
              <a:ext uri="{FF2B5EF4-FFF2-40B4-BE49-F238E27FC236}">
                <a16:creationId xmlns:a16="http://schemas.microsoft.com/office/drawing/2014/main" id="{E7370C3A-95FF-42DE-B12F-8A77A82DA926}"/>
              </a:ext>
            </a:extLst>
          </p:cNvPr>
          <p:cNvSpPr txBox="1"/>
          <p:nvPr/>
        </p:nvSpPr>
        <p:spPr>
          <a:xfrm>
            <a:off x="533400" y="1373862"/>
            <a:ext cx="10668000" cy="1815882"/>
          </a:xfrm>
          <a:prstGeom prst="rect">
            <a:avLst/>
          </a:prstGeom>
          <a:noFill/>
        </p:spPr>
        <p:txBody>
          <a:bodyPr wrap="square">
            <a:spAutoFit/>
          </a:bodyPr>
          <a:lstStyle/>
          <a:p>
            <a:r>
              <a:rPr lang="es-ES" sz="2800" b="1" dirty="0"/>
              <a:t>Optimización de Consultas:</a:t>
            </a:r>
            <a:endParaRPr lang="es-ES" sz="2800" dirty="0"/>
          </a:p>
          <a:p>
            <a:pPr>
              <a:buFont typeface="Arial" panose="020B0604020202020204" pitchFamily="34" charset="0"/>
              <a:buChar char="•"/>
            </a:pPr>
            <a:r>
              <a:rPr lang="es-ES" sz="2800" dirty="0"/>
              <a:t>Si tienes una consulta que necesita datos de varios fragmentos distribuidos, ¿cómo optimizarías la consulta para minimizar el tiempo de ejecución y las transferencias de datos entre nodos?</a:t>
            </a:r>
          </a:p>
        </p:txBody>
      </p:sp>
    </p:spTree>
    <p:extLst>
      <p:ext uri="{BB962C8B-B14F-4D97-AF65-F5344CB8AC3E}">
        <p14:creationId xmlns:p14="http://schemas.microsoft.com/office/powerpoint/2010/main" val="2731938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Caso práctico</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pic>
        <p:nvPicPr>
          <p:cNvPr id="10" name="object 5">
            <a:extLst>
              <a:ext uri="{FF2B5EF4-FFF2-40B4-BE49-F238E27FC236}">
                <a16:creationId xmlns:a16="http://schemas.microsoft.com/office/drawing/2014/main" id="{435EC088-AD41-45D0-BAA6-A29C3F48F98C}"/>
              </a:ext>
            </a:extLst>
          </p:cNvPr>
          <p:cNvPicPr/>
          <p:nvPr/>
        </p:nvPicPr>
        <p:blipFill>
          <a:blip r:embed="rId2" cstate="print"/>
          <a:stretch>
            <a:fillRect/>
          </a:stretch>
        </p:blipFill>
        <p:spPr>
          <a:xfrm>
            <a:off x="5773909" y="304800"/>
            <a:ext cx="626891" cy="561824"/>
          </a:xfrm>
          <a:prstGeom prst="rect">
            <a:avLst/>
          </a:prstGeom>
        </p:spPr>
      </p:pic>
      <p:sp>
        <p:nvSpPr>
          <p:cNvPr id="9" name="CuadroTexto 8">
            <a:extLst>
              <a:ext uri="{FF2B5EF4-FFF2-40B4-BE49-F238E27FC236}">
                <a16:creationId xmlns:a16="http://schemas.microsoft.com/office/drawing/2014/main" id="{E7370C3A-95FF-42DE-B12F-8A77A82DA926}"/>
              </a:ext>
            </a:extLst>
          </p:cNvPr>
          <p:cNvSpPr txBox="1"/>
          <p:nvPr/>
        </p:nvSpPr>
        <p:spPr>
          <a:xfrm>
            <a:off x="533400" y="1373862"/>
            <a:ext cx="10668000" cy="1815882"/>
          </a:xfrm>
          <a:prstGeom prst="rect">
            <a:avLst/>
          </a:prstGeom>
          <a:noFill/>
        </p:spPr>
        <p:txBody>
          <a:bodyPr wrap="square">
            <a:spAutoFit/>
          </a:bodyPr>
          <a:lstStyle/>
          <a:p>
            <a:r>
              <a:rPr lang="es-ES" sz="2800" b="1" dirty="0"/>
              <a:t>Descomposición de una Base de Datos:</a:t>
            </a:r>
            <a:endParaRPr lang="es-ES" sz="2800" dirty="0"/>
          </a:p>
          <a:p>
            <a:pPr>
              <a:buFont typeface="Arial" panose="020B0604020202020204" pitchFamily="34" charset="0"/>
              <a:buChar char="•"/>
            </a:pPr>
            <a:r>
              <a:rPr lang="es-ES" sz="2800" dirty="0"/>
              <a:t>Si tienes una base de datos con miles de registros de clientes, ¿qué estrategia de fragmentación utilizarías (horizontal, vertical, o una combinación de ambas) para mejorar el rendimiento de las consultas?</a:t>
            </a:r>
          </a:p>
        </p:txBody>
      </p:sp>
    </p:spTree>
    <p:extLst>
      <p:ext uri="{BB962C8B-B14F-4D97-AF65-F5344CB8AC3E}">
        <p14:creationId xmlns:p14="http://schemas.microsoft.com/office/powerpoint/2010/main" val="1268903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Caso práctico</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pic>
        <p:nvPicPr>
          <p:cNvPr id="10" name="object 5">
            <a:extLst>
              <a:ext uri="{FF2B5EF4-FFF2-40B4-BE49-F238E27FC236}">
                <a16:creationId xmlns:a16="http://schemas.microsoft.com/office/drawing/2014/main" id="{435EC088-AD41-45D0-BAA6-A29C3F48F98C}"/>
              </a:ext>
            </a:extLst>
          </p:cNvPr>
          <p:cNvPicPr/>
          <p:nvPr/>
        </p:nvPicPr>
        <p:blipFill>
          <a:blip r:embed="rId2" cstate="print"/>
          <a:stretch>
            <a:fillRect/>
          </a:stretch>
        </p:blipFill>
        <p:spPr>
          <a:xfrm>
            <a:off x="5773909" y="304800"/>
            <a:ext cx="626891" cy="561824"/>
          </a:xfrm>
          <a:prstGeom prst="rect">
            <a:avLst/>
          </a:prstGeom>
        </p:spPr>
      </p:pic>
      <p:sp>
        <p:nvSpPr>
          <p:cNvPr id="9" name="CuadroTexto 8">
            <a:extLst>
              <a:ext uri="{FF2B5EF4-FFF2-40B4-BE49-F238E27FC236}">
                <a16:creationId xmlns:a16="http://schemas.microsoft.com/office/drawing/2014/main" id="{E7370C3A-95FF-42DE-B12F-8A77A82DA926}"/>
              </a:ext>
            </a:extLst>
          </p:cNvPr>
          <p:cNvSpPr txBox="1"/>
          <p:nvPr/>
        </p:nvSpPr>
        <p:spPr>
          <a:xfrm>
            <a:off x="533400" y="1373862"/>
            <a:ext cx="10668000" cy="2246769"/>
          </a:xfrm>
          <a:prstGeom prst="rect">
            <a:avLst/>
          </a:prstGeom>
          <a:noFill/>
        </p:spPr>
        <p:txBody>
          <a:bodyPr wrap="square">
            <a:spAutoFit/>
          </a:bodyPr>
          <a:lstStyle/>
          <a:p>
            <a:r>
              <a:rPr lang="es-ES" sz="2800" b="1" dirty="0"/>
              <a:t>Localización de Datos:</a:t>
            </a:r>
            <a:endParaRPr lang="es-ES" sz="2800" dirty="0"/>
          </a:p>
          <a:p>
            <a:pPr>
              <a:buFont typeface="Arial" panose="020B0604020202020204" pitchFamily="34" charset="0"/>
              <a:buChar char="•"/>
            </a:pPr>
            <a:r>
              <a:rPr lang="es-ES" sz="2800" dirty="0"/>
              <a:t>Supón que tienes una base de datos distribuida con varios nodos en diferentes ubicaciones geográficas. Si una consulta se ejecuta en una región geográfica específica, ¿cómo elegirías los fragmentos de datos más relevantes para ejecutar la consulta de manera eficiente?</a:t>
            </a:r>
          </a:p>
        </p:txBody>
      </p:sp>
    </p:spTree>
    <p:extLst>
      <p:ext uri="{BB962C8B-B14F-4D97-AF65-F5344CB8AC3E}">
        <p14:creationId xmlns:p14="http://schemas.microsoft.com/office/powerpoint/2010/main" val="2206184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Nombre de la sesión</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pic>
        <p:nvPicPr>
          <p:cNvPr id="10" name="object 5">
            <a:extLst>
              <a:ext uri="{FF2B5EF4-FFF2-40B4-BE49-F238E27FC236}">
                <a16:creationId xmlns:a16="http://schemas.microsoft.com/office/drawing/2014/main" id="{435EC088-AD41-45D0-BAA6-A29C3F48F98C}"/>
              </a:ext>
            </a:extLst>
          </p:cNvPr>
          <p:cNvPicPr/>
          <p:nvPr/>
        </p:nvPicPr>
        <p:blipFill>
          <a:blip r:embed="rId2" cstate="print"/>
          <a:stretch>
            <a:fillRect/>
          </a:stretch>
        </p:blipFill>
        <p:spPr>
          <a:xfrm>
            <a:off x="5773909" y="304800"/>
            <a:ext cx="626891" cy="561824"/>
          </a:xfrm>
          <a:prstGeom prst="rect">
            <a:avLst/>
          </a:prstGeom>
        </p:spPr>
      </p:pic>
      <p:sp>
        <p:nvSpPr>
          <p:cNvPr id="9" name="object 3">
            <a:extLst>
              <a:ext uri="{FF2B5EF4-FFF2-40B4-BE49-F238E27FC236}">
                <a16:creationId xmlns:a16="http://schemas.microsoft.com/office/drawing/2014/main" id="{4CCFC334-434E-4946-8150-7F52AD5BD21D}"/>
              </a:ext>
            </a:extLst>
          </p:cNvPr>
          <p:cNvSpPr txBox="1"/>
          <p:nvPr/>
        </p:nvSpPr>
        <p:spPr>
          <a:xfrm>
            <a:off x="2282337" y="1780300"/>
            <a:ext cx="7627325" cy="443711"/>
          </a:xfrm>
          <a:prstGeom prst="rect">
            <a:avLst/>
          </a:prstGeom>
        </p:spPr>
        <p:txBody>
          <a:bodyPr vert="horz" wrap="square" lIns="0" tIns="12700" rIns="0" bIns="0" rtlCol="0">
            <a:spAutoFit/>
          </a:bodyPr>
          <a:lstStyle/>
          <a:p>
            <a:pPr marL="12700" algn="ctr">
              <a:lnSpc>
                <a:spcPct val="100000"/>
              </a:lnSpc>
              <a:spcBef>
                <a:spcPts val="100"/>
              </a:spcBef>
            </a:pPr>
            <a:r>
              <a:rPr sz="2800" spc="-5" dirty="0">
                <a:latin typeface="Arial MT"/>
                <a:cs typeface="Arial MT"/>
              </a:rPr>
              <a:t>¿Quién</a:t>
            </a:r>
            <a:r>
              <a:rPr sz="2800" spc="-25" dirty="0">
                <a:latin typeface="Arial MT"/>
                <a:cs typeface="Arial MT"/>
              </a:rPr>
              <a:t> </a:t>
            </a:r>
            <a:r>
              <a:rPr sz="2800" spc="-5" dirty="0">
                <a:latin typeface="Arial MT"/>
                <a:cs typeface="Arial MT"/>
              </a:rPr>
              <a:t>quisiera</a:t>
            </a:r>
            <a:r>
              <a:rPr sz="2800" spc="-25" dirty="0">
                <a:latin typeface="Arial MT"/>
                <a:cs typeface="Arial MT"/>
              </a:rPr>
              <a:t> </a:t>
            </a:r>
            <a:r>
              <a:rPr sz="2800" spc="-5" dirty="0">
                <a:latin typeface="Arial MT"/>
                <a:cs typeface="Arial MT"/>
              </a:rPr>
              <a:t>participar?</a:t>
            </a:r>
            <a:r>
              <a:rPr sz="2800" spc="-25" dirty="0">
                <a:latin typeface="Arial MT"/>
                <a:cs typeface="Arial MT"/>
              </a:rPr>
              <a:t> </a:t>
            </a:r>
            <a:r>
              <a:rPr sz="2800" dirty="0">
                <a:latin typeface="Arial MT"/>
                <a:cs typeface="Arial MT"/>
              </a:rPr>
              <a:t>(2</a:t>
            </a:r>
            <a:r>
              <a:rPr sz="2800" spc="-25" dirty="0">
                <a:latin typeface="Arial MT"/>
                <a:cs typeface="Arial MT"/>
              </a:rPr>
              <a:t> </a:t>
            </a:r>
            <a:r>
              <a:rPr sz="2800" dirty="0">
                <a:latin typeface="Arial MT"/>
                <a:cs typeface="Arial MT"/>
              </a:rPr>
              <a:t>voluntarios)</a:t>
            </a:r>
          </a:p>
        </p:txBody>
      </p:sp>
      <p:pic>
        <p:nvPicPr>
          <p:cNvPr id="11" name="object 5">
            <a:extLst>
              <a:ext uri="{FF2B5EF4-FFF2-40B4-BE49-F238E27FC236}">
                <a16:creationId xmlns:a16="http://schemas.microsoft.com/office/drawing/2014/main" id="{9D2CA911-F96C-4C2E-940C-40856F4E615C}"/>
              </a:ext>
            </a:extLst>
          </p:cNvPr>
          <p:cNvPicPr/>
          <p:nvPr/>
        </p:nvPicPr>
        <p:blipFill>
          <a:blip r:embed="rId2" cstate="print"/>
          <a:stretch>
            <a:fillRect/>
          </a:stretch>
        </p:blipFill>
        <p:spPr>
          <a:xfrm>
            <a:off x="4730555" y="2895600"/>
            <a:ext cx="2730890" cy="2520334"/>
          </a:xfrm>
          <a:prstGeom prst="rect">
            <a:avLst/>
          </a:prstGeom>
        </p:spPr>
      </p:pic>
    </p:spTree>
    <p:extLst>
      <p:ext uri="{BB962C8B-B14F-4D97-AF65-F5344CB8AC3E}">
        <p14:creationId xmlns:p14="http://schemas.microsoft.com/office/powerpoint/2010/main" val="3696049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Nombre de la sesión</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sp>
        <p:nvSpPr>
          <p:cNvPr id="12" name="CuadroTexto 11">
            <a:extLst>
              <a:ext uri="{FF2B5EF4-FFF2-40B4-BE49-F238E27FC236}">
                <a16:creationId xmlns:a16="http://schemas.microsoft.com/office/drawing/2014/main" id="{B2751C15-745F-4C85-B21A-843C83F11E8E}"/>
              </a:ext>
            </a:extLst>
          </p:cNvPr>
          <p:cNvSpPr txBox="1"/>
          <p:nvPr/>
        </p:nvSpPr>
        <p:spPr>
          <a:xfrm>
            <a:off x="3039354" y="1831852"/>
            <a:ext cx="6096000" cy="1154162"/>
          </a:xfrm>
          <a:prstGeom prst="rect">
            <a:avLst/>
          </a:prstGeom>
          <a:noFill/>
        </p:spPr>
        <p:txBody>
          <a:bodyPr wrap="square">
            <a:spAutoFit/>
          </a:bodyPr>
          <a:lstStyle/>
          <a:p>
            <a:pPr algn="ctr">
              <a:lnSpc>
                <a:spcPct val="100000"/>
              </a:lnSpc>
              <a:spcBef>
                <a:spcPts val="680"/>
              </a:spcBef>
            </a:pPr>
            <a:r>
              <a:rPr lang="es-ES" sz="3200" spc="-5" dirty="0">
                <a:latin typeface="Arial"/>
                <a:cs typeface="Arial"/>
              </a:rPr>
              <a:t>¿Qué</a:t>
            </a:r>
            <a:r>
              <a:rPr lang="es-ES" sz="3200" spc="-20" dirty="0">
                <a:latin typeface="Arial"/>
                <a:cs typeface="Arial"/>
              </a:rPr>
              <a:t> </a:t>
            </a:r>
            <a:r>
              <a:rPr lang="es-ES" sz="3200" spc="-5" dirty="0">
                <a:latin typeface="Arial"/>
                <a:cs typeface="Arial"/>
              </a:rPr>
              <a:t>se</a:t>
            </a:r>
            <a:r>
              <a:rPr lang="es-ES" sz="3200" spc="-15" dirty="0">
                <a:latin typeface="Arial"/>
                <a:cs typeface="Arial"/>
              </a:rPr>
              <a:t> </a:t>
            </a:r>
            <a:r>
              <a:rPr lang="es-ES" sz="3200" spc="-5" dirty="0">
                <a:latin typeface="Arial"/>
                <a:cs typeface="Arial"/>
              </a:rPr>
              <a:t>les</a:t>
            </a:r>
            <a:r>
              <a:rPr lang="es-ES" sz="3200" spc="-20" dirty="0">
                <a:latin typeface="Arial"/>
                <a:cs typeface="Arial"/>
              </a:rPr>
              <a:t> </a:t>
            </a:r>
            <a:r>
              <a:rPr lang="es-ES" sz="3200" spc="-5" dirty="0">
                <a:latin typeface="Arial"/>
                <a:cs typeface="Arial"/>
              </a:rPr>
              <a:t>hizo</a:t>
            </a:r>
            <a:r>
              <a:rPr lang="es-ES" sz="3200" spc="-15" dirty="0">
                <a:latin typeface="Arial"/>
                <a:cs typeface="Arial"/>
              </a:rPr>
              <a:t> </a:t>
            </a:r>
            <a:r>
              <a:rPr lang="es-ES" sz="3200" spc="-5" dirty="0">
                <a:latin typeface="Arial"/>
                <a:cs typeface="Arial"/>
              </a:rPr>
              <a:t>más</a:t>
            </a:r>
            <a:r>
              <a:rPr lang="es-ES" sz="3200" spc="-20" dirty="0">
                <a:latin typeface="Arial"/>
                <a:cs typeface="Arial"/>
              </a:rPr>
              <a:t> </a:t>
            </a:r>
            <a:r>
              <a:rPr lang="es-ES" sz="3200" dirty="0">
                <a:latin typeface="Arial"/>
                <a:cs typeface="Arial"/>
              </a:rPr>
              <a:t>fácil?</a:t>
            </a:r>
          </a:p>
          <a:p>
            <a:pPr algn="ctr">
              <a:lnSpc>
                <a:spcPct val="100000"/>
              </a:lnSpc>
              <a:spcBef>
                <a:spcPts val="585"/>
              </a:spcBef>
            </a:pPr>
            <a:r>
              <a:rPr lang="es-ES" sz="3200" spc="-5" dirty="0">
                <a:latin typeface="Arial"/>
                <a:cs typeface="Arial"/>
              </a:rPr>
              <a:t>¿Qué</a:t>
            </a:r>
            <a:r>
              <a:rPr lang="es-ES" sz="3200" spc="-20" dirty="0">
                <a:latin typeface="Arial"/>
                <a:cs typeface="Arial"/>
              </a:rPr>
              <a:t> </a:t>
            </a:r>
            <a:r>
              <a:rPr lang="es-ES" sz="3200" spc="-5" dirty="0">
                <a:latin typeface="Arial"/>
                <a:cs typeface="Arial"/>
              </a:rPr>
              <a:t>se</a:t>
            </a:r>
            <a:r>
              <a:rPr lang="es-ES" sz="3200" spc="-20" dirty="0">
                <a:latin typeface="Arial"/>
                <a:cs typeface="Arial"/>
              </a:rPr>
              <a:t> </a:t>
            </a:r>
            <a:r>
              <a:rPr lang="es-ES" sz="3200" spc="-5" dirty="0">
                <a:latin typeface="Arial"/>
                <a:cs typeface="Arial"/>
              </a:rPr>
              <a:t>les</a:t>
            </a:r>
            <a:r>
              <a:rPr lang="es-ES" sz="3200" spc="-20" dirty="0">
                <a:latin typeface="Arial"/>
                <a:cs typeface="Arial"/>
              </a:rPr>
              <a:t> </a:t>
            </a:r>
            <a:r>
              <a:rPr lang="es-ES" sz="3200" spc="-5" dirty="0">
                <a:latin typeface="Arial"/>
                <a:cs typeface="Arial"/>
              </a:rPr>
              <a:t>hizo</a:t>
            </a:r>
            <a:r>
              <a:rPr lang="es-ES" sz="3200" spc="-15" dirty="0">
                <a:latin typeface="Arial"/>
                <a:cs typeface="Arial"/>
              </a:rPr>
              <a:t> </a:t>
            </a:r>
            <a:r>
              <a:rPr lang="es-ES" sz="3200" spc="-5" dirty="0">
                <a:latin typeface="Arial"/>
                <a:cs typeface="Arial"/>
              </a:rPr>
              <a:t>más</a:t>
            </a:r>
            <a:r>
              <a:rPr lang="es-ES" sz="3200" spc="-20" dirty="0">
                <a:latin typeface="Arial"/>
                <a:cs typeface="Arial"/>
              </a:rPr>
              <a:t> </a:t>
            </a:r>
            <a:r>
              <a:rPr lang="es-ES" sz="3200" spc="-5" dirty="0">
                <a:latin typeface="Arial"/>
                <a:cs typeface="Arial"/>
              </a:rPr>
              <a:t>retador?</a:t>
            </a:r>
            <a:endParaRPr lang="es-ES" sz="3200" dirty="0">
              <a:latin typeface="Arial"/>
              <a:cs typeface="Arial"/>
            </a:endParaRPr>
          </a:p>
        </p:txBody>
      </p:sp>
      <p:pic>
        <p:nvPicPr>
          <p:cNvPr id="13" name="object 4">
            <a:extLst>
              <a:ext uri="{FF2B5EF4-FFF2-40B4-BE49-F238E27FC236}">
                <a16:creationId xmlns:a16="http://schemas.microsoft.com/office/drawing/2014/main" id="{92ED82CC-0303-4C90-82F6-3B913B77FAE0}"/>
              </a:ext>
            </a:extLst>
          </p:cNvPr>
          <p:cNvPicPr/>
          <p:nvPr/>
        </p:nvPicPr>
        <p:blipFill>
          <a:blip r:embed="rId2" cstate="print"/>
          <a:stretch>
            <a:fillRect/>
          </a:stretch>
        </p:blipFill>
        <p:spPr>
          <a:xfrm>
            <a:off x="4953000" y="3618011"/>
            <a:ext cx="2047300" cy="2047300"/>
          </a:xfrm>
          <a:prstGeom prst="rect">
            <a:avLst/>
          </a:prstGeom>
        </p:spPr>
      </p:pic>
      <p:pic>
        <p:nvPicPr>
          <p:cNvPr id="14" name="object 4">
            <a:extLst>
              <a:ext uri="{FF2B5EF4-FFF2-40B4-BE49-F238E27FC236}">
                <a16:creationId xmlns:a16="http://schemas.microsoft.com/office/drawing/2014/main" id="{DFA14601-CB10-4DE1-8C05-A33670A49AD7}"/>
              </a:ext>
            </a:extLst>
          </p:cNvPr>
          <p:cNvPicPr/>
          <p:nvPr/>
        </p:nvPicPr>
        <p:blipFill>
          <a:blip r:embed="rId2" cstate="print"/>
          <a:stretch>
            <a:fillRect/>
          </a:stretch>
        </p:blipFill>
        <p:spPr>
          <a:xfrm>
            <a:off x="5766673" y="318461"/>
            <a:ext cx="548164" cy="548164"/>
          </a:xfrm>
          <a:prstGeom prst="rect">
            <a:avLst/>
          </a:prstGeom>
        </p:spPr>
      </p:pic>
    </p:spTree>
    <p:extLst>
      <p:ext uri="{BB962C8B-B14F-4D97-AF65-F5344CB8AC3E}">
        <p14:creationId xmlns:p14="http://schemas.microsoft.com/office/powerpoint/2010/main" val="694928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Aprendizajes</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sp>
        <p:nvSpPr>
          <p:cNvPr id="12" name="CuadroTexto 11">
            <a:extLst>
              <a:ext uri="{FF2B5EF4-FFF2-40B4-BE49-F238E27FC236}">
                <a16:creationId xmlns:a16="http://schemas.microsoft.com/office/drawing/2014/main" id="{B2751C15-745F-4C85-B21A-843C83F11E8E}"/>
              </a:ext>
            </a:extLst>
          </p:cNvPr>
          <p:cNvSpPr txBox="1"/>
          <p:nvPr/>
        </p:nvSpPr>
        <p:spPr>
          <a:xfrm>
            <a:off x="2243577" y="3149025"/>
            <a:ext cx="7687554" cy="584775"/>
          </a:xfrm>
          <a:prstGeom prst="rect">
            <a:avLst/>
          </a:prstGeom>
          <a:noFill/>
        </p:spPr>
        <p:txBody>
          <a:bodyPr wrap="square">
            <a:spAutoFit/>
          </a:bodyPr>
          <a:lstStyle/>
          <a:p>
            <a:pPr marL="12700" algn="ctr">
              <a:lnSpc>
                <a:spcPct val="100000"/>
              </a:lnSpc>
              <a:spcBef>
                <a:spcPts val="100"/>
              </a:spcBef>
            </a:pPr>
            <a:r>
              <a:rPr lang="es-ES" sz="3200" b="1" spc="-5" dirty="0">
                <a:latin typeface="Arial"/>
                <a:cs typeface="Arial"/>
              </a:rPr>
              <a:t>¿Qué</a:t>
            </a:r>
            <a:r>
              <a:rPr lang="es-ES" sz="3200" b="1" spc="-20" dirty="0">
                <a:latin typeface="Arial"/>
                <a:cs typeface="Arial"/>
              </a:rPr>
              <a:t> </a:t>
            </a:r>
            <a:r>
              <a:rPr lang="es-ES" sz="3200" b="1" spc="-5" dirty="0">
                <a:latin typeface="Arial"/>
                <a:cs typeface="Arial"/>
              </a:rPr>
              <a:t>hemos</a:t>
            </a:r>
            <a:r>
              <a:rPr lang="es-ES" sz="3200" b="1" spc="-15" dirty="0">
                <a:latin typeface="Arial"/>
                <a:cs typeface="Arial"/>
              </a:rPr>
              <a:t> </a:t>
            </a:r>
            <a:r>
              <a:rPr lang="es-ES" sz="3200" b="1" spc="-5" dirty="0">
                <a:latin typeface="Arial"/>
                <a:cs typeface="Arial"/>
              </a:rPr>
              <a:t>aprendido</a:t>
            </a:r>
            <a:r>
              <a:rPr lang="es-ES" sz="3200" b="1" spc="-15" dirty="0">
                <a:latin typeface="Arial"/>
                <a:cs typeface="Arial"/>
              </a:rPr>
              <a:t> </a:t>
            </a:r>
            <a:r>
              <a:rPr lang="es-ES" sz="3200" b="1" spc="-5" dirty="0">
                <a:latin typeface="Arial"/>
                <a:cs typeface="Arial"/>
              </a:rPr>
              <a:t>el</a:t>
            </a:r>
            <a:r>
              <a:rPr lang="es-ES" sz="3200" b="1" spc="-15" dirty="0">
                <a:latin typeface="Arial"/>
                <a:cs typeface="Arial"/>
              </a:rPr>
              <a:t> </a:t>
            </a:r>
            <a:r>
              <a:rPr lang="es-ES" sz="3200" b="1" spc="-5" dirty="0">
                <a:latin typeface="Arial"/>
                <a:cs typeface="Arial"/>
              </a:rPr>
              <a:t>día</a:t>
            </a:r>
            <a:r>
              <a:rPr lang="es-ES" sz="3200" b="1" spc="-15" dirty="0">
                <a:latin typeface="Arial"/>
                <a:cs typeface="Arial"/>
              </a:rPr>
              <a:t> </a:t>
            </a:r>
            <a:r>
              <a:rPr lang="es-ES" sz="3200" b="1" spc="-5" dirty="0">
                <a:latin typeface="Arial"/>
                <a:cs typeface="Arial"/>
              </a:rPr>
              <a:t>de</a:t>
            </a:r>
            <a:r>
              <a:rPr lang="es-ES" sz="3200" b="1" spc="-20" dirty="0">
                <a:latin typeface="Arial"/>
                <a:cs typeface="Arial"/>
              </a:rPr>
              <a:t> </a:t>
            </a:r>
            <a:r>
              <a:rPr lang="es-ES" sz="3200" b="1" spc="-5" dirty="0">
                <a:latin typeface="Arial"/>
                <a:cs typeface="Arial"/>
              </a:rPr>
              <a:t>hoy?</a:t>
            </a:r>
            <a:endParaRPr lang="es-ES" sz="3200" dirty="0">
              <a:latin typeface="Arial"/>
              <a:cs typeface="Arial"/>
            </a:endParaRPr>
          </a:p>
        </p:txBody>
      </p:sp>
      <p:pic>
        <p:nvPicPr>
          <p:cNvPr id="9" name="object 4">
            <a:extLst>
              <a:ext uri="{FF2B5EF4-FFF2-40B4-BE49-F238E27FC236}">
                <a16:creationId xmlns:a16="http://schemas.microsoft.com/office/drawing/2014/main" id="{F428FEBE-63F0-4356-811F-98BF885720BA}"/>
              </a:ext>
            </a:extLst>
          </p:cNvPr>
          <p:cNvPicPr/>
          <p:nvPr/>
        </p:nvPicPr>
        <p:blipFill>
          <a:blip r:embed="rId2" cstate="print"/>
          <a:stretch>
            <a:fillRect/>
          </a:stretch>
        </p:blipFill>
        <p:spPr>
          <a:xfrm>
            <a:off x="5766673" y="318461"/>
            <a:ext cx="548164" cy="548164"/>
          </a:xfrm>
          <a:prstGeom prst="rect">
            <a:avLst/>
          </a:prstGeom>
        </p:spPr>
      </p:pic>
    </p:spTree>
    <p:extLst>
      <p:ext uri="{BB962C8B-B14F-4D97-AF65-F5344CB8AC3E}">
        <p14:creationId xmlns:p14="http://schemas.microsoft.com/office/powerpoint/2010/main" val="808151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Conclusiones</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sp>
        <p:nvSpPr>
          <p:cNvPr id="12" name="CuadroTexto 11">
            <a:extLst>
              <a:ext uri="{FF2B5EF4-FFF2-40B4-BE49-F238E27FC236}">
                <a16:creationId xmlns:a16="http://schemas.microsoft.com/office/drawing/2014/main" id="{B2751C15-745F-4C85-B21A-843C83F11E8E}"/>
              </a:ext>
            </a:extLst>
          </p:cNvPr>
          <p:cNvSpPr txBox="1"/>
          <p:nvPr/>
        </p:nvSpPr>
        <p:spPr>
          <a:xfrm>
            <a:off x="400050" y="1148745"/>
            <a:ext cx="11106150" cy="4524315"/>
          </a:xfrm>
          <a:prstGeom prst="rect">
            <a:avLst/>
          </a:prstGeom>
          <a:noFill/>
        </p:spPr>
        <p:txBody>
          <a:bodyPr wrap="square">
            <a:spAutoFit/>
          </a:bodyPr>
          <a:lstStyle/>
          <a:p>
            <a:pPr algn="ctr"/>
            <a:r>
              <a:rPr lang="es-ES" sz="2400" dirty="0"/>
              <a:t>La fragmentación, tanto vertical como horizontal, es esencial para mejorar el rendimiento y la escalabilidad de las bases de datos distribuidas. Al dividir los datos en fragmentos más pequeños y distribuirlos en diferentes nodos, se optimiza el acceso y almacenamiento, lo que reduce la carga de trabajo en cada nodo y mejora los tiempos de respuesta. Esta distribución de datos también permite adaptar el sistema a un crecimiento continuo sin comprometer la eficiencia.</a:t>
            </a:r>
          </a:p>
          <a:p>
            <a:pPr algn="ctr"/>
            <a:endParaRPr lang="es-ES" sz="2400" dirty="0"/>
          </a:p>
          <a:p>
            <a:pPr algn="ctr"/>
            <a:r>
              <a:rPr lang="es-ES" sz="2400" dirty="0"/>
              <a:t>Además, la correcta descomposición y localización de los fragmentos facilita la optimización de consultas al reducir el tráfico entre nodos y enfocarse solo en los fragmentos necesarios. Elegir la estrategia de fragmentación adecuada, dependiendo de los patrones de acceso, es crucial para maximizar la eficiencia del sistema, permitiendo una gestión más ágil y un procesamiento más rápido de grandes volúmenes de datos.</a:t>
            </a:r>
          </a:p>
        </p:txBody>
      </p:sp>
      <p:pic>
        <p:nvPicPr>
          <p:cNvPr id="7" name="object 7">
            <a:extLst>
              <a:ext uri="{FF2B5EF4-FFF2-40B4-BE49-F238E27FC236}">
                <a16:creationId xmlns:a16="http://schemas.microsoft.com/office/drawing/2014/main" id="{C43E916E-CF2E-42D4-96E7-92D72D2AC94F}"/>
              </a:ext>
            </a:extLst>
          </p:cNvPr>
          <p:cNvPicPr/>
          <p:nvPr/>
        </p:nvPicPr>
        <p:blipFill>
          <a:blip r:embed="rId2" cstate="print"/>
          <a:stretch>
            <a:fillRect/>
          </a:stretch>
        </p:blipFill>
        <p:spPr>
          <a:xfrm>
            <a:off x="5705310" y="304802"/>
            <a:ext cx="561824" cy="561824"/>
          </a:xfrm>
          <a:prstGeom prst="rect">
            <a:avLst/>
          </a:prstGeom>
        </p:spPr>
      </p:pic>
    </p:spTree>
    <p:extLst>
      <p:ext uri="{BB962C8B-B14F-4D97-AF65-F5344CB8AC3E}">
        <p14:creationId xmlns:p14="http://schemas.microsoft.com/office/powerpoint/2010/main" val="1064601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Tarea</a:t>
            </a:r>
            <a:endParaRPr lang="es-PE" sz="2400" dirty="0">
              <a:latin typeface="Arial"/>
              <a:cs typeface="Arial"/>
            </a:endParaRPr>
          </a:p>
        </p:txBody>
      </p:sp>
      <p:pic>
        <p:nvPicPr>
          <p:cNvPr id="7" name="object 7">
            <a:extLst>
              <a:ext uri="{FF2B5EF4-FFF2-40B4-BE49-F238E27FC236}">
                <a16:creationId xmlns:a16="http://schemas.microsoft.com/office/drawing/2014/main" id="{C43E916E-CF2E-42D4-96E7-92D72D2AC94F}"/>
              </a:ext>
            </a:extLst>
          </p:cNvPr>
          <p:cNvPicPr/>
          <p:nvPr/>
        </p:nvPicPr>
        <p:blipFill>
          <a:blip r:embed="rId2" cstate="print"/>
          <a:stretch>
            <a:fillRect/>
          </a:stretch>
        </p:blipFill>
        <p:spPr>
          <a:xfrm>
            <a:off x="5705310" y="304802"/>
            <a:ext cx="561824" cy="561824"/>
          </a:xfrm>
          <a:prstGeom prst="rect">
            <a:avLst/>
          </a:prstGeom>
        </p:spPr>
      </p:pic>
      <p:sp>
        <p:nvSpPr>
          <p:cNvPr id="11" name="CuadroTexto 10">
            <a:extLst>
              <a:ext uri="{FF2B5EF4-FFF2-40B4-BE49-F238E27FC236}">
                <a16:creationId xmlns:a16="http://schemas.microsoft.com/office/drawing/2014/main" id="{324A635F-D0BC-448C-963A-9F264D0DBAC1}"/>
              </a:ext>
            </a:extLst>
          </p:cNvPr>
          <p:cNvSpPr txBox="1"/>
          <p:nvPr/>
        </p:nvSpPr>
        <p:spPr>
          <a:xfrm>
            <a:off x="914400" y="2828835"/>
            <a:ext cx="6096000" cy="1200329"/>
          </a:xfrm>
          <a:prstGeom prst="rect">
            <a:avLst/>
          </a:prstGeom>
          <a:noFill/>
        </p:spPr>
        <p:txBody>
          <a:bodyPr wrap="square">
            <a:spAutoFit/>
          </a:bodyPr>
          <a:lstStyle/>
          <a:p>
            <a:pPr algn="ctr"/>
            <a:r>
              <a:rPr lang="es-ES" sz="3600" b="1" dirty="0">
                <a:latin typeface="Arial" panose="020B0604020202020204" pitchFamily="34" charset="0"/>
                <a:cs typeface="Arial" panose="020B0604020202020204" pitchFamily="34" charset="0"/>
              </a:rPr>
              <a:t>MUCHAS</a:t>
            </a:r>
            <a:r>
              <a:rPr lang="es-ES" sz="3600" b="1" spc="-204" dirty="0">
                <a:latin typeface="Arial" panose="020B0604020202020204" pitchFamily="34" charset="0"/>
                <a:cs typeface="Arial" panose="020B0604020202020204" pitchFamily="34" charset="0"/>
              </a:rPr>
              <a:t> </a:t>
            </a:r>
            <a:r>
              <a:rPr lang="es-ES" sz="3600" b="1" spc="-10" dirty="0">
                <a:latin typeface="Arial" panose="020B0604020202020204" pitchFamily="34" charset="0"/>
                <a:cs typeface="Arial" panose="020B0604020202020204" pitchFamily="34" charset="0"/>
              </a:rPr>
              <a:t>GRACIAS </a:t>
            </a:r>
            <a:r>
              <a:rPr lang="es-ES" sz="3600" b="1" dirty="0">
                <a:latin typeface="Arial" panose="020B0604020202020204" pitchFamily="34" charset="0"/>
                <a:cs typeface="Arial" panose="020B0604020202020204" pitchFamily="34" charset="0"/>
              </a:rPr>
              <a:t>QUE</a:t>
            </a:r>
            <a:r>
              <a:rPr lang="es-ES" sz="3600" b="1" spc="-40" dirty="0">
                <a:latin typeface="Arial" panose="020B0604020202020204" pitchFamily="34" charset="0"/>
                <a:cs typeface="Arial" panose="020B0604020202020204" pitchFamily="34" charset="0"/>
              </a:rPr>
              <a:t> </a:t>
            </a:r>
            <a:r>
              <a:rPr lang="es-ES" sz="3600" b="1" dirty="0">
                <a:latin typeface="Arial" panose="020B0604020202020204" pitchFamily="34" charset="0"/>
                <a:cs typeface="Arial" panose="020B0604020202020204" pitchFamily="34" charset="0"/>
              </a:rPr>
              <a:t>DIOS</a:t>
            </a:r>
            <a:r>
              <a:rPr lang="es-ES" sz="3600" b="1" spc="-40" dirty="0">
                <a:latin typeface="Arial" panose="020B0604020202020204" pitchFamily="34" charset="0"/>
                <a:cs typeface="Arial" panose="020B0604020202020204" pitchFamily="34" charset="0"/>
              </a:rPr>
              <a:t> </a:t>
            </a:r>
            <a:r>
              <a:rPr lang="es-ES" sz="3600" b="1" dirty="0">
                <a:latin typeface="Arial" panose="020B0604020202020204" pitchFamily="34" charset="0"/>
                <a:cs typeface="Arial" panose="020B0604020202020204" pitchFamily="34" charset="0"/>
              </a:rPr>
              <a:t>LOS</a:t>
            </a:r>
            <a:r>
              <a:rPr lang="es-ES" sz="3600" b="1" spc="-40" dirty="0">
                <a:latin typeface="Arial" panose="020B0604020202020204" pitchFamily="34" charset="0"/>
                <a:cs typeface="Arial" panose="020B0604020202020204" pitchFamily="34" charset="0"/>
              </a:rPr>
              <a:t> </a:t>
            </a:r>
            <a:r>
              <a:rPr lang="es-ES" sz="3600" b="1" spc="-10" dirty="0">
                <a:latin typeface="Arial" panose="020B0604020202020204" pitchFamily="34" charset="0"/>
                <a:cs typeface="Arial" panose="020B0604020202020204" pitchFamily="34" charset="0"/>
              </a:rPr>
              <a:t>BENDIGA!!!</a:t>
            </a:r>
            <a:endParaRPr lang="es-PE" sz="3600" b="1" dirty="0">
              <a:latin typeface="Arial" panose="020B0604020202020204" pitchFamily="34" charset="0"/>
              <a:cs typeface="Arial" panose="020B0604020202020204" pitchFamily="34" charset="0"/>
            </a:endParaRPr>
          </a:p>
        </p:txBody>
      </p:sp>
      <p:pic>
        <p:nvPicPr>
          <p:cNvPr id="12" name="object 3">
            <a:extLst>
              <a:ext uri="{FF2B5EF4-FFF2-40B4-BE49-F238E27FC236}">
                <a16:creationId xmlns:a16="http://schemas.microsoft.com/office/drawing/2014/main" id="{3D95F103-6F5F-4016-A9CD-2446F09D3020}"/>
              </a:ext>
            </a:extLst>
          </p:cNvPr>
          <p:cNvPicPr/>
          <p:nvPr/>
        </p:nvPicPr>
        <p:blipFill>
          <a:blip r:embed="rId3" cstate="print"/>
          <a:stretch>
            <a:fillRect/>
          </a:stretch>
        </p:blipFill>
        <p:spPr>
          <a:xfrm>
            <a:off x="7467600" y="1216152"/>
            <a:ext cx="3056381" cy="4425696"/>
          </a:xfrm>
          <a:prstGeom prst="rect">
            <a:avLst/>
          </a:prstGeom>
        </p:spPr>
      </p:pic>
    </p:spTree>
    <p:extLst>
      <p:ext uri="{BB962C8B-B14F-4D97-AF65-F5344CB8AC3E}">
        <p14:creationId xmlns:p14="http://schemas.microsoft.com/office/powerpoint/2010/main" val="21905828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upo 2">
            <a:extLst>
              <a:ext uri="{FF2B5EF4-FFF2-40B4-BE49-F238E27FC236}">
                <a16:creationId xmlns:a16="http://schemas.microsoft.com/office/drawing/2014/main" id="{191E5126-E36B-4AD7-8091-51DA2789C594}"/>
              </a:ext>
            </a:extLst>
          </p:cNvPr>
          <p:cNvGrpSpPr/>
          <p:nvPr/>
        </p:nvGrpSpPr>
        <p:grpSpPr>
          <a:xfrm>
            <a:off x="2057400" y="152400"/>
            <a:ext cx="9906000" cy="4152900"/>
            <a:chOff x="2057400" y="152400"/>
            <a:chExt cx="9906000" cy="4152900"/>
          </a:xfrm>
        </p:grpSpPr>
        <p:pic>
          <p:nvPicPr>
            <p:cNvPr id="4" name="object 4">
              <a:extLst>
                <a:ext uri="{FF2B5EF4-FFF2-40B4-BE49-F238E27FC236}">
                  <a16:creationId xmlns:a16="http://schemas.microsoft.com/office/drawing/2014/main" id="{A185A945-435F-4D6F-A7D2-DE90E0F72053}"/>
                </a:ext>
              </a:extLst>
            </p:cNvPr>
            <p:cNvPicPr/>
            <p:nvPr/>
          </p:nvPicPr>
          <p:blipFill>
            <a:blip r:embed="rId2" cstate="print"/>
            <a:stretch>
              <a:fillRect/>
            </a:stretch>
          </p:blipFill>
          <p:spPr>
            <a:xfrm>
              <a:off x="2057400" y="2552700"/>
              <a:ext cx="7856700" cy="1752600"/>
            </a:xfrm>
            <a:prstGeom prst="rect">
              <a:avLst/>
            </a:prstGeom>
          </p:spPr>
        </p:pic>
        <p:sp>
          <p:nvSpPr>
            <p:cNvPr id="5" name="Rectángulo 4">
              <a:extLst>
                <a:ext uri="{FF2B5EF4-FFF2-40B4-BE49-F238E27FC236}">
                  <a16:creationId xmlns:a16="http://schemas.microsoft.com/office/drawing/2014/main" id="{9E930664-20E1-44C4-BD93-6761C99A64C5}"/>
                </a:ext>
              </a:extLst>
            </p:cNvPr>
            <p:cNvSpPr/>
            <p:nvPr/>
          </p:nvSpPr>
          <p:spPr>
            <a:xfrm>
              <a:off x="9144000" y="152400"/>
              <a:ext cx="2819400" cy="762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576</TotalTime>
  <Words>1001</Words>
  <Application>Microsoft Office PowerPoint</Application>
  <PresentationFormat>Panorámica</PresentationFormat>
  <Paragraphs>72</Paragraphs>
  <Slides>24</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24</vt:i4>
      </vt:variant>
    </vt:vector>
  </HeadingPairs>
  <TitlesOfParts>
    <vt:vector size="31" baseType="lpstr">
      <vt:lpstr>Arial</vt:lpstr>
      <vt:lpstr>Arial MT</vt:lpstr>
      <vt:lpstr>Calibri</vt:lpstr>
      <vt:lpstr>Calibri Light</vt:lpstr>
      <vt:lpstr>CentSchbkCyrill BT</vt:lpstr>
      <vt:lpstr>Rubik</vt:lpstr>
      <vt:lpstr>Office Theme</vt:lpstr>
      <vt:lpstr>CURSO: BASE DE DATOS II</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Caso práctico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VPC Networking</dc:title>
  <dc:creator>Julia</dc:creator>
  <cp:lastModifiedBy>Ronald Ayra Pinto</cp:lastModifiedBy>
  <cp:revision>53</cp:revision>
  <dcterms:created xsi:type="dcterms:W3CDTF">2024-06-11T03:36:57Z</dcterms:created>
  <dcterms:modified xsi:type="dcterms:W3CDTF">2025-03-13T19:00:50Z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2020-06-18T00:00:00Z</vt:filetime>
  </property>
  <property fmtid="{D5CDD505-2E9C-101B-9397-08002B2CF9AE}" pid="3" name="Creator">
    <vt:lpwstr>Microsoft® PowerPoint® para Office 365</vt:lpwstr>
  </property>
  <property fmtid="{D5CDD505-2E9C-101B-9397-08002B2CF9AE}" pid="4" name="LastSaved">
    <vt:filetime>2024-06-11T00:00:00Z</vt:filetime>
  </property>
</Properties>
</file>