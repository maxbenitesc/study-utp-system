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Economica"/>
      <p:regular r:id="rId25"/>
      <p:bold r:id="rId26"/>
      <p:italic r:id="rId27"/>
      <p:boldItalic r:id="rId28"/>
    </p:embeddedFont>
    <p:embeddedFont>
      <p:font typeface="Playfair Display"/>
      <p:regular r:id="rId29"/>
      <p:bold r:id="rId30"/>
      <p:italic r:id="rId31"/>
      <p:boldItalic r:id="rId32"/>
    </p:embeddedFont>
    <p:embeddedFont>
      <p:font typeface="Roboto Mono"/>
      <p:regular r:id="rId33"/>
      <p:bold r:id="rId34"/>
      <p:italic r:id="rId35"/>
      <p:boldItalic r:id="rId36"/>
    </p:embeddedFont>
    <p:embeddedFont>
      <p:font typeface="Open Sans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Economica-bold.fntdata"/><Relationship Id="rId25" Type="http://schemas.openxmlformats.org/officeDocument/2006/relationships/font" Target="fonts/Economica-regular.fntdata"/><Relationship Id="rId28" Type="http://schemas.openxmlformats.org/officeDocument/2006/relationships/font" Target="fonts/Economica-boldItalic.fntdata"/><Relationship Id="rId27" Type="http://schemas.openxmlformats.org/officeDocument/2006/relationships/font" Target="fonts/Economic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ayfairDisplay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ayfairDisplay-italic.fntdata"/><Relationship Id="rId30" Type="http://schemas.openxmlformats.org/officeDocument/2006/relationships/font" Target="fonts/PlayfairDisplay-bold.fntdata"/><Relationship Id="rId11" Type="http://schemas.openxmlformats.org/officeDocument/2006/relationships/slide" Target="slides/slide6.xml"/><Relationship Id="rId33" Type="http://schemas.openxmlformats.org/officeDocument/2006/relationships/font" Target="fonts/RobotoMono-regular.fntdata"/><Relationship Id="rId10" Type="http://schemas.openxmlformats.org/officeDocument/2006/relationships/slide" Target="slides/slide5.xml"/><Relationship Id="rId32" Type="http://schemas.openxmlformats.org/officeDocument/2006/relationships/font" Target="fonts/PlayfairDisplay-boldItalic.fntdata"/><Relationship Id="rId13" Type="http://schemas.openxmlformats.org/officeDocument/2006/relationships/slide" Target="slides/slide8.xml"/><Relationship Id="rId35" Type="http://schemas.openxmlformats.org/officeDocument/2006/relationships/font" Target="fonts/RobotoMono-italic.fntdata"/><Relationship Id="rId12" Type="http://schemas.openxmlformats.org/officeDocument/2006/relationships/slide" Target="slides/slide7.xml"/><Relationship Id="rId34" Type="http://schemas.openxmlformats.org/officeDocument/2006/relationships/font" Target="fonts/RobotoMono-bold.fntdata"/><Relationship Id="rId15" Type="http://schemas.openxmlformats.org/officeDocument/2006/relationships/slide" Target="slides/slide10.xml"/><Relationship Id="rId37" Type="http://schemas.openxmlformats.org/officeDocument/2006/relationships/font" Target="fonts/OpenSans-regular.fntdata"/><Relationship Id="rId14" Type="http://schemas.openxmlformats.org/officeDocument/2006/relationships/slide" Target="slides/slide9.xml"/><Relationship Id="rId36" Type="http://schemas.openxmlformats.org/officeDocument/2006/relationships/font" Target="fonts/RobotoMono-boldItalic.fntdata"/><Relationship Id="rId17" Type="http://schemas.openxmlformats.org/officeDocument/2006/relationships/slide" Target="slides/slide12.xml"/><Relationship Id="rId39" Type="http://schemas.openxmlformats.org/officeDocument/2006/relationships/font" Target="fonts/OpenSans-italic.fntdata"/><Relationship Id="rId16" Type="http://schemas.openxmlformats.org/officeDocument/2006/relationships/slide" Target="slides/slide11.xml"/><Relationship Id="rId38" Type="http://schemas.openxmlformats.org/officeDocument/2006/relationships/font" Target="fonts/OpenSans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8697499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3e8697499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86974998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e86974998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86974998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e86974998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86974998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3e86974998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86974998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e86974998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86974998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e86974998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86974998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e86974998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86974998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e86974998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869749987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e86974998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86974998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e86974998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869749987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86974998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869749987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869749987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869749987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869749987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869749987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869749987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869749987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e869749987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869749987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e869749987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869749987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e869749987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869749987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3e869749987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869749987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e869749987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C31046@utp.edu.pe" TargetMode="External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rive.google.com/file/d/1XB66S77NltJ-mHiKdbvuAAsOH7v0DnmY/view?usp=sharing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rive.google.com/file/d/1aTr-OE_cDt-1dLCrFKiHgSX6Kq6tk80F/view?usp=sharing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mailto:C31046@utp.edu.pe" TargetMode="Externa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2841725" y="864625"/>
            <a:ext cx="3448200" cy="21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s-419" sz="5020"/>
              <a:t>TALLER DE PROGRAMACIÓN WEB</a:t>
            </a:r>
            <a:endParaRPr sz="5020"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2964199"/>
            <a:ext cx="30546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s-419" sz="2300"/>
              <a:t>M.Sc. Jesamin Zevallos Quispe</a:t>
            </a:r>
            <a:endParaRPr sz="23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s-419" sz="1575" u="sng">
                <a:solidFill>
                  <a:srgbClr val="3D85C6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c29741@utp.edu.pe</a:t>
            </a:r>
            <a:endParaRPr sz="1575">
              <a:solidFill>
                <a:srgbClr val="3D85C6"/>
              </a:solidFill>
            </a:endParaRPr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25587" y="3598150"/>
            <a:ext cx="2692823" cy="825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Dudas de la clase anterior</a:t>
            </a:r>
            <a:endParaRPr/>
          </a:p>
        </p:txBody>
      </p:sp>
      <p:pic>
        <p:nvPicPr>
          <p:cNvPr id="70" name="Google Shape;7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2287" y="2844874"/>
            <a:ext cx="3939425" cy="229862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/>
          <p:nvPr/>
        </p:nvSpPr>
        <p:spPr>
          <a:xfrm flipH="1">
            <a:off x="874000" y="2078700"/>
            <a:ext cx="2302800" cy="11223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Diseño responsivo</a:t>
            </a:r>
            <a:endParaRPr b="0" i="0" sz="1400" u="none" cap="none" strike="noStrik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2" name="Google Shape;72;p14"/>
          <p:cNvSpPr/>
          <p:nvPr/>
        </p:nvSpPr>
        <p:spPr>
          <a:xfrm flipH="1">
            <a:off x="3420588" y="1180575"/>
            <a:ext cx="2302800" cy="1122300"/>
          </a:xfrm>
          <a:prstGeom prst="wedgeEllipseCallout">
            <a:avLst>
              <a:gd fmla="val -1117" name="adj1"/>
              <a:gd fmla="val 72798" name="adj2"/>
            </a:avLst>
          </a:prstGeom>
          <a:noFill/>
          <a:ln cap="flat" cmpd="sng" w="381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Flex y Grid</a:t>
            </a:r>
            <a:endParaRPr b="0" i="0" sz="1400" u="none" cap="none" strike="noStrik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6070225" y="2078700"/>
            <a:ext cx="2302800" cy="11223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APF 2</a:t>
            </a:r>
            <a:endParaRPr b="0" i="0" sz="1400" u="none" cap="none" strike="noStrik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</a:pPr>
            <a:r>
              <a:rPr b="1" lang="es-419" sz="5000"/>
              <a:t>Introducción a JavaScript</a:t>
            </a:r>
            <a:endParaRPr b="1" sz="5000"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-419"/>
              <a:t>Semana 11 - Sesión 11</a:t>
            </a:r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2464" y="3893167"/>
            <a:ext cx="2479073" cy="76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299" y="1236399"/>
            <a:ext cx="3044949" cy="1535875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Conocimientos previos</a:t>
            </a:r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1952" y="2861450"/>
            <a:ext cx="1957251" cy="1957251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8" name="Google Shape;88;p16"/>
          <p:cNvPicPr preferRelativeResize="0"/>
          <p:nvPr/>
        </p:nvPicPr>
        <p:blipFill rotWithShape="1">
          <a:blip r:embed="rId5">
            <a:alphaModFix/>
          </a:blip>
          <a:srcRect b="0" l="15086" r="14714" t="14266"/>
          <a:stretch/>
        </p:blipFill>
        <p:spPr>
          <a:xfrm>
            <a:off x="5291500" y="1502375"/>
            <a:ext cx="3182776" cy="2035175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Logro de aprendizaje</a:t>
            </a:r>
            <a:endParaRPr/>
          </a:p>
        </p:txBody>
      </p:sp>
      <p:pic>
        <p:nvPicPr>
          <p:cNvPr id="94" name="Google Shape;94;p17" title="134481101-aprendizaje-en-línea-sombrero-de-graduación-libro-educación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3525" y="1513525"/>
            <a:ext cx="2492000" cy="249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481250" y="1687925"/>
            <a:ext cx="5061900" cy="21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s-419"/>
              <a:t>Al finalizar la sesión, el estudiante:</a:t>
            </a:r>
            <a:endParaRPr/>
          </a:p>
          <a:p>
            <a:pPr indent="-334328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Comprende los </a:t>
            </a:r>
            <a:r>
              <a:rPr b="1" lang="es-419"/>
              <a:t>fundamentos</a:t>
            </a:r>
            <a:r>
              <a:rPr lang="es-419"/>
              <a:t> de JavaScript, identifica la diferencia entre </a:t>
            </a:r>
            <a:r>
              <a:rPr b="1" lang="es-419"/>
              <a:t>variables</a:t>
            </a:r>
            <a:r>
              <a:rPr lang="es-419"/>
              <a:t> y </a:t>
            </a:r>
            <a:r>
              <a:rPr b="1" lang="es-419"/>
              <a:t>constantes</a:t>
            </a:r>
            <a:r>
              <a:rPr lang="es-419"/>
              <a:t>, y es capaz de integrarlo con </a:t>
            </a:r>
            <a:r>
              <a:rPr b="1" lang="es-419"/>
              <a:t>HTML</a:t>
            </a:r>
            <a:r>
              <a:rPr lang="es-419"/>
              <a:t> para realizar interacciones básicas. Además, ejecuta y prueba código usando la consola del navegador.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464100" y="1873825"/>
            <a:ext cx="4501800" cy="18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-419" sz="1400"/>
              <a:t>Validar</a:t>
            </a:r>
            <a:r>
              <a:rPr lang="es-419" sz="1400"/>
              <a:t> formularios sin recargar la página.</a:t>
            </a:r>
            <a:endParaRPr sz="1400"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-419" sz="1400"/>
              <a:t>Mostrar</a:t>
            </a:r>
            <a:r>
              <a:rPr lang="es-419" sz="1400"/>
              <a:t> mensajes personalizados.</a:t>
            </a:r>
            <a:endParaRPr sz="1400"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-419" sz="1400"/>
              <a:t>Capturar</a:t>
            </a:r>
            <a:r>
              <a:rPr lang="es-419" sz="1400"/>
              <a:t> eventos del usuario (clics, cambios, teclas).</a:t>
            </a:r>
            <a:endParaRPr sz="1400"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-419" sz="1400"/>
              <a:t>Realizar</a:t>
            </a:r>
            <a:r>
              <a:rPr lang="es-419" sz="1400"/>
              <a:t> pruebas y depuración rápida en el navegador.</a:t>
            </a:r>
            <a:endParaRPr sz="1400"/>
          </a:p>
        </p:txBody>
      </p:sp>
      <p:sp>
        <p:nvSpPr>
          <p:cNvPr id="101" name="Google Shape;101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Utilidad</a:t>
            </a:r>
            <a:endParaRPr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464100" y="1452025"/>
            <a:ext cx="51939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-419" sz="1400"/>
              <a:t>En la vida real, se usa para:</a:t>
            </a:r>
            <a:endParaRPr sz="1400"/>
          </a:p>
        </p:txBody>
      </p:sp>
      <p:pic>
        <p:nvPicPr>
          <p:cNvPr id="103" name="Google Shape;10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3000" y="1674738"/>
            <a:ext cx="2265401" cy="219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834300" y="4016200"/>
            <a:ext cx="7475400" cy="735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-419" sz="1400"/>
              <a:t>Aprender JavaScript permite dotar de </a:t>
            </a:r>
            <a:r>
              <a:rPr b="1" lang="es-419" sz="1400"/>
              <a:t>dinamismo</a:t>
            </a:r>
            <a:r>
              <a:rPr lang="es-419" sz="1400"/>
              <a:t> e </a:t>
            </a:r>
            <a:r>
              <a:rPr b="1" lang="es-419" sz="1400"/>
              <a:t>interactividad</a:t>
            </a:r>
            <a:r>
              <a:rPr lang="es-419" sz="1400"/>
              <a:t> a las páginas web.</a:t>
            </a:r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Contenido</a:t>
            </a:r>
            <a:endParaRPr/>
          </a:p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Introducción a Javascript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Variables y constantes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Eventos con HTML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Práctica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¿Qué es JavaScript?</a:t>
            </a:r>
            <a:endParaRPr/>
          </a:p>
        </p:txBody>
      </p:sp>
      <p:sp>
        <p:nvSpPr>
          <p:cNvPr id="116" name="Google Shape;116;p20"/>
          <p:cNvSpPr txBox="1"/>
          <p:nvPr>
            <p:ph idx="4294967295" type="body"/>
          </p:nvPr>
        </p:nvSpPr>
        <p:spPr>
          <a:xfrm>
            <a:off x="311700" y="1210825"/>
            <a:ext cx="5468400" cy="31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419" sz="1600"/>
              <a:t>JavaScript es un lenguaje de programación que se utiliza principalmente para aportar dinamismo a sitios y aplicaciones web. Técnicamente, JavaScript es un lenguaje de programación interpretado por lo que el código escrito con JavaScript se puede probar directamente en cualquier navegador sin necesidad de procesos intermedios. </a:t>
            </a:r>
            <a:endParaRPr sz="16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s-419" sz="1600"/>
              <a:t>JavaScript funciona en complemento con los lenguajes web HTML Y CSS3.</a:t>
            </a:r>
            <a:endParaRPr sz="1600"/>
          </a:p>
        </p:txBody>
      </p:sp>
      <p:pic>
        <p:nvPicPr>
          <p:cNvPr id="117" name="Google Shape;11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98800" y="1444388"/>
            <a:ext cx="2726376" cy="2726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1583400" y="2156100"/>
            <a:ext cx="5977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 u="sng">
                <a:solidFill>
                  <a:schemeClr val="hlink"/>
                </a:solidFill>
                <a:hlinkClick r:id="rId3"/>
              </a:rPr>
              <a:t>Introduction to JavaScript - 1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1583400" y="2156100"/>
            <a:ext cx="5977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 u="sng">
                <a:solidFill>
                  <a:schemeClr val="hlink"/>
                </a:solidFill>
                <a:hlinkClick r:id="rId3"/>
              </a:rPr>
              <a:t>Introduction to JavaScript - 2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Ejemplos</a:t>
            </a:r>
            <a:endParaRPr/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311700" y="1225225"/>
            <a:ext cx="4618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s-419" sz="11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419" sz="1125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es-419" sz="11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25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s-419" sz="11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&lt;</a:t>
            </a:r>
            <a:r>
              <a:rPr lang="es-419" sz="1125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es-419" sz="11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25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s-419" sz="11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es-419" sz="1125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button</a:t>
            </a:r>
            <a:r>
              <a:rPr lang="es-419" sz="11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1125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onclick</a:t>
            </a:r>
            <a:r>
              <a:rPr lang="es-419" sz="11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-419" sz="1125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"saludar()"</a:t>
            </a:r>
            <a:r>
              <a:rPr lang="es-419" sz="11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&gt;Saludar&lt;/</a:t>
            </a:r>
            <a:r>
              <a:rPr lang="es-419" sz="1125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button</a:t>
            </a:r>
            <a:r>
              <a:rPr lang="es-419" sz="11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25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s-419" sz="11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es-419" sz="1125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script</a:t>
            </a:r>
            <a:r>
              <a:rPr lang="es-419" sz="11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25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s-419" sz="11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b="1" lang="es-419" sz="1125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es-419" sz="11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1125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saludar</a:t>
            </a:r>
            <a:r>
              <a:rPr lang="es-419" sz="11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 {</a:t>
            </a:r>
            <a:endParaRPr sz="1125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s-419" sz="11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s-419" sz="1125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alert</a:t>
            </a:r>
            <a:r>
              <a:rPr lang="es-419" sz="11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419" sz="1125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"Bienvenido al curso de JavaScript"</a:t>
            </a:r>
            <a:r>
              <a:rPr lang="es-419" sz="11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125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s-419" sz="11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}</a:t>
            </a:r>
            <a:endParaRPr sz="1125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s-419" sz="11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lang="es-419" sz="1125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script</a:t>
            </a:r>
            <a:r>
              <a:rPr lang="es-419" sz="11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25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s-419" sz="11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&lt;/</a:t>
            </a:r>
            <a:r>
              <a:rPr lang="es-419" sz="1125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es-419" sz="11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25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rPr lang="es-419" sz="11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es-419" sz="1125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es-419" sz="112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25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34" name="Google Shape;13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2013" y="1542250"/>
            <a:ext cx="17145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5575" y="2930824"/>
            <a:ext cx="3567374" cy="135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3"/>
          <p:cNvSpPr/>
          <p:nvPr/>
        </p:nvSpPr>
        <p:spPr>
          <a:xfrm>
            <a:off x="6657450" y="2287500"/>
            <a:ext cx="475500" cy="568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Ejemplos</a:t>
            </a:r>
            <a:endParaRPr/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311700" y="1225225"/>
            <a:ext cx="4618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419" sz="9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&lt;</a:t>
            </a:r>
            <a:r>
              <a:rPr lang="es-419" sz="9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&lt;</a:t>
            </a:r>
            <a:r>
              <a:rPr lang="es-419" sz="9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button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900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onclick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-419" sz="9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"mostrarDatos()"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&gt;Mostrar Datos&lt;/</a:t>
            </a:r>
            <a:r>
              <a:rPr lang="es-419" sz="9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button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&lt;</a:t>
            </a:r>
            <a:r>
              <a:rPr lang="es-419" sz="9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script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</a:t>
            </a:r>
            <a:r>
              <a:rPr b="1" lang="es-419" sz="9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9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mostrarDatos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 {</a:t>
            </a:r>
            <a:endParaRPr sz="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b="1" lang="es-419" sz="9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9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nombre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-419" sz="9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9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"Juan"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b="1" lang="es-419" sz="9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9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edad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-419" sz="9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9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20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es-419" sz="9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alert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419" sz="9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nombre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-419" sz="9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9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 tiene "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-419" sz="9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9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edad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-419" sz="9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9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 años"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}</a:t>
            </a:r>
            <a:endParaRPr sz="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&lt;/</a:t>
            </a:r>
            <a:r>
              <a:rPr lang="es-419" sz="9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script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&lt;/</a:t>
            </a:r>
            <a:r>
              <a:rPr lang="es-419" sz="9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es-419" sz="9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25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3" name="Google Shape;143;p24"/>
          <p:cNvSpPr/>
          <p:nvPr/>
        </p:nvSpPr>
        <p:spPr>
          <a:xfrm>
            <a:off x="6657450" y="2287500"/>
            <a:ext cx="475500" cy="568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4" name="Google Shape;14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4838" y="1307788"/>
            <a:ext cx="2228850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9275" y="2965700"/>
            <a:ext cx="3931851" cy="135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Ejemplos</a:t>
            </a:r>
            <a:endParaRPr/>
          </a:p>
        </p:txBody>
      </p:sp>
      <p:sp>
        <p:nvSpPr>
          <p:cNvPr id="151" name="Google Shape;151;p25"/>
          <p:cNvSpPr txBox="1"/>
          <p:nvPr>
            <p:ph idx="1" type="body"/>
          </p:nvPr>
        </p:nvSpPr>
        <p:spPr>
          <a:xfrm>
            <a:off x="311700" y="1225225"/>
            <a:ext cx="4618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419" sz="9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&lt;</a:t>
            </a:r>
            <a:r>
              <a:rPr lang="es-419" sz="9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es-419" sz="9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input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900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-419" sz="9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"text"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900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-419" sz="9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"nombre"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/&gt;</a:t>
            </a:r>
            <a:endParaRPr sz="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es-419" sz="9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button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900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onclick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-419" sz="9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"mostrarNombre()"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&gt;Mostrar&lt;/</a:t>
            </a:r>
            <a:r>
              <a:rPr lang="es-419" sz="9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button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es-419" sz="9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script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b="1" lang="es-419" sz="9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9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mostrarNombre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 {</a:t>
            </a:r>
            <a:endParaRPr sz="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s-419" sz="9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9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nombre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-419" sz="9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9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document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-419" sz="9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getElementById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419" sz="9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"nombre"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).</a:t>
            </a:r>
            <a:r>
              <a:rPr lang="es-419" sz="9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value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s-419" sz="9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alert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419" sz="9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nombre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}</a:t>
            </a:r>
            <a:endParaRPr sz="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lang="es-419" sz="9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script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&lt;/</a:t>
            </a:r>
            <a:r>
              <a:rPr lang="es-419" sz="9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es-419" sz="9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2" name="Google Shape;152;p25"/>
          <p:cNvSpPr/>
          <p:nvPr/>
        </p:nvSpPr>
        <p:spPr>
          <a:xfrm>
            <a:off x="6657450" y="2287500"/>
            <a:ext cx="475500" cy="568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3" name="Google Shape;15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7600" y="1468825"/>
            <a:ext cx="3055200" cy="61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3437" y="3055725"/>
            <a:ext cx="3243526" cy="112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Ejemplos</a:t>
            </a:r>
            <a:endParaRPr/>
          </a:p>
        </p:txBody>
      </p:sp>
      <p:sp>
        <p:nvSpPr>
          <p:cNvPr id="160" name="Google Shape;160;p26"/>
          <p:cNvSpPr txBox="1"/>
          <p:nvPr>
            <p:ph idx="1" type="body"/>
          </p:nvPr>
        </p:nvSpPr>
        <p:spPr>
          <a:xfrm>
            <a:off x="311700" y="1225225"/>
            <a:ext cx="4618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419" sz="9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&lt;</a:t>
            </a:r>
            <a:r>
              <a:rPr lang="es-419" sz="9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es-419" sz="9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900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onchange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-419" sz="9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"cambiarColor(this.value)"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&lt;</a:t>
            </a:r>
            <a:r>
              <a:rPr lang="es-419" sz="9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option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&gt;red&lt;/</a:t>
            </a:r>
            <a:r>
              <a:rPr lang="es-419" sz="9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option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&lt;</a:t>
            </a:r>
            <a:r>
              <a:rPr lang="es-419" sz="9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option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&gt;green&lt;/</a:t>
            </a:r>
            <a:r>
              <a:rPr lang="es-419" sz="9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option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&lt;</a:t>
            </a:r>
            <a:r>
              <a:rPr lang="es-419" sz="9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option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&gt;blue&lt;/</a:t>
            </a:r>
            <a:r>
              <a:rPr lang="es-419" sz="9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option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lang="es-419" sz="9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es-419" sz="9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script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b="1" lang="es-419" sz="9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9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cambiarColor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419" sz="9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color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s-419" sz="9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document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-419" sz="9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-419" sz="9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-419" sz="9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backgroundColor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-419" sz="9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9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color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}</a:t>
            </a:r>
            <a:endParaRPr sz="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lang="es-419" sz="9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script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&lt;/</a:t>
            </a:r>
            <a:r>
              <a:rPr lang="es-419" sz="9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es-419" sz="900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es-419" sz="9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9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1" name="Google Shape;161;p26"/>
          <p:cNvSpPr/>
          <p:nvPr/>
        </p:nvSpPr>
        <p:spPr>
          <a:xfrm>
            <a:off x="6259550" y="2258375"/>
            <a:ext cx="475500" cy="568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2" name="Google Shape;162;p26"/>
          <p:cNvPicPr preferRelativeResize="0"/>
          <p:nvPr/>
        </p:nvPicPr>
        <p:blipFill rotWithShape="1">
          <a:blip r:embed="rId3">
            <a:alphaModFix/>
          </a:blip>
          <a:srcRect b="24636" l="0" r="0" t="0"/>
          <a:stretch/>
        </p:blipFill>
        <p:spPr>
          <a:xfrm>
            <a:off x="5811500" y="1426525"/>
            <a:ext cx="1371600" cy="68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1901" y="2930800"/>
            <a:ext cx="3470799" cy="1798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Preguntas</a:t>
            </a:r>
            <a:endParaRPr/>
          </a:p>
        </p:txBody>
      </p:sp>
      <p:pic>
        <p:nvPicPr>
          <p:cNvPr id="169" name="Google Shape;16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6263" y="1147225"/>
            <a:ext cx="3691474" cy="369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311700" y="1225225"/>
            <a:ext cx="8334600" cy="19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s-419"/>
              <a:t>Crear un archivo index.html con los siguientes elementos:</a:t>
            </a:r>
            <a:endParaRPr/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s-419"/>
              <a:t>Un input para nombre.</a:t>
            </a:r>
            <a:endParaRPr/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s-419"/>
              <a:t>Un input para edad.</a:t>
            </a:r>
            <a:endParaRPr/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s-419"/>
              <a:t>Mostrar un alert con el mensaje: “Hola [nombre], tienes [edad] años.”</a:t>
            </a:r>
            <a:endParaRPr/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s-419"/>
              <a:t>Mostrar el mismo mensaje en consola con console.log().</a:t>
            </a:r>
            <a:endParaRPr/>
          </a:p>
        </p:txBody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Práctica</a:t>
            </a:r>
            <a:endParaRPr/>
          </a:p>
        </p:txBody>
      </p:sp>
      <p:pic>
        <p:nvPicPr>
          <p:cNvPr id="176" name="Google Shape;176;p28" title="prompt-nombre.png"/>
          <p:cNvPicPr preferRelativeResize="0"/>
          <p:nvPr/>
        </p:nvPicPr>
        <p:blipFill rotWithShape="1">
          <a:blip r:embed="rId3">
            <a:alphaModFix/>
          </a:blip>
          <a:srcRect b="44333" l="24456" r="18161" t="0"/>
          <a:stretch/>
        </p:blipFill>
        <p:spPr>
          <a:xfrm>
            <a:off x="1899250" y="2884900"/>
            <a:ext cx="5246974" cy="137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Resumen de la sesión</a:t>
            </a:r>
            <a:endParaRPr/>
          </a:p>
        </p:txBody>
      </p:sp>
      <p:sp>
        <p:nvSpPr>
          <p:cNvPr id="182" name="Google Shape;182;p29"/>
          <p:cNvSpPr txBox="1"/>
          <p:nvPr/>
        </p:nvSpPr>
        <p:spPr>
          <a:xfrm>
            <a:off x="657750" y="1478625"/>
            <a:ext cx="37137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419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¿Qué hemos aprendido hoy?</a:t>
            </a:r>
            <a:endParaRPr b="1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3" name="Google Shape;183;p29"/>
          <p:cNvSpPr txBox="1"/>
          <p:nvPr/>
        </p:nvSpPr>
        <p:spPr>
          <a:xfrm>
            <a:off x="1364700" y="1921950"/>
            <a:ext cx="22998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419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Javascript</a:t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4" name="Google Shape;184;p29"/>
          <p:cNvSpPr txBox="1"/>
          <p:nvPr/>
        </p:nvSpPr>
        <p:spPr>
          <a:xfrm>
            <a:off x="3993625" y="2531825"/>
            <a:ext cx="41250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419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¿Para qué sirve Javascript?</a:t>
            </a:r>
            <a:endParaRPr b="1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¡Gracias!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 txBox="1"/>
          <p:nvPr>
            <p:ph type="ctrTitle"/>
          </p:nvPr>
        </p:nvSpPr>
        <p:spPr>
          <a:xfrm>
            <a:off x="2841725" y="864625"/>
            <a:ext cx="3448200" cy="21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s-419" sz="5020"/>
              <a:t>TALLER DE PROGRAMACIÓN WEB</a:t>
            </a:r>
            <a:endParaRPr sz="5020"/>
          </a:p>
        </p:txBody>
      </p:sp>
      <p:sp>
        <p:nvSpPr>
          <p:cNvPr id="195" name="Google Shape;195;p31"/>
          <p:cNvSpPr txBox="1"/>
          <p:nvPr>
            <p:ph idx="1" type="subTitle"/>
          </p:nvPr>
        </p:nvSpPr>
        <p:spPr>
          <a:xfrm>
            <a:off x="3044700" y="2964199"/>
            <a:ext cx="30546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s-419" sz="2300"/>
              <a:t>M.Sc. Jesamin Zevallos Quispe</a:t>
            </a:r>
            <a:endParaRPr sz="23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s-419" sz="1575" u="sng">
                <a:solidFill>
                  <a:srgbClr val="3D85C6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c29741@utp.edu.pe</a:t>
            </a:r>
            <a:endParaRPr sz="1575">
              <a:solidFill>
                <a:srgbClr val="3D85C6"/>
              </a:solidFill>
            </a:endParaRPr>
          </a:p>
        </p:txBody>
      </p:sp>
      <p:pic>
        <p:nvPicPr>
          <p:cNvPr id="196" name="Google Shape;19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25587" y="3598150"/>
            <a:ext cx="2692823" cy="825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