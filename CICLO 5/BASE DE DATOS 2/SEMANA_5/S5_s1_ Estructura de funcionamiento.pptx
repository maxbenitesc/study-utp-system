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12192000" cy="6858000"/>
  <p:embeddedFontLst>
    <p:embeddedFont>
      <p:font typeface="Roboto"/>
      <p:regular r:id="rId46"/>
      <p:bold r:id="rId47"/>
      <p:italic r:id="rId48"/>
      <p:boldItalic r:id="rId49"/>
    </p:embeddedFont>
    <p:embeddedFont>
      <p:font typeface="Lato"/>
      <p:regular r:id="rId50"/>
      <p:bold r:id="rId51"/>
      <p:italic r:id="rId52"/>
      <p:boldItalic r:id="rId53"/>
    </p:embeddedFont>
    <p:embeddedFont>
      <p:font typeface="Pathway Extreme"/>
      <p:regular r:id="rId54"/>
      <p:bold r:id="rId55"/>
      <p:italic r:id="rId56"/>
      <p:boldItalic r:id="rId57"/>
    </p:embeddedFont>
    <p:embeddedFont>
      <p:font typeface="Rubik"/>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2" roundtripDataSignature="AMtx7mi/dEDC7GcxJbc4HQX/QDjcYPkR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customschemas.google.com/relationships/presentationmetadata" Target="metadata"/><Relationship Id="rId61" Type="http://schemas.openxmlformats.org/officeDocument/2006/relationships/font" Target="fonts/Rubik-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ubik-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 Target="slides/slide6.xml"/><Relationship Id="rId55" Type="http://schemas.openxmlformats.org/officeDocument/2006/relationships/font" Target="fonts/PathwayExtreme-bold.fntdata"/><Relationship Id="rId10" Type="http://schemas.openxmlformats.org/officeDocument/2006/relationships/slide" Target="slides/slide5.xml"/><Relationship Id="rId54" Type="http://schemas.openxmlformats.org/officeDocument/2006/relationships/font" Target="fonts/PathwayExtreme-regular.fntdata"/><Relationship Id="rId13" Type="http://schemas.openxmlformats.org/officeDocument/2006/relationships/slide" Target="slides/slide8.xml"/><Relationship Id="rId57" Type="http://schemas.openxmlformats.org/officeDocument/2006/relationships/font" Target="fonts/PathwayExtreme-boldItalic.fntdata"/><Relationship Id="rId12" Type="http://schemas.openxmlformats.org/officeDocument/2006/relationships/slide" Target="slides/slide7.xml"/><Relationship Id="rId56" Type="http://schemas.openxmlformats.org/officeDocument/2006/relationships/font" Target="fonts/PathwayExtreme-italic.fntdata"/><Relationship Id="rId15" Type="http://schemas.openxmlformats.org/officeDocument/2006/relationships/slide" Target="slides/slide10.xml"/><Relationship Id="rId59" Type="http://schemas.openxmlformats.org/officeDocument/2006/relationships/font" Target="fonts/Rubik-bold.fntdata"/><Relationship Id="rId14" Type="http://schemas.openxmlformats.org/officeDocument/2006/relationships/slide" Target="slides/slide9.xml"/><Relationship Id="rId58" Type="http://schemas.openxmlformats.org/officeDocument/2006/relationships/font" Target="fonts/Rubik-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2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2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2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2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2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2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2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3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3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3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3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3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4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42"/>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2"/>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 name="Google Shape;18;p4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 name="Shape 21"/>
        <p:cNvGrpSpPr/>
        <p:nvPr/>
      </p:nvGrpSpPr>
      <p:grpSpPr>
        <a:xfrm>
          <a:off x="0" y="0"/>
          <a:ext cx="0" cy="0"/>
          <a:chOff x="0" y="0"/>
          <a:chExt cx="0" cy="0"/>
        </a:xfrm>
      </p:grpSpPr>
      <p:sp>
        <p:nvSpPr>
          <p:cNvPr id="22" name="Google Shape;22;p43"/>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3"/>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4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45"/>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5"/>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45"/>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4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46"/>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4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1"/>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4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youtube.com/watch?v=1NQiEnJXntA"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hyperlink" Target="https://www.youtube.com/watch?v=6S8A-1jBD5Y" TargetMode="External"/><Relationship Id="rId5" Type="http://schemas.openxmlformats.org/officeDocument/2006/relationships/hyperlink" Target="https://www.youtube.com/watch?v=GulrHlRoT0g" TargetMode="External"/><Relationship Id="rId6" Type="http://schemas.openxmlformats.org/officeDocument/2006/relationships/image" Target="../media/image2.jpg"/><Relationship Id="rId7" Type="http://schemas.openxmlformats.org/officeDocument/2006/relationships/image" Target="../media/image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slide" Target="/ppt/slides/slide28.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1.png"/><Relationship Id="rId4" Type="http://schemas.openxmlformats.org/officeDocument/2006/relationships/hyperlink" Target="https://www.youtube.com/watch?v=_ePJqeQ-eWg&amp;list=PLgqdACsQ8US0fk-0trmKjJB8fMCKPJ1ai"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1.png"/><Relationship Id="rId4" Type="http://schemas.openxmlformats.org/officeDocument/2006/relationships/image" Target="../media/image2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pic>
        <p:nvPicPr>
          <p:cNvPr descr="Carteles de normas de clase para imprimir" id="47" name="Google Shape;47;p1"/>
          <p:cNvPicPr preferRelativeResize="0"/>
          <p:nvPr/>
        </p:nvPicPr>
        <p:blipFill rotWithShape="1">
          <a:blip r:embed="rId3">
            <a:alphaModFix/>
          </a:blip>
          <a:srcRect b="15416" l="10056" r="9222" t="6806"/>
          <a:stretch/>
        </p:blipFill>
        <p:spPr>
          <a:xfrm>
            <a:off x="2400300" y="990600"/>
            <a:ext cx="7391400" cy="533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2"/>
          <p:cNvSpPr txBox="1"/>
          <p:nvPr>
            <p:ph type="ctrTitle"/>
          </p:nvPr>
        </p:nvSpPr>
        <p:spPr>
          <a:xfrm>
            <a:off x="900112" y="1838144"/>
            <a:ext cx="10363199" cy="905056"/>
          </a:xfrm>
          <a:prstGeom prst="rect">
            <a:avLst/>
          </a:prstGeom>
          <a:noFill/>
          <a:ln>
            <a:noFill/>
          </a:ln>
        </p:spPr>
        <p:txBody>
          <a:bodyPr anchorCtr="0" anchor="t" bIns="0" lIns="0" spcFirstLastPara="1" rIns="0" wrap="square" tIns="116200">
            <a:spAutoFit/>
          </a:bodyPr>
          <a:lstStyle/>
          <a:p>
            <a:pPr indent="-3253104" lvl="0" marL="3268979" marR="5080" rtl="0" algn="ctr">
              <a:lnSpc>
                <a:spcPct val="135000"/>
              </a:lnSpc>
              <a:spcBef>
                <a:spcPts val="0"/>
              </a:spcBef>
              <a:spcAft>
                <a:spcPts val="0"/>
              </a:spcAft>
              <a:buNone/>
            </a:pPr>
            <a:r>
              <a:rPr lang="es-ES" sz="4800">
                <a:latin typeface="Arial"/>
                <a:ea typeface="Arial"/>
                <a:cs typeface="Arial"/>
                <a:sym typeface="Arial"/>
              </a:rPr>
              <a:t>CURSO: BASE DE DATOS II</a:t>
            </a:r>
            <a:endParaRPr sz="4800">
              <a:latin typeface="Arial"/>
              <a:ea typeface="Arial"/>
              <a:cs typeface="Arial"/>
              <a:sym typeface="Arial"/>
            </a:endParaRPr>
          </a:p>
        </p:txBody>
      </p:sp>
      <p:sp>
        <p:nvSpPr>
          <p:cNvPr id="53" name="Google Shape;53;p2"/>
          <p:cNvSpPr txBox="1"/>
          <p:nvPr/>
        </p:nvSpPr>
        <p:spPr>
          <a:xfrm>
            <a:off x="2767012" y="1644495"/>
            <a:ext cx="6629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u="none" cap="none" strike="noStrike">
                <a:solidFill>
                  <a:srgbClr val="D1052D"/>
                </a:solidFill>
                <a:latin typeface="Calibri"/>
                <a:ea typeface="Calibri"/>
                <a:cs typeface="Calibri"/>
                <a:sym typeface="Calibri"/>
              </a:rPr>
              <a:t>PRIMERA UNIDAD DE APRENDIZAJE 1: </a:t>
            </a:r>
            <a:r>
              <a:rPr b="0" i="0" lang="es-ES" sz="1800" u="none" cap="none" strike="noStrike">
                <a:solidFill>
                  <a:schemeClr val="dk1"/>
                </a:solidFill>
                <a:latin typeface="Calibri"/>
                <a:ea typeface="Calibri"/>
                <a:cs typeface="Calibri"/>
                <a:sym typeface="Calibri"/>
              </a:rPr>
              <a:t>Bases de Datos Relacionales</a:t>
            </a:r>
            <a:endParaRPr b="0" i="0" sz="1800" u="none" cap="none" strike="noStrike">
              <a:solidFill>
                <a:schemeClr val="dk1"/>
              </a:solidFill>
              <a:latin typeface="Calibri"/>
              <a:ea typeface="Calibri"/>
              <a:cs typeface="Calibri"/>
              <a:sym typeface="Calibri"/>
            </a:endParaRPr>
          </a:p>
        </p:txBody>
      </p:sp>
      <p:sp>
        <p:nvSpPr>
          <p:cNvPr id="54" name="Google Shape;54;p2"/>
          <p:cNvSpPr txBox="1"/>
          <p:nvPr/>
        </p:nvSpPr>
        <p:spPr>
          <a:xfrm>
            <a:off x="1966912" y="3271108"/>
            <a:ext cx="8258176" cy="2100575"/>
          </a:xfrm>
          <a:prstGeom prst="rect">
            <a:avLst/>
          </a:prstGeom>
          <a:solidFill>
            <a:srgbClr val="D1052D"/>
          </a:solid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3200" u="none" cap="none" strike="noStrike">
                <a:solidFill>
                  <a:schemeClr val="lt1"/>
                </a:solidFill>
                <a:latin typeface="Arial"/>
                <a:ea typeface="Arial"/>
                <a:cs typeface="Arial"/>
                <a:sym typeface="Arial"/>
              </a:rPr>
              <a:t>SESIÓN N° 5: SEMANAS 9 Y 10</a:t>
            </a:r>
            <a:endParaRPr b="1" i="0" sz="3200" u="none" cap="none" strike="noStrike">
              <a:solidFill>
                <a:schemeClr val="lt1"/>
              </a:solidFill>
              <a:latin typeface="Arial"/>
              <a:ea typeface="Arial"/>
              <a:cs typeface="Arial"/>
              <a:sym typeface="Arial"/>
            </a:endParaRPr>
          </a:p>
          <a:p>
            <a:pPr indent="0" lvl="0" marL="12700" marR="0" rtl="0" algn="l">
              <a:lnSpc>
                <a:spcPct val="100000"/>
              </a:lnSpc>
              <a:spcBef>
                <a:spcPts val="100"/>
              </a:spcBef>
              <a:spcAft>
                <a:spcPts val="0"/>
              </a:spcAft>
              <a:buNone/>
            </a:pPr>
            <a:r>
              <a:rPr b="1" i="0" lang="es-ES" sz="3200" u="none" cap="none" strike="noStrike">
                <a:solidFill>
                  <a:schemeClr val="lt1"/>
                </a:solidFill>
                <a:latin typeface="Calibri"/>
                <a:ea typeface="Calibri"/>
                <a:cs typeface="Calibri"/>
                <a:sym typeface="Calibri"/>
              </a:rPr>
              <a:t>Oracle: </a:t>
            </a:r>
            <a:endParaRPr/>
          </a:p>
          <a:p>
            <a:pPr indent="-457200" lvl="0" marL="469900" marR="0" rtl="0" algn="l">
              <a:lnSpc>
                <a:spcPct val="100000"/>
              </a:lnSpc>
              <a:spcBef>
                <a:spcPts val="100"/>
              </a:spcBef>
              <a:spcAft>
                <a:spcPts val="0"/>
              </a:spcAft>
              <a:buClr>
                <a:schemeClr val="lt1"/>
              </a:buClr>
              <a:buSzPts val="3200"/>
              <a:buFont typeface="Arial"/>
              <a:buChar char="-"/>
            </a:pPr>
            <a:r>
              <a:rPr b="0" i="0" lang="es-ES" sz="3200" u="none" cap="none" strike="noStrike">
                <a:solidFill>
                  <a:schemeClr val="lt1"/>
                </a:solidFill>
                <a:latin typeface="Arial"/>
                <a:ea typeface="Arial"/>
                <a:cs typeface="Arial"/>
                <a:sym typeface="Arial"/>
              </a:rPr>
              <a:t>Estructura de funcionamiento</a:t>
            </a:r>
            <a:endParaRPr/>
          </a:p>
          <a:p>
            <a:pPr indent="-457200" lvl="0" marL="469900" marR="0" rtl="0" algn="l">
              <a:lnSpc>
                <a:spcPct val="100000"/>
              </a:lnSpc>
              <a:spcBef>
                <a:spcPts val="100"/>
              </a:spcBef>
              <a:spcAft>
                <a:spcPts val="0"/>
              </a:spcAft>
              <a:buClr>
                <a:schemeClr val="lt1"/>
              </a:buClr>
              <a:buSzPts val="3200"/>
              <a:buFont typeface="Arial"/>
              <a:buChar char="-"/>
            </a:pPr>
            <a:r>
              <a:rPr b="0" i="0" lang="es-ES" sz="3200" u="none" cap="none" strike="noStrike">
                <a:solidFill>
                  <a:schemeClr val="lt1"/>
                </a:solidFill>
                <a:latin typeface="Arial"/>
                <a:ea typeface="Arial"/>
                <a:cs typeface="Arial"/>
                <a:sym typeface="Arial"/>
              </a:rPr>
              <a:t>Creación de Bases de Datos y Tablas</a:t>
            </a:r>
            <a:endParaRPr/>
          </a:p>
        </p:txBody>
      </p:sp>
      <p:sp>
        <p:nvSpPr>
          <p:cNvPr id="55" name="Google Shape;55;p2"/>
          <p:cNvSpPr txBox="1"/>
          <p:nvPr/>
        </p:nvSpPr>
        <p:spPr>
          <a:xfrm>
            <a:off x="3048000" y="5715000"/>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1800" u="none" cap="none" strike="noStrike">
                <a:solidFill>
                  <a:srgbClr val="D1052D"/>
                </a:solidFill>
                <a:latin typeface="Arial"/>
                <a:ea typeface="Arial"/>
                <a:cs typeface="Arial"/>
                <a:sym typeface="Arial"/>
              </a:rPr>
              <a:t>DOCENTES DE UTP</a:t>
            </a:r>
            <a:endParaRPr/>
          </a:p>
          <a:p>
            <a:pPr indent="0" lvl="0" marL="12700" marR="0" rtl="0" algn="ctr">
              <a:lnSpc>
                <a:spcPct val="100000"/>
              </a:lnSpc>
              <a:spcBef>
                <a:spcPts val="100"/>
              </a:spcBef>
              <a:spcAft>
                <a:spcPts val="0"/>
              </a:spcAft>
              <a:buNone/>
            </a:pPr>
            <a:r>
              <a:rPr b="1" i="0" lang="es-ES" sz="1800" u="none" cap="none" strike="noStrike">
                <a:solidFill>
                  <a:srgbClr val="D1052D"/>
                </a:solidFill>
                <a:latin typeface="Arial"/>
                <a:ea typeface="Arial"/>
                <a:cs typeface="Arial"/>
                <a:sym typeface="Arial"/>
              </a:rPr>
              <a:t>SISTEMAS</a:t>
            </a:r>
            <a:endParaRPr b="0" i="0" sz="1800" u="none" cap="none" strike="noStrike">
              <a:solidFill>
                <a:schemeClr val="dk1"/>
              </a:solidFill>
              <a:latin typeface="Arial"/>
              <a:ea typeface="Arial"/>
              <a:cs typeface="Arial"/>
              <a:sym typeface="Arial"/>
            </a:endParaRPr>
          </a:p>
        </p:txBody>
      </p:sp>
      <p:grpSp>
        <p:nvGrpSpPr>
          <p:cNvPr id="56" name="Google Shape;56;p2"/>
          <p:cNvGrpSpPr/>
          <p:nvPr/>
        </p:nvGrpSpPr>
        <p:grpSpPr>
          <a:xfrm>
            <a:off x="3681788" y="152400"/>
            <a:ext cx="8281612" cy="1295400"/>
            <a:chOff x="3681788" y="152400"/>
            <a:chExt cx="8281612" cy="1295400"/>
          </a:xfrm>
        </p:grpSpPr>
        <p:pic>
          <p:nvPicPr>
            <p:cNvPr id="57" name="Google Shape;57;p2"/>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58" name="Google Shape;58;p2"/>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65" name="Google Shape;65;p3"/>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66" name="Google Shape;66;p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67" name="Google Shape;67;p3"/>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68" name="Google Shape;68;p3"/>
          <p:cNvPicPr preferRelativeResize="0"/>
          <p:nvPr/>
        </p:nvPicPr>
        <p:blipFill rotWithShape="1">
          <a:blip r:embed="rId4">
            <a:alphaModFix/>
          </a:blip>
          <a:srcRect b="0" l="0" r="0" t="0"/>
          <a:stretch/>
        </p:blipFill>
        <p:spPr>
          <a:xfrm>
            <a:off x="9753600" y="6184229"/>
            <a:ext cx="445171" cy="445171"/>
          </a:xfrm>
          <a:prstGeom prst="rect">
            <a:avLst/>
          </a:prstGeom>
          <a:noFill/>
          <a:ln>
            <a:noFill/>
          </a:ln>
        </p:spPr>
      </p:pic>
      <p:sp>
        <p:nvSpPr>
          <p:cNvPr id="69" name="Google Shape;69;p3"/>
          <p:cNvSpPr txBox="1"/>
          <p:nvPr/>
        </p:nvSpPr>
        <p:spPr>
          <a:xfrm>
            <a:off x="10198771" y="6222148"/>
            <a:ext cx="1764629" cy="400110"/>
          </a:xfrm>
          <a:prstGeom prst="rect">
            <a:avLst/>
          </a:prstGeom>
          <a:noFill/>
          <a:ln>
            <a:noFill/>
          </a:ln>
        </p:spPr>
        <p:txBody>
          <a:bodyPr anchorCtr="0" anchor="t" bIns="45700" lIns="91425" spcFirstLastPara="1" rIns="91425" wrap="square" tIns="45700">
            <a:spAutoFit/>
          </a:bodyPr>
          <a:lstStyle/>
          <a:p>
            <a:pPr indent="0" lvl="0" marL="0" marR="114300" rtl="0" algn="l">
              <a:lnSpc>
                <a:spcPct val="100000"/>
              </a:lnSpc>
              <a:spcBef>
                <a:spcPts val="0"/>
              </a:spcBef>
              <a:spcAft>
                <a:spcPts val="0"/>
              </a:spcAft>
              <a:buNone/>
            </a:pPr>
            <a:r>
              <a:rPr b="1" lang="es-ES" sz="2000">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nvSpPr>
        <p:spPr>
          <a:xfrm>
            <a:off x="3049191" y="5302608"/>
            <a:ext cx="609361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3">
                  <a:extLst>
                    <a:ext uri="{A12FA001-AC4F-418D-AE19-62706E023703}">
                      <ahyp:hlinkClr val="tx"/>
                    </a:ext>
                  </a:extLst>
                </a:hlinkClick>
              </a:rPr>
              <a:t>https://www.youtube.com/watch?v=1NQiEnJXntA</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75" name="Google Shape;75;p4"/>
          <p:cNvPicPr preferRelativeResize="0"/>
          <p:nvPr/>
        </p:nvPicPr>
        <p:blipFill rotWithShape="1">
          <a:blip r:embed="rId4">
            <a:alphaModFix/>
          </a:blip>
          <a:srcRect b="0" l="0" r="0" t="0"/>
          <a:stretch/>
        </p:blipFill>
        <p:spPr>
          <a:xfrm>
            <a:off x="2846320" y="952607"/>
            <a:ext cx="6649378" cy="41344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2" name="Google Shape;82;p5"/>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83" name="Google Shape;83;p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84" name="Google Shape;84;p5"/>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91" name="Google Shape;91;p6"/>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92" name="Google Shape;92;p6"/>
          <p:cNvSpPr txBox="1"/>
          <p:nvPr/>
        </p:nvSpPr>
        <p:spPr>
          <a:xfrm>
            <a:off x="381000" y="1064597"/>
            <a:ext cx="5342651" cy="39703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800">
                <a:solidFill>
                  <a:schemeClr val="dk1"/>
                </a:solidFill>
                <a:latin typeface="Calibri"/>
                <a:ea typeface="Calibri"/>
                <a:cs typeface="Calibri"/>
                <a:sym typeface="Calibri"/>
              </a:rPr>
              <a:t>Introducción a las características de Oracle</a:t>
            </a:r>
            <a:endParaRPr b="1" sz="2000">
              <a:solidFill>
                <a:schemeClr val="dk1"/>
              </a:solidFill>
              <a:latin typeface="Calibri"/>
              <a:ea typeface="Calibri"/>
              <a:cs typeface="Calibri"/>
              <a:sym typeface="Calibri"/>
            </a:endParaRPr>
          </a:p>
          <a:p>
            <a:pPr indent="-88900" lvl="0" marL="0" marR="0" rtl="0" algn="just">
              <a:spcBef>
                <a:spcPts val="0"/>
              </a:spcBef>
              <a:spcAft>
                <a:spcPts val="0"/>
              </a:spcAft>
              <a:buClr>
                <a:schemeClr val="dk1"/>
              </a:buClr>
              <a:buSzPts val="1400"/>
              <a:buFont typeface="Calibri"/>
              <a:buAutoNum type="arabicPeriod"/>
            </a:pPr>
            <a:r>
              <a:rPr b="1" lang="es-ES" sz="1400">
                <a:solidFill>
                  <a:schemeClr val="dk1"/>
                </a:solidFill>
                <a:latin typeface="Calibri"/>
                <a:ea typeface="Calibri"/>
                <a:cs typeface="Calibri"/>
                <a:sym typeface="Calibri"/>
              </a:rPr>
              <a:t>¿ Cuál es una de las características clave que permite a Oracle Database manejar grandes volúmenes de datos y altas cargas de trabajo?</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A) Seguridad Integrada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B) Rendimiento y Escalabilidad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C)  Soporte para Múltiples Modelos de Datos</a:t>
            </a:r>
            <a:endParaRPr/>
          </a:p>
          <a:p>
            <a:pPr indent="0" lvl="0" marL="0" marR="0" rtl="0" algn="just">
              <a:spcBef>
                <a:spcPts val="0"/>
              </a:spcBef>
              <a:spcAft>
                <a:spcPts val="0"/>
              </a:spcAft>
              <a:buNone/>
            </a:pPr>
            <a:r>
              <a:t/>
            </a:r>
            <a:endParaRPr b="1" sz="1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400">
                <a:solidFill>
                  <a:schemeClr val="dk1"/>
                </a:solidFill>
                <a:latin typeface="Calibri"/>
                <a:ea typeface="Calibri"/>
                <a:cs typeface="Calibri"/>
                <a:sym typeface="Calibri"/>
              </a:rPr>
              <a:t>2.¿Qué característica de Oracle Database proporciona alta disponibilidad y balanceo de carga mediante la distribución de la carga de trabajo en múltiples servidores?</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A) Oracle RAC (Real Application Clusters)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B) Oracle Data Guard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C) Oracle GoldenGate</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p:txBody>
      </p:sp>
      <p:sp>
        <p:nvSpPr>
          <p:cNvPr id="93" name="Google Shape;93;p6"/>
          <p:cNvSpPr txBox="1"/>
          <p:nvPr/>
        </p:nvSpPr>
        <p:spPr>
          <a:xfrm>
            <a:off x="6242538" y="866625"/>
            <a:ext cx="5342651" cy="489364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400">
                <a:solidFill>
                  <a:schemeClr val="dk1"/>
                </a:solidFill>
                <a:latin typeface="Calibri"/>
                <a:ea typeface="Calibri"/>
                <a:cs typeface="Calibri"/>
                <a:sym typeface="Calibri"/>
              </a:rPr>
              <a:t> 3.¿Cuál de las siguientes características de Oracle Database se enfoca en la protección de datos mediante el cifrado y controles de acceso?</a:t>
            </a:r>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A) Soporte para JSON y XML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B) Seguridad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C) Integración y Ecosistema</a:t>
            </a:r>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400">
                <a:solidFill>
                  <a:schemeClr val="dk1"/>
                </a:solidFill>
                <a:latin typeface="Calibri"/>
                <a:ea typeface="Calibri"/>
                <a:cs typeface="Calibri"/>
                <a:sym typeface="Calibri"/>
              </a:rPr>
              <a:t>4.¿Qué permite la integración de Oracle Database con otros productos de Oracle y tecnologías de terceros?</a:t>
            </a:r>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A) Innovación y Actualizaciones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B) Administración de Datos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C) Integración y Ecosistema</a:t>
            </a:r>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400">
                <a:solidFill>
                  <a:schemeClr val="dk1"/>
                </a:solidFill>
                <a:latin typeface="Calibri"/>
                <a:ea typeface="Calibri"/>
                <a:cs typeface="Calibri"/>
                <a:sym typeface="Calibri"/>
              </a:rPr>
              <a:t>5. ¿Qué ofrece Oracle Cloud Infrastructure (OCI) además de servicios de computación y almacenamiento?</a:t>
            </a:r>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A) Seguridad y soporte para arquitecturas en la nube y on-premises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B) Capacidad de gestión de grandes volúmenes de transacciones  </a:t>
            </a:r>
            <a:endParaRPr/>
          </a:p>
          <a:p>
            <a:pPr indent="0" lvl="0" marL="0" marR="0" rtl="0" algn="just">
              <a:spcBef>
                <a:spcPts val="0"/>
              </a:spcBef>
              <a:spcAft>
                <a:spcPts val="0"/>
              </a:spcAft>
              <a:buNone/>
            </a:pPr>
            <a:r>
              <a:rPr lang="es-ES" sz="1400">
                <a:solidFill>
                  <a:schemeClr val="dk1"/>
                </a:solidFill>
                <a:latin typeface="Calibri"/>
                <a:ea typeface="Calibri"/>
                <a:cs typeface="Calibri"/>
                <a:sym typeface="Calibri"/>
              </a:rPr>
              <a:t>C) Soporte para datos espaciales y gráficos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100" name="Google Shape;100;p7"/>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01" name="Google Shape;101;p7"/>
          <p:cNvSpPr txBox="1"/>
          <p:nvPr/>
        </p:nvSpPr>
        <p:spPr>
          <a:xfrm>
            <a:off x="381000" y="1064597"/>
            <a:ext cx="5342651" cy="461664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800">
                <a:solidFill>
                  <a:schemeClr val="dk1"/>
                </a:solidFill>
                <a:latin typeface="Calibri"/>
                <a:ea typeface="Calibri"/>
                <a:cs typeface="Calibri"/>
                <a:sym typeface="Calibri"/>
              </a:rPr>
              <a:t>Introducción a las características de Oracle - Respuestas</a:t>
            </a:r>
            <a:endParaRPr b="1" sz="2000">
              <a:solidFill>
                <a:schemeClr val="dk1"/>
              </a:solidFill>
              <a:latin typeface="Calibri"/>
              <a:ea typeface="Calibri"/>
              <a:cs typeface="Calibri"/>
              <a:sym typeface="Calibri"/>
            </a:endParaRPr>
          </a:p>
          <a:p>
            <a:pPr indent="-88900" lvl="0" marL="0" marR="0" rtl="0" algn="l">
              <a:spcBef>
                <a:spcPts val="0"/>
              </a:spcBef>
              <a:spcAft>
                <a:spcPts val="0"/>
              </a:spcAft>
              <a:buClr>
                <a:schemeClr val="dk1"/>
              </a:buClr>
              <a:buSzPts val="1400"/>
              <a:buFont typeface="Calibri"/>
              <a:buAutoNum type="arabicPeriod"/>
            </a:pPr>
            <a:r>
              <a:rPr lang="es-ES" sz="1400">
                <a:solidFill>
                  <a:schemeClr val="dk1"/>
                </a:solidFill>
                <a:latin typeface="Calibri"/>
                <a:ea typeface="Calibri"/>
                <a:cs typeface="Calibri"/>
                <a:sym typeface="Calibri"/>
              </a:rPr>
              <a:t>¿ Cuál es una de las características clave que permite a Oracle Database manejar grandes volúmenes de datos y altas cargas de trabajo?</a:t>
            </a:r>
            <a:endParaRPr/>
          </a:p>
          <a:p>
            <a:pPr indent="-457200" lvl="0" marL="457200" marR="0" rtl="0" algn="l">
              <a:spcBef>
                <a:spcPts val="0"/>
              </a:spcBef>
              <a:spcAft>
                <a:spcPts val="0"/>
              </a:spcAft>
              <a:buClr>
                <a:schemeClr val="dk1"/>
              </a:buClr>
              <a:buSzPts val="1400"/>
              <a:buFont typeface="Calibri"/>
              <a:buAutoNum type="alphaUcParenR"/>
            </a:pPr>
            <a:r>
              <a:rPr lang="es-ES" sz="1400">
                <a:solidFill>
                  <a:schemeClr val="dk1"/>
                </a:solidFill>
                <a:latin typeface="Calibri"/>
                <a:ea typeface="Calibri"/>
                <a:cs typeface="Calibri"/>
                <a:sym typeface="Calibri"/>
              </a:rPr>
              <a:t>Seguridad Integrada  </a:t>
            </a:r>
            <a:endParaRPr/>
          </a:p>
          <a:p>
            <a:pPr indent="-457200" lvl="0" marL="457200" marR="0" rtl="0" algn="l">
              <a:spcBef>
                <a:spcPts val="0"/>
              </a:spcBef>
              <a:spcAft>
                <a:spcPts val="0"/>
              </a:spcAft>
              <a:buClr>
                <a:schemeClr val="dk1"/>
              </a:buClr>
              <a:buSzPts val="1400"/>
              <a:buFont typeface="Calibri"/>
              <a:buAutoNum type="alphaUcParenR"/>
            </a:pPr>
            <a:r>
              <a:rPr lang="es-ES" sz="1400">
                <a:solidFill>
                  <a:schemeClr val="dk1"/>
                </a:solidFill>
                <a:latin typeface="Calibri"/>
                <a:ea typeface="Calibri"/>
                <a:cs typeface="Calibri"/>
                <a:sym typeface="Calibri"/>
              </a:rPr>
              <a:t>Rendimiento y Escalabilidad  </a:t>
            </a:r>
            <a:endParaRPr/>
          </a:p>
          <a:p>
            <a:pPr indent="-342900" lvl="0" marL="342900" marR="0" rtl="0" algn="l">
              <a:spcBef>
                <a:spcPts val="0"/>
              </a:spcBef>
              <a:spcAft>
                <a:spcPts val="0"/>
              </a:spcAft>
              <a:buClr>
                <a:schemeClr val="dk1"/>
              </a:buClr>
              <a:buSzPts val="1400"/>
              <a:buFont typeface="Calibri"/>
              <a:buAutoNum type="alphaUcParenR"/>
            </a:pPr>
            <a:r>
              <a:rPr lang="es-ES" sz="1400">
                <a:solidFill>
                  <a:schemeClr val="dk1"/>
                </a:solidFill>
                <a:latin typeface="Calibri"/>
                <a:ea typeface="Calibri"/>
                <a:cs typeface="Calibri"/>
                <a:sym typeface="Calibri"/>
              </a:rPr>
              <a:t>Soporte para Múltiples Modelos de Datos</a:t>
            </a:r>
            <a:endParaRPr/>
          </a:p>
          <a:p>
            <a:pPr indent="-254000" lvl="0" marL="34290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s-ES" sz="1400">
                <a:solidFill>
                  <a:schemeClr val="dk1"/>
                </a:solidFill>
                <a:latin typeface="Calibri"/>
                <a:ea typeface="Calibri"/>
                <a:cs typeface="Calibri"/>
                <a:sym typeface="Calibri"/>
              </a:rPr>
              <a:t>Respuesta: B) Rendimiento y Escalabilidad</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s-ES" sz="1400">
                <a:solidFill>
                  <a:schemeClr val="dk1"/>
                </a:solidFill>
                <a:latin typeface="Calibri"/>
                <a:ea typeface="Calibri"/>
                <a:cs typeface="Calibri"/>
                <a:sym typeface="Calibri"/>
              </a:rPr>
              <a:t>2.¿Qué característica de Oracle Database proporciona alta disponibilidad y balanceo de carga mediante la distribución de la carga de trabajo en múltiples servidores?</a:t>
            </a:r>
            <a:endParaRPr/>
          </a:p>
          <a:p>
            <a:pPr indent="0" lvl="0" marL="0" marR="0" rtl="0" algn="l">
              <a:spcBef>
                <a:spcPts val="0"/>
              </a:spcBef>
              <a:spcAft>
                <a:spcPts val="0"/>
              </a:spcAft>
              <a:buNone/>
            </a:pPr>
            <a:r>
              <a:rPr lang="es-ES" sz="1400">
                <a:solidFill>
                  <a:schemeClr val="dk1"/>
                </a:solidFill>
                <a:latin typeface="Calibri"/>
                <a:ea typeface="Calibri"/>
                <a:cs typeface="Calibri"/>
                <a:sym typeface="Calibri"/>
              </a:rPr>
              <a:t>A) Oracle RAC (Real Application Clusters)  </a:t>
            </a:r>
            <a:endParaRPr/>
          </a:p>
          <a:p>
            <a:pPr indent="0" lvl="0" marL="0" marR="0" rtl="0" algn="l">
              <a:spcBef>
                <a:spcPts val="0"/>
              </a:spcBef>
              <a:spcAft>
                <a:spcPts val="0"/>
              </a:spcAft>
              <a:buNone/>
            </a:pPr>
            <a:r>
              <a:rPr lang="es-ES" sz="1400">
                <a:solidFill>
                  <a:schemeClr val="dk1"/>
                </a:solidFill>
                <a:latin typeface="Calibri"/>
                <a:ea typeface="Calibri"/>
                <a:cs typeface="Calibri"/>
                <a:sym typeface="Calibri"/>
              </a:rPr>
              <a:t>B) Oracle Data Guard  </a:t>
            </a:r>
            <a:endParaRPr/>
          </a:p>
          <a:p>
            <a:pPr indent="0" lvl="0" marL="0" marR="0" rtl="0" algn="l">
              <a:spcBef>
                <a:spcPts val="0"/>
              </a:spcBef>
              <a:spcAft>
                <a:spcPts val="0"/>
              </a:spcAft>
              <a:buNone/>
            </a:pPr>
            <a:r>
              <a:rPr lang="es-ES" sz="1400">
                <a:solidFill>
                  <a:schemeClr val="dk1"/>
                </a:solidFill>
                <a:latin typeface="Calibri"/>
                <a:ea typeface="Calibri"/>
                <a:cs typeface="Calibri"/>
                <a:sym typeface="Calibri"/>
              </a:rPr>
              <a:t>C) Oracle GoldenGate</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88900" lvl="0" marL="0" marR="0" rtl="0" algn="l">
              <a:spcBef>
                <a:spcPts val="0"/>
              </a:spcBef>
              <a:spcAft>
                <a:spcPts val="0"/>
              </a:spcAft>
              <a:buClr>
                <a:schemeClr val="dk1"/>
              </a:buClr>
              <a:buSzPts val="1400"/>
              <a:buFont typeface="Calibri"/>
              <a:buAutoNum type="arabicPeriod"/>
            </a:pPr>
            <a:r>
              <a:rPr lang="es-ES" sz="1400">
                <a:solidFill>
                  <a:schemeClr val="dk1"/>
                </a:solidFill>
                <a:latin typeface="Calibri"/>
                <a:ea typeface="Calibri"/>
                <a:cs typeface="Calibri"/>
                <a:sym typeface="Calibri"/>
              </a:rPr>
              <a:t>Respuesta: A) Oracle RAC (Real Application Clusters)</a:t>
            </a:r>
            <a:endParaRPr/>
          </a:p>
        </p:txBody>
      </p:sp>
      <p:sp>
        <p:nvSpPr>
          <p:cNvPr id="102" name="Google Shape;102;p7"/>
          <p:cNvSpPr txBox="1"/>
          <p:nvPr/>
        </p:nvSpPr>
        <p:spPr>
          <a:xfrm>
            <a:off x="6242538" y="866625"/>
            <a:ext cx="5342651" cy="57554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200">
                <a:solidFill>
                  <a:schemeClr val="dk1"/>
                </a:solidFill>
                <a:latin typeface="Calibri"/>
                <a:ea typeface="Calibri"/>
                <a:cs typeface="Calibri"/>
                <a:sym typeface="Calibri"/>
              </a:rPr>
              <a:t>Pregunta 3</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¿Cuál de las siguientes características de Oracle Database se enfoca en la protección de datos mediante el cifrado y controles de acceso?</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A) Soporte para JSON y XML  </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B) Seguridad  </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C) Integración y Ecosistema</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Respuesta: B) Seguridad</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 Pregunta 4</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¿Qué permite la integración de Oracle Database con otros productos de Oracle y tecnologías de terceros?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A) Innovación y Actualizaciones  </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B) Administración de Datos  </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C) Integración y Ecosistema</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Respuesta: C) Integración y Ecosistema</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 Pregunta 5</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¿Qué ofrece Oracle Cloud Infrastructure (OCI) además de servicios de computación y almacenamiento?</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A) Seguridad y soporte para arquitecturas en la nube y on-premises  </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B) Capacidad de gestión de grandes volúmenes de transacciones  </a:t>
            </a:r>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C) Soporte para datos espaciales y gráficos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s-ES" sz="1200">
                <a:solidFill>
                  <a:schemeClr val="dk1"/>
                </a:solidFill>
                <a:latin typeface="Calibri"/>
                <a:ea typeface="Calibri"/>
                <a:cs typeface="Calibri"/>
                <a:sym typeface="Calibri"/>
              </a:rPr>
              <a:t>Respuesta: A) Seguridad y soporte para arquitecturas en la nube y on-premises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109" name="Google Shape;109;p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10" name="Google Shape;110;p8"/>
          <p:cNvSpPr txBox="1"/>
          <p:nvPr/>
        </p:nvSpPr>
        <p:spPr>
          <a:xfrm>
            <a:off x="2552700" y="2644170"/>
            <a:ext cx="7086600"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3200">
                <a:solidFill>
                  <a:schemeClr val="dk1"/>
                </a:solidFill>
                <a:latin typeface="Arial"/>
                <a:ea typeface="Arial"/>
                <a:cs typeface="Arial"/>
                <a:sym typeface="Arial"/>
              </a:rPr>
              <a:t>Al finalizar la unidad el participante comprende los fundamentos y uso de otras bases de datos relacionales.</a:t>
            </a:r>
            <a:endParaRPr sz="3200">
              <a:solidFill>
                <a:schemeClr val="dk1"/>
              </a:solidFill>
              <a:latin typeface="Arial"/>
              <a:ea typeface="Arial"/>
              <a:cs typeface="Arial"/>
              <a:sym typeface="Arial"/>
            </a:endParaRPr>
          </a:p>
        </p:txBody>
      </p:sp>
      <p:pic>
        <p:nvPicPr>
          <p:cNvPr id="111" name="Google Shape;111;p8"/>
          <p:cNvPicPr preferRelativeResize="0"/>
          <p:nvPr/>
        </p:nvPicPr>
        <p:blipFill rotWithShape="1">
          <a:blip r:embed="rId3">
            <a:alphaModFix/>
          </a:blip>
          <a:srcRect b="0" l="0" r="0" t="0"/>
          <a:stretch/>
        </p:blipFill>
        <p:spPr>
          <a:xfrm>
            <a:off x="5783622" y="292547"/>
            <a:ext cx="559075" cy="5590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18" name="Google Shape;118;p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119" name="Google Shape;119;p9"/>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
        <p:nvSpPr>
          <p:cNvPr id="120" name="Google Shape;120;p9"/>
          <p:cNvSpPr txBox="1"/>
          <p:nvPr/>
        </p:nvSpPr>
        <p:spPr>
          <a:xfrm>
            <a:off x="959168" y="1659285"/>
            <a:ext cx="10224137" cy="31085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800">
                <a:solidFill>
                  <a:schemeClr val="dk1"/>
                </a:solidFill>
                <a:latin typeface="Calibri"/>
                <a:ea typeface="Calibri"/>
                <a:cs typeface="Calibri"/>
                <a:sym typeface="Calibri"/>
              </a:rPr>
              <a:t>Comprender la estructura de funcionamiento de Oracle - la creación de bases de datos y tablas es fundamental para cualquier profesional que trabaje con gestión de datos y desarrollo de software. </a:t>
            </a:r>
            <a:endParaRPr/>
          </a:p>
          <a:p>
            <a:pPr indent="0" lvl="0" marL="0" marR="0" rtl="0" algn="ctr">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ctr">
              <a:spcBef>
                <a:spcPts val="0"/>
              </a:spcBef>
              <a:spcAft>
                <a:spcPts val="0"/>
              </a:spcAft>
              <a:buNone/>
            </a:pPr>
            <a:r>
              <a:rPr lang="es-ES" sz="2800">
                <a:solidFill>
                  <a:schemeClr val="dk1"/>
                </a:solidFill>
                <a:latin typeface="Calibri"/>
                <a:ea typeface="Calibri"/>
                <a:cs typeface="Calibri"/>
                <a:sym typeface="Calibri"/>
              </a:rPr>
              <a:t>En el ámbito profesional, estas competencias son cruciales para desarrollar aplicaciones robustas, escalar soluciones y asegurar que los datos se gestionen de manera segura y efectiva.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0"/>
          <p:cNvSpPr txBox="1"/>
          <p:nvPr/>
        </p:nvSpPr>
        <p:spPr>
          <a:xfrm>
            <a:off x="1966912" y="2890391"/>
            <a:ext cx="8258176" cy="1595309"/>
          </a:xfrm>
          <a:prstGeom prst="rect">
            <a:avLst/>
          </a:prstGeom>
          <a:solidFill>
            <a:srgbClr val="D1052D"/>
          </a:soli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ES" sz="3200">
                <a:solidFill>
                  <a:schemeClr val="lt1"/>
                </a:solidFill>
                <a:latin typeface="Calibri"/>
                <a:ea typeface="Calibri"/>
                <a:cs typeface="Calibri"/>
                <a:sym typeface="Calibri"/>
              </a:rPr>
              <a:t>Oracle: </a:t>
            </a:r>
            <a:endParaRPr/>
          </a:p>
          <a:p>
            <a:pPr indent="-457200" lvl="0" marL="469900" marR="0" rtl="0" algn="l">
              <a:lnSpc>
                <a:spcPct val="100000"/>
              </a:lnSpc>
              <a:spcBef>
                <a:spcPts val="100"/>
              </a:spcBef>
              <a:spcAft>
                <a:spcPts val="0"/>
              </a:spcAft>
              <a:buClr>
                <a:schemeClr val="lt1"/>
              </a:buClr>
              <a:buSzPts val="3200"/>
              <a:buFont typeface="Arial"/>
              <a:buChar char="-"/>
            </a:pPr>
            <a:r>
              <a:rPr lang="es-ES" sz="3200">
                <a:solidFill>
                  <a:schemeClr val="lt1"/>
                </a:solidFill>
                <a:latin typeface="Arial"/>
                <a:ea typeface="Arial"/>
                <a:cs typeface="Arial"/>
                <a:sym typeface="Arial"/>
              </a:rPr>
              <a:t>Estructura de funcionamiento</a:t>
            </a:r>
            <a:endParaRPr/>
          </a:p>
          <a:p>
            <a:pPr indent="-457200" lvl="0" marL="469900" marR="0" rtl="0" algn="l">
              <a:lnSpc>
                <a:spcPct val="100000"/>
              </a:lnSpc>
              <a:spcBef>
                <a:spcPts val="100"/>
              </a:spcBef>
              <a:spcAft>
                <a:spcPts val="0"/>
              </a:spcAft>
              <a:buClr>
                <a:schemeClr val="lt1"/>
              </a:buClr>
              <a:buSzPts val="3200"/>
              <a:buFont typeface="Arial"/>
              <a:buChar char="-"/>
            </a:pPr>
            <a:r>
              <a:rPr lang="es-ES" sz="3200">
                <a:solidFill>
                  <a:schemeClr val="lt1"/>
                </a:solidFill>
                <a:latin typeface="Arial"/>
                <a:ea typeface="Arial"/>
                <a:cs typeface="Arial"/>
                <a:sym typeface="Arial"/>
              </a:rPr>
              <a:t>Creación de Bases de Datos y Tablas</a:t>
            </a:r>
            <a:endParaRPr sz="3200">
              <a:solidFill>
                <a:schemeClr val="lt1"/>
              </a:solidFill>
              <a:latin typeface="Arial"/>
              <a:ea typeface="Arial"/>
              <a:cs typeface="Arial"/>
              <a:sym typeface="Arial"/>
            </a:endParaRPr>
          </a:p>
        </p:txBody>
      </p:sp>
      <p:sp>
        <p:nvSpPr>
          <p:cNvPr id="126" name="Google Shape;126;p10"/>
          <p:cNvSpPr txBox="1"/>
          <p:nvPr/>
        </p:nvSpPr>
        <p:spPr>
          <a:xfrm>
            <a:off x="4076700" y="1991427"/>
            <a:ext cx="4038600" cy="646331"/>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600">
                <a:solidFill>
                  <a:srgbClr val="000000"/>
                </a:solidFill>
                <a:latin typeface="Arial"/>
                <a:ea typeface="Arial"/>
                <a:cs typeface="Arial"/>
                <a:sym typeface="Arial"/>
              </a:rPr>
              <a:t>SESIÓN N° 2:</a:t>
            </a:r>
            <a:endParaRPr b="1" sz="3600">
              <a:solidFill>
                <a:srgbClr val="000000"/>
              </a:solidFill>
              <a:latin typeface="Arial"/>
              <a:ea typeface="Arial"/>
              <a:cs typeface="Arial"/>
              <a:sym typeface="Arial"/>
            </a:endParaRPr>
          </a:p>
        </p:txBody>
      </p:sp>
      <p:sp>
        <p:nvSpPr>
          <p:cNvPr id="127" name="Google Shape;127;p1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1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29" name="Google Shape;129;p10"/>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30" name="Google Shape;130;p10"/>
          <p:cNvSpPr txBox="1"/>
          <p:nvPr/>
        </p:nvSpPr>
        <p:spPr>
          <a:xfrm>
            <a:off x="365760" y="973304"/>
            <a:ext cx="535789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1"/>
          <p:cNvSpPr txBox="1"/>
          <p:nvPr/>
        </p:nvSpPr>
        <p:spPr>
          <a:xfrm>
            <a:off x="4781548" y="1250400"/>
            <a:ext cx="6572251"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600">
                <a:solidFill>
                  <a:schemeClr val="dk1"/>
                </a:solidFill>
                <a:latin typeface="Pathway Extreme"/>
                <a:ea typeface="Pathway Extreme"/>
                <a:cs typeface="Pathway Extreme"/>
                <a:sym typeface="Pathway Extreme"/>
              </a:rPr>
              <a:t>Alta Disponibilidad:</a:t>
            </a:r>
            <a:endParaRPr b="0" i="0" sz="1600">
              <a:solidFill>
                <a:schemeClr val="dk1"/>
              </a:solidFill>
              <a:latin typeface="Pathway Extreme"/>
              <a:ea typeface="Pathway Extreme"/>
              <a:cs typeface="Pathway Extreme"/>
              <a:sym typeface="Pathway Extreme"/>
            </a:endParaRPr>
          </a:p>
          <a:p>
            <a:pPr indent="0" lvl="0" marL="0" marR="0" rtl="0" algn="just">
              <a:spcBef>
                <a:spcPts val="0"/>
              </a:spcBef>
              <a:spcAft>
                <a:spcPts val="0"/>
              </a:spcAft>
              <a:buNone/>
            </a:pPr>
            <a:r>
              <a:rPr b="0" i="0" lang="es-ES" sz="1600">
                <a:solidFill>
                  <a:schemeClr val="dk1"/>
                </a:solidFill>
                <a:latin typeface="Pathway Extreme"/>
                <a:ea typeface="Pathway Extreme"/>
                <a:cs typeface="Pathway Extreme"/>
                <a:sym typeface="Pathway Extreme"/>
              </a:rPr>
              <a:t>Oracle Real Application Clusters (RAC): Permite que una base de datos funcione en múltiples servidores simultáneamente, proporcionando alta disponibilidad y escalabilidad. Si un servidor falla, las operaciones continúan sin interrupciones.</a:t>
            </a:r>
            <a:endParaRPr/>
          </a:p>
          <a:p>
            <a:pPr indent="0" lvl="0" marL="0" marR="0" rtl="0" algn="just">
              <a:spcBef>
                <a:spcPts val="0"/>
              </a:spcBef>
              <a:spcAft>
                <a:spcPts val="0"/>
              </a:spcAft>
              <a:buNone/>
            </a:pPr>
            <a:r>
              <a:rPr b="0" i="0" lang="es-ES" sz="1600">
                <a:solidFill>
                  <a:schemeClr val="dk1"/>
                </a:solidFill>
                <a:latin typeface="Pathway Extreme"/>
                <a:ea typeface="Pathway Extreme"/>
                <a:cs typeface="Pathway Extreme"/>
                <a:sym typeface="Pathway Extreme"/>
              </a:rPr>
              <a:t>Oracle Data Guard: Proporciona protección ante desastres y alta disponibilidad mediante la creación y el mantenimiento de bases de datos en espera (standby), que pueden asumir el control en caso de falla de la base de datos primaria.</a:t>
            </a:r>
            <a:endParaRPr/>
          </a:p>
          <a:p>
            <a:pPr indent="0" lvl="0" marL="0" marR="0" rtl="0" algn="just">
              <a:spcBef>
                <a:spcPts val="0"/>
              </a:spcBef>
              <a:spcAft>
                <a:spcPts val="0"/>
              </a:spcAft>
              <a:buNone/>
            </a:pPr>
            <a:r>
              <a:t/>
            </a:r>
            <a:endParaRPr b="0" i="0" sz="1600">
              <a:solidFill>
                <a:schemeClr val="dk1"/>
              </a:solidFill>
              <a:latin typeface="Pathway Extreme"/>
              <a:ea typeface="Pathway Extreme"/>
              <a:cs typeface="Pathway Extreme"/>
              <a:sym typeface="Pathway Extreme"/>
            </a:endParaRPr>
          </a:p>
          <a:p>
            <a:pPr indent="0" lvl="0" marL="0" marR="0" rtl="0" algn="just">
              <a:spcBef>
                <a:spcPts val="0"/>
              </a:spcBef>
              <a:spcAft>
                <a:spcPts val="0"/>
              </a:spcAft>
              <a:buNone/>
            </a:pPr>
            <a:r>
              <a:rPr b="1" i="0" lang="es-ES" sz="1600">
                <a:solidFill>
                  <a:schemeClr val="dk1"/>
                </a:solidFill>
                <a:latin typeface="Pathway Extreme"/>
                <a:ea typeface="Pathway Extreme"/>
                <a:cs typeface="Pathway Extreme"/>
                <a:sym typeface="Pathway Extreme"/>
              </a:rPr>
              <a:t>Recuperación ante Desastres:</a:t>
            </a:r>
            <a:endParaRPr/>
          </a:p>
          <a:p>
            <a:pPr indent="0" lvl="0" marL="0" marR="0" rtl="0" algn="just">
              <a:spcBef>
                <a:spcPts val="0"/>
              </a:spcBef>
              <a:spcAft>
                <a:spcPts val="0"/>
              </a:spcAft>
              <a:buNone/>
            </a:pPr>
            <a:r>
              <a:t/>
            </a:r>
            <a:endParaRPr b="0" i="0" sz="1600">
              <a:solidFill>
                <a:schemeClr val="dk1"/>
              </a:solidFill>
              <a:latin typeface="Pathway Extreme"/>
              <a:ea typeface="Pathway Extreme"/>
              <a:cs typeface="Pathway Extreme"/>
              <a:sym typeface="Pathway Extreme"/>
            </a:endParaRPr>
          </a:p>
          <a:p>
            <a:pPr indent="0" lvl="0" marL="0" marR="0" rtl="0" algn="just">
              <a:spcBef>
                <a:spcPts val="0"/>
              </a:spcBef>
              <a:spcAft>
                <a:spcPts val="0"/>
              </a:spcAft>
              <a:buNone/>
            </a:pPr>
            <a:r>
              <a:rPr b="0" i="0" lang="es-ES" sz="1600">
                <a:solidFill>
                  <a:schemeClr val="dk1"/>
                </a:solidFill>
                <a:latin typeface="Pathway Extreme"/>
                <a:ea typeface="Pathway Extreme"/>
                <a:cs typeface="Pathway Extreme"/>
                <a:sym typeface="Pathway Extreme"/>
              </a:rPr>
              <a:t>Flashback Technology: Permite a los administradores retroceder el estado de la base de datos a un punto anterior en el tiempo, facilitando la recuperación ante errores lógicos y problemas de corrupción de datos.</a:t>
            </a:r>
            <a:endParaRPr/>
          </a:p>
          <a:p>
            <a:pPr indent="0" lvl="0" marL="0" marR="0" rtl="0" algn="just">
              <a:spcBef>
                <a:spcPts val="0"/>
              </a:spcBef>
              <a:spcAft>
                <a:spcPts val="0"/>
              </a:spcAft>
              <a:buNone/>
            </a:pPr>
            <a:r>
              <a:rPr b="0" i="0" lang="es-ES" sz="1600">
                <a:solidFill>
                  <a:schemeClr val="dk1"/>
                </a:solidFill>
                <a:latin typeface="Pathway Extreme"/>
                <a:ea typeface="Pathway Extreme"/>
                <a:cs typeface="Pathway Extreme"/>
                <a:sym typeface="Pathway Extreme"/>
              </a:rPr>
              <a:t>RMAN (Recovery Manager): Una herramienta integral para la copia de seguridad y recuperación de bases de datos Oracle, que permite realizar backups incrementales y completos, así como restauraciones detalladas.</a:t>
            </a:r>
            <a:endParaRPr/>
          </a:p>
        </p:txBody>
      </p:sp>
      <p:pic>
        <p:nvPicPr>
          <p:cNvPr descr="Qué es un manual de normas y procedimientos? - La Magia de la Mejora" id="136" name="Google Shape;136;p11"/>
          <p:cNvPicPr preferRelativeResize="0"/>
          <p:nvPr/>
        </p:nvPicPr>
        <p:blipFill rotWithShape="1">
          <a:blip r:embed="rId3">
            <a:alphaModFix/>
          </a:blip>
          <a:srcRect b="7446" l="0" r="0" t="0"/>
          <a:stretch/>
        </p:blipFill>
        <p:spPr>
          <a:xfrm>
            <a:off x="876301" y="1905000"/>
            <a:ext cx="3677521" cy="3403663"/>
          </a:xfrm>
          <a:prstGeom prst="rect">
            <a:avLst/>
          </a:prstGeom>
          <a:noFill/>
          <a:ln>
            <a:noFill/>
          </a:ln>
        </p:spPr>
      </p:pic>
      <p:sp>
        <p:nvSpPr>
          <p:cNvPr id="137" name="Google Shape;137;p11"/>
          <p:cNvSpPr txBox="1"/>
          <p:nvPr/>
        </p:nvSpPr>
        <p:spPr>
          <a:xfrm>
            <a:off x="823913" y="727180"/>
            <a:ext cx="6093618" cy="5232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2800">
                <a:solidFill>
                  <a:schemeClr val="dk1"/>
                </a:solidFill>
                <a:latin typeface="Calibri"/>
                <a:ea typeface="Calibri"/>
                <a:cs typeface="Calibri"/>
                <a:sym typeface="Calibri"/>
              </a:rPr>
              <a:t>Fiabilidad y cumplimiento de normas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2"/>
          <p:cNvSpPr txBox="1"/>
          <p:nvPr/>
        </p:nvSpPr>
        <p:spPr>
          <a:xfrm>
            <a:off x="838200" y="609600"/>
            <a:ext cx="10896600" cy="520142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2200">
                <a:solidFill>
                  <a:schemeClr val="dk1"/>
                </a:solidFill>
                <a:latin typeface="Calibri"/>
                <a:ea typeface="Calibri"/>
                <a:cs typeface="Calibri"/>
                <a:sym typeface="Calibri"/>
              </a:rPr>
              <a:t>Archivos de datos/Estructura del directorio de datos</a:t>
            </a:r>
            <a:endParaRPr/>
          </a:p>
          <a:p>
            <a:pPr indent="0" lvl="0" marL="0" marR="0" rtl="0" algn="just">
              <a:spcBef>
                <a:spcPts val="0"/>
              </a:spcBef>
              <a:spcAft>
                <a:spcPts val="0"/>
              </a:spcAft>
              <a:buNone/>
            </a:pPr>
            <a:r>
              <a:t/>
            </a:r>
            <a:endParaRPr b="1" sz="2200">
              <a:solidFill>
                <a:schemeClr val="dk1"/>
              </a:solidFill>
              <a:latin typeface="Calibri"/>
              <a:ea typeface="Calibri"/>
              <a:cs typeface="Calibri"/>
              <a:sym typeface="Calibri"/>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En Oracle Database, los archivos de datos y la estructura del directorio de datos son esenciales para la organización y el almacenamiento de la información. Aquí te explico los conceptos clave relacionados con los archivos de datos y la estructura del directorio de datos en Oracle:</a:t>
            </a:r>
            <a:endParaRPr/>
          </a:p>
          <a:p>
            <a:pPr indent="0" lvl="0" marL="0" marR="0" rtl="0" algn="just">
              <a:spcBef>
                <a:spcPts val="0"/>
              </a:spcBef>
              <a:spcAft>
                <a:spcPts val="0"/>
              </a:spcAft>
              <a:buNone/>
            </a:pPr>
            <a:r>
              <a:t/>
            </a:r>
            <a:endParaRPr i="0" sz="1600">
              <a:solidFill>
                <a:schemeClr val="dk1"/>
              </a:solidFill>
              <a:latin typeface="Calibri"/>
              <a:ea typeface="Calibri"/>
              <a:cs typeface="Calibri"/>
              <a:sym typeface="Calibri"/>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Archivos de Datos en Oracle</a:t>
            </a:r>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Archivos de Datos (Datafiles):</a:t>
            </a:r>
            <a:endParaRPr/>
          </a:p>
          <a:p>
            <a:pPr indent="0" lvl="0" marL="0" marR="0" rtl="0" algn="just">
              <a:spcBef>
                <a:spcPts val="0"/>
              </a:spcBef>
              <a:spcAft>
                <a:spcPts val="0"/>
              </a:spcAft>
              <a:buNone/>
            </a:pPr>
            <a:r>
              <a:t/>
            </a:r>
            <a:endParaRPr i="0" sz="1600">
              <a:solidFill>
                <a:schemeClr val="dk1"/>
              </a:solidFill>
              <a:latin typeface="Calibri"/>
              <a:ea typeface="Calibri"/>
              <a:cs typeface="Calibri"/>
              <a:sym typeface="Calibri"/>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Definición: Los archivos de datos son archivos físicos en el sistema de archivos del servidor donde se almacenan los datos de la base de datos Oracle. Cada archivo de datos está asociado con una tabla espacial (tablespace) en la base de datos.</a:t>
            </a:r>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Extensiones: Normalmente tienen la extensión .dbf.</a:t>
            </a:r>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Ubicación: La ubicación de los archivos de datos puede ser especificada durante la creación de la base de datos o cuando se agrega un nuevo tablespace.</a:t>
            </a:r>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Tipos de Archivos de Datos:</a:t>
            </a:r>
            <a:endParaRPr/>
          </a:p>
          <a:p>
            <a:pPr indent="0" lvl="0" marL="0" marR="0" rtl="0" algn="just">
              <a:spcBef>
                <a:spcPts val="0"/>
              </a:spcBef>
              <a:spcAft>
                <a:spcPts val="0"/>
              </a:spcAft>
              <a:buNone/>
            </a:pPr>
            <a:r>
              <a:t/>
            </a:r>
            <a:endParaRPr i="0" sz="1600">
              <a:solidFill>
                <a:schemeClr val="dk1"/>
              </a:solidFill>
              <a:latin typeface="Calibri"/>
              <a:ea typeface="Calibri"/>
              <a:cs typeface="Calibri"/>
              <a:sym typeface="Calibri"/>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Archivos de Datos de Tablas: Contienen datos de las tablas y los índices.</a:t>
            </a:r>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Archivos de Datos Temporales: Usados para operaciones temporales como la ordenación y la creación de índices. Generalmente se encuentran en tablespaces temporales.</a:t>
            </a:r>
            <a:endParaRPr/>
          </a:p>
          <a:p>
            <a:pPr indent="0" lvl="0" marL="0" marR="0" rtl="0" algn="just">
              <a:spcBef>
                <a:spcPts val="0"/>
              </a:spcBef>
              <a:spcAft>
                <a:spcPts val="0"/>
              </a:spcAft>
              <a:buNone/>
            </a:pPr>
            <a:r>
              <a:rPr i="0" lang="es-ES" sz="1600">
                <a:solidFill>
                  <a:schemeClr val="dk1"/>
                </a:solidFill>
                <a:latin typeface="Calibri"/>
                <a:ea typeface="Calibri"/>
                <a:cs typeface="Calibri"/>
                <a:sym typeface="Calibri"/>
              </a:rPr>
              <a:t>Archivos de Datos de Redo Log: Almacenan registros de redo log, que son cruciales para la recuperación de datos en caso de fallo.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nvSpPr>
        <p:spPr>
          <a:xfrm>
            <a:off x="457199" y="533400"/>
            <a:ext cx="10995557"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2000">
                <a:solidFill>
                  <a:schemeClr val="dk1"/>
                </a:solidFill>
                <a:latin typeface="Lato"/>
                <a:ea typeface="Lato"/>
                <a:cs typeface="Lato"/>
                <a:sym typeface="Lato"/>
              </a:rPr>
              <a:t>Funciones </a:t>
            </a:r>
            <a:r>
              <a:rPr b="1" lang="es-ES" sz="2000">
                <a:solidFill>
                  <a:schemeClr val="dk1"/>
                </a:solidFill>
                <a:latin typeface="Lato"/>
                <a:ea typeface="Lato"/>
                <a:cs typeface="Lato"/>
                <a:sym typeface="Lato"/>
              </a:rPr>
              <a:t>de</a:t>
            </a:r>
            <a:r>
              <a:rPr b="1" i="0" lang="es-ES" sz="2000">
                <a:solidFill>
                  <a:schemeClr val="dk1"/>
                </a:solidFill>
                <a:latin typeface="Lato"/>
                <a:ea typeface="Lato"/>
                <a:cs typeface="Lato"/>
                <a:sym typeface="Lato"/>
              </a:rPr>
              <a:t> Oracle</a:t>
            </a:r>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Oracle Database ofrece una amplia variedad de funciones integradas que facilitan la gestión de datos, la manipulación y el análisis de información. Estas funciones se dividen en varias categorías, incluyendo funciones de cadena, funciones de fecha y hora, funciones matemáticas, y funciones de agregación. A continuación, se describen algunas de las funciones más comunes en Oracle Database:</a:t>
            </a:r>
            <a:endParaRPr/>
          </a:p>
        </p:txBody>
      </p:sp>
      <p:sp>
        <p:nvSpPr>
          <p:cNvPr id="148" name="Google Shape;148;p13"/>
          <p:cNvSpPr txBox="1"/>
          <p:nvPr/>
        </p:nvSpPr>
        <p:spPr>
          <a:xfrm>
            <a:off x="703385" y="2338895"/>
            <a:ext cx="10269415" cy="3785652"/>
          </a:xfrm>
          <a:prstGeom prst="rect">
            <a:avLst/>
          </a:prstGeom>
          <a:noFill/>
          <a:ln>
            <a:noFill/>
          </a:ln>
        </p:spPr>
        <p:txBody>
          <a:bodyPr anchorCtr="0" anchor="t" bIns="45700" lIns="91425" spcFirstLastPara="1" rIns="91425" wrap="square" tIns="45700">
            <a:spAutoFit/>
          </a:bodyPr>
          <a:lstStyle/>
          <a:p>
            <a:pPr indent="-215900" lvl="0" marL="342900" marR="0" rtl="0" algn="just">
              <a:spcBef>
                <a:spcPts val="0"/>
              </a:spcBef>
              <a:spcAft>
                <a:spcPts val="0"/>
              </a:spcAft>
              <a:buClr>
                <a:schemeClr val="dk1"/>
              </a:buClr>
              <a:buSzPts val="2000"/>
              <a:buFont typeface="Arial"/>
              <a:buNone/>
            </a:pPr>
            <a:r>
              <a:t/>
            </a:r>
            <a:endParaRPr b="0" i="0" sz="2000">
              <a:solidFill>
                <a:schemeClr val="dk1"/>
              </a:solidFill>
              <a:latin typeface="Lato"/>
              <a:ea typeface="Lato"/>
              <a:cs typeface="Lato"/>
              <a:sym typeface="Lato"/>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Funciones de Cadena</a:t>
            </a:r>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CONCAT: Une dos cadenas de texto.</a:t>
            </a:r>
            <a:endParaRPr/>
          </a:p>
          <a:p>
            <a:pPr indent="-215900" lvl="0" marL="342900" marR="0" rtl="0" algn="just">
              <a:spcBef>
                <a:spcPts val="0"/>
              </a:spcBef>
              <a:spcAft>
                <a:spcPts val="0"/>
              </a:spcAft>
              <a:buClr>
                <a:schemeClr val="dk1"/>
              </a:buClr>
              <a:buSzPts val="2000"/>
              <a:buFont typeface="Arial"/>
              <a:buNone/>
            </a:pPr>
            <a:r>
              <a:t/>
            </a:r>
            <a:endParaRPr b="0" i="0" sz="2000">
              <a:solidFill>
                <a:schemeClr val="dk1"/>
              </a:solidFill>
              <a:latin typeface="Lato"/>
              <a:ea typeface="Lato"/>
              <a:cs typeface="Lato"/>
              <a:sym typeface="Lato"/>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sql</a:t>
            </a:r>
            <a:endParaRPr b="0" i="0" sz="2000">
              <a:solidFill>
                <a:schemeClr val="dk1"/>
              </a:solidFill>
              <a:latin typeface="Lato"/>
              <a:ea typeface="Lato"/>
              <a:cs typeface="Lato"/>
              <a:sym typeface="Lato"/>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Copiar código</a:t>
            </a:r>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SELECT CONCAT('Hola', ' Mundo') FROM dual;</a:t>
            </a:r>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SUBSTR: Extrae una subcadena de una cadena.</a:t>
            </a:r>
            <a:endParaRPr/>
          </a:p>
          <a:p>
            <a:pPr indent="-215900" lvl="0" marL="342900" marR="0" rtl="0" algn="just">
              <a:spcBef>
                <a:spcPts val="0"/>
              </a:spcBef>
              <a:spcAft>
                <a:spcPts val="0"/>
              </a:spcAft>
              <a:buClr>
                <a:schemeClr val="dk1"/>
              </a:buClr>
              <a:buSzPts val="2000"/>
              <a:buFont typeface="Arial"/>
              <a:buNone/>
            </a:pPr>
            <a:r>
              <a:t/>
            </a:r>
            <a:endParaRPr b="0" i="0" sz="2000">
              <a:solidFill>
                <a:schemeClr val="dk1"/>
              </a:solidFill>
              <a:latin typeface="Lato"/>
              <a:ea typeface="Lato"/>
              <a:cs typeface="Lato"/>
              <a:sym typeface="Lato"/>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sql</a:t>
            </a:r>
            <a:endParaRPr b="0" i="0" sz="2000">
              <a:solidFill>
                <a:schemeClr val="dk1"/>
              </a:solidFill>
              <a:latin typeface="Lato"/>
              <a:ea typeface="Lato"/>
              <a:cs typeface="Lato"/>
              <a:sym typeface="Lato"/>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Copiar código</a:t>
            </a:r>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SELECT SUBSTR('Oracle Database', 1, 6) FROM dual;  -- Devuelve 'Oracle'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nvSpPr>
        <p:spPr>
          <a:xfrm>
            <a:off x="609600" y="685800"/>
            <a:ext cx="10896600" cy="627864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2200">
                <a:solidFill>
                  <a:schemeClr val="dk1"/>
                </a:solidFill>
                <a:latin typeface="Lato"/>
                <a:ea typeface="Lato"/>
                <a:cs typeface="Lato"/>
                <a:sym typeface="Lato"/>
              </a:rPr>
              <a:t>¿Cómo funciona Oracle?</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Oracle Database funciona como un sistema de gestión de bases de datos relacionales (RDBMS), proporcionando una plataforma robusta y escalable para almacenar, gestionar y recuperar datos. Aquí te explico cómo funciona a nivel general:</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600">
                <a:solidFill>
                  <a:schemeClr val="dk1"/>
                </a:solidFill>
                <a:latin typeface="Calibri"/>
                <a:ea typeface="Calibri"/>
                <a:cs typeface="Calibri"/>
                <a:sym typeface="Calibri"/>
              </a:rPr>
              <a:t>1. Arquitectura de Oracle Database</a:t>
            </a:r>
            <a:endParaRPr b="1" sz="16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1.1. </a:t>
            </a:r>
            <a:r>
              <a:rPr b="1" lang="es-ES" sz="1600">
                <a:solidFill>
                  <a:schemeClr val="dk1"/>
                </a:solidFill>
                <a:latin typeface="Calibri"/>
                <a:ea typeface="Calibri"/>
                <a:cs typeface="Calibri"/>
                <a:sym typeface="Calibri"/>
              </a:rPr>
              <a:t>Instancia y Base de Datos:</a:t>
            </a:r>
            <a:endParaRPr sz="1600">
              <a:solidFill>
                <a:schemeClr val="dk1"/>
              </a:solidFill>
              <a:latin typeface="Calibri"/>
              <a:ea typeface="Calibri"/>
              <a:cs typeface="Calibri"/>
              <a:sym typeface="Calibri"/>
            </a:endParaRPr>
          </a:p>
          <a:p>
            <a:pPr indent="-101600" lvl="0" marL="0" marR="0" rtl="0" algn="just">
              <a:spcBef>
                <a:spcPts val="0"/>
              </a:spcBef>
              <a:spcAft>
                <a:spcPts val="0"/>
              </a:spcAft>
              <a:buClr>
                <a:schemeClr val="dk1"/>
              </a:buClr>
              <a:buSzPts val="1600"/>
              <a:buFont typeface="Arial"/>
              <a:buChar char="•"/>
            </a:pPr>
            <a:r>
              <a:rPr b="1" lang="es-ES" sz="1600">
                <a:solidFill>
                  <a:schemeClr val="dk1"/>
                </a:solidFill>
                <a:latin typeface="Calibri"/>
                <a:ea typeface="Calibri"/>
                <a:cs typeface="Calibri"/>
                <a:sym typeface="Calibri"/>
              </a:rPr>
              <a:t>Instancia:</a:t>
            </a:r>
            <a:r>
              <a:rPr lang="es-ES" sz="1600">
                <a:solidFill>
                  <a:schemeClr val="dk1"/>
                </a:solidFill>
                <a:latin typeface="Calibri"/>
                <a:ea typeface="Calibri"/>
                <a:cs typeface="Calibri"/>
                <a:sym typeface="Calibri"/>
              </a:rPr>
              <a:t> La instancia de Oracle Database es la combinación de la memoria y los procesos que gestionan el acceso a la base de datos. Incluye la memoria compartida (SGA, System Global Area) y los procesos de fondo.</a:t>
            </a:r>
            <a:endParaRPr/>
          </a:p>
          <a:p>
            <a:pPr indent="-285750" lvl="1" marL="742950" marR="0" rtl="0" algn="just">
              <a:spcBef>
                <a:spcPts val="0"/>
              </a:spcBef>
              <a:spcAft>
                <a:spcPts val="0"/>
              </a:spcAft>
              <a:buClr>
                <a:schemeClr val="dk1"/>
              </a:buClr>
              <a:buSzPts val="1600"/>
              <a:buFont typeface="Arial"/>
              <a:buChar char="•"/>
            </a:pPr>
            <a:r>
              <a:rPr b="1" i="0" lang="es-ES" sz="1600" u="none" cap="none" strike="noStrike">
                <a:solidFill>
                  <a:schemeClr val="dk1"/>
                </a:solidFill>
                <a:latin typeface="Calibri"/>
                <a:ea typeface="Calibri"/>
                <a:cs typeface="Calibri"/>
                <a:sym typeface="Calibri"/>
              </a:rPr>
              <a:t>SGA (System Global Area):</a:t>
            </a:r>
            <a:r>
              <a:rPr b="0" i="0" lang="es-ES" sz="1600" u="none" cap="none" strike="noStrike">
                <a:solidFill>
                  <a:schemeClr val="dk1"/>
                </a:solidFill>
                <a:latin typeface="Calibri"/>
                <a:ea typeface="Calibri"/>
                <a:cs typeface="Calibri"/>
                <a:sym typeface="Calibri"/>
              </a:rPr>
              <a:t> Área de memoria compartida que contiene información como los buffers de datos y los cachés de la base de datos.</a:t>
            </a:r>
            <a:endParaRPr/>
          </a:p>
          <a:p>
            <a:pPr indent="-285750" lvl="1" marL="742950" marR="0" rtl="0" algn="just">
              <a:spcBef>
                <a:spcPts val="0"/>
              </a:spcBef>
              <a:spcAft>
                <a:spcPts val="0"/>
              </a:spcAft>
              <a:buClr>
                <a:schemeClr val="dk1"/>
              </a:buClr>
              <a:buSzPts val="1600"/>
              <a:buFont typeface="Arial"/>
              <a:buChar char="•"/>
            </a:pPr>
            <a:r>
              <a:rPr b="1" i="0" lang="es-ES" sz="1600" u="none" cap="none" strike="noStrike">
                <a:solidFill>
                  <a:schemeClr val="dk1"/>
                </a:solidFill>
                <a:latin typeface="Calibri"/>
                <a:ea typeface="Calibri"/>
                <a:cs typeface="Calibri"/>
                <a:sym typeface="Calibri"/>
              </a:rPr>
              <a:t>Proceso de Fondo:</a:t>
            </a:r>
            <a:r>
              <a:rPr b="0" i="0" lang="es-ES" sz="1600" u="none" cap="none" strike="noStrike">
                <a:solidFill>
                  <a:schemeClr val="dk1"/>
                </a:solidFill>
                <a:latin typeface="Calibri"/>
                <a:ea typeface="Calibri"/>
                <a:cs typeface="Calibri"/>
                <a:sym typeface="Calibri"/>
              </a:rPr>
              <a:t> Procesos como el DBWn (Database Writer), LGWR (Log Writer), y PMON (Process Monitor) que realizan tareas de mantenimiento y gestión.</a:t>
            </a:r>
            <a:endParaRPr/>
          </a:p>
          <a:p>
            <a:pPr indent="-101600" lvl="0" marL="0" marR="0" rtl="0" algn="just">
              <a:spcBef>
                <a:spcPts val="0"/>
              </a:spcBef>
              <a:spcAft>
                <a:spcPts val="0"/>
              </a:spcAft>
              <a:buClr>
                <a:schemeClr val="dk1"/>
              </a:buClr>
              <a:buSzPts val="1600"/>
              <a:buFont typeface="Arial"/>
              <a:buChar char="•"/>
            </a:pPr>
            <a:r>
              <a:rPr b="1" lang="es-ES" sz="1600">
                <a:solidFill>
                  <a:schemeClr val="dk1"/>
                </a:solidFill>
                <a:latin typeface="Calibri"/>
                <a:ea typeface="Calibri"/>
                <a:cs typeface="Calibri"/>
                <a:sym typeface="Calibri"/>
              </a:rPr>
              <a:t>Base de Datos:</a:t>
            </a:r>
            <a:r>
              <a:rPr lang="es-ES" sz="1600">
                <a:solidFill>
                  <a:schemeClr val="dk1"/>
                </a:solidFill>
                <a:latin typeface="Calibri"/>
                <a:ea typeface="Calibri"/>
                <a:cs typeface="Calibri"/>
                <a:sym typeface="Calibri"/>
              </a:rPr>
              <a:t> Es el conjunto de archivos físicos donde se almacenan los datos. Incluye:</a:t>
            </a:r>
            <a:endParaRPr/>
          </a:p>
          <a:p>
            <a:pPr indent="-285750" lvl="1" marL="742950" marR="0" rtl="0" algn="just">
              <a:spcBef>
                <a:spcPts val="0"/>
              </a:spcBef>
              <a:spcAft>
                <a:spcPts val="0"/>
              </a:spcAft>
              <a:buClr>
                <a:schemeClr val="dk1"/>
              </a:buClr>
              <a:buSzPts val="1600"/>
              <a:buFont typeface="Arial"/>
              <a:buChar char="•"/>
            </a:pPr>
            <a:r>
              <a:rPr b="1" i="0" lang="es-ES" sz="1600" u="none" cap="none" strike="noStrike">
                <a:solidFill>
                  <a:schemeClr val="dk1"/>
                </a:solidFill>
                <a:latin typeface="Calibri"/>
                <a:ea typeface="Calibri"/>
                <a:cs typeface="Calibri"/>
                <a:sym typeface="Calibri"/>
              </a:rPr>
              <a:t>Archivos de Datos:</a:t>
            </a:r>
            <a:r>
              <a:rPr b="0" i="0" lang="es-ES" sz="1600" u="none" cap="none" strike="noStrike">
                <a:solidFill>
                  <a:schemeClr val="dk1"/>
                </a:solidFill>
                <a:latin typeface="Calibri"/>
                <a:ea typeface="Calibri"/>
                <a:cs typeface="Calibri"/>
                <a:sym typeface="Calibri"/>
              </a:rPr>
              <a:t> Almacenan los datos reales de las tablas y los índices.</a:t>
            </a:r>
            <a:endParaRPr/>
          </a:p>
          <a:p>
            <a:pPr indent="-285750" lvl="1" marL="742950" marR="0" rtl="0" algn="just">
              <a:spcBef>
                <a:spcPts val="0"/>
              </a:spcBef>
              <a:spcAft>
                <a:spcPts val="0"/>
              </a:spcAft>
              <a:buClr>
                <a:schemeClr val="dk1"/>
              </a:buClr>
              <a:buSzPts val="1600"/>
              <a:buFont typeface="Arial"/>
              <a:buChar char="•"/>
            </a:pPr>
            <a:r>
              <a:rPr b="1" i="0" lang="es-ES" sz="1600" u="none" cap="none" strike="noStrike">
                <a:solidFill>
                  <a:schemeClr val="dk1"/>
                </a:solidFill>
                <a:latin typeface="Calibri"/>
                <a:ea typeface="Calibri"/>
                <a:cs typeface="Calibri"/>
                <a:sym typeface="Calibri"/>
              </a:rPr>
              <a:t>Archivos de Control:</a:t>
            </a:r>
            <a:r>
              <a:rPr b="0" i="0" lang="es-ES" sz="1600" u="none" cap="none" strike="noStrike">
                <a:solidFill>
                  <a:schemeClr val="dk1"/>
                </a:solidFill>
                <a:latin typeface="Calibri"/>
                <a:ea typeface="Calibri"/>
                <a:cs typeface="Calibri"/>
                <a:sym typeface="Calibri"/>
              </a:rPr>
              <a:t> Mantienen la estructura de la base de datos y su estado actual.</a:t>
            </a:r>
            <a:endParaRPr/>
          </a:p>
          <a:p>
            <a:pPr indent="-285750" lvl="1" marL="742950" marR="0" rtl="0" algn="just">
              <a:spcBef>
                <a:spcPts val="0"/>
              </a:spcBef>
              <a:spcAft>
                <a:spcPts val="0"/>
              </a:spcAft>
              <a:buClr>
                <a:schemeClr val="dk1"/>
              </a:buClr>
              <a:buSzPts val="1600"/>
              <a:buFont typeface="Arial"/>
              <a:buChar char="•"/>
            </a:pPr>
            <a:r>
              <a:rPr b="1" i="0" lang="es-ES" sz="1600" u="none" cap="none" strike="noStrike">
                <a:solidFill>
                  <a:schemeClr val="dk1"/>
                </a:solidFill>
                <a:latin typeface="Calibri"/>
                <a:ea typeface="Calibri"/>
                <a:cs typeface="Calibri"/>
                <a:sym typeface="Calibri"/>
              </a:rPr>
              <a:t>Archivos de Redo Log:</a:t>
            </a:r>
            <a:r>
              <a:rPr b="0" i="0" lang="es-ES" sz="1600" u="none" cap="none" strike="noStrike">
                <a:solidFill>
                  <a:schemeClr val="dk1"/>
                </a:solidFill>
                <a:latin typeface="Calibri"/>
                <a:ea typeface="Calibri"/>
                <a:cs typeface="Calibri"/>
                <a:sym typeface="Calibri"/>
              </a:rPr>
              <a:t> Registran todas las transacciones realizadas para la recuperación ante fallos.</a:t>
            </a:r>
            <a:endParaRPr/>
          </a:p>
          <a:p>
            <a:pPr indent="0" lvl="1" marL="457200" marR="0" rtl="0" algn="just">
              <a:spcBef>
                <a:spcPts val="0"/>
              </a:spcBef>
              <a:spcAft>
                <a:spcPts val="0"/>
              </a:spcAft>
              <a:buNone/>
            </a:pPr>
            <a:r>
              <a:t/>
            </a:r>
            <a:endParaRPr b="0" i="0" sz="16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1.2. </a:t>
            </a:r>
            <a:r>
              <a:rPr b="1" lang="es-ES" sz="1600">
                <a:solidFill>
                  <a:schemeClr val="dk1"/>
                </a:solidFill>
                <a:latin typeface="Calibri"/>
                <a:ea typeface="Calibri"/>
                <a:cs typeface="Calibri"/>
                <a:sym typeface="Calibri"/>
              </a:rPr>
              <a:t>Componentes Clave:</a:t>
            </a:r>
            <a:endParaRPr sz="1600">
              <a:solidFill>
                <a:schemeClr val="dk1"/>
              </a:solidFill>
              <a:latin typeface="Calibri"/>
              <a:ea typeface="Calibri"/>
              <a:cs typeface="Calibri"/>
              <a:sym typeface="Calibri"/>
            </a:endParaRPr>
          </a:p>
          <a:p>
            <a:pPr indent="-101600" lvl="0" marL="0" marR="0" rtl="0" algn="just">
              <a:spcBef>
                <a:spcPts val="0"/>
              </a:spcBef>
              <a:spcAft>
                <a:spcPts val="0"/>
              </a:spcAft>
              <a:buClr>
                <a:schemeClr val="dk1"/>
              </a:buClr>
              <a:buSzPts val="1600"/>
              <a:buFont typeface="Arial"/>
              <a:buChar char="•"/>
            </a:pPr>
            <a:r>
              <a:rPr b="1" lang="es-ES" sz="1600">
                <a:solidFill>
                  <a:schemeClr val="dk1"/>
                </a:solidFill>
                <a:latin typeface="Calibri"/>
                <a:ea typeface="Calibri"/>
                <a:cs typeface="Calibri"/>
                <a:sym typeface="Calibri"/>
              </a:rPr>
              <a:t>Tablespaces:</a:t>
            </a:r>
            <a:r>
              <a:rPr lang="es-ES" sz="1600">
                <a:solidFill>
                  <a:schemeClr val="dk1"/>
                </a:solidFill>
                <a:latin typeface="Calibri"/>
                <a:ea typeface="Calibri"/>
                <a:cs typeface="Calibri"/>
                <a:sym typeface="Calibri"/>
              </a:rPr>
              <a:t> Un tablespace es una unidad lógica de almacenamiento que agrupa uno o más archivos de datos. Cada tablespace contiene datos de usuario, índices y otros objetos.</a:t>
            </a:r>
            <a:endParaRPr/>
          </a:p>
          <a:p>
            <a:pPr indent="-101600" lvl="0" marL="0" marR="0" rtl="0" algn="just">
              <a:spcBef>
                <a:spcPts val="0"/>
              </a:spcBef>
              <a:spcAft>
                <a:spcPts val="0"/>
              </a:spcAft>
              <a:buClr>
                <a:schemeClr val="dk1"/>
              </a:buClr>
              <a:buSzPts val="1600"/>
              <a:buFont typeface="Arial"/>
              <a:buChar char="•"/>
            </a:pPr>
            <a:r>
              <a:rPr b="1" lang="es-ES" sz="1600">
                <a:solidFill>
                  <a:schemeClr val="dk1"/>
                </a:solidFill>
                <a:latin typeface="Calibri"/>
                <a:ea typeface="Calibri"/>
                <a:cs typeface="Calibri"/>
                <a:sym typeface="Calibri"/>
              </a:rPr>
              <a:t>Schemas:</a:t>
            </a:r>
            <a:r>
              <a:rPr lang="es-ES" sz="1600">
                <a:solidFill>
                  <a:schemeClr val="dk1"/>
                </a:solidFill>
                <a:latin typeface="Calibri"/>
                <a:ea typeface="Calibri"/>
                <a:cs typeface="Calibri"/>
                <a:sym typeface="Calibri"/>
              </a:rPr>
              <a:t> Un esquema es un conjunto de objetos de base de datos (tablas, vistas, índices) que pertenecen a un usuario específico.</a:t>
            </a:r>
            <a:endParaRPr/>
          </a:p>
          <a:p>
            <a:pPr indent="0" lvl="0" marL="0" marR="0" rtl="0" algn="just">
              <a:spcBef>
                <a:spcPts val="0"/>
              </a:spcBef>
              <a:spcAft>
                <a:spcPts val="0"/>
              </a:spcAft>
              <a:buNone/>
            </a:pPr>
            <a:r>
              <a:t/>
            </a:r>
            <a:endParaRPr b="1" i="0" sz="2200">
              <a:solidFill>
                <a:schemeClr val="dk1"/>
              </a:solidFill>
              <a:latin typeface="Lato"/>
              <a:ea typeface="Lato"/>
              <a:cs typeface="Lato"/>
              <a:sym typeface="Lato"/>
            </a:endParaRPr>
          </a:p>
          <a:p>
            <a:pPr indent="0" lvl="0" marL="0" marR="0" rtl="0" algn="just">
              <a:spcBef>
                <a:spcPts val="0"/>
              </a:spcBef>
              <a:spcAft>
                <a:spcPts val="0"/>
              </a:spcAft>
              <a:buNone/>
            </a:pPr>
            <a:r>
              <a:t/>
            </a:r>
            <a:endParaRPr b="1" i="0" sz="2200">
              <a:solidFill>
                <a:schemeClr val="dk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nvSpPr>
        <p:spPr>
          <a:xfrm>
            <a:off x="609600" y="685800"/>
            <a:ext cx="10744200" cy="38164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200">
                <a:solidFill>
                  <a:schemeClr val="dk1"/>
                </a:solidFill>
                <a:latin typeface="Lato"/>
                <a:ea typeface="Lato"/>
                <a:cs typeface="Lato"/>
                <a:sym typeface="Lato"/>
              </a:rPr>
              <a:t>¿Qué es el Afinamiento de Bases de Datos Oracle?</a:t>
            </a:r>
            <a:endParaRPr/>
          </a:p>
          <a:p>
            <a:pPr indent="0" lvl="0" marL="0" marR="0" rtl="0" algn="l">
              <a:spcBef>
                <a:spcPts val="0"/>
              </a:spcBef>
              <a:spcAft>
                <a:spcPts val="0"/>
              </a:spcAft>
              <a:buNone/>
            </a:pPr>
            <a:r>
              <a:t/>
            </a:r>
            <a:endParaRPr b="0" i="0" sz="2200">
              <a:solidFill>
                <a:schemeClr val="dk1"/>
              </a:solidFill>
              <a:latin typeface="Lato"/>
              <a:ea typeface="Lato"/>
              <a:cs typeface="Lato"/>
              <a:sym typeface="Lato"/>
            </a:endParaRPr>
          </a:p>
          <a:p>
            <a:pPr indent="0" lvl="0" marL="0" marR="0" rtl="0" algn="just">
              <a:spcBef>
                <a:spcPts val="0"/>
              </a:spcBef>
              <a:spcAft>
                <a:spcPts val="0"/>
              </a:spcAft>
              <a:buNone/>
            </a:pPr>
            <a:r>
              <a:rPr b="0" i="0" lang="es-ES" sz="2200">
                <a:solidFill>
                  <a:schemeClr val="dk1"/>
                </a:solidFill>
                <a:latin typeface="Lato"/>
                <a:ea typeface="Lato"/>
                <a:cs typeface="Lato"/>
                <a:sym typeface="Lato"/>
              </a:rPr>
              <a:t>El Afinamiento o tuning de Bases de Datos Oracle (Performance Tuning de Base de Datos Oracle) es el proceso de cambiar la configuración de la base de datos en un esfuerzo por obtener un mejor rendimiento de ésta. Esto requiere una comprensión profunda de la arquitectura y de cómo funciona el motor de la base de datos, qué hace cada parámetro de configuración y qué valores deben usarse.</a:t>
            </a:r>
            <a:endParaRPr/>
          </a:p>
          <a:p>
            <a:pPr indent="0" lvl="0" marL="0" marR="0" rtl="0" algn="just">
              <a:spcBef>
                <a:spcPts val="0"/>
              </a:spcBef>
              <a:spcAft>
                <a:spcPts val="0"/>
              </a:spcAft>
              <a:buNone/>
            </a:pPr>
            <a:r>
              <a:rPr b="0" i="0" lang="es-ES" sz="2200">
                <a:solidFill>
                  <a:schemeClr val="dk1"/>
                </a:solidFill>
                <a:latin typeface="Lato"/>
                <a:ea typeface="Lato"/>
                <a:cs typeface="Lato"/>
                <a:sym typeface="Lato"/>
              </a:rPr>
              <a:t>Ajustar el rendimiento de Oracle no es similar a ajustar otras bases de datos, como por ejemplo Oracle. Esto se debe a que, con Oracle, puede activar cada esquema para una métrica de rendimiento diferente según el caso de uso, por ejemplo, escrituras o lecturas frecuentes.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nvSpPr>
        <p:spPr>
          <a:xfrm>
            <a:off x="304800" y="625525"/>
            <a:ext cx="11353800" cy="62324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300">
                <a:solidFill>
                  <a:srgbClr val="222222"/>
                </a:solidFill>
                <a:latin typeface="Lato"/>
                <a:ea typeface="Lato"/>
                <a:cs typeface="Lato"/>
                <a:sym typeface="Lato"/>
              </a:rPr>
              <a:t>Arquitectura Oracle</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La arquitectura de Oracle Database está diseñada para proporcionar una plataforma robusta y eficiente para el almacenamiento, gestión y recuperación de datos. Aquí te presento una descripción detallada de su arquitectura:</a:t>
            </a:r>
            <a:endParaRPr/>
          </a:p>
          <a:p>
            <a:pPr indent="0" lvl="0" marL="0" marR="0" rtl="0" algn="just">
              <a:spcBef>
                <a:spcPts val="0"/>
              </a:spcBef>
              <a:spcAft>
                <a:spcPts val="0"/>
              </a:spcAft>
              <a:buNone/>
            </a:pPr>
            <a:r>
              <a:t/>
            </a:r>
            <a:endParaRPr b="1" i="0" sz="1300">
              <a:solidFill>
                <a:srgbClr val="222222"/>
              </a:solidFill>
              <a:latin typeface="Lato"/>
              <a:ea typeface="Lato"/>
              <a:cs typeface="Lato"/>
              <a:sym typeface="Lato"/>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1. Componentes Clave</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1.1. Instancia de Oracle:</a:t>
            </a:r>
            <a:endParaRPr/>
          </a:p>
          <a:p>
            <a:pPr indent="0" lvl="0" marL="0" marR="0" rtl="0" algn="just">
              <a:spcBef>
                <a:spcPts val="0"/>
              </a:spcBef>
              <a:spcAft>
                <a:spcPts val="0"/>
              </a:spcAft>
              <a:buNone/>
            </a:pPr>
            <a:r>
              <a:t/>
            </a:r>
            <a:endParaRPr b="1" i="0" sz="1300">
              <a:solidFill>
                <a:srgbClr val="222222"/>
              </a:solidFill>
              <a:latin typeface="Lato"/>
              <a:ea typeface="Lato"/>
              <a:cs typeface="Lato"/>
              <a:sym typeface="Lato"/>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Definición: La instancia es un conjunto de procesos y memoria que gestionan el acceso a la base de datos. Cada instancia está asociada con una base de datos.</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Componentes:</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SGA (System Global Area): Área de memoria compartida que contiene datos y estructuras necesarios para la operación de la base de datos. Incluye:</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Database Buffer Cache: Almacena bloques de datos leídos desde los archivos de datos.</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Shared Pool: Almacena estructuras compartidas como el diccionario de datos y las declaraciones SQL.</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Redo Log Buffer: Almacena registros de redo log antes de que se escriban en los archivos de redo log.</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PGA (Program Global Area): Área de memoria privada que contiene datos y control de ejecución para procesos de usuario.</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1.2. Base de Datos:</a:t>
            </a:r>
            <a:endParaRPr/>
          </a:p>
          <a:p>
            <a:pPr indent="0" lvl="0" marL="0" marR="0" rtl="0" algn="just">
              <a:spcBef>
                <a:spcPts val="0"/>
              </a:spcBef>
              <a:spcAft>
                <a:spcPts val="0"/>
              </a:spcAft>
              <a:buNone/>
            </a:pPr>
            <a:r>
              <a:t/>
            </a:r>
            <a:endParaRPr b="1" i="0" sz="1300">
              <a:solidFill>
                <a:srgbClr val="222222"/>
              </a:solidFill>
              <a:latin typeface="Lato"/>
              <a:ea typeface="Lato"/>
              <a:cs typeface="Lato"/>
              <a:sym typeface="Lato"/>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Definición: La base de datos es el conjunto de archivos físicos donde se almacenan los datos. Cada base de datos se asocia con una instancia.</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Componentes:</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Archivos de Datos: Contienen datos reales de las tablas e índices. Tienen una extensión .dbf.</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Archivos de Control: Mantienen la estructura de la base de datos y su estado. Contienen información sobre los archivos de datos y redo log.</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Archivos de Redo Log: Registran todas las transacciones realizadas en la base de datos para asegurar la recuperación ante fallos.</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2. Estructura de la Base de Datos</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2.1. Tablespaces:</a:t>
            </a:r>
            <a:endParaRPr/>
          </a:p>
          <a:p>
            <a:pPr indent="0" lvl="0" marL="0" marR="0" rtl="0" algn="just">
              <a:spcBef>
                <a:spcPts val="0"/>
              </a:spcBef>
              <a:spcAft>
                <a:spcPts val="0"/>
              </a:spcAft>
              <a:buNone/>
            </a:pPr>
            <a:r>
              <a:t/>
            </a:r>
            <a:endParaRPr b="1" i="0" sz="1300">
              <a:solidFill>
                <a:srgbClr val="222222"/>
              </a:solidFill>
              <a:latin typeface="Lato"/>
              <a:ea typeface="Lato"/>
              <a:cs typeface="Lato"/>
              <a:sym typeface="Lato"/>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Definición: Un tablespace es una unidad lógica de almacenamiento en la base de datos. Agrupa uno o más archivos de datos.</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Tipos de Tablespaces:</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Tablespace de Usuario: Almacena objetos de usuario como tablas e índices.</a:t>
            </a:r>
            <a:endParaRPr/>
          </a:p>
          <a:p>
            <a:pPr indent="0" lvl="0" marL="0" marR="0" rtl="0" algn="just">
              <a:spcBef>
                <a:spcPts val="0"/>
              </a:spcBef>
              <a:spcAft>
                <a:spcPts val="0"/>
              </a:spcAft>
              <a:buNone/>
            </a:pPr>
            <a:r>
              <a:rPr b="1" i="0" lang="es-ES" sz="1300">
                <a:solidFill>
                  <a:srgbClr val="222222"/>
                </a:solidFill>
                <a:latin typeface="Lato"/>
                <a:ea typeface="Lato"/>
                <a:cs typeface="Lato"/>
                <a:sym typeface="Lato"/>
              </a:rPr>
              <a:t>Tablespace Temporal: Utilizado para operaciones temporales como ordenaciones y agrupaciones.</a:t>
            </a:r>
            <a:endParaRPr/>
          </a:p>
          <a:p>
            <a:pPr indent="0" lvl="0" marL="0" marR="0" rtl="0" algn="just">
              <a:spcBef>
                <a:spcPts val="0"/>
              </a:spcBef>
              <a:spcAft>
                <a:spcPts val="0"/>
              </a:spcAft>
              <a:buNone/>
            </a:pPr>
            <a:r>
              <a:t/>
            </a:r>
            <a:endParaRPr b="0" i="0" sz="2200">
              <a:solidFill>
                <a:srgbClr val="222222"/>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nvSpPr>
        <p:spPr>
          <a:xfrm>
            <a:off x="990600" y="1143000"/>
            <a:ext cx="10210800" cy="19389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2000">
                <a:solidFill>
                  <a:srgbClr val="1F4282"/>
                </a:solidFill>
                <a:latin typeface="Roboto"/>
                <a:ea typeface="Roboto"/>
                <a:cs typeface="Roboto"/>
                <a:sym typeface="Roboto"/>
              </a:rPr>
              <a:t>Cómo ajustar el rendimiento de Oracle</a:t>
            </a:r>
            <a:endParaRPr/>
          </a:p>
          <a:p>
            <a:pPr indent="0" lvl="0" marL="0" marR="0" rtl="0" algn="ctr">
              <a:spcBef>
                <a:spcPts val="0"/>
              </a:spcBef>
              <a:spcAft>
                <a:spcPts val="0"/>
              </a:spcAft>
              <a:buNone/>
            </a:pPr>
            <a:r>
              <a:t/>
            </a:r>
            <a:endParaRPr b="1" i="0" sz="2000">
              <a:solidFill>
                <a:srgbClr val="1F4282"/>
              </a:solidFill>
              <a:latin typeface="Roboto"/>
              <a:ea typeface="Roboto"/>
              <a:cs typeface="Roboto"/>
              <a:sym typeface="Roboto"/>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Hay muchas formas de realizar un Tuning de bases de datos Oracle. Depende principalmente del caso de uso, por lo que es importante saber qué quiere lograr antes de comenzar. Hay varios parámetros de configuración que se pueden usar para realizar ajustes, algunos de los cuales analizaré en esta sección.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nvSpPr>
        <p:spPr>
          <a:xfrm>
            <a:off x="685800" y="914400"/>
            <a:ext cx="1059180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000">
                <a:solidFill>
                  <a:srgbClr val="1E73BE"/>
                </a:solidFill>
                <a:latin typeface="Roboto"/>
                <a:ea typeface="Roboto"/>
                <a:cs typeface="Roboto"/>
                <a:sym typeface="Roboto"/>
              </a:rPr>
              <a:t>Diseño de base de datos</a:t>
            </a:r>
            <a:endParaRPr/>
          </a:p>
          <a:p>
            <a:pPr indent="0" lvl="0" marL="0" marR="0" rtl="0" algn="l">
              <a:spcBef>
                <a:spcPts val="0"/>
              </a:spcBef>
              <a:spcAft>
                <a:spcPts val="0"/>
              </a:spcAft>
              <a:buNone/>
            </a:pPr>
            <a:r>
              <a:t/>
            </a:r>
            <a:endParaRPr b="0" i="0" sz="2000">
              <a:solidFill>
                <a:srgbClr val="1E73BE"/>
              </a:solidFill>
              <a:latin typeface="Roboto"/>
              <a:ea typeface="Roboto"/>
              <a:cs typeface="Roboto"/>
              <a:sym typeface="Roboto"/>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Podría decirse que el diseño de la base de datos es uno de los pasos más importantes para optimizar el rendimiento de cualquier base de datos, no solo de Oracle. Uno observa que en la práctica es una de las actividades que menos se hace, porque en general, los desarrolladores ignoran las claves de la arquitectura de RDBMS y los elementos que influyen en un buen rendimiento de BD. Indexar las columnas FKs, particionar, son acciones elementales que pueden mejorar mucho el rendimiento. </a:t>
            </a:r>
            <a:r>
              <a:rPr b="1" i="0" lang="es-ES" sz="2000">
                <a:solidFill>
                  <a:srgbClr val="222222"/>
                </a:solidFill>
                <a:latin typeface="Roboto"/>
                <a:ea typeface="Roboto"/>
                <a:cs typeface="Roboto"/>
                <a:sym typeface="Roboto"/>
              </a:rPr>
              <a:t>Tener índices adecuados</a:t>
            </a:r>
            <a:r>
              <a:rPr b="0" i="0" lang="es-ES" sz="2000">
                <a:solidFill>
                  <a:srgbClr val="222222"/>
                </a:solidFill>
                <a:latin typeface="Roboto"/>
                <a:ea typeface="Roboto"/>
                <a:cs typeface="Roboto"/>
                <a:sym typeface="Roboto"/>
              </a:rPr>
              <a:t> depende en gran medida del caso de uso y de las consultas que ejecutará con frecuencia. La idea aquí es filtrar la mayor cantidad de datos posible para que haya menos datos para cargar en memoria. Por lo tanto, debe </a:t>
            </a:r>
            <a:r>
              <a:rPr b="1" i="0" lang="es-ES" sz="2000">
                <a:solidFill>
                  <a:srgbClr val="222222"/>
                </a:solidFill>
                <a:latin typeface="Roboto"/>
                <a:ea typeface="Roboto"/>
                <a:cs typeface="Roboto"/>
                <a:sym typeface="Roboto"/>
              </a:rPr>
              <a:t>crear índices en columnas</a:t>
            </a:r>
            <a:r>
              <a:rPr b="0" i="0" lang="es-ES" sz="2000">
                <a:solidFill>
                  <a:srgbClr val="222222"/>
                </a:solidFill>
                <a:latin typeface="Roboto"/>
                <a:ea typeface="Roboto"/>
                <a:cs typeface="Roboto"/>
                <a:sym typeface="Roboto"/>
              </a:rPr>
              <a:t> que normalmente se utilizan como filtros (cláusula WHERE ) en las consultas ejecutadas con más frecuencia.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nvSpPr>
        <p:spPr>
          <a:xfrm>
            <a:off x="533400" y="696872"/>
            <a:ext cx="110490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1800">
                <a:solidFill>
                  <a:srgbClr val="7C8BA0"/>
                </a:solidFill>
                <a:latin typeface="Roboto"/>
                <a:ea typeface="Roboto"/>
                <a:cs typeface="Roboto"/>
                <a:sym typeface="Roboto"/>
              </a:rPr>
              <a:t>Ajuste de hardware</a:t>
            </a:r>
            <a:endParaRPr/>
          </a:p>
          <a:p>
            <a:pPr indent="0" lvl="0" marL="0" marR="0" rtl="0" algn="ctr">
              <a:spcBef>
                <a:spcPts val="0"/>
              </a:spcBef>
              <a:spcAft>
                <a:spcPts val="0"/>
              </a:spcAft>
              <a:buNone/>
            </a:pPr>
            <a:r>
              <a:t/>
            </a:r>
            <a:endParaRPr b="0" i="0" sz="1800">
              <a:solidFill>
                <a:srgbClr val="7C8BA0"/>
              </a:solidFill>
              <a:latin typeface="Roboto"/>
              <a:ea typeface="Roboto"/>
              <a:cs typeface="Roboto"/>
              <a:sym typeface="Roboto"/>
            </a:endParaRPr>
          </a:p>
          <a:p>
            <a:pPr indent="0" lvl="0" marL="0" marR="0" rtl="0" algn="just">
              <a:spcBef>
                <a:spcPts val="0"/>
              </a:spcBef>
              <a:spcAft>
                <a:spcPts val="0"/>
              </a:spcAft>
              <a:buNone/>
            </a:pPr>
            <a:r>
              <a:rPr b="0" i="0" lang="es-ES" sz="1800">
                <a:solidFill>
                  <a:srgbClr val="222222"/>
                </a:solidFill>
                <a:latin typeface="Roboto"/>
                <a:ea typeface="Roboto"/>
                <a:cs typeface="Roboto"/>
                <a:sym typeface="Roboto"/>
              </a:rPr>
              <a:t>El hardware subyacente definitivamente tiene un papel que desempeñar en la optimización del rendimiento de Oracle. Los desarrolladores deben tener en cuenta la partición, indexación, configuración y capacidad del hardware de los datos al diseñar consultas. Aquí, veremos cuatro componentes de hardware principales y cómo afectan el rendimiento de Oracle.</a:t>
            </a:r>
            <a:endParaRPr/>
          </a:p>
        </p:txBody>
      </p:sp>
      <p:sp>
        <p:nvSpPr>
          <p:cNvPr id="179" name="Google Shape;179;p19"/>
          <p:cNvSpPr txBox="1"/>
          <p:nvPr/>
        </p:nvSpPr>
        <p:spPr>
          <a:xfrm>
            <a:off x="609600" y="2558534"/>
            <a:ext cx="5181600"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200">
                <a:solidFill>
                  <a:srgbClr val="222222"/>
                </a:solidFill>
                <a:latin typeface="Roboto"/>
                <a:ea typeface="Roboto"/>
                <a:cs typeface="Roboto"/>
                <a:sym typeface="Roboto"/>
              </a:rPr>
              <a:t>CPU</a:t>
            </a:r>
            <a:endParaRPr b="0" i="0" sz="1200">
              <a:solidFill>
                <a:srgbClr val="222222"/>
              </a:solidFill>
              <a:latin typeface="Roboto"/>
              <a:ea typeface="Roboto"/>
              <a:cs typeface="Roboto"/>
              <a:sym typeface="Roboto"/>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La CPU juega un papel importante en el rendimiento de las consultas Oracle. Las operaciones y cálculos complejos, como agregaciones, uniones, hash, agrupaciones, clasificación, etc., requieren tiempo de CPU. Y junto con el tiempo de CPU, la CPU debería ser lo suficientemente poderosa para manejar tales tareas.</a:t>
            </a:r>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Ampliar la capacidad de CPU es una acción que tiene alto costo. Por lo tanto, es necesario realizar un análisis exhaustivo del impacto de la CPU en el rendimiento antes de actualizar la CPU. Al mismo tiempo, se debe pensar lo suficiente en optimizar la consulta para aprovechar al máximo la CPU existente.</a:t>
            </a:r>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Una de las acciones más importantes de un motor de base de datos en consumir un alto nivel de CPU, es la generación del Plan de Ejecución de una consulta. Se deben evaluar los costos de muchos planes de ejecución alternativos, y de debe elegir el “óptimo”, el de menor costo. En la medida que las consultas sean complejas, la cantidad de planes a evaluar será muy grande, y el esfuerzo de cálculo en la evaluación será mayor.</a:t>
            </a:r>
            <a:endParaRPr/>
          </a:p>
        </p:txBody>
      </p:sp>
      <p:sp>
        <p:nvSpPr>
          <p:cNvPr id="180" name="Google Shape;180;p19"/>
          <p:cNvSpPr txBox="1"/>
          <p:nvPr/>
        </p:nvSpPr>
        <p:spPr>
          <a:xfrm>
            <a:off x="6096000" y="2558534"/>
            <a:ext cx="5534025"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200">
                <a:solidFill>
                  <a:srgbClr val="222222"/>
                </a:solidFill>
                <a:latin typeface="Roboto"/>
                <a:ea typeface="Roboto"/>
                <a:cs typeface="Roboto"/>
                <a:sym typeface="Roboto"/>
              </a:rPr>
              <a:t>RAM</a:t>
            </a:r>
            <a:endParaRPr b="0" i="0" sz="1200">
              <a:solidFill>
                <a:srgbClr val="222222"/>
              </a:solidFill>
              <a:latin typeface="Roboto"/>
              <a:ea typeface="Roboto"/>
              <a:cs typeface="Roboto"/>
              <a:sym typeface="Roboto"/>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La RAM o la memoria es crucial para que las bases de datos funcionen correctamente. El buffer pool de la instancia Oracle vive en la RAM. Siempre que enviamos una consulta, los datos primero se guardan en la memoria y luego se aplica cualquier agregación, agrupación, clasificación, etc. Por eso es importante asegurarse de tener suficiente memoria para guardar sus datos.</a:t>
            </a:r>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Con mayor memoria, también verá un mayor caché de disco y operaciones de I/O reducidas en el disco. Esto mejora significativamente el rendimiento de las consultas Oracle, ya que las operaciones de I/O son mucho más caras que las operaciones en la memoria. </a:t>
            </a:r>
            <a:r>
              <a:rPr b="1" i="0" lang="es-ES" sz="1200">
                <a:solidFill>
                  <a:srgbClr val="222222"/>
                </a:solidFill>
                <a:latin typeface="Roboto"/>
                <a:ea typeface="Roboto"/>
                <a:cs typeface="Roboto"/>
                <a:sym typeface="Roboto"/>
              </a:rPr>
              <a:t>Nunca está mal tener un poco más de memoria de la absolutamente necesaria</a:t>
            </a:r>
            <a:r>
              <a:rPr b="0" i="0" lang="es-ES" sz="1200">
                <a:solidFill>
                  <a:srgbClr val="222222"/>
                </a:solidFill>
                <a:latin typeface="Roboto"/>
                <a:ea typeface="Roboto"/>
                <a:cs typeface="Roboto"/>
                <a:sym typeface="Roboto"/>
              </a:rPr>
              <a:t>.</a:t>
            </a:r>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Por otro lado, si no tenemos suficiente memoria, nuestras consultas podrían cerrarse con una excepción de «memoria insuficiente», u otros procesos en ejecución podrían cerrarse abruptamente para dar cabida a nuestras consultas.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nvSpPr>
        <p:spPr>
          <a:xfrm>
            <a:off x="585788" y="1219200"/>
            <a:ext cx="5129211" cy="35394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400">
                <a:solidFill>
                  <a:srgbClr val="222222"/>
                </a:solidFill>
                <a:latin typeface="Roboto"/>
                <a:ea typeface="Roboto"/>
                <a:cs typeface="Roboto"/>
                <a:sym typeface="Roboto"/>
              </a:rPr>
              <a:t>I/O de disco</a:t>
            </a:r>
            <a:endParaRPr b="0" i="0" sz="1400">
              <a:solidFill>
                <a:srgbClr val="222222"/>
              </a:solidFill>
              <a:latin typeface="Roboto"/>
              <a:ea typeface="Roboto"/>
              <a:cs typeface="Roboto"/>
              <a:sym typeface="Roboto"/>
            </a:endParaRPr>
          </a:p>
          <a:p>
            <a:pPr indent="0" lvl="0" marL="0" marR="0" rtl="0" algn="just">
              <a:spcBef>
                <a:spcPts val="0"/>
              </a:spcBef>
              <a:spcAft>
                <a:spcPts val="0"/>
              </a:spcAft>
              <a:buNone/>
            </a:pPr>
            <a:r>
              <a:rPr b="0" i="0" lang="es-ES" sz="1400">
                <a:solidFill>
                  <a:srgbClr val="222222"/>
                </a:solidFill>
                <a:latin typeface="Roboto"/>
                <a:ea typeface="Roboto"/>
                <a:cs typeface="Roboto"/>
                <a:sym typeface="Roboto"/>
              </a:rPr>
              <a:t>Un disco duro (ya sea magnético o SSD) es donde residen todos los datos. Entonces, cada vez que se envía una consulta, primero se deben leer los datos del disco y cargarlos en la memoria (shared pool). De manera similar, siempre que haya una operación de escritura, los datos deben escribirse en el disco desde la memoria. Todo esto genera costos de I/O de disco.</a:t>
            </a:r>
            <a:endParaRPr/>
          </a:p>
          <a:p>
            <a:pPr indent="0" lvl="0" marL="0" marR="0" rtl="0" algn="just">
              <a:spcBef>
                <a:spcPts val="0"/>
              </a:spcBef>
              <a:spcAft>
                <a:spcPts val="0"/>
              </a:spcAft>
              <a:buNone/>
            </a:pPr>
            <a:r>
              <a:rPr b="0" i="0" lang="es-ES" sz="1400">
                <a:solidFill>
                  <a:srgbClr val="222222"/>
                </a:solidFill>
                <a:latin typeface="Roboto"/>
                <a:ea typeface="Roboto"/>
                <a:cs typeface="Roboto"/>
                <a:sym typeface="Roboto"/>
              </a:rPr>
              <a:t>Un tiempo de lectura y escritura rápido mejora en gran medida el rendimiento de una consulta Oracle, ya que los datos pueden cargarse rápidamente en la memoria o descargarse rápidamente de la memoria. Si hay operaciones de I/O importantes en la base de datos, otra buena idea es almacenar físicamente cada tablespace en una unidad de disco diferente para que el disco no se sobrecargue con solicitudes de operaciones de I/O.</a:t>
            </a:r>
            <a:endParaRPr/>
          </a:p>
        </p:txBody>
      </p:sp>
      <p:sp>
        <p:nvSpPr>
          <p:cNvPr id="186" name="Google Shape;186;p20"/>
          <p:cNvSpPr txBox="1"/>
          <p:nvPr/>
        </p:nvSpPr>
        <p:spPr>
          <a:xfrm>
            <a:off x="6065043" y="1219200"/>
            <a:ext cx="5560218" cy="310854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400">
                <a:solidFill>
                  <a:srgbClr val="222222"/>
                </a:solidFill>
                <a:latin typeface="Roboto"/>
                <a:ea typeface="Roboto"/>
                <a:cs typeface="Roboto"/>
                <a:sym typeface="Roboto"/>
              </a:rPr>
              <a:t>Red</a:t>
            </a:r>
            <a:endParaRPr b="0" i="0" sz="1400">
              <a:solidFill>
                <a:srgbClr val="222222"/>
              </a:solidFill>
              <a:latin typeface="Roboto"/>
              <a:ea typeface="Roboto"/>
              <a:cs typeface="Roboto"/>
              <a:sym typeface="Roboto"/>
            </a:endParaRPr>
          </a:p>
          <a:p>
            <a:pPr indent="0" lvl="0" marL="0" marR="0" rtl="0" algn="just">
              <a:spcBef>
                <a:spcPts val="0"/>
              </a:spcBef>
              <a:spcAft>
                <a:spcPts val="0"/>
              </a:spcAft>
              <a:buNone/>
            </a:pPr>
            <a:r>
              <a:rPr b="0" i="0" lang="es-ES" sz="1400">
                <a:solidFill>
                  <a:srgbClr val="222222"/>
                </a:solidFill>
                <a:latin typeface="Roboto"/>
                <a:ea typeface="Roboto"/>
                <a:cs typeface="Roboto"/>
                <a:sym typeface="Roboto"/>
              </a:rPr>
              <a:t>Es posible que optimizar la red no parezca tan importante al principio. Pero a medida que los datos crecen, se puede ver que la red desempeña un papel importante en el rendimiento de las consultas. Los retrasos en la red son uno de los cuellos de botella de rendimiento más comunes. Es importante contar con tarjetas de red confiables, de alta velocidad y con gran ancho de banda. Además, la conectividad de alta velocidad entre nodos es igualmente crucial. Esto permite que los datos fluyan fácil y rápidamente entre máquinas y no bloqueen consultas. Si tiene una arquitectura de N capas, hay que tratar de minimizar el viaje de datos desde la capa de datos a la capa lógica de negocio, tratando de procesar la máxima información en la base de datos misma, por ejemplo, vía procedimiento o funciones almacenadas.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nvSpPr>
        <p:spPr>
          <a:xfrm>
            <a:off x="800100" y="838200"/>
            <a:ext cx="10591800" cy="501675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2000">
                <a:solidFill>
                  <a:srgbClr val="555555"/>
                </a:solidFill>
                <a:latin typeface="Roboto"/>
                <a:ea typeface="Roboto"/>
                <a:cs typeface="Roboto"/>
                <a:sym typeface="Roboto"/>
              </a:rPr>
              <a:t>Optimización del sistema operativo</a:t>
            </a:r>
            <a:endParaRPr/>
          </a:p>
          <a:p>
            <a:pPr indent="0" lvl="0" marL="0" marR="0" rtl="0" algn="ctr">
              <a:spcBef>
                <a:spcPts val="0"/>
              </a:spcBef>
              <a:spcAft>
                <a:spcPts val="0"/>
              </a:spcAft>
              <a:buNone/>
            </a:pPr>
            <a:r>
              <a:t/>
            </a:r>
            <a:endParaRPr b="1" i="0" sz="2000">
              <a:solidFill>
                <a:srgbClr val="555555"/>
              </a:solidFill>
              <a:latin typeface="Roboto"/>
              <a:ea typeface="Roboto"/>
              <a:cs typeface="Roboto"/>
              <a:sym typeface="Roboto"/>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El sistema operativo desempeña un papel importante en el rendimiento de una base de datos, ya que es la capa que permite la comunicación entre el software de la base de datos y el hardware subyacente. Por ejemplo, si un sistema operativo no puede leer grandes pedazos de archivos de datos del disco a la memoria, el rendimiento general será deficiente.</a:t>
            </a:r>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Cada sistema operativo proporciona muchos parámetros de configuración para ajustar el rendimiento y adaptarlo mejor a nuestro caso de uso. Con una configuración personalizada podemos mejorar significativamente el rendimiento de lectura y escritura de nuestras bases de datos Oracle. Los sistemas operativos también brindan capacidades que el software de bases de datos generalmente no incluye y, sin embargo, dependen de dichas características para su correcto funcionamiento.</a:t>
            </a:r>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Un ejemplo de esto es mantener activa y abierta una conexión TCP entre un servidor de base de datos y un cliente. Normalmente en las bases de datos Oracle  se ven errores como los siguientes: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p:nvPr/>
        </p:nvSpPr>
        <p:spPr>
          <a:xfrm>
            <a:off x="590550" y="612844"/>
            <a:ext cx="10972800" cy="5632311"/>
          </a:xfrm>
          <a:prstGeom prst="rect">
            <a:avLst/>
          </a:prstGeom>
          <a:noFill/>
          <a:ln>
            <a:noFill/>
          </a:ln>
        </p:spPr>
        <p:txBody>
          <a:bodyPr anchorCtr="0" anchor="ctr" bIns="0" lIns="0" spcFirstLastPara="1" rIns="0" wrap="square" tIns="0">
            <a:spAutoFit/>
          </a:bodyPr>
          <a:lstStyle/>
          <a:p>
            <a:pPr indent="0" lvl="0" marL="0" marR="0" rtl="0" algn="just">
              <a:lnSpc>
                <a:spcPct val="100000"/>
              </a:lnSpc>
              <a:spcBef>
                <a:spcPts val="0"/>
              </a:spcBef>
              <a:spcAft>
                <a:spcPts val="0"/>
              </a:spcAft>
              <a:buClr>
                <a:srgbClr val="242424"/>
              </a:buClr>
              <a:buSzPts val="2400"/>
              <a:buFont typeface="Arial"/>
              <a:buNone/>
            </a:pPr>
            <a:r>
              <a:rPr b="1" i="0" lang="es-ES" sz="2400" u="none" cap="none" strike="noStrike">
                <a:solidFill>
                  <a:srgbClr val="242424"/>
                </a:solidFill>
                <a:latin typeface="Arial"/>
                <a:ea typeface="Arial"/>
                <a:cs typeface="Arial"/>
                <a:sym typeface="Arial"/>
              </a:rPr>
              <a:t>Estructura de gestión de la información</a:t>
            </a:r>
            <a:endParaRPr/>
          </a:p>
          <a:p>
            <a:pPr indent="0" lvl="0" marL="0" marR="0" rtl="0" algn="just">
              <a:lnSpc>
                <a:spcPct val="100000"/>
              </a:lnSpc>
              <a:spcBef>
                <a:spcPts val="0"/>
              </a:spcBef>
              <a:spcAft>
                <a:spcPts val="0"/>
              </a:spcAft>
              <a:buClr>
                <a:srgbClr val="242424"/>
              </a:buClr>
              <a:buSzPts val="1800"/>
              <a:buFont typeface="Arial"/>
              <a:buNone/>
            </a:pPr>
            <a:r>
              <a:rPr b="0" i="0" lang="es-ES" sz="1800" u="none" cap="none" strike="noStrike">
                <a:solidFill>
                  <a:srgbClr val="242424"/>
                </a:solidFill>
                <a:latin typeface="Arial"/>
                <a:ea typeface="Arial"/>
                <a:cs typeface="Arial"/>
                <a:sym typeface="Arial"/>
              </a:rPr>
              <a:t>Oracle sigue el esquema de una base de datos relacional. Por lo cual, Oracle se estructura utilizando varios elementos específicos de aquel modelo.</a:t>
            </a:r>
            <a:endParaRPr/>
          </a:p>
          <a:p>
            <a:pPr indent="0" lvl="0" marL="0" marR="0" rtl="0" algn="just">
              <a:lnSpc>
                <a:spcPct val="100000"/>
              </a:lnSpc>
              <a:spcBef>
                <a:spcPts val="0"/>
              </a:spcBef>
              <a:spcAft>
                <a:spcPts val="0"/>
              </a:spcAft>
              <a:buClr>
                <a:schemeClr val="dk1"/>
              </a:buClr>
              <a:buSzPts val="1800"/>
              <a:buFont typeface="Arial"/>
              <a:buNone/>
            </a:pPr>
            <a:r>
              <a:t/>
            </a:r>
            <a:endParaRPr sz="1800">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sz="1800">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sz="1800">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sz="1800">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rgbClr val="242424"/>
              </a:buClr>
              <a:buSzPts val="1800"/>
              <a:buFont typeface="Arial"/>
              <a:buNone/>
            </a:pPr>
            <a:r>
              <a:rPr b="0" i="0" lang="es-ES" sz="1800" u="none" cap="none" strike="noStrike">
                <a:solidFill>
                  <a:srgbClr val="242424"/>
                </a:solidFill>
                <a:latin typeface="Arial"/>
                <a:ea typeface="Arial"/>
                <a:cs typeface="Arial"/>
                <a:sym typeface="Arial"/>
              </a:rPr>
              <a:t>La estructura básica de una base de datos en Oracle contiene los siguientes elementos clave:</a:t>
            </a:r>
            <a:endParaRPr b="0" i="0" sz="1400" u="none" cap="none" strike="noStrike">
              <a:solidFill>
                <a:schemeClr val="dk1"/>
              </a:solidFill>
              <a:latin typeface="Arial"/>
              <a:ea typeface="Arial"/>
              <a:cs typeface="Arial"/>
              <a:sym typeface="Arial"/>
            </a:endParaRPr>
          </a:p>
          <a:p>
            <a:pPr indent="-114300" lvl="0" marL="0" marR="0" rtl="0" algn="just">
              <a:lnSpc>
                <a:spcPct val="100000"/>
              </a:lnSpc>
              <a:spcBef>
                <a:spcPts val="0"/>
              </a:spcBef>
              <a:spcAft>
                <a:spcPts val="0"/>
              </a:spcAft>
              <a:buClr>
                <a:srgbClr val="242424"/>
              </a:buClr>
              <a:buSzPts val="1800"/>
              <a:buFont typeface="Arial"/>
              <a:buChar char="•"/>
            </a:pPr>
            <a:r>
              <a:rPr b="1" i="0" lang="es-ES" sz="1800" u="none" cap="none" strike="noStrike">
                <a:solidFill>
                  <a:srgbClr val="242424"/>
                </a:solidFill>
                <a:latin typeface="Arial"/>
                <a:ea typeface="Arial"/>
                <a:cs typeface="Arial"/>
                <a:sym typeface="Arial"/>
              </a:rPr>
              <a:t>Tablas</a:t>
            </a:r>
            <a:r>
              <a:rPr b="0" i="0" lang="es-ES" sz="1800" u="none" cap="none" strike="noStrike">
                <a:solidFill>
                  <a:srgbClr val="242424"/>
                </a:solidFill>
                <a:latin typeface="Arial"/>
                <a:ea typeface="Arial"/>
                <a:cs typeface="Arial"/>
                <a:sym typeface="Arial"/>
              </a:rPr>
              <a:t>: Las tablas son el mecanismo principal que tienen las bases de datos relacionales para almacenar y organizar los datos. Las tablas se asemejan a una hoja de cálculo, compuesta por filas y columnas.</a:t>
            </a:r>
            <a:endParaRPr/>
          </a:p>
          <a:p>
            <a:pPr indent="-114300" lvl="0" marL="0" marR="0" rtl="0" algn="just">
              <a:lnSpc>
                <a:spcPct val="100000"/>
              </a:lnSpc>
              <a:spcBef>
                <a:spcPts val="0"/>
              </a:spcBef>
              <a:spcAft>
                <a:spcPts val="0"/>
              </a:spcAft>
              <a:buClr>
                <a:srgbClr val="242424"/>
              </a:buClr>
              <a:buSzPts val="1800"/>
              <a:buFont typeface="Arial"/>
              <a:buChar char="•"/>
            </a:pPr>
            <a:r>
              <a:rPr b="1" i="0" lang="es-ES" sz="1800" u="none" cap="none" strike="noStrike">
                <a:solidFill>
                  <a:srgbClr val="242424"/>
                </a:solidFill>
                <a:latin typeface="Arial"/>
                <a:ea typeface="Arial"/>
                <a:cs typeface="Arial"/>
                <a:sym typeface="Arial"/>
              </a:rPr>
              <a:t>Columnas</a:t>
            </a:r>
            <a:r>
              <a:rPr b="0" i="0" lang="es-ES" sz="1800" u="none" cap="none" strike="noStrike">
                <a:solidFill>
                  <a:srgbClr val="242424"/>
                </a:solidFill>
                <a:latin typeface="Arial"/>
                <a:ea typeface="Arial"/>
                <a:cs typeface="Arial"/>
                <a:sym typeface="Arial"/>
              </a:rPr>
              <a:t>: Las columnas, también conocidas como atributos o campos, representan una propiedad dentro de la tabla. Cada columna está compuesta por un nombre, un tipo de dato y otras propiedades.</a:t>
            </a:r>
            <a:endParaRPr/>
          </a:p>
          <a:p>
            <a:pPr indent="-114300" lvl="0" marL="0" marR="0" rtl="0" algn="just">
              <a:lnSpc>
                <a:spcPct val="100000"/>
              </a:lnSpc>
              <a:spcBef>
                <a:spcPts val="0"/>
              </a:spcBef>
              <a:spcAft>
                <a:spcPts val="0"/>
              </a:spcAft>
              <a:buClr>
                <a:srgbClr val="242424"/>
              </a:buClr>
              <a:buSzPts val="1800"/>
              <a:buFont typeface="Arial"/>
              <a:buChar char="•"/>
            </a:pPr>
            <a:r>
              <a:rPr b="1" i="0" lang="es-ES" sz="1800" u="none" cap="none" strike="noStrike">
                <a:solidFill>
                  <a:srgbClr val="242424"/>
                </a:solidFill>
                <a:latin typeface="Arial"/>
                <a:ea typeface="Arial"/>
                <a:cs typeface="Arial"/>
                <a:sym typeface="Arial"/>
              </a:rPr>
              <a:t>Filas</a:t>
            </a:r>
            <a:r>
              <a:rPr b="0" i="0" lang="es-ES" sz="1800" u="none" cap="none" strike="noStrike">
                <a:solidFill>
                  <a:srgbClr val="242424"/>
                </a:solidFill>
                <a:latin typeface="Arial"/>
                <a:ea typeface="Arial"/>
                <a:cs typeface="Arial"/>
                <a:sym typeface="Arial"/>
              </a:rPr>
              <a:t>: Las filas, también conocidas como registros o tuplas, representan una instancia de los datos en sí. Los valores correspondientes en las filas se rigen fielmente a lo definido en las columnas, respetando restricciones y tipos de datos.</a:t>
            </a:r>
            <a:endParaRPr b="0" i="0" sz="2400" u="none" cap="none" strike="noStrike">
              <a:solidFill>
                <a:schemeClr val="dk1"/>
              </a:solidFill>
              <a:latin typeface="Arial"/>
              <a:ea typeface="Arial"/>
              <a:cs typeface="Arial"/>
              <a:sym typeface="Arial"/>
            </a:endParaRPr>
          </a:p>
        </p:txBody>
      </p:sp>
      <p:pic>
        <p:nvPicPr>
          <p:cNvPr descr="Oracle - Estructura de Datos" id="197" name="Google Shape;197;p22"/>
          <p:cNvPicPr preferRelativeResize="0"/>
          <p:nvPr/>
        </p:nvPicPr>
        <p:blipFill rotWithShape="1">
          <a:blip r:embed="rId3">
            <a:alphaModFix/>
          </a:blip>
          <a:srcRect b="0" l="0" r="0" t="0"/>
          <a:stretch/>
        </p:blipFill>
        <p:spPr>
          <a:xfrm>
            <a:off x="7466526" y="1381325"/>
            <a:ext cx="3124201" cy="259001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nvSpPr>
        <p:spPr>
          <a:xfrm>
            <a:off x="723900" y="686869"/>
            <a:ext cx="10744200"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400">
                <a:solidFill>
                  <a:srgbClr val="242424"/>
                </a:solidFill>
                <a:latin typeface="Arial"/>
                <a:ea typeface="Arial"/>
                <a:cs typeface="Arial"/>
                <a:sym typeface="Arial"/>
              </a:rPr>
              <a:t>Tipos de datos en Oracle</a:t>
            </a:r>
            <a:endParaRPr/>
          </a:p>
          <a:p>
            <a:pPr indent="0" lvl="0" marL="0" marR="0" rtl="0" algn="l">
              <a:spcBef>
                <a:spcPts val="0"/>
              </a:spcBef>
              <a:spcAft>
                <a:spcPts val="0"/>
              </a:spcAft>
              <a:buNone/>
            </a:pPr>
            <a:r>
              <a:rPr b="1" i="0" lang="es-ES" sz="1400">
                <a:solidFill>
                  <a:srgbClr val="242424"/>
                </a:solidFill>
                <a:latin typeface="Arial"/>
                <a:ea typeface="Arial"/>
                <a:cs typeface="Arial"/>
                <a:sym typeface="Arial"/>
              </a:rPr>
              <a:t>1. Tipos Numéricos</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NUMBER: Números con precisión y escala variables.</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FLOAT: Sinónimo de NUMBER con precisión de punto flotante.</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INTEGER: Números enteros.</a:t>
            </a:r>
            <a:endParaRPr/>
          </a:p>
          <a:p>
            <a:pPr indent="0" lvl="0" marL="0" marR="0" rtl="0" algn="l">
              <a:spcBef>
                <a:spcPts val="0"/>
              </a:spcBef>
              <a:spcAft>
                <a:spcPts val="0"/>
              </a:spcAft>
              <a:buNone/>
            </a:pPr>
            <a:r>
              <a:rPr b="1" i="0" lang="es-ES" sz="1400">
                <a:solidFill>
                  <a:srgbClr val="242424"/>
                </a:solidFill>
                <a:latin typeface="Arial"/>
                <a:ea typeface="Arial"/>
                <a:cs typeface="Arial"/>
                <a:sym typeface="Arial"/>
              </a:rPr>
              <a:t>2. Tipos de Cadena</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CHAR: Cadenas de longitud fija.</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VARCHAR2: Cadenas de longitud variable.</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CLOB: Caracteres grandes (Character Large Object).</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NCHAR: Cadenas de longitud fija en el conjunto de caracteres nacional.</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NVARCHAR2: Cadenas de longitud variable en el conjunto de caracteres nacional.</a:t>
            </a:r>
            <a:endParaRPr/>
          </a:p>
          <a:p>
            <a:pPr indent="0" lvl="0" marL="0" marR="0" rtl="0" algn="l">
              <a:spcBef>
                <a:spcPts val="0"/>
              </a:spcBef>
              <a:spcAft>
                <a:spcPts val="0"/>
              </a:spcAft>
              <a:buNone/>
            </a:pPr>
            <a:r>
              <a:rPr b="1" i="0" lang="es-ES" sz="1400">
                <a:solidFill>
                  <a:srgbClr val="242424"/>
                </a:solidFill>
                <a:latin typeface="Arial"/>
                <a:ea typeface="Arial"/>
                <a:cs typeface="Arial"/>
                <a:sym typeface="Arial"/>
              </a:rPr>
              <a:t>3. Tipos de Fecha y Hora</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DATE: Fecha y hora hasta el segundo.</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TIMESTAMP: Fecha y hora con fracciones de segundo.</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TIMESTAMP WITH TIME ZONE: Fecha y hora con información de zona horaria.</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TIMESTAMP WITH LOCAL TIME ZONE: Fecha y hora en la zona horaria local del usuario.</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INTERVAL YEAR TO MONTH: Intervalo de tiempo en años y meses.</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INTERVAL DAY TO SECOND: Intervalo de tiempo en días, horas, minutos y segundos.</a:t>
            </a:r>
            <a:endParaRPr/>
          </a:p>
          <a:p>
            <a:pPr indent="0" lvl="0" marL="0" marR="0" rtl="0" algn="l">
              <a:spcBef>
                <a:spcPts val="0"/>
              </a:spcBef>
              <a:spcAft>
                <a:spcPts val="0"/>
              </a:spcAft>
              <a:buNone/>
            </a:pPr>
            <a:r>
              <a:rPr b="1" i="0" lang="es-ES" sz="1400">
                <a:solidFill>
                  <a:srgbClr val="242424"/>
                </a:solidFill>
                <a:latin typeface="Arial"/>
                <a:ea typeface="Arial"/>
                <a:cs typeface="Arial"/>
                <a:sym typeface="Arial"/>
              </a:rPr>
              <a:t>4. Tipos RAW y Especializados</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RAW: Datos binarios de longitud fija.</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LONG RAW: Datos binarios de longitud variable.</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BLOB: Datos binarios grandes (Binary Large Object).</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BFILE: Puntero a un archivo binario almacenado fuera de la base de datos.</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ROWID: Dirección única de una fila en una tabla.</a:t>
            </a:r>
            <a:endParaRPr/>
          </a:p>
          <a:p>
            <a:pPr indent="0" lvl="0" marL="0" marR="0" rtl="0" algn="l">
              <a:spcBef>
                <a:spcPts val="0"/>
              </a:spcBef>
              <a:spcAft>
                <a:spcPts val="0"/>
              </a:spcAft>
              <a:buNone/>
            </a:pPr>
            <a:r>
              <a:rPr i="0" lang="es-ES" sz="1400">
                <a:solidFill>
                  <a:srgbClr val="242424"/>
                </a:solidFill>
                <a:latin typeface="Arial"/>
                <a:ea typeface="Arial"/>
                <a:cs typeface="Arial"/>
                <a:sym typeface="Arial"/>
              </a:rPr>
              <a:t>UROWID: Identificador único de fila para vistas y tablas indexadas.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p:nvPr/>
        </p:nvSpPr>
        <p:spPr>
          <a:xfrm>
            <a:off x="647700" y="612842"/>
            <a:ext cx="10896600" cy="563231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None/>
            </a:pPr>
            <a:r>
              <a:rPr b="1" i="0" lang="es-ES" sz="2000" u="none" cap="none" strike="noStrike">
                <a:solidFill>
                  <a:schemeClr val="dk1"/>
                </a:solidFill>
                <a:latin typeface="Calibri"/>
                <a:ea typeface="Calibri"/>
                <a:cs typeface="Calibri"/>
                <a:sym typeface="Calibri"/>
              </a:rPr>
              <a:t>Estructura de Funcionamiento de Oracle</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Oracle Database es un sistema de gestión de bases de datos relacional (RDBMS) desarrollado por Oracle Corporation. Su estructura de funcionamiento puede ser compleja, pero aquí te doy una visión general de los componentes y su funcionamiento:</a:t>
            </a:r>
            <a:endParaRPr b="1"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rPr b="1" i="0" lang="es-ES" sz="2000" u="none" cap="none" strike="noStrike">
                <a:solidFill>
                  <a:schemeClr val="dk1"/>
                </a:solidFill>
                <a:latin typeface="Calibri"/>
                <a:ea typeface="Calibri"/>
                <a:cs typeface="Calibri"/>
                <a:sym typeface="Calibri"/>
              </a:rPr>
              <a:t>1. Arquitectura General</a:t>
            </a:r>
            <a:endParaRPr/>
          </a:p>
          <a:p>
            <a:pPr indent="0" lvl="0" marL="0" marR="0" rtl="0" algn="just">
              <a:lnSpc>
                <a:spcPct val="100000"/>
              </a:lnSpc>
              <a:spcBef>
                <a:spcPts val="0"/>
              </a:spcBef>
              <a:spcAft>
                <a:spcPts val="0"/>
              </a:spcAft>
              <a:buNone/>
            </a:pPr>
            <a:r>
              <a:rPr b="1" i="0" lang="es-ES" sz="1600" u="none" cap="none" strike="noStrike">
                <a:solidFill>
                  <a:schemeClr val="dk1"/>
                </a:solidFill>
                <a:latin typeface="Calibri"/>
                <a:ea typeface="Calibri"/>
                <a:cs typeface="Calibri"/>
                <a:sym typeface="Calibri"/>
              </a:rPr>
              <a:t>1.1. Instancia y Base de Datos</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Instancia: Es un conjunto de procesos de sistema operativo y estructuras de memoria que permiten el acceso a una base de datos. Una instancia puede gestionar una o más bases de datos.</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Base de Datos: Conjunto de datos organizados en tablas, índices, vistas, etc., que Oracle administra. La base de datos almacena la información real.</a:t>
            </a:r>
            <a:endParaRPr/>
          </a:p>
          <a:p>
            <a:pPr indent="0" lvl="0" marL="0" marR="0" rtl="0" algn="just">
              <a:lnSpc>
                <a:spcPct val="100000"/>
              </a:lnSpc>
              <a:spcBef>
                <a:spcPts val="0"/>
              </a:spcBef>
              <a:spcAft>
                <a:spcPts val="0"/>
              </a:spcAft>
              <a:buNone/>
            </a:pPr>
            <a:r>
              <a:rPr b="1" i="0" lang="es-ES" sz="1600" u="none" cap="none" strike="noStrike">
                <a:solidFill>
                  <a:schemeClr val="dk1"/>
                </a:solidFill>
                <a:latin typeface="Calibri"/>
                <a:ea typeface="Calibri"/>
                <a:cs typeface="Calibri"/>
                <a:sym typeface="Calibri"/>
              </a:rPr>
              <a:t>1.2. Componentes de la Instancia</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SGA (System Global Area): Área de memoria compartida utilizada por Oracle para gestionar la información de la base de datos, como el buffer cache, el shared pool, y el redo log buffer.</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PGA (Program Global Area): Área de memoria dedicada a un solo proceso o usuario, utilizada para gestionar el entorno de ejecución de los procesos de Oracle.</a:t>
            </a:r>
            <a:endParaRPr/>
          </a:p>
          <a:p>
            <a:pPr indent="0" lvl="0" marL="0" marR="0" rtl="0" algn="just">
              <a:lnSpc>
                <a:spcPct val="100000"/>
              </a:lnSpc>
              <a:spcBef>
                <a:spcPts val="0"/>
              </a:spcBef>
              <a:spcAft>
                <a:spcPts val="0"/>
              </a:spcAft>
              <a:buNone/>
            </a:pPr>
            <a:r>
              <a:rPr b="1" i="0" lang="es-ES" sz="1600" u="none" cap="none" strike="noStrike">
                <a:solidFill>
                  <a:schemeClr val="dk1"/>
                </a:solidFill>
                <a:latin typeface="Calibri"/>
                <a:ea typeface="Calibri"/>
                <a:cs typeface="Calibri"/>
                <a:sym typeface="Calibri"/>
              </a:rPr>
              <a:t>1.3. Procesos de Fondo</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DBWR (Database Writer): Proceso responsable de escribir los bloques de datos modificados desde el buffer cache a los archivos de datos en disco.</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LGWR (Log Writer): Proceso que escribe las entradas del redo log buffer al archivo de redo log en disco.</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CKPT (Checkpoint): Proceso que actualiza la información de checkpoint en los archivos de control y realiza la sincronización de datos en disco.</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SMON (System Monitor): Proceso que realiza la recuperación automática y la limpieza de la memoria compartida.</a:t>
            </a:r>
            <a:endParaRPr/>
          </a:p>
          <a:p>
            <a:pPr indent="0" lvl="0" marL="0" marR="0" rtl="0" algn="just">
              <a:lnSpc>
                <a:spcPct val="100000"/>
              </a:lnSpc>
              <a:spcBef>
                <a:spcPts val="0"/>
              </a:spcBef>
              <a:spcAft>
                <a:spcPts val="0"/>
              </a:spcAft>
              <a:buNone/>
            </a:pPr>
            <a:r>
              <a:rPr i="0" lang="es-ES" sz="1600" u="none" cap="none" strike="noStrike">
                <a:solidFill>
                  <a:schemeClr val="dk1"/>
                </a:solidFill>
                <a:latin typeface="Calibri"/>
                <a:ea typeface="Calibri"/>
                <a:cs typeface="Calibri"/>
                <a:sym typeface="Calibri"/>
              </a:rPr>
              <a:t>PMON (Process Monitor): Proceso que se encarga de la recuperación de procesos fallidos y la liberación de recursos.</a:t>
            </a:r>
            <a:endParaRPr i="0" sz="16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2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214" name="Google Shape;214;p25"/>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215" name="Google Shape;215;p2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16" name="Google Shape;216;p25"/>
          <p:cNvSpPr txBox="1"/>
          <p:nvPr/>
        </p:nvSpPr>
        <p:spPr>
          <a:xfrm>
            <a:off x="838200" y="5493133"/>
            <a:ext cx="51054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https://www.youtube.com/watch?v=6S8A-1jBD5Y</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25"/>
          <p:cNvSpPr txBox="1"/>
          <p:nvPr/>
        </p:nvSpPr>
        <p:spPr>
          <a:xfrm>
            <a:off x="6324600" y="5447394"/>
            <a:ext cx="503039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5">
                  <a:extLst>
                    <a:ext uri="{A12FA001-AC4F-418D-AE19-62706E023703}">
                      <ahyp:hlinkClr val="tx"/>
                    </a:ext>
                  </a:extLst>
                </a:hlinkClick>
              </a:rPr>
              <a:t>https://www.youtube.com/watch?v=GulrHlRoT0g</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cono de tabla de consulta de base de datos, estilo de dibujos animados  14694103 Vector en Vecteezy" id="218" name="Google Shape;218;p25"/>
          <p:cNvPicPr preferRelativeResize="0"/>
          <p:nvPr/>
        </p:nvPicPr>
        <p:blipFill rotWithShape="1">
          <a:blip r:embed="rId6">
            <a:alphaModFix/>
          </a:blip>
          <a:srcRect b="0" l="0" r="0" t="0"/>
          <a:stretch/>
        </p:blipFill>
        <p:spPr>
          <a:xfrm>
            <a:off x="6953250" y="1219200"/>
            <a:ext cx="3657600" cy="3657600"/>
          </a:xfrm>
          <a:prstGeom prst="rect">
            <a:avLst/>
          </a:prstGeom>
          <a:noFill/>
          <a:ln>
            <a:noFill/>
          </a:ln>
        </p:spPr>
      </p:pic>
      <p:pic>
        <p:nvPicPr>
          <p:cNvPr descr="icono de procesamiento de datos, estilo de dibujos animados 14694912 Vector  en Vecteezy" id="219" name="Google Shape;219;p25"/>
          <p:cNvPicPr preferRelativeResize="0"/>
          <p:nvPr/>
        </p:nvPicPr>
        <p:blipFill rotWithShape="1">
          <a:blip r:embed="rId7">
            <a:alphaModFix/>
          </a:blip>
          <a:srcRect b="0" l="0" r="0" t="0"/>
          <a:stretch/>
        </p:blipFill>
        <p:spPr>
          <a:xfrm>
            <a:off x="1523405" y="1232203"/>
            <a:ext cx="3429000" cy="3429000"/>
          </a:xfrm>
          <a:prstGeom prst="rect">
            <a:avLst/>
          </a:prstGeom>
          <a:noFill/>
          <a:ln>
            <a:noFill/>
          </a:ln>
        </p:spPr>
      </p:pic>
      <p:sp>
        <p:nvSpPr>
          <p:cNvPr id="220" name="Google Shape;220;p25"/>
          <p:cNvSpPr txBox="1"/>
          <p:nvPr/>
        </p:nvSpPr>
        <p:spPr>
          <a:xfrm>
            <a:off x="933450" y="4661203"/>
            <a:ext cx="4914900" cy="659796"/>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4000">
                <a:solidFill>
                  <a:srgbClr val="FF0000"/>
                </a:solidFill>
                <a:latin typeface="Arial"/>
                <a:ea typeface="Arial"/>
                <a:cs typeface="Arial"/>
                <a:sym typeface="Arial"/>
              </a:rPr>
              <a:t>BASE DE DATOS</a:t>
            </a:r>
            <a:endParaRPr sz="4000">
              <a:solidFill>
                <a:srgbClr val="FF0000"/>
              </a:solidFill>
              <a:latin typeface="Arial"/>
              <a:ea typeface="Arial"/>
              <a:cs typeface="Arial"/>
              <a:sym typeface="Arial"/>
            </a:endParaRPr>
          </a:p>
        </p:txBody>
      </p:sp>
      <p:sp>
        <p:nvSpPr>
          <p:cNvPr id="221" name="Google Shape;221;p25"/>
          <p:cNvSpPr txBox="1"/>
          <p:nvPr/>
        </p:nvSpPr>
        <p:spPr>
          <a:xfrm>
            <a:off x="6324600" y="4615464"/>
            <a:ext cx="4914900" cy="659796"/>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4000">
                <a:solidFill>
                  <a:srgbClr val="FF0000"/>
                </a:solidFill>
                <a:latin typeface="Arial"/>
                <a:ea typeface="Arial"/>
                <a:cs typeface="Arial"/>
                <a:sym typeface="Arial"/>
              </a:rPr>
              <a:t>TABLAS</a:t>
            </a:r>
            <a:endParaRPr sz="4000">
              <a:solidFill>
                <a:srgbClr val="FF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2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228" name="Google Shape;228;p26"/>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229" name="Google Shape;229;p2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30" name="Google Shape;230;p26"/>
          <p:cNvSpPr txBox="1"/>
          <p:nvPr/>
        </p:nvSpPr>
        <p:spPr>
          <a:xfrm>
            <a:off x="933450" y="1371600"/>
            <a:ext cx="10325100" cy="30469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Calibri"/>
                <a:ea typeface="Calibri"/>
                <a:cs typeface="Calibri"/>
                <a:sym typeface="Calibri"/>
              </a:rPr>
              <a:t>Desarrollar un organizador visual que ilustre los conceptos fundamentales de bases de datos y tablas, facilitando la comprensión y la memorización de los temas relacionados con respecto a los videos.</a:t>
            </a:r>
            <a:endParaRPr/>
          </a:p>
          <a:p>
            <a:pPr indent="0" lvl="0" marL="0" marR="0" rtl="0" algn="just">
              <a:spcBef>
                <a:spcPts val="0"/>
              </a:spcBef>
              <a:spcAft>
                <a:spcPts val="0"/>
              </a:spcAft>
              <a:buNone/>
            </a:pPr>
            <a:r>
              <a:t/>
            </a:r>
            <a:endParaRPr sz="2400">
              <a:solidFill>
                <a:srgbClr val="FF0000"/>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Desarrollo en pares</a:t>
            </a:r>
            <a:r>
              <a:rPr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285750" lvl="0" marL="285750" marR="0" rtl="0" algn="just">
              <a:spcBef>
                <a:spcPts val="0"/>
              </a:spcBef>
              <a:spcAft>
                <a:spcPts val="0"/>
              </a:spcAft>
              <a:buClr>
                <a:schemeClr val="dk1"/>
              </a:buClr>
              <a:buSzPts val="2400"/>
              <a:buFont typeface="Arial"/>
              <a:buChar char="•"/>
            </a:pPr>
            <a:r>
              <a:rPr lang="es-ES" sz="2400">
                <a:solidFill>
                  <a:schemeClr val="dk1"/>
                </a:solidFill>
                <a:latin typeface="Calibri"/>
                <a:ea typeface="Calibri"/>
                <a:cs typeface="Calibri"/>
                <a:sym typeface="Calibri"/>
              </a:rPr>
              <a:t>Cada grupo debe crear su propio organizador visual basándose en la revisión visual con respecto al video presentado.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nvSpPr>
        <p:spPr>
          <a:xfrm>
            <a:off x="1409700" y="1532145"/>
            <a:ext cx="9372600" cy="2506455"/>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4000">
                <a:solidFill>
                  <a:schemeClr val="dk1"/>
                </a:solidFill>
                <a:latin typeface="Arial"/>
                <a:ea typeface="Arial"/>
                <a:cs typeface="Arial"/>
                <a:sym typeface="Arial"/>
              </a:rPr>
              <a:t>¿Qué consideraciones clave deben tenerse en cuenta al crear una base de datos y sus tablas para garantizar una estructura eficiente y escalable?</a:t>
            </a:r>
            <a:endParaRPr sz="4000">
              <a:solidFill>
                <a:schemeClr val="dk1"/>
              </a:solidFill>
              <a:latin typeface="Arial"/>
              <a:ea typeface="Arial"/>
              <a:cs typeface="Arial"/>
              <a:sym typeface="Arial"/>
            </a:endParaRPr>
          </a:p>
        </p:txBody>
      </p:sp>
      <p:pic>
        <p:nvPicPr>
          <p:cNvPr id="236" name="Google Shape;236;p27"/>
          <p:cNvPicPr preferRelativeResize="0"/>
          <p:nvPr/>
        </p:nvPicPr>
        <p:blipFill rotWithShape="1">
          <a:blip r:embed="rId3">
            <a:alphaModFix/>
          </a:blip>
          <a:srcRect b="0" l="0" r="0" t="0"/>
          <a:stretch/>
        </p:blipFill>
        <p:spPr>
          <a:xfrm>
            <a:off x="5334000" y="4343400"/>
            <a:ext cx="1524000" cy="1524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8"/>
          <p:cNvSpPr txBox="1"/>
          <p:nvPr/>
        </p:nvSpPr>
        <p:spPr>
          <a:xfrm>
            <a:off x="457200" y="228600"/>
            <a:ext cx="8458200" cy="967573"/>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2000">
                <a:solidFill>
                  <a:schemeClr val="dk1"/>
                </a:solidFill>
                <a:latin typeface="Arial"/>
                <a:ea typeface="Arial"/>
                <a:cs typeface="Arial"/>
                <a:sym typeface="Arial"/>
              </a:rPr>
              <a:t>¿Qué consideraciones clave deben tenerse en cuenta al crear una base de datos y sus tablas para garantizar una estructura eficiente y escalable?</a:t>
            </a:r>
            <a:endParaRPr sz="2000">
              <a:solidFill>
                <a:schemeClr val="dk1"/>
              </a:solidFill>
              <a:latin typeface="Arial"/>
              <a:ea typeface="Arial"/>
              <a:cs typeface="Arial"/>
              <a:sym typeface="Arial"/>
            </a:endParaRPr>
          </a:p>
        </p:txBody>
      </p:sp>
      <p:sp>
        <p:nvSpPr>
          <p:cNvPr id="242" name="Google Shape;242;p28"/>
          <p:cNvSpPr txBox="1"/>
          <p:nvPr/>
        </p:nvSpPr>
        <p:spPr>
          <a:xfrm>
            <a:off x="8582348" y="5797321"/>
            <a:ext cx="30000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rgbClr val="FF0000"/>
                </a:solidFill>
                <a:latin typeface="Calibri"/>
                <a:ea typeface="Calibri"/>
                <a:cs typeface="Calibri"/>
                <a:sym typeface="Calibri"/>
              </a:rPr>
              <a:t>OJO: SOLO PARA EL DOCENTE</a:t>
            </a:r>
            <a:endParaRPr b="1" sz="1800">
              <a:solidFill>
                <a:srgbClr val="FF0000"/>
              </a:solidFill>
              <a:latin typeface="Calibri"/>
              <a:ea typeface="Calibri"/>
              <a:cs typeface="Calibri"/>
              <a:sym typeface="Calibri"/>
            </a:endParaRPr>
          </a:p>
        </p:txBody>
      </p:sp>
      <p:sp>
        <p:nvSpPr>
          <p:cNvPr id="243" name="Google Shape;243;p28"/>
          <p:cNvSpPr/>
          <p:nvPr/>
        </p:nvSpPr>
        <p:spPr>
          <a:xfrm>
            <a:off x="533400" y="1290522"/>
            <a:ext cx="10972800" cy="4870564"/>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None/>
            </a:pPr>
            <a:r>
              <a:rPr b="1" i="0" lang="es-ES" sz="1800" u="none" cap="none" strike="noStrike">
                <a:solidFill>
                  <a:srgbClr val="FF0000"/>
                </a:solidFill>
                <a:latin typeface="Arial"/>
                <a:ea typeface="Arial"/>
                <a:cs typeface="Arial"/>
                <a:sym typeface="Arial"/>
              </a:rPr>
              <a:t>Definición Clara de Requisitos</a:t>
            </a:r>
            <a:r>
              <a:rPr b="0" i="0" lang="es-ES" sz="1800" u="none" cap="none" strike="noStrike">
                <a:solidFill>
                  <a:srgbClr val="FF0000"/>
                </a:solidFill>
                <a:latin typeface="Arial"/>
                <a:ea typeface="Arial"/>
                <a:cs typeface="Arial"/>
                <a:sym typeface="Arial"/>
              </a:rPr>
              <a:t>:</a:t>
            </a:r>
            <a:endParaRPr/>
          </a:p>
          <a:p>
            <a:pPr indent="-114300" lvl="0" marL="0" marR="0" rtl="0" algn="just">
              <a:lnSpc>
                <a:spcPct val="100000"/>
              </a:lnSpc>
              <a:spcBef>
                <a:spcPts val="0"/>
              </a:spcBef>
              <a:spcAft>
                <a:spcPts val="0"/>
              </a:spcAft>
              <a:buClr>
                <a:srgbClr val="FF0000"/>
              </a:buClr>
              <a:buSzPts val="1800"/>
              <a:buFont typeface="Arial"/>
              <a:buChar char="•"/>
            </a:pPr>
            <a:r>
              <a:rPr b="1" i="0" lang="es-ES" sz="1800" u="none" cap="none" strike="noStrike">
                <a:solidFill>
                  <a:srgbClr val="FF0000"/>
                </a:solidFill>
                <a:latin typeface="Arial"/>
                <a:ea typeface="Arial"/>
                <a:cs typeface="Arial"/>
                <a:sym typeface="Arial"/>
              </a:rPr>
              <a:t>Objetivos del Sistema</a:t>
            </a:r>
            <a:r>
              <a:rPr b="0" i="0" lang="es-ES" sz="1800" u="none" cap="none" strike="noStrike">
                <a:solidFill>
                  <a:srgbClr val="FF0000"/>
                </a:solidFill>
                <a:latin typeface="Arial"/>
                <a:ea typeface="Arial"/>
                <a:cs typeface="Arial"/>
                <a:sym typeface="Arial"/>
              </a:rPr>
              <a:t>: Comprender los requisitos del sistema y las necesidades de la aplicación ayuda a diseñar una base de datos que se alinee con los objetivos de negocio y soporte las funcionalidades necesarias.</a:t>
            </a:r>
            <a:endParaRPr/>
          </a:p>
          <a:p>
            <a:pPr indent="0" lvl="0" marL="0" marR="0" rtl="0" algn="just">
              <a:lnSpc>
                <a:spcPct val="100000"/>
              </a:lnSpc>
              <a:spcBef>
                <a:spcPts val="0"/>
              </a:spcBef>
              <a:spcAft>
                <a:spcPts val="0"/>
              </a:spcAft>
              <a:buNone/>
            </a:pPr>
            <a:r>
              <a:t/>
            </a:r>
            <a:endParaRPr b="1" i="0" sz="1050" u="none" cap="none" strike="noStrike">
              <a:solidFill>
                <a:srgbClr val="FF0000"/>
              </a:solidFill>
              <a:latin typeface="Arial"/>
              <a:ea typeface="Arial"/>
              <a:cs typeface="Arial"/>
              <a:sym typeface="Arial"/>
            </a:endParaRPr>
          </a:p>
          <a:p>
            <a:pPr indent="0" lvl="0" marL="0" marR="0" rtl="0" algn="just">
              <a:lnSpc>
                <a:spcPct val="100000"/>
              </a:lnSpc>
              <a:spcBef>
                <a:spcPts val="0"/>
              </a:spcBef>
              <a:spcAft>
                <a:spcPts val="0"/>
              </a:spcAft>
              <a:buNone/>
            </a:pPr>
            <a:r>
              <a:rPr b="1" i="0" lang="es-ES" sz="1800" u="none" cap="none" strike="noStrike">
                <a:solidFill>
                  <a:srgbClr val="FF0000"/>
                </a:solidFill>
                <a:latin typeface="Arial"/>
                <a:ea typeface="Arial"/>
                <a:cs typeface="Arial"/>
                <a:sym typeface="Arial"/>
              </a:rPr>
              <a:t>Diseño de la Estructura de Datos</a:t>
            </a:r>
            <a:r>
              <a:rPr b="0" i="0" lang="es-ES" sz="1800" u="none" cap="none" strike="noStrike">
                <a:solidFill>
                  <a:srgbClr val="FF0000"/>
                </a:solidFill>
                <a:latin typeface="Arial"/>
                <a:ea typeface="Arial"/>
                <a:cs typeface="Arial"/>
                <a:sym typeface="Arial"/>
              </a:rPr>
              <a:t>:</a:t>
            </a:r>
            <a:endParaRPr/>
          </a:p>
          <a:p>
            <a:pPr indent="-114300" lvl="0" marL="0" marR="0" rtl="0" algn="just">
              <a:lnSpc>
                <a:spcPct val="100000"/>
              </a:lnSpc>
              <a:spcBef>
                <a:spcPts val="0"/>
              </a:spcBef>
              <a:spcAft>
                <a:spcPts val="0"/>
              </a:spcAft>
              <a:buClr>
                <a:srgbClr val="FF0000"/>
              </a:buClr>
              <a:buSzPts val="1800"/>
              <a:buFont typeface="Arial"/>
              <a:buChar char="•"/>
            </a:pPr>
            <a:r>
              <a:rPr b="1" i="0" lang="es-ES" sz="1800" u="none" cap="none" strike="noStrike">
                <a:solidFill>
                  <a:srgbClr val="FF0000"/>
                </a:solidFill>
                <a:latin typeface="Arial"/>
                <a:ea typeface="Arial"/>
                <a:cs typeface="Arial"/>
                <a:sym typeface="Arial"/>
              </a:rPr>
              <a:t>Modelado de Datos</a:t>
            </a:r>
            <a:r>
              <a:rPr b="0" i="0" lang="es-ES" sz="1800" u="none" cap="none" strike="noStrike">
                <a:solidFill>
                  <a:srgbClr val="FF0000"/>
                </a:solidFill>
                <a:latin typeface="Arial"/>
                <a:ea typeface="Arial"/>
                <a:cs typeface="Arial"/>
                <a:sym typeface="Arial"/>
              </a:rPr>
              <a:t>: Utilizar un modelo de datos adecuado (ERD - Diagrama Entidad-Relación) para representar las entidades y sus relaciones. Esto ayuda a visualizar la estructura y a identificar la necesidad de tablas y relaciones.</a:t>
            </a:r>
            <a:endParaRPr/>
          </a:p>
          <a:p>
            <a:pPr indent="-114300" lvl="0" marL="0" marR="0" rtl="0" algn="just">
              <a:lnSpc>
                <a:spcPct val="100000"/>
              </a:lnSpc>
              <a:spcBef>
                <a:spcPts val="0"/>
              </a:spcBef>
              <a:spcAft>
                <a:spcPts val="0"/>
              </a:spcAft>
              <a:buClr>
                <a:srgbClr val="FF0000"/>
              </a:buClr>
              <a:buSzPts val="1800"/>
              <a:buFont typeface="Arial"/>
              <a:buChar char="•"/>
            </a:pPr>
            <a:r>
              <a:rPr b="1" i="0" lang="es-ES" sz="1800" u="none" cap="none" strike="noStrike">
                <a:solidFill>
                  <a:srgbClr val="FF0000"/>
                </a:solidFill>
                <a:latin typeface="Arial"/>
                <a:ea typeface="Arial"/>
                <a:cs typeface="Arial"/>
                <a:sym typeface="Arial"/>
              </a:rPr>
              <a:t>Normalización</a:t>
            </a:r>
            <a:r>
              <a:rPr b="0" i="0" lang="es-ES" sz="1800" u="none" cap="none" strike="noStrike">
                <a:solidFill>
                  <a:srgbClr val="FF0000"/>
                </a:solidFill>
                <a:latin typeface="Arial"/>
                <a:ea typeface="Arial"/>
                <a:cs typeface="Arial"/>
                <a:sym typeface="Arial"/>
              </a:rPr>
              <a:t>: Aplicar principios de normalización (hasta la tercera forma normal, al menos) para evitar redundancias y asegurar la integridad de los datos. La normalización ayuda a reducir la duplicación de datos y mejorar la consistencia.</a:t>
            </a:r>
            <a:endParaRPr/>
          </a:p>
          <a:p>
            <a:pPr indent="0" lvl="0" marL="0" marR="0" rtl="0" algn="just">
              <a:lnSpc>
                <a:spcPct val="100000"/>
              </a:lnSpc>
              <a:spcBef>
                <a:spcPts val="0"/>
              </a:spcBef>
              <a:spcAft>
                <a:spcPts val="0"/>
              </a:spcAft>
              <a:buNone/>
            </a:pPr>
            <a:r>
              <a:t/>
            </a:r>
            <a:endParaRPr sz="1100">
              <a:solidFill>
                <a:srgbClr val="FF0000"/>
              </a:solidFill>
              <a:latin typeface="Arial"/>
              <a:ea typeface="Arial"/>
              <a:cs typeface="Arial"/>
              <a:sym typeface="Arial"/>
            </a:endParaRPr>
          </a:p>
          <a:p>
            <a:pPr indent="0" lvl="0" marL="0" marR="0" rtl="0" algn="l">
              <a:spcBef>
                <a:spcPts val="0"/>
              </a:spcBef>
              <a:spcAft>
                <a:spcPts val="0"/>
              </a:spcAft>
              <a:buNone/>
            </a:pPr>
            <a:r>
              <a:rPr b="1" lang="es-ES" sz="1800">
                <a:solidFill>
                  <a:srgbClr val="FF0000"/>
                </a:solidFill>
                <a:latin typeface="Calibri"/>
                <a:ea typeface="Calibri"/>
                <a:cs typeface="Calibri"/>
                <a:sym typeface="Calibri"/>
              </a:rPr>
              <a:t>Definición de Claves Primarias y Foráneas</a:t>
            </a:r>
            <a:r>
              <a:rPr lang="es-ES" sz="1800">
                <a:solidFill>
                  <a:srgbClr val="FF0000"/>
                </a:solidFill>
                <a:latin typeface="Calibri"/>
                <a:ea typeface="Calibri"/>
                <a:cs typeface="Calibri"/>
                <a:sym typeface="Calibri"/>
              </a:rPr>
              <a:t>:</a:t>
            </a:r>
            <a:endParaRPr/>
          </a:p>
          <a:p>
            <a:pPr indent="-114300" lvl="0" marL="0" marR="0" rtl="0" algn="l">
              <a:spcBef>
                <a:spcPts val="0"/>
              </a:spcBef>
              <a:spcAft>
                <a:spcPts val="0"/>
              </a:spcAft>
              <a:buClr>
                <a:srgbClr val="FF0000"/>
              </a:buClr>
              <a:buSzPts val="1800"/>
              <a:buFont typeface="Arial"/>
              <a:buChar char="•"/>
            </a:pPr>
            <a:r>
              <a:rPr b="1" lang="es-ES" sz="1800">
                <a:solidFill>
                  <a:srgbClr val="FF0000"/>
                </a:solidFill>
                <a:latin typeface="Calibri"/>
                <a:ea typeface="Calibri"/>
                <a:cs typeface="Calibri"/>
                <a:sym typeface="Calibri"/>
              </a:rPr>
              <a:t>Claves Primarias</a:t>
            </a:r>
            <a:r>
              <a:rPr lang="es-ES" sz="1800">
                <a:solidFill>
                  <a:srgbClr val="FF0000"/>
                </a:solidFill>
                <a:latin typeface="Calibri"/>
                <a:ea typeface="Calibri"/>
                <a:cs typeface="Calibri"/>
                <a:sym typeface="Calibri"/>
              </a:rPr>
              <a:t>: Asegurar que cada tabla tenga una clave primaria única para identificar de manera inequívoca cada registro.</a:t>
            </a:r>
            <a:endParaRPr/>
          </a:p>
          <a:p>
            <a:pPr indent="-114300" lvl="0" marL="0" marR="0" rtl="0" algn="l">
              <a:spcBef>
                <a:spcPts val="0"/>
              </a:spcBef>
              <a:spcAft>
                <a:spcPts val="0"/>
              </a:spcAft>
              <a:buClr>
                <a:srgbClr val="FF0000"/>
              </a:buClr>
              <a:buSzPts val="1800"/>
              <a:buFont typeface="Arial"/>
              <a:buChar char="•"/>
            </a:pPr>
            <a:r>
              <a:rPr b="1" lang="es-ES" sz="1800">
                <a:solidFill>
                  <a:srgbClr val="FF0000"/>
                </a:solidFill>
                <a:latin typeface="Calibri"/>
                <a:ea typeface="Calibri"/>
                <a:cs typeface="Calibri"/>
                <a:sym typeface="Calibri"/>
              </a:rPr>
              <a:t>Claves Foráneas</a:t>
            </a:r>
            <a:r>
              <a:rPr lang="es-ES" sz="1800">
                <a:solidFill>
                  <a:srgbClr val="FF0000"/>
                </a:solidFill>
                <a:latin typeface="Calibri"/>
                <a:ea typeface="Calibri"/>
                <a:cs typeface="Calibri"/>
                <a:sym typeface="Calibri"/>
              </a:rPr>
              <a:t>: Establecer claves foráneas para mantener la integridad referencial entre tablas y definir las relaciones entre entidades.</a:t>
            </a:r>
            <a:endParaRPr b="0" i="0" sz="1800" u="none" cap="none" strike="noStrike">
              <a:solidFill>
                <a:srgbClr val="FF0000"/>
              </a:solidFill>
              <a:latin typeface="Arial"/>
              <a:ea typeface="Arial"/>
              <a:cs typeface="Arial"/>
              <a:sym typeface="Arial"/>
            </a:endParaRPr>
          </a:p>
        </p:txBody>
      </p:sp>
      <p:pic>
        <p:nvPicPr>
          <p:cNvPr id="244" name="Google Shape;244;p28">
            <a:hlinkClick action="ppaction://hlinksldjump" r:id="rId3"/>
          </p:cNvPr>
          <p:cNvPicPr preferRelativeResize="0"/>
          <p:nvPr/>
        </p:nvPicPr>
        <p:blipFill rotWithShape="1">
          <a:blip r:embed="rId4">
            <a:alphaModFix/>
          </a:blip>
          <a:srcRect b="0" l="0" r="0" t="0"/>
          <a:stretch/>
        </p:blipFill>
        <p:spPr>
          <a:xfrm>
            <a:off x="5388274" y="-764731"/>
            <a:ext cx="3048000" cy="1714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p:nvPr/>
        </p:nvSpPr>
        <p:spPr>
          <a:xfrm>
            <a:off x="0" y="2819400"/>
            <a:ext cx="12192000" cy="1219200"/>
          </a:xfrm>
          <a:custGeom>
            <a:rect b="b" l="l" r="r" t="t"/>
            <a:pathLst>
              <a:path extrusionOk="0" h="700405" w="914463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29"/>
          <p:cNvSpPr txBox="1"/>
          <p:nvPr>
            <p:ph type="title"/>
          </p:nvPr>
        </p:nvSpPr>
        <p:spPr>
          <a:xfrm>
            <a:off x="4278672" y="3084034"/>
            <a:ext cx="3634655"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b="1" lang="es-ES">
                <a:solidFill>
                  <a:schemeClr val="lt1"/>
                </a:solidFill>
                <a:latin typeface="Rubik"/>
                <a:ea typeface="Rubik"/>
                <a:cs typeface="Rubik"/>
                <a:sym typeface="Rubik"/>
              </a:rPr>
              <a:t>Caso práctico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3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57" name="Google Shape;257;p3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58" name="Google Shape;258;p30"/>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259" name="Google Shape;259;p30"/>
          <p:cNvSpPr txBox="1"/>
          <p:nvPr/>
        </p:nvSpPr>
        <p:spPr>
          <a:xfrm>
            <a:off x="1828800" y="1905000"/>
            <a:ext cx="739139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Sistema de Gestión de Inventarios para una Tienda en Línea</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Descripción del Proyecto</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Vamos a desarrollar un sistema de gestión de inventarios para una tienda en línea utilizando Oracle Database. Este sistema debe permitir la administración de productos, categorías, proveedores y pedidos. Además, debe ser capaz de generar reportes sobre el estado del inventario.</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31"/>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66" name="Google Shape;266;p3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67" name="Google Shape;267;p31"/>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268" name="Google Shape;268;p31"/>
          <p:cNvSpPr txBox="1"/>
          <p:nvPr/>
        </p:nvSpPr>
        <p:spPr>
          <a:xfrm>
            <a:off x="2282337" y="1780300"/>
            <a:ext cx="7627325" cy="443711"/>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None/>
            </a:pPr>
            <a:r>
              <a:rPr lang="es-ES" sz="2800">
                <a:solidFill>
                  <a:schemeClr val="dk1"/>
                </a:solidFill>
                <a:latin typeface="Arial"/>
                <a:ea typeface="Arial"/>
                <a:cs typeface="Arial"/>
                <a:sym typeface="Arial"/>
              </a:rPr>
              <a:t>¿Quién quisiera participar? (2 voluntarios)</a:t>
            </a:r>
            <a:endParaRPr/>
          </a:p>
        </p:txBody>
      </p:sp>
      <p:pic>
        <p:nvPicPr>
          <p:cNvPr id="269" name="Google Shape;269;p31"/>
          <p:cNvPicPr preferRelativeResize="0"/>
          <p:nvPr/>
        </p:nvPicPr>
        <p:blipFill rotWithShape="1">
          <a:blip r:embed="rId3">
            <a:alphaModFix/>
          </a:blip>
          <a:srcRect b="0" l="0" r="0" t="0"/>
          <a:stretch/>
        </p:blipFill>
        <p:spPr>
          <a:xfrm>
            <a:off x="4730555" y="2895600"/>
            <a:ext cx="2730890" cy="252033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3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76" name="Google Shape;276;p3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77" name="Google Shape;277;p32"/>
          <p:cNvSpPr txBox="1"/>
          <p:nvPr/>
        </p:nvSpPr>
        <p:spPr>
          <a:xfrm>
            <a:off x="3039354" y="1831852"/>
            <a:ext cx="6096000" cy="1154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ES" sz="3200">
                <a:solidFill>
                  <a:schemeClr val="dk1"/>
                </a:solidFill>
                <a:latin typeface="Arial"/>
                <a:ea typeface="Arial"/>
                <a:cs typeface="Arial"/>
                <a:sym typeface="Arial"/>
              </a:rPr>
              <a:t>¿Qué se les hizo más fácil?</a:t>
            </a:r>
            <a:endParaRPr/>
          </a:p>
          <a:p>
            <a:pPr indent="0" lvl="0" marL="0" marR="0" rtl="0" algn="ctr">
              <a:lnSpc>
                <a:spcPct val="100000"/>
              </a:lnSpc>
              <a:spcBef>
                <a:spcPts val="585"/>
              </a:spcBef>
              <a:spcAft>
                <a:spcPts val="0"/>
              </a:spcAft>
              <a:buNone/>
            </a:pPr>
            <a:r>
              <a:rPr lang="es-ES"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278" name="Google Shape;278;p32"/>
          <p:cNvPicPr preferRelativeResize="0"/>
          <p:nvPr/>
        </p:nvPicPr>
        <p:blipFill rotWithShape="1">
          <a:blip r:embed="rId3">
            <a:alphaModFix/>
          </a:blip>
          <a:srcRect b="0" l="0" r="0" t="0"/>
          <a:stretch/>
        </p:blipFill>
        <p:spPr>
          <a:xfrm>
            <a:off x="4953000" y="3618011"/>
            <a:ext cx="2047300" cy="2047300"/>
          </a:xfrm>
          <a:prstGeom prst="rect">
            <a:avLst/>
          </a:prstGeom>
          <a:noFill/>
          <a:ln>
            <a:noFill/>
          </a:ln>
        </p:spPr>
      </p:pic>
      <p:pic>
        <p:nvPicPr>
          <p:cNvPr id="279" name="Google Shape;279;p32"/>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3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86" name="Google Shape;286;p3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87" name="Google Shape;287;p33"/>
          <p:cNvSpPr txBox="1"/>
          <p:nvPr/>
        </p:nvSpPr>
        <p:spPr>
          <a:xfrm>
            <a:off x="2243577" y="2644170"/>
            <a:ext cx="7687554" cy="1569660"/>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lang="es-ES"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288" name="Google Shape;288;p33"/>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4"/>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34"/>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295" name="Google Shape;295;p34"/>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96" name="Google Shape;296;p34"/>
          <p:cNvSpPr txBox="1"/>
          <p:nvPr/>
        </p:nvSpPr>
        <p:spPr>
          <a:xfrm>
            <a:off x="2243577" y="3149025"/>
            <a:ext cx="7687554" cy="58477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200">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297" name="Google Shape;297;p34"/>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5"/>
          <p:cNvSpPr txBox="1"/>
          <p:nvPr/>
        </p:nvSpPr>
        <p:spPr>
          <a:xfrm>
            <a:off x="533400" y="609600"/>
            <a:ext cx="10287000" cy="612475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2400">
                <a:solidFill>
                  <a:schemeClr val="dk1"/>
                </a:solidFill>
                <a:latin typeface="Calibri"/>
                <a:ea typeface="Calibri"/>
                <a:cs typeface="Calibri"/>
                <a:sym typeface="Calibri"/>
              </a:rPr>
              <a:t>Conclusiones</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Las conclusiones sobre la estructura de funcionamiento de Oracle Database pueden ser resumidas en los siguientes puntos clave:</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 </a:t>
            </a:r>
            <a:r>
              <a:rPr b="1" lang="es-ES" sz="1600">
                <a:solidFill>
                  <a:schemeClr val="dk1"/>
                </a:solidFill>
                <a:latin typeface="Calibri"/>
                <a:ea typeface="Calibri"/>
                <a:cs typeface="Calibri"/>
                <a:sym typeface="Calibri"/>
              </a:rPr>
              <a:t>1. Arquitectura Modular y Escalable</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Oracle Database emplea una arquitectura modular que divide el sistema en instancias y bases de datos, lo que permite una gestión eficiente de recursos y escalabilidad. Esta separación facilita el manejo de grandes volúmenes de datos y la adaptación a diferentes necesidades empresariales.</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600">
                <a:solidFill>
                  <a:schemeClr val="dk1"/>
                </a:solidFill>
                <a:latin typeface="Calibri"/>
                <a:ea typeface="Calibri"/>
                <a:cs typeface="Calibri"/>
                <a:sym typeface="Calibri"/>
              </a:rPr>
              <a:t> 2. Memoria y Procesos Eficientes</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La división de la memoria en SGA y PGA permite una gestión eficiente del acceso a los datos y el rendimiento. Los procesos de fondo (DBWR, LGWR, CKPT, SMON, PMON) aseguran la integridad, recuperación y optimización de la base de datos, manejando tareas críticas como la escritura de datos, la recuperación ante fallos y la liberación de recursos.</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600">
                <a:solidFill>
                  <a:schemeClr val="dk1"/>
                </a:solidFill>
                <a:latin typeface="Calibri"/>
                <a:ea typeface="Calibri"/>
                <a:cs typeface="Calibri"/>
                <a:sym typeface="Calibri"/>
              </a:rPr>
              <a:t> 3. Estructuras de Almacenamiento</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Oracle utiliza una combinación de archivos de datos, archivos de control y archivos de redo log para gestionar y asegurar los datos. Esta estructura proporciona una base sólida para la integridad de los datos, la recuperación ante desastres y la gestión eficiente del almacenamiento.</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600">
                <a:solidFill>
                  <a:schemeClr val="dk1"/>
                </a:solidFill>
                <a:latin typeface="Calibri"/>
                <a:ea typeface="Calibri"/>
                <a:cs typeface="Calibri"/>
                <a:sym typeface="Calibri"/>
              </a:rPr>
              <a:t> 4. Interacción mediante SQL y PL/SQL</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La base de datos se gestiona principalmente a través de SQL para la manipulación de datos y PL/SQL para la programación avanzada. Esta dualidad permite tanto la consulta sencilla como la implementación de lógica compleja dentro de la base de datos.</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txBox="1"/>
          <p:nvPr/>
        </p:nvSpPr>
        <p:spPr>
          <a:xfrm>
            <a:off x="762000" y="797510"/>
            <a:ext cx="10287000" cy="538609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2400">
                <a:solidFill>
                  <a:schemeClr val="dk1"/>
                </a:solidFill>
                <a:latin typeface="Calibri"/>
                <a:ea typeface="Calibri"/>
                <a:cs typeface="Calibri"/>
                <a:sym typeface="Calibri"/>
              </a:rPr>
              <a:t>Conclusiones</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Las conclusiones sobre la estructura de funcionamiento de Oracle Database pueden ser resumidas en los siguientes puntos clave:</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600">
                <a:solidFill>
                  <a:schemeClr val="dk1"/>
                </a:solidFill>
                <a:latin typeface="Calibri"/>
                <a:ea typeface="Calibri"/>
                <a:cs typeface="Calibri"/>
                <a:sym typeface="Calibri"/>
              </a:rPr>
              <a:t> 5. Control de Concurrencia y Transacciones</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Oracle implementa un modelo robusto de control de concurrencia y transacciones, utilizando técnicas de bloqueo y control de versiones. Esto garantiza que las operaciones simultáneas no afecten la integridad de los datos y proporciona mecanismos para el manejo adecuado de transacciones.</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600">
                <a:solidFill>
                  <a:schemeClr val="dk1"/>
                </a:solidFill>
                <a:latin typeface="Calibri"/>
                <a:ea typeface="Calibri"/>
                <a:cs typeface="Calibri"/>
                <a:sym typeface="Calibri"/>
              </a:rPr>
              <a:t> 6. Recuperación y Backup</a:t>
            </a:r>
            <a:endParaRPr b="1" sz="16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Las herramientas y estrategias de recuperación de Oracle, como RMAN, permiten una protección efectiva contra la pérdida de datos. La capacidad de realizar backups físicos y lógicos asegura que los datos puedan ser restaurados en caso de fallos o desastres.</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600">
                <a:solidFill>
                  <a:schemeClr val="dk1"/>
                </a:solidFill>
                <a:latin typeface="Calibri"/>
                <a:ea typeface="Calibri"/>
                <a:cs typeface="Calibri"/>
                <a:sym typeface="Calibri"/>
              </a:rPr>
              <a:t> 7. Alta Disponibilidad y Rendimiento</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La estructura de Oracle está diseñada para ofrecer alta disponibilidad y rendimiento, con características que incluyen la recuperación automática, el manejo eficiente de recursos y la optimización del acceso a datos. Esto permite a las empresas mantener sus operaciones críticas sin interrupciones.</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En resumen, la estructura de funcionamiento de Oracle Database está diseñada para ofrecer una solución robusta, escalable y eficiente para la gestión de datos, con una fuerte atención a la integridad, la recuperación y el rendimiento.</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3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sp>
        <p:nvSpPr>
          <p:cNvPr id="314" name="Google Shape;314;p3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315" name="Google Shape;315;p37"/>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16" name="Google Shape;316;p37"/>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Entrega de manera escrita, en la siguiente clase.</a:t>
            </a:r>
            <a:endParaRPr sz="2400">
              <a:solidFill>
                <a:schemeClr val="dk1"/>
              </a:solidFill>
              <a:latin typeface="Arial"/>
              <a:ea typeface="Arial"/>
              <a:cs typeface="Arial"/>
              <a:sym typeface="Arial"/>
            </a:endParaRPr>
          </a:p>
        </p:txBody>
      </p:sp>
      <p:sp>
        <p:nvSpPr>
          <p:cNvPr id="317" name="Google Shape;317;p37"/>
          <p:cNvSpPr txBox="1"/>
          <p:nvPr/>
        </p:nvSpPr>
        <p:spPr>
          <a:xfrm>
            <a:off x="856327" y="1276637"/>
            <a:ext cx="10096501" cy="3416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Estructura de funcionamiento y creación de Bases de Datos - Tablas</a:t>
            </a:r>
            <a:endParaRPr/>
          </a:p>
          <a:p>
            <a:pPr indent="0" lvl="0" marL="0" marR="0" rtl="0" algn="just">
              <a:spcBef>
                <a:spcPts val="0"/>
              </a:spcBef>
              <a:spcAft>
                <a:spcPts val="0"/>
              </a:spcAft>
              <a:buNone/>
            </a:pPr>
            <a:r>
              <a:t/>
            </a:r>
            <a:endParaRPr b="1" sz="2400">
              <a:solidFill>
                <a:schemeClr val="dk1"/>
              </a:solidFill>
              <a:latin typeface="Calibri"/>
              <a:ea typeface="Calibri"/>
              <a:cs typeface="Calibri"/>
              <a:sym typeface="Calibri"/>
            </a:endParaRPr>
          </a:p>
          <a:p>
            <a:pPr indent="-152400" lvl="0" marL="0" marR="0" rtl="0" algn="just">
              <a:spcBef>
                <a:spcPts val="0"/>
              </a:spcBef>
              <a:spcAft>
                <a:spcPts val="0"/>
              </a:spcAft>
              <a:buClr>
                <a:schemeClr val="dk1"/>
              </a:buClr>
              <a:buSzPts val="2400"/>
              <a:buFont typeface="Calibri"/>
              <a:buAutoNum type="arabicPeriod"/>
            </a:pPr>
            <a:r>
              <a:rPr b="1" lang="es-ES" sz="2400">
                <a:solidFill>
                  <a:schemeClr val="dk1"/>
                </a:solidFill>
                <a:latin typeface="Calibri"/>
                <a:ea typeface="Calibri"/>
                <a:cs typeface="Calibri"/>
                <a:sym typeface="Calibri"/>
              </a:rPr>
              <a:t> Componentes Principales</a:t>
            </a:r>
            <a:r>
              <a:rPr lang="es-ES" sz="2400">
                <a:solidFill>
                  <a:schemeClr val="dk1"/>
                </a:solidFill>
                <a:latin typeface="Calibri"/>
                <a:ea typeface="Calibri"/>
                <a:cs typeface="Calibri"/>
                <a:sym typeface="Calibri"/>
              </a:rPr>
              <a:t>:</a:t>
            </a:r>
            <a:endParaRPr/>
          </a:p>
          <a:p>
            <a:pPr indent="0" lvl="0" marL="0" marR="0" rtl="0" algn="just">
              <a:spcBef>
                <a:spcPts val="0"/>
              </a:spcBef>
              <a:spcAft>
                <a:spcPts val="0"/>
              </a:spcAft>
              <a:buNone/>
            </a:pPr>
            <a:r>
              <a:rPr lang="es-ES" sz="2400">
                <a:solidFill>
                  <a:schemeClr val="dk1"/>
                </a:solidFill>
                <a:latin typeface="Calibri"/>
                <a:ea typeface="Calibri"/>
                <a:cs typeface="Calibri"/>
                <a:sym typeface="Calibri"/>
              </a:rPr>
              <a:t>Describe de acuerdo a tu experiencia sobre el tema de: Base de Datos (BD) y Sistema de Gestión de Bases de Datos (DBMS), por medio de un cuadro comparativo.</a:t>
            </a:r>
            <a:endParaRPr/>
          </a:p>
          <a:p>
            <a:pPr indent="0" lvl="0" marL="0" marR="0" rtl="0" algn="just">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2400">
                <a:solidFill>
                  <a:schemeClr val="dk1"/>
                </a:solidFill>
                <a:latin typeface="Calibri"/>
                <a:ea typeface="Calibri"/>
                <a:cs typeface="Calibri"/>
                <a:sym typeface="Calibri"/>
              </a:rPr>
              <a:t>2. Casos de Uso</a:t>
            </a:r>
            <a:r>
              <a:rPr lang="es-ES" sz="2400">
                <a:solidFill>
                  <a:schemeClr val="dk1"/>
                </a:solidFill>
                <a:latin typeface="Calibri"/>
                <a:ea typeface="Calibri"/>
                <a:cs typeface="Calibri"/>
                <a:sym typeface="Calibri"/>
              </a:rPr>
              <a:t>:</a:t>
            </a:r>
            <a:endParaRPr/>
          </a:p>
          <a:p>
            <a:pPr indent="0" lvl="0" marL="0" marR="0" rtl="0" algn="just">
              <a:spcBef>
                <a:spcPts val="0"/>
              </a:spcBef>
              <a:spcAft>
                <a:spcPts val="0"/>
              </a:spcAft>
              <a:buNone/>
            </a:pPr>
            <a:r>
              <a:rPr lang="es-ES" sz="2400">
                <a:solidFill>
                  <a:schemeClr val="dk1"/>
                </a:solidFill>
                <a:latin typeface="Calibri"/>
                <a:ea typeface="Calibri"/>
                <a:cs typeface="Calibri"/>
                <a:sym typeface="Calibri"/>
              </a:rPr>
              <a:t>Crear y describe ejemplo de base de datos y tablas con la utilización de Oracle.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3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324" name="Google Shape;324;p3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325" name="Google Shape;325;p38"/>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26" name="Google Shape;326;p38"/>
          <p:cNvSpPr txBox="1"/>
          <p:nvPr/>
        </p:nvSpPr>
        <p:spPr>
          <a:xfrm>
            <a:off x="946171" y="1538098"/>
            <a:ext cx="10080101" cy="2998898"/>
          </a:xfrm>
          <a:prstGeom prst="rect">
            <a:avLst/>
          </a:prstGeom>
          <a:noFill/>
          <a:ln>
            <a:noFill/>
          </a:ln>
        </p:spPr>
        <p:txBody>
          <a:bodyPr anchorCtr="0" anchor="t" bIns="0" lIns="0" spcFirstLastPara="1" rIns="0" wrap="square" tIns="43800">
            <a:spAutoFit/>
          </a:bodyPr>
          <a:lstStyle/>
          <a:p>
            <a:pPr indent="-342900" lvl="0" marL="35496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Videos</a:t>
            </a:r>
            <a:endParaRPr/>
          </a:p>
          <a:p>
            <a:pPr indent="-190500" lvl="0" marL="35496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chemeClr val="dk1"/>
              </a:buClr>
              <a:buSzPts val="2400"/>
              <a:buFont typeface="Arial"/>
              <a:buChar char="-"/>
            </a:pPr>
            <a:r>
              <a:rPr b="1" lang="es-ES" sz="2400">
                <a:solidFill>
                  <a:schemeClr val="dk1"/>
                </a:solidFill>
                <a:latin typeface="Arial"/>
                <a:ea typeface="Arial"/>
                <a:cs typeface="Arial"/>
                <a:sym typeface="Arial"/>
              </a:rPr>
              <a:t>Video 1: </a:t>
            </a:r>
            <a:endParaRPr/>
          </a:p>
          <a:p>
            <a:pPr indent="-342900" lvl="0" marL="354965" marR="5080" rtl="0" algn="l">
              <a:spcBef>
                <a:spcPts val="0"/>
              </a:spcBef>
              <a:spcAft>
                <a:spcPts val="0"/>
              </a:spcAft>
              <a:buClr>
                <a:schemeClr val="dk1"/>
              </a:buClr>
              <a:buSzPts val="2400"/>
              <a:buFont typeface="Arial"/>
              <a:buChar char="-"/>
            </a:pPr>
            <a:r>
              <a:rPr lang="es-ES" sz="2400" u="sng">
                <a:solidFill>
                  <a:schemeClr val="dk1"/>
                </a:solidFill>
                <a:latin typeface="Arial"/>
                <a:ea typeface="Arial"/>
                <a:cs typeface="Arial"/>
                <a:sym typeface="Arial"/>
                <a:hlinkClick r:id="rId4">
                  <a:extLst>
                    <a:ext uri="{A12FA001-AC4F-418D-AE19-62706E023703}">
                      <ahyp:hlinkClr val="tx"/>
                    </a:ext>
                  </a:extLst>
                </a:hlinkClick>
              </a:rPr>
              <a:t>https://www.youtube.com/watch?v=_ePJqeQ-eWg&amp;list=PLgqdACsQ8US0fk-0trmKjJB8fMCKPJ1ai</a:t>
            </a:r>
            <a:endParaRPr sz="2400">
              <a:solidFill>
                <a:schemeClr val="dk1"/>
              </a:solidFill>
              <a:latin typeface="Arial"/>
              <a:ea typeface="Arial"/>
              <a:cs typeface="Arial"/>
              <a:sym typeface="Arial"/>
            </a:endParaRPr>
          </a:p>
          <a:p>
            <a:pPr indent="-190500" lvl="0" marL="354965" marR="5080" rtl="0" algn="l">
              <a:spcBef>
                <a:spcPts val="0"/>
              </a:spcBef>
              <a:spcAft>
                <a:spcPts val="0"/>
              </a:spcAft>
              <a:buClr>
                <a:schemeClr val="dk1"/>
              </a:buClr>
              <a:buSzPts val="2400"/>
              <a:buFont typeface="Calibri"/>
              <a:buNone/>
            </a:pPr>
            <a:r>
              <a:t/>
            </a:r>
            <a:endParaRPr sz="2400">
              <a:solidFill>
                <a:schemeClr val="dk1"/>
              </a:solidFill>
              <a:latin typeface="Arial"/>
              <a:ea typeface="Arial"/>
              <a:cs typeface="Arial"/>
              <a:sym typeface="Arial"/>
            </a:endParaRPr>
          </a:p>
          <a:p>
            <a:pPr indent="-342900" lvl="0" marL="35496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Páginas web:</a:t>
            </a:r>
            <a:endParaRPr/>
          </a:p>
          <a:p>
            <a:pPr indent="-342900" lvl="0" marL="354965" marR="5080" rtl="0" algn="l">
              <a:spcBef>
                <a:spcPts val="0"/>
              </a:spcBef>
              <a:spcAft>
                <a:spcPts val="0"/>
              </a:spcAft>
              <a:buClr>
                <a:schemeClr val="dk1"/>
              </a:buClr>
              <a:buSzPts val="2400"/>
              <a:buFont typeface="Arial"/>
              <a:buChar char="-"/>
            </a:pPr>
            <a:r>
              <a:rPr lang="es-ES" sz="2400">
                <a:solidFill>
                  <a:schemeClr val="dk1"/>
                </a:solidFill>
                <a:latin typeface="Arial"/>
                <a:ea typeface="Arial"/>
                <a:cs typeface="Arial"/>
                <a:sym typeface="Arial"/>
              </a:rPr>
              <a:t>https://es.wikipedia.org/wiki/Oracle_Corporation</a:t>
            </a:r>
            <a:endParaRPr/>
          </a:p>
        </p:txBody>
      </p:sp>
      <p:sp>
        <p:nvSpPr>
          <p:cNvPr id="327" name="Google Shape;327;p38"/>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3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334" name="Google Shape;334;p39"/>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35" name="Google Shape;335;p39"/>
          <p:cNvSpPr txBox="1"/>
          <p:nvPr/>
        </p:nvSpPr>
        <p:spPr>
          <a:xfrm>
            <a:off x="914400" y="2828835"/>
            <a:ext cx="6096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MUCHAS GRACIAS QUE DIOS LOS BENDIGA!!!</a:t>
            </a:r>
            <a:endParaRPr b="1" sz="3600">
              <a:solidFill>
                <a:schemeClr val="dk1"/>
              </a:solidFill>
              <a:latin typeface="Arial"/>
              <a:ea typeface="Arial"/>
              <a:cs typeface="Arial"/>
              <a:sym typeface="Arial"/>
            </a:endParaRPr>
          </a:p>
        </p:txBody>
      </p:sp>
      <p:pic>
        <p:nvPicPr>
          <p:cNvPr id="336" name="Google Shape;336;p39"/>
          <p:cNvPicPr preferRelativeResize="0"/>
          <p:nvPr/>
        </p:nvPicPr>
        <p:blipFill rotWithShape="1">
          <a:blip r:embed="rId4">
            <a:alphaModFix/>
          </a:blip>
          <a:srcRect b="0" l="0" r="0" t="0"/>
          <a:stretch/>
        </p:blipFill>
        <p:spPr>
          <a:xfrm>
            <a:off x="7467600" y="1216152"/>
            <a:ext cx="3056381" cy="442569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grpSp>
        <p:nvGrpSpPr>
          <p:cNvPr id="341" name="Google Shape;341;p40"/>
          <p:cNvGrpSpPr/>
          <p:nvPr/>
        </p:nvGrpSpPr>
        <p:grpSpPr>
          <a:xfrm>
            <a:off x="2057400" y="152400"/>
            <a:ext cx="9906000" cy="4152900"/>
            <a:chOff x="2057400" y="152400"/>
            <a:chExt cx="9906000" cy="4152900"/>
          </a:xfrm>
        </p:grpSpPr>
        <p:pic>
          <p:nvPicPr>
            <p:cNvPr id="342" name="Google Shape;342;p40"/>
            <p:cNvPicPr preferRelativeResize="0"/>
            <p:nvPr/>
          </p:nvPicPr>
          <p:blipFill rotWithShape="1">
            <a:blip r:embed="rId3">
              <a:alphaModFix/>
            </a:blip>
            <a:srcRect b="0" l="0" r="0" t="0"/>
            <a:stretch/>
          </p:blipFill>
          <p:spPr>
            <a:xfrm>
              <a:off x="2057400" y="2552700"/>
              <a:ext cx="7856700" cy="1752600"/>
            </a:xfrm>
            <a:prstGeom prst="rect">
              <a:avLst/>
            </a:prstGeom>
            <a:noFill/>
            <a:ln>
              <a:noFill/>
            </a:ln>
          </p:spPr>
        </p:pic>
        <p:sp>
          <p:nvSpPr>
            <p:cNvPr id="343" name="Google Shape;343;p40"/>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