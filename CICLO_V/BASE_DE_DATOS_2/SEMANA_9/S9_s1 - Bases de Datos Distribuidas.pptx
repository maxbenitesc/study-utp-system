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63" r:id="rId3"/>
    <p:sldId id="365" r:id="rId4"/>
    <p:sldId id="351" r:id="rId5"/>
    <p:sldId id="352" r:id="rId6"/>
    <p:sldId id="344" r:id="rId7"/>
    <p:sldId id="366" r:id="rId8"/>
    <p:sldId id="379" r:id="rId9"/>
    <p:sldId id="380" r:id="rId10"/>
    <p:sldId id="381" r:id="rId11"/>
    <p:sldId id="353" r:id="rId12"/>
    <p:sldId id="354" r:id="rId13"/>
    <p:sldId id="356" r:id="rId14"/>
    <p:sldId id="357" r:id="rId15"/>
    <p:sldId id="358" r:id="rId16"/>
    <p:sldId id="359" r:id="rId17"/>
    <p:sldId id="360" r:id="rId18"/>
    <p:sldId id="362" r:id="rId19"/>
    <p:sldId id="273" r:id="rId20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13/03/2025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90505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68979" marR="5080" indent="-3253104" algn="ctr">
              <a:lnSpc>
                <a:spcPts val="6480"/>
              </a:lnSpc>
              <a:spcBef>
                <a:spcPts val="915"/>
              </a:spcBef>
            </a:pPr>
            <a:r>
              <a:rPr lang="es-ES" sz="4800" spc="-45" dirty="0">
                <a:latin typeface="CentSchbkCyrill BT" panose="02040603050705020303" pitchFamily="18" charset="-52"/>
              </a:rPr>
              <a:t>CURSO: BASE DE DATOS II</a:t>
            </a:r>
            <a:endParaRPr sz="48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2767012" y="1644495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PRIMERA UNIDAD DE APRENDIZAJE 2: </a:t>
            </a:r>
            <a:r>
              <a:rPr lang="es-ES" dirty="0"/>
              <a:t>Bases de Datos Distribuidas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1966912" y="2971800"/>
            <a:ext cx="8258176" cy="1582484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</a:t>
            </a:r>
            <a:r>
              <a:rPr lang="es-PE" sz="3200" b="1" spc="-25" dirty="0" err="1">
                <a:solidFill>
                  <a:schemeClr val="bg1"/>
                </a:solidFill>
                <a:latin typeface="Arial"/>
                <a:cs typeface="Arial"/>
              </a:rPr>
              <a:t>N°</a:t>
            </a: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 9: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Bases de Datos Distribuidas: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- Transacciones y Control de Concurrencia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00CAAE-8A3B-4207-99E1-3C6408BF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459504"/>
            <a:ext cx="9525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sz="2400" b="1" dirty="0"/>
              <a:t>¿Qué entiendes por base de datos?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P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sz="2400" b="1" dirty="0"/>
              <a:t>¿Sabes qué es una transacción en el contexto de bases de datos?</a:t>
            </a:r>
            <a:endParaRPr lang="es-ES" sz="2400" b="1" dirty="0">
              <a:latin typeface="Arial" panose="020B0604020202020204" pitchFamily="34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P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sz="2400" b="1" dirty="0"/>
              <a:t>¿Qué es el control de concurrencia en una base de datos?</a:t>
            </a:r>
            <a:endParaRPr kumimoji="0" lang="es-PE" altLang="es-P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72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2590800" y="1999327"/>
            <a:ext cx="7086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spc="-5" dirty="0">
                <a:latin typeface="Arial MT"/>
                <a:cs typeface="Arial MT"/>
              </a:rPr>
              <a:t>Al finalizar la unidad el participante aplica los conceptos de bases de datos distribuidas para una gestión adecuada</a:t>
            </a:r>
          </a:p>
          <a:p>
            <a:pPr algn="ctr"/>
            <a:r>
              <a:rPr lang="es-ES" sz="3600" spc="-5" dirty="0">
                <a:latin typeface="Arial MT"/>
                <a:cs typeface="Arial MT"/>
              </a:rPr>
              <a:t>de la información.</a:t>
            </a:r>
            <a:endParaRPr lang="es-ES" sz="3600" dirty="0">
              <a:latin typeface="Arial MT"/>
              <a:cs typeface="Arial MT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723900" y="2174829"/>
            <a:ext cx="10744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/>
              <a:t>Las </a:t>
            </a:r>
            <a:r>
              <a:rPr lang="es-ES" sz="2800" b="1" dirty="0"/>
              <a:t>Bases de Datos Distribuidas</a:t>
            </a:r>
            <a:r>
              <a:rPr lang="es-ES" sz="2800" dirty="0"/>
              <a:t>, y en particular el manejo de </a:t>
            </a:r>
            <a:r>
              <a:rPr lang="es-ES" sz="2800" b="1" dirty="0"/>
              <a:t>transacciones y control de concurrencia</a:t>
            </a:r>
            <a:r>
              <a:rPr lang="es-ES" sz="2800" dirty="0"/>
              <a:t>, son cruciales para asegurar que las bases de datos en sistemas distribuidos funcionen de manera eficiente, coherente y sin pérdida de datos. Es esencial para garantizar que, incluso cuando múltiples usuarios acceden o modifican datos simultáneamente, se mantengan la integridad y la consistencia de los datos.</a:t>
            </a:r>
            <a:endParaRPr lang="es-ES" sz="2800" spc="-5" dirty="0">
              <a:latin typeface="Arial MT"/>
              <a:cs typeface="Arial MT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966912" y="2890391"/>
            <a:ext cx="8258176" cy="1090042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Bases de Datos Distribuidas: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- Transacciones y Control de Concurrencia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</a:t>
            </a:r>
            <a:r>
              <a:rPr lang="es-PE" sz="3600" b="1" spc="-25" dirty="0" err="1">
                <a:solidFill>
                  <a:srgbClr val="000000"/>
                </a:solidFill>
                <a:latin typeface="Arial"/>
                <a:cs typeface="Arial"/>
              </a:rPr>
              <a:t>N°</a:t>
            </a: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 9: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3EDB699-AF32-4B47-BE3B-D1D353A67A32}"/>
              </a:ext>
            </a:extLst>
          </p:cNvPr>
          <p:cNvSpPr txBox="1"/>
          <p:nvPr/>
        </p:nvSpPr>
        <p:spPr>
          <a:xfrm>
            <a:off x="3049191" y="4648200"/>
            <a:ext cx="6093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Bases de Datos Distribuidas</a:t>
            </a:r>
            <a:r>
              <a:rPr lang="es-ES" dirty="0"/>
              <a:t>:</a:t>
            </a:r>
          </a:p>
          <a:p>
            <a:pPr algn="ctr"/>
            <a:r>
              <a:rPr lang="es-ES" dirty="0"/>
              <a:t>Un sistema de bases de datos en el que los datos están distribuidos en varias ubicaciones físicas, pero se gestionan como una única base de datos.</a:t>
            </a:r>
            <a:endParaRPr lang="es-PE" dirty="0"/>
          </a:p>
        </p:txBody>
      </p:sp>
      <p:pic>
        <p:nvPicPr>
          <p:cNvPr id="1027" name="Picture 3" descr="Bases de datos distribuidas">
            <a:extLst>
              <a:ext uri="{FF2B5EF4-FFF2-40B4-BE49-F238E27FC236}">
                <a16:creationId xmlns:a16="http://schemas.microsoft.com/office/drawing/2014/main" id="{158A1176-6580-4CA3-8D56-8BEE7FDC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628" y="979551"/>
            <a:ext cx="6838744" cy="364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49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3EDB699-AF32-4B47-BE3B-D1D353A67A32}"/>
              </a:ext>
            </a:extLst>
          </p:cNvPr>
          <p:cNvSpPr txBox="1"/>
          <p:nvPr/>
        </p:nvSpPr>
        <p:spPr>
          <a:xfrm>
            <a:off x="3049191" y="4648200"/>
            <a:ext cx="6093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Transacción</a:t>
            </a:r>
            <a:r>
              <a:rPr lang="es-ES" dirty="0"/>
              <a:t>:</a:t>
            </a:r>
          </a:p>
          <a:p>
            <a:pPr algn="ctr"/>
            <a:r>
              <a:rPr lang="es-ES" dirty="0"/>
              <a:t>Un conjunto de operaciones que se realizan como una unidad indivisible. Las transacciones deben ser atómicas, coherentes, aisladas y duraderas (propiedades </a:t>
            </a:r>
            <a:r>
              <a:rPr lang="es-ES" dirty="0" err="1"/>
              <a:t>ACID</a:t>
            </a:r>
            <a:r>
              <a:rPr lang="es-ES" dirty="0"/>
              <a:t>).</a:t>
            </a:r>
            <a:endParaRPr lang="es-PE" dirty="0"/>
          </a:p>
        </p:txBody>
      </p:sp>
      <p:pic>
        <p:nvPicPr>
          <p:cNvPr id="3074" name="Picture 2" descr="5. Bases de datos distribuidas">
            <a:extLst>
              <a:ext uri="{FF2B5EF4-FFF2-40B4-BE49-F238E27FC236}">
                <a16:creationId xmlns:a16="http://schemas.microsoft.com/office/drawing/2014/main" id="{42E14EE9-B9A1-4B48-AD95-12463178C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12" y="1219200"/>
            <a:ext cx="4371975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3EDB699-AF32-4B47-BE3B-D1D353A67A32}"/>
              </a:ext>
            </a:extLst>
          </p:cNvPr>
          <p:cNvSpPr txBox="1"/>
          <p:nvPr/>
        </p:nvSpPr>
        <p:spPr>
          <a:xfrm>
            <a:off x="2896791" y="4514671"/>
            <a:ext cx="64758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Control de Concurrencia</a:t>
            </a:r>
            <a:r>
              <a:rPr lang="es-ES" dirty="0"/>
              <a:t>: </a:t>
            </a:r>
          </a:p>
          <a:p>
            <a:pPr algn="ctr"/>
            <a:r>
              <a:rPr lang="es-ES" dirty="0"/>
              <a:t>Mecanismos utilizados para manejar el acceso concurrente a los datos, asegurando que las transacciones no interfieran entre sí de manera incorrecta, garantizando la integridad de los datos.</a:t>
            </a:r>
            <a:endParaRPr lang="es-PE" dirty="0"/>
          </a:p>
        </p:txBody>
      </p:sp>
      <p:pic>
        <p:nvPicPr>
          <p:cNvPr id="2050" name="Picture 2" descr="5. Análisis detallado de la distribución de BD | MyFPschool">
            <a:extLst>
              <a:ext uri="{FF2B5EF4-FFF2-40B4-BE49-F238E27FC236}">
                <a16:creationId xmlns:a16="http://schemas.microsoft.com/office/drawing/2014/main" id="{AA9DCC9F-6162-4478-8AF4-A56875895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474" y="1752600"/>
            <a:ext cx="5909051" cy="251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00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4B31FD8-22BB-4D46-8803-4EE22C9573E1}"/>
              </a:ext>
            </a:extLst>
          </p:cNvPr>
          <p:cNvSpPr txBox="1"/>
          <p:nvPr/>
        </p:nvSpPr>
        <p:spPr>
          <a:xfrm>
            <a:off x="762000" y="1371600"/>
            <a:ext cx="10439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Ejemplos</a:t>
            </a:r>
          </a:p>
          <a:p>
            <a:pPr algn="just"/>
            <a:endParaRPr lang="es-ES" sz="2400" b="1" dirty="0"/>
          </a:p>
          <a:p>
            <a:pPr algn="just">
              <a:buFont typeface="+mj-lt"/>
              <a:buAutoNum type="arabicPeriod"/>
            </a:pPr>
            <a:r>
              <a:rPr lang="es-ES" sz="2400" b="1" dirty="0"/>
              <a:t>Transacción</a:t>
            </a:r>
            <a:r>
              <a:rPr lang="es-ES" sz="2400" dirty="0"/>
              <a:t>: Un usuario compra un artículo en una tienda en línea. La transacción involucra múltiples operaciones: verificar el inventario, descontar el producto, actualizar la base de datos de ventas, etc.</a:t>
            </a:r>
          </a:p>
          <a:p>
            <a:pPr algn="just">
              <a:buFont typeface="+mj-lt"/>
              <a:buAutoNum type="arabicPeriod"/>
            </a:pPr>
            <a:endParaRPr lang="es-ES" sz="2400" dirty="0"/>
          </a:p>
          <a:p>
            <a:pPr algn="just">
              <a:buFont typeface="+mj-lt"/>
              <a:buAutoNum type="arabicPeriod"/>
            </a:pPr>
            <a:r>
              <a:rPr lang="es-ES" sz="2400" b="1" dirty="0"/>
              <a:t>Control de Concurrencia</a:t>
            </a:r>
            <a:r>
              <a:rPr lang="es-ES" sz="2400" dirty="0"/>
              <a:t>: Imagina dos usuarios intentando modificar el precio de un producto simultáneamente. El control de concurrencia evitará que se produzca una actualización errónea o inconsistente en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82951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2630296" y="1676935"/>
            <a:ext cx="6931407" cy="189090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spc="-5" dirty="0">
                <a:latin typeface="Arial"/>
                <a:cs typeface="Arial"/>
              </a:rPr>
              <a:t>¿Qué es la fragmentación horizontal y cómo difiere de la vertical?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0386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2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0" y="28194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5886D6-5B28-4586-B236-615F21BB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bg1"/>
                </a:solidFill>
                <a:latin typeface="Rubik"/>
              </a:rPr>
              <a:t>Caso</a:t>
            </a:r>
            <a:r>
              <a:rPr b="1" spc="-90" dirty="0">
                <a:solidFill>
                  <a:schemeClr val="bg1"/>
                </a:solidFill>
                <a:latin typeface="Rubik"/>
              </a:rPr>
              <a:t> </a:t>
            </a:r>
            <a:r>
              <a:rPr b="1" spc="-5" dirty="0">
                <a:solidFill>
                  <a:schemeClr val="bg1"/>
                </a:solidFill>
                <a:latin typeface="Rubik"/>
              </a:rPr>
              <a:t>práctico</a:t>
            </a:r>
          </a:p>
        </p:txBody>
      </p:sp>
    </p:spTree>
    <p:extLst>
      <p:ext uri="{BB962C8B-B14F-4D97-AF65-F5344CB8AC3E}">
        <p14:creationId xmlns:p14="http://schemas.microsoft.com/office/powerpoint/2010/main" val="346063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609600" y="1295400"/>
            <a:ext cx="10515600" cy="443198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es-ES" sz="3200" b="1"/>
              <a:t>Práctica</a:t>
            </a:r>
          </a:p>
          <a:p>
            <a:pPr algn="just">
              <a:buFont typeface="+mj-lt"/>
              <a:buAutoNum type="arabicPeriod"/>
            </a:pPr>
            <a:r>
              <a:rPr lang="es-ES" sz="3200" b="1"/>
              <a:t>Simular una transacción</a:t>
            </a:r>
            <a:r>
              <a:rPr lang="es-ES" sz="3200"/>
              <a:t>: Crea una transacción de base de datos que modifique múltiples registros (por ejemplo, realizar una compra, descontar el inventario y actualizar el estado de un pedido).</a:t>
            </a:r>
          </a:p>
          <a:p>
            <a:pPr algn="just">
              <a:buFont typeface="+mj-lt"/>
              <a:buAutoNum type="arabicPeriod"/>
            </a:pPr>
            <a:r>
              <a:rPr lang="es-ES" sz="3200" b="1"/>
              <a:t>Implementar control de concurrencia</a:t>
            </a:r>
            <a:r>
              <a:rPr lang="es-ES" sz="3200"/>
              <a:t>: Usa una base de datos distribuida y permite que varias transacciones accedan a los mismos datos simultáneamente. Observa cómo el control de concurrencia maneja los conflictos.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Nombre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Nombre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1295400" y="2390273"/>
            <a:ext cx="9601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Las </a:t>
            </a:r>
            <a:r>
              <a:rPr lang="es-ES" sz="2400" b="1" dirty="0"/>
              <a:t>Bases de Datos Distribuidas</a:t>
            </a:r>
            <a:r>
              <a:rPr lang="es-ES" sz="2400" dirty="0"/>
              <a:t> permiten que la información esté disponible en varios lugares al mismo tiempo. El uso adecuado de las </a:t>
            </a:r>
            <a:r>
              <a:rPr lang="es-ES" sz="2400" b="1" dirty="0"/>
              <a:t>transacciones</a:t>
            </a:r>
            <a:r>
              <a:rPr lang="es-ES" sz="2400" dirty="0"/>
              <a:t> asegura que las operaciones sobre los datos sean completas y consistentes. El </a:t>
            </a:r>
            <a:r>
              <a:rPr lang="es-ES" sz="2400" b="1" dirty="0"/>
              <a:t>control de concurrencia</a:t>
            </a:r>
            <a:r>
              <a:rPr lang="es-ES" sz="2400" dirty="0"/>
              <a:t> es vital para gestionar el acceso simultáneo a los datos, garantizando que no se presenten conflictos o problemas de integridad. Estos conceptos son fundamentales para el funcionamiento adecuado de sistemas distribuidos a gran escala.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596</Words>
  <Application>Microsoft Office PowerPoint</Application>
  <PresentationFormat>Panorámica</PresentationFormat>
  <Paragraphs>53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CentSchbkCyrill BT</vt:lpstr>
      <vt:lpstr>Rubik</vt:lpstr>
      <vt:lpstr>Office Theme</vt:lpstr>
      <vt:lpstr>CURSO: BASE DE DATOS II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práctico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Ronald Ayra Pinto</cp:lastModifiedBy>
  <cp:revision>56</cp:revision>
  <dcterms:created xsi:type="dcterms:W3CDTF">2024-06-11T03:36:57Z</dcterms:created>
  <dcterms:modified xsi:type="dcterms:W3CDTF">2025-03-13T23:26:01Z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