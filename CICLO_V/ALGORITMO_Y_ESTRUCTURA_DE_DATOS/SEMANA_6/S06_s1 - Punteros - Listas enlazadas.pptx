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07" r:id="rId4"/>
    <p:sldId id="308" r:id="rId5"/>
    <p:sldId id="309" r:id="rId6"/>
    <p:sldId id="276" r:id="rId7"/>
    <p:sldId id="295" r:id="rId8"/>
    <p:sldId id="296" r:id="rId9"/>
    <p:sldId id="299" r:id="rId10"/>
    <p:sldId id="298" r:id="rId11"/>
    <p:sldId id="297" r:id="rId12"/>
    <p:sldId id="301" r:id="rId13"/>
    <p:sldId id="303" r:id="rId14"/>
    <p:sldId id="302" r:id="rId15"/>
    <p:sldId id="305" r:id="rId16"/>
    <p:sldId id="304" r:id="rId17"/>
    <p:sldId id="306" r:id="rId18"/>
    <p:sldId id="310" r:id="rId19"/>
    <p:sldId id="311" r:id="rId20"/>
    <p:sldId id="275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E79C3-AE97-49C5-89BD-3C4A9E7E9188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49C51-E0D2-4739-895A-B28EB82655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70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831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670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736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353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151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20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219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560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660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793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4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19326404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80082706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3152511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08188408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2437299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19B92-A47C-458E-AE74-CC7A1303C729}" type="datetimeFigureOut">
              <a:rPr lang="es-PE" smtClean="0"/>
              <a:t>2/05/2023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598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y </a:t>
            </a:r>
            <a:r>
              <a:rPr lang="en-US" dirty="0" err="1"/>
              <a:t>Estructuras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es-ES" sz="6000" dirty="0">
                <a:latin typeface="+mj-lt"/>
                <a:ea typeface="+mj-ea"/>
                <a:cs typeface="+mj-cs"/>
              </a:rPr>
              <a:t>Listas Enlazadas</a:t>
            </a:r>
          </a:p>
        </p:txBody>
      </p:sp>
    </p:spTree>
    <p:extLst>
      <p:ext uri="{BB962C8B-B14F-4D97-AF65-F5344CB8AC3E}">
        <p14:creationId xmlns:p14="http://schemas.microsoft.com/office/powerpoint/2010/main" val="197254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Logro de aprendizaje</a:t>
            </a: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65049933-C646-4019-B9E2-D4157419C3D7}"/>
              </a:ext>
            </a:extLst>
          </p:cNvPr>
          <p:cNvSpPr/>
          <p:nvPr/>
        </p:nvSpPr>
        <p:spPr>
          <a:xfrm>
            <a:off x="2053804" y="2788720"/>
            <a:ext cx="7580773" cy="2425148"/>
          </a:xfrm>
          <a:prstGeom prst="round2DiagRect">
            <a:avLst/>
          </a:prstGeom>
          <a:solidFill>
            <a:srgbClr val="00206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2400" dirty="0">
                <a:solidFill>
                  <a:schemeClr val="bg1"/>
                </a:solidFill>
              </a:rPr>
              <a:t>Al finalizar la sesión el estudiante </a:t>
            </a:r>
            <a:r>
              <a:rPr lang="es-ES" sz="2400" dirty="0" smtClean="0">
                <a:solidFill>
                  <a:schemeClr val="bg1"/>
                </a:solidFill>
              </a:rPr>
              <a:t>utilizará </a:t>
            </a:r>
            <a:r>
              <a:rPr lang="es-ES" sz="2400" dirty="0">
                <a:solidFill>
                  <a:schemeClr val="bg1"/>
                </a:solidFill>
              </a:rPr>
              <a:t>adecuadamente </a:t>
            </a:r>
            <a:r>
              <a:rPr lang="es-ES" sz="2400" dirty="0" smtClean="0">
                <a:solidFill>
                  <a:schemeClr val="bg1"/>
                </a:solidFill>
              </a:rPr>
              <a:t>las operaciones con Listas Enlazadas para desarrollar </a:t>
            </a:r>
            <a:r>
              <a:rPr lang="es-PE" sz="2400" dirty="0"/>
              <a:t>soluciones algorítmicas</a:t>
            </a:r>
            <a:r>
              <a:rPr lang="es-ES" sz="2400" dirty="0" smtClean="0">
                <a:solidFill>
                  <a:schemeClr val="bg1"/>
                </a:solidFill>
              </a:rPr>
              <a:t> </a:t>
            </a:r>
            <a:r>
              <a:rPr lang="es-ES" sz="2400" dirty="0">
                <a:solidFill>
                  <a:schemeClr val="bg1"/>
                </a:solidFill>
              </a:rPr>
              <a:t>en java.</a:t>
            </a:r>
          </a:p>
          <a:p>
            <a:pPr algn="just"/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49356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 smtClean="0">
                <a:solidFill>
                  <a:schemeClr val="tx1"/>
                </a:solidFill>
              </a:rPr>
              <a:t>Dudas sobre la clase anterior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100883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buFontTx/>
              <a:buNone/>
            </a:pPr>
            <a:r>
              <a:rPr lang="es-PE" altLang="es-MX" sz="2800" dirty="0" smtClean="0">
                <a:solidFill>
                  <a:schemeClr val="tx1"/>
                </a:solidFill>
              </a:rPr>
              <a:t>Arreglos:</a:t>
            </a:r>
          </a:p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Para que sirve la función </a:t>
            </a:r>
            <a:r>
              <a:rPr lang="es-PE" altLang="es-MX" sz="2800" dirty="0" err="1" smtClean="0">
                <a:solidFill>
                  <a:schemeClr val="tx1"/>
                </a:solidFill>
              </a:rPr>
              <a:t>b.length</a:t>
            </a:r>
            <a:endParaRPr lang="es-PE" altLang="es-MX" sz="2800" dirty="0" smtClean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Sea el arreglo a, que se obtiene con la sentencia a[0].</a:t>
            </a:r>
            <a:r>
              <a:rPr lang="es-PE" altLang="es-MX" sz="2800" dirty="0" err="1" smtClean="0">
                <a:solidFill>
                  <a:schemeClr val="tx1"/>
                </a:solidFill>
              </a:rPr>
              <a:t>length</a:t>
            </a:r>
            <a:r>
              <a:rPr lang="es-PE" altLang="es-MX" sz="2800" dirty="0" smtClean="0">
                <a:solidFill>
                  <a:schemeClr val="tx1"/>
                </a:solidFill>
              </a:rPr>
              <a:t>?</a:t>
            </a: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altLang="es-MX" sz="2800" dirty="0" smtClean="0">
                <a:solidFill>
                  <a:schemeClr val="tx1"/>
                </a:solidFill>
              </a:rPr>
              <a:t>Sea la matriz a,    </a:t>
            </a:r>
            <a:r>
              <a:rPr lang="es-ES" altLang="es-MX" sz="2800" dirty="0" err="1" smtClean="0">
                <a:solidFill>
                  <a:schemeClr val="tx1"/>
                </a:solidFill>
              </a:rPr>
              <a:t>a.length</a:t>
            </a:r>
            <a:r>
              <a:rPr lang="es-ES" altLang="es-MX" sz="2800" dirty="0" smtClean="0">
                <a:solidFill>
                  <a:schemeClr val="tx1"/>
                </a:solidFill>
              </a:rPr>
              <a:t> </a:t>
            </a:r>
            <a:r>
              <a:rPr lang="es-ES" altLang="es-MX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numero de filas,  a[0].</a:t>
            </a:r>
            <a:r>
              <a:rPr lang="es-ES" altLang="es-MX" sz="28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length</a:t>
            </a:r>
            <a:r>
              <a:rPr lang="es-ES" altLang="es-MX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  </a:t>
            </a:r>
            <a:r>
              <a:rPr lang="es-ES" altLang="es-MX" sz="28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cant</a:t>
            </a:r>
            <a:r>
              <a:rPr lang="es-ES" altLang="es-MX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 de columnas</a:t>
            </a: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altLang="es-MX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C[0].</a:t>
            </a:r>
            <a:r>
              <a:rPr lang="es-ES" altLang="es-MX" sz="28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length</a:t>
            </a:r>
            <a:r>
              <a:rPr lang="es-ES" altLang="es-MX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()</a:t>
            </a:r>
            <a:endParaRPr lang="es-PE" altLang="es-MX" sz="2800" dirty="0" smtClean="0">
              <a:solidFill>
                <a:schemeClr val="tx1"/>
              </a:solidFill>
            </a:endParaRPr>
          </a:p>
          <a:p>
            <a:pPr algn="just" fontAlgn="auto">
              <a:spcAft>
                <a:spcPts val="0"/>
              </a:spcAft>
            </a:pPr>
            <a:endParaRPr lang="es-PE" altLang="es-MX" sz="2800" dirty="0" smtClean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altLang="es-MX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51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Conocimientos previos: </a:t>
            </a:r>
            <a:r>
              <a:rPr lang="es-PE" dirty="0" smtClean="0">
                <a:solidFill>
                  <a:schemeClr val="tx1"/>
                </a:solidFill>
              </a:rPr>
              <a:t>Apuntadores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 smtClean="0">
              <a:solidFill>
                <a:schemeClr val="tx1"/>
              </a:solidFill>
            </a:endParaRPr>
          </a:p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Cuando hay un objeto </a:t>
            </a:r>
            <a:r>
              <a:rPr lang="es-PE" altLang="es-MX" sz="2800" dirty="0" smtClean="0">
                <a:solidFill>
                  <a:schemeClr val="tx1"/>
                </a:solidFill>
              </a:rPr>
              <a:t>lejos del lugar donde ustedes se encuentran, </a:t>
            </a:r>
            <a:r>
              <a:rPr lang="es-PE" altLang="es-MX" sz="2800" dirty="0" smtClean="0">
                <a:solidFill>
                  <a:schemeClr val="tx1"/>
                </a:solidFill>
              </a:rPr>
              <a:t>como hacen referencia a ese objeto? </a:t>
            </a: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En la carretera hay paneles que indican a que distancia se encuentra un pueblo, ciudad</a:t>
            </a:r>
          </a:p>
        </p:txBody>
      </p:sp>
    </p:spTree>
    <p:extLst>
      <p:ext uri="{BB962C8B-B14F-4D97-AF65-F5344CB8AC3E}">
        <p14:creationId xmlns:p14="http://schemas.microsoft.com/office/powerpoint/2010/main" val="219288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 smtClean="0">
                <a:solidFill>
                  <a:schemeClr val="tx1"/>
                </a:solidFill>
              </a:rPr>
              <a:t>Utilidad del tema: Punteros Listas enlazadas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buFontTx/>
              <a:buNone/>
            </a:pPr>
            <a:r>
              <a:rPr lang="es-PE" altLang="es-MX" sz="2800" dirty="0" smtClean="0">
                <a:solidFill>
                  <a:schemeClr val="tx1"/>
                </a:solidFill>
              </a:rPr>
              <a:t>Porque es importante:</a:t>
            </a:r>
          </a:p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Permiten referenciar a un objeto</a:t>
            </a: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Genera una relación dinámica de valores</a:t>
            </a:r>
          </a:p>
        </p:txBody>
      </p:sp>
    </p:spTree>
    <p:extLst>
      <p:ext uri="{BB962C8B-B14F-4D97-AF65-F5344CB8AC3E}">
        <p14:creationId xmlns:p14="http://schemas.microsoft.com/office/powerpoint/2010/main" val="48662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6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_tradnl" altLang="es-ES" dirty="0" smtClean="0"/>
              <a:t>Punteros</a:t>
            </a:r>
            <a:endParaRPr lang="en-US" altLang="es-E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59918" y="2024745"/>
            <a:ext cx="6781800" cy="1219200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Clr>
                <a:schemeClr val="tx1"/>
              </a:buClr>
              <a:buNone/>
            </a:pPr>
            <a:r>
              <a:rPr lang="es-MX" altLang="es-PE" dirty="0" smtClean="0">
                <a:cs typeface="Times New Roman" pitchFamily="18" charset="0"/>
              </a:rPr>
              <a:t>El </a:t>
            </a:r>
            <a:r>
              <a:rPr lang="es-MX" altLang="es-PE" b="1" dirty="0" smtClean="0">
                <a:cs typeface="Times New Roman" pitchFamily="18" charset="0"/>
              </a:rPr>
              <a:t>puntero</a:t>
            </a:r>
            <a:r>
              <a:rPr lang="es-MX" altLang="es-PE" dirty="0" smtClean="0">
                <a:cs typeface="Times New Roman" pitchFamily="18" charset="0"/>
              </a:rPr>
              <a:t> es una variable cuyo valor es una posición de memoria</a:t>
            </a:r>
            <a:r>
              <a:rPr lang="es-ES" altLang="es-PE" dirty="0" smtClean="0"/>
              <a:t> </a:t>
            </a:r>
            <a:endParaRPr lang="es-PE" altLang="es-PE" dirty="0" smtClean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027117" y="4539345"/>
            <a:ext cx="25146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PE" sz="3600" dirty="0" smtClean="0">
                <a:latin typeface="Times New Roman" pitchFamily="18" charset="0"/>
                <a:cs typeface="Times New Roman" pitchFamily="18" charset="0"/>
              </a:rPr>
              <a:t>Estructura</a:t>
            </a:r>
            <a:endParaRPr lang="es-ES" altLang="es-PE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3185617" y="4920345"/>
            <a:ext cx="1828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PE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140917" y="4539345"/>
            <a:ext cx="19050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PE" sz="3600" dirty="0" smtClean="0">
                <a:latin typeface="Times New Roman" pitchFamily="18" charset="0"/>
                <a:cs typeface="Times New Roman" pitchFamily="18" charset="0"/>
              </a:rPr>
              <a:t>320</a:t>
            </a:r>
            <a:endParaRPr lang="es-ES" altLang="es-PE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3198317" y="3320145"/>
            <a:ext cx="1752600" cy="914400"/>
          </a:xfrm>
          <a:prstGeom prst="wedgeRoundRectCallout">
            <a:avLst>
              <a:gd name="adj1" fmla="val -65491"/>
              <a:gd name="adj2" fmla="val 121704"/>
              <a:gd name="adj3" fmla="val 16667"/>
            </a:avLst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19050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lvl="1" eaLnBrk="1" hangingPunct="1">
              <a:buClrTx/>
              <a:buSzTx/>
              <a:buFontTx/>
              <a:buNone/>
            </a:pPr>
            <a:r>
              <a:rPr lang="es-MX" altLang="es-PE" sz="2000" dirty="0">
                <a:latin typeface="Times New Roman" pitchFamily="18" charset="0"/>
                <a:cs typeface="Times New Roman" pitchFamily="18" charset="0"/>
              </a:rPr>
              <a:t>dirección de memoria</a:t>
            </a:r>
            <a:endParaRPr lang="es-ES" altLang="es-PE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331917" y="3853545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5524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MX" altLang="es-PE" sz="2800" dirty="0" smtClean="0">
                <a:latin typeface="Times New Roman" pitchFamily="18" charset="0"/>
                <a:cs typeface="Times New Roman" pitchFamily="18" charset="0"/>
              </a:rPr>
              <a:t>320</a:t>
            </a:r>
            <a:endParaRPr lang="es-PE" altLang="es-PE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217117" y="3853545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5524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MX" altLang="es-PE" sz="2800">
                <a:latin typeface="Times New Roman" pitchFamily="18" charset="0"/>
                <a:cs typeface="Times New Roman" pitchFamily="18" charset="0"/>
              </a:rPr>
              <a:t>Puntero        </a:t>
            </a:r>
            <a:endParaRPr lang="es-PE" altLang="es-PE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653008" y="5452617"/>
            <a:ext cx="5433893" cy="1219200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Clr>
                <a:schemeClr val="tx1"/>
              </a:buClr>
              <a:buNone/>
            </a:pPr>
            <a:r>
              <a:rPr lang="es-MX" altLang="es-PE" dirty="0" smtClean="0">
                <a:cs typeface="Times New Roman" pitchFamily="18" charset="0"/>
              </a:rPr>
              <a:t>Al valor </a:t>
            </a:r>
            <a:r>
              <a:rPr lang="es-MX" altLang="es-PE" b="1" dirty="0" smtClean="0">
                <a:cs typeface="Times New Roman" pitchFamily="18" charset="0"/>
              </a:rPr>
              <a:t>Estructura</a:t>
            </a:r>
            <a:r>
              <a:rPr lang="es-MX" altLang="es-PE" dirty="0" smtClean="0">
                <a:cs typeface="Times New Roman" pitchFamily="18" charset="0"/>
              </a:rPr>
              <a:t> se accede mediante el puntero</a:t>
            </a:r>
            <a:endParaRPr lang="es-PE" altLang="es-PE" dirty="0" smtClean="0"/>
          </a:p>
        </p:txBody>
      </p:sp>
      <p:sp>
        <p:nvSpPr>
          <p:cNvPr id="3" name="Rectángulo redondeado 2"/>
          <p:cNvSpPr/>
          <p:nvPr/>
        </p:nvSpPr>
        <p:spPr>
          <a:xfrm>
            <a:off x="8175009" y="2838734"/>
            <a:ext cx="3766782" cy="328911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8325134" y="3203007"/>
            <a:ext cx="3355075" cy="171733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Clr>
                <a:schemeClr val="tx1"/>
              </a:buClr>
              <a:buNone/>
            </a:pPr>
            <a:r>
              <a:rPr lang="es-MX" altLang="es-PE" dirty="0" smtClean="0">
                <a:cs typeface="Times New Roman" pitchFamily="18" charset="0"/>
              </a:rPr>
              <a:t>Diferencia: la variable nombre almacena el valor</a:t>
            </a:r>
            <a:endParaRPr lang="es-PE" altLang="es-PE" dirty="0" smtClean="0"/>
          </a:p>
        </p:txBody>
      </p:sp>
    </p:spTree>
    <p:extLst>
      <p:ext uri="{BB962C8B-B14F-4D97-AF65-F5344CB8AC3E}">
        <p14:creationId xmlns:p14="http://schemas.microsoft.com/office/powerpoint/2010/main" val="86975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500"/>
                            </p:stCondLst>
                            <p:childTnLst>
                              <p:par>
                                <p:cTn id="37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  <p:bldP spid="7" grpId="0" animBg="1" autoUpdateAnimBg="0"/>
      <p:bldP spid="8" grpId="0" animBg="1"/>
      <p:bldP spid="9" grpId="0" animBg="1" autoUpdateAnimBg="0"/>
      <p:bldP spid="10" grpId="0" animBg="1" autoUpdateAnimBg="0"/>
      <p:bldP spid="11" grpId="0" build="p" autoUpdateAnimBg="0" advAuto="1000"/>
      <p:bldP spid="12" grpId="0" build="p" autoUpdateAnimBg="0" advAuto="1000"/>
      <p:bldP spid="13" grpId="0" build="p" autoUpdateAnimBg="0" advAuto="0"/>
      <p:bldP spid="15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7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_tradnl" altLang="es-ES" dirty="0" smtClean="0"/>
              <a:t>Nodo</a:t>
            </a:r>
            <a:endParaRPr lang="en-US" altLang="es-ES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2462350" y="1905000"/>
            <a:ext cx="8001000" cy="2974975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0" lvl="1" indent="-381000" eaLnBrk="1" hangingPunct="1">
              <a:buFont typeface="Wingdings" pitchFamily="2" charset="2"/>
              <a:buNone/>
            </a:pPr>
            <a:r>
              <a:rPr lang="es-MX" altLang="es-PE" dirty="0" smtClean="0">
                <a:cs typeface="Times New Roman" pitchFamily="18" charset="0"/>
              </a:rPr>
              <a:t>Es una posición de memoria que almacena valores.</a:t>
            </a:r>
          </a:p>
          <a:p>
            <a:pPr marL="762000" lvl="1" indent="-381000" eaLnBrk="1" hangingPunct="1">
              <a:buFont typeface="Wingdings" pitchFamily="2" charset="2"/>
              <a:buNone/>
            </a:pPr>
            <a:r>
              <a:rPr lang="es-MX" altLang="es-PE" dirty="0" smtClean="0">
                <a:cs typeface="Times New Roman" pitchFamily="18" charset="0"/>
              </a:rPr>
              <a:t>Tiene 2 partes: </a:t>
            </a:r>
            <a:endParaRPr lang="es-PE" altLang="es-PE" dirty="0" smtClean="0">
              <a:cs typeface="Times New Roman" pitchFamily="18" charset="0"/>
            </a:endParaRPr>
          </a:p>
          <a:p>
            <a:pPr marL="762000" lvl="1" indent="-381000" eaLnBrk="1" hangingPunct="1">
              <a:buFontTx/>
              <a:buChar char="•"/>
            </a:pPr>
            <a:r>
              <a:rPr lang="es-MX" altLang="es-PE" dirty="0" smtClean="0"/>
              <a:t>Una parte almacena información ( puede almacenar uno </a:t>
            </a:r>
            <a:r>
              <a:rPr lang="es-MX" altLang="es-PE" dirty="0" err="1" smtClean="0"/>
              <a:t>ó</a:t>
            </a:r>
            <a:r>
              <a:rPr lang="es-MX" altLang="es-PE" dirty="0" smtClean="0"/>
              <a:t> varios tipos de datos)</a:t>
            </a:r>
            <a:endParaRPr lang="es-ES" altLang="es-PE" dirty="0" smtClean="0"/>
          </a:p>
          <a:p>
            <a:pPr marL="762000" lvl="1" indent="-381000" eaLnBrk="1" hangingPunct="1">
              <a:buFontTx/>
              <a:buChar char="•"/>
            </a:pPr>
            <a:r>
              <a:rPr lang="es-MX" altLang="es-PE" dirty="0" smtClean="0"/>
              <a:t>La otra parte almacena un puntero que señala a otra posición de memoria. </a:t>
            </a:r>
            <a:r>
              <a:rPr lang="es-MX" altLang="es-PE" dirty="0" smtClean="0">
                <a:cs typeface="Times New Roman" pitchFamily="18" charset="0"/>
              </a:rPr>
              <a:t> </a:t>
            </a:r>
            <a:endParaRPr lang="es-PE" altLang="es-PE" dirty="0" smtClean="0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748350" y="4954420"/>
            <a:ext cx="27432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S" altLang="es-PE" sz="1200">
              <a:latin typeface="Times New Roman" pitchFamily="18" charset="0"/>
            </a:endParaRPr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6424750" y="49530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PE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2309950" y="5105400"/>
            <a:ext cx="1828800" cy="609600"/>
          </a:xfrm>
          <a:prstGeom prst="wedgeRoundRectCallout">
            <a:avLst>
              <a:gd name="adj1" fmla="val 114583"/>
              <a:gd name="adj2" fmla="val 0"/>
              <a:gd name="adj3" fmla="val 16667"/>
            </a:avLst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PE" sz="2400">
                <a:latin typeface="Times New Roman" pitchFamily="18" charset="0"/>
                <a:cs typeface="Times New Roman" pitchFamily="18" charset="0"/>
              </a:rPr>
              <a:t>Información</a:t>
            </a:r>
            <a:endParaRPr lang="es-ES" altLang="es-PE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AutoShape 7"/>
          <p:cNvSpPr>
            <a:spLocks noChangeArrowheads="1"/>
          </p:cNvSpPr>
          <p:nvPr/>
        </p:nvSpPr>
        <p:spPr bwMode="auto">
          <a:xfrm>
            <a:off x="8405950" y="5105400"/>
            <a:ext cx="1371600" cy="533400"/>
          </a:xfrm>
          <a:prstGeom prst="wedgeRoundRectCallout">
            <a:avLst>
              <a:gd name="adj1" fmla="val -157292"/>
              <a:gd name="adj2" fmla="val -11310"/>
              <a:gd name="adj3" fmla="val 16667"/>
            </a:avLst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PE" sz="2400">
                <a:latin typeface="Times New Roman" pitchFamily="18" charset="0"/>
                <a:cs typeface="Times New Roman" pitchFamily="18" charset="0"/>
              </a:rPr>
              <a:t>puntero</a:t>
            </a:r>
            <a:endParaRPr lang="es-ES" altLang="es-PE" sz="24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9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5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00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 advAuto="0"/>
      <p:bldP spid="14" grpId="0" animBg="1" autoUpdateAnimBg="0"/>
      <p:bldP spid="15" grpId="0" animBg="1"/>
      <p:bldP spid="16" grpId="0" animBg="1" autoUpdateAnimBg="0"/>
      <p:bldP spid="17" grpId="0" build="p" animBg="1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8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_tradnl" altLang="es-ES" dirty="0" smtClean="0"/>
              <a:t>Nodo</a:t>
            </a:r>
            <a:endParaRPr lang="en-US" altLang="es-ES" dirty="0"/>
          </a:p>
        </p:txBody>
      </p:sp>
      <p:sp>
        <p:nvSpPr>
          <p:cNvPr id="2" name="Rectángulo 1"/>
          <p:cNvSpPr/>
          <p:nvPr/>
        </p:nvSpPr>
        <p:spPr>
          <a:xfrm>
            <a:off x="1175072" y="1345863"/>
            <a:ext cx="956201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MX" altLang="es-PE" sz="2800" dirty="0" smtClean="0"/>
              <a:t>A considerar:</a:t>
            </a:r>
            <a:endParaRPr lang="es-MX" altLang="es-PE" sz="2800" dirty="0"/>
          </a:p>
          <a:p>
            <a:pPr lvl="1">
              <a:buFontTx/>
              <a:buChar char="•"/>
            </a:pPr>
            <a:r>
              <a:rPr lang="es-MX" altLang="es-PE" sz="2800" dirty="0"/>
              <a:t>Todo nodo es apuntado por uno o varios punteros.</a:t>
            </a:r>
            <a:endParaRPr lang="es-ES" altLang="es-PE" sz="2800" dirty="0"/>
          </a:p>
          <a:p>
            <a:pPr lvl="1">
              <a:buFontTx/>
              <a:buChar char="•"/>
            </a:pPr>
            <a:r>
              <a:rPr lang="es-MX" altLang="es-PE" sz="2800" dirty="0"/>
              <a:t>Un puntero apunta a un solo nodo.</a:t>
            </a:r>
            <a:endParaRPr lang="es-ES" altLang="es-PE" sz="2800" dirty="0"/>
          </a:p>
          <a:p>
            <a:pPr lvl="1">
              <a:buFontTx/>
              <a:buChar char="•"/>
            </a:pPr>
            <a:r>
              <a:rPr lang="es-MX" altLang="es-PE" sz="2800" dirty="0"/>
              <a:t>El nodo toma el nombre del puntero.</a:t>
            </a:r>
          </a:p>
          <a:p>
            <a:pPr lvl="1">
              <a:buFontTx/>
              <a:buChar char="•"/>
            </a:pPr>
            <a:r>
              <a:rPr lang="es-MX" altLang="es-PE" sz="2800" dirty="0">
                <a:cs typeface="Times New Roman" pitchFamily="18" charset="0"/>
              </a:rPr>
              <a:t>El puntero apunta al nodo y no alguna parte al interior del nodo</a:t>
            </a:r>
            <a:r>
              <a:rPr lang="es-MX" altLang="es-PE" dirty="0">
                <a:cs typeface="Times New Roman" pitchFamily="18" charset="0"/>
              </a:rPr>
              <a:t>.</a:t>
            </a:r>
            <a:r>
              <a:rPr lang="es-ES" altLang="es-PE" dirty="0"/>
              <a:t> </a:t>
            </a:r>
            <a:endParaRPr lang="es-PE" altLang="es-PE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709852" y="4219148"/>
            <a:ext cx="381000" cy="533400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s-ES_tradnl" altLang="es-PE" sz="2100" dirty="0" smtClean="0"/>
              <a:t>p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24252" y="4523948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 dirty="0">
                <a:latin typeface="Times New Roman" pitchFamily="18" charset="0"/>
              </a:rPr>
              <a:t>Dato 1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3633652" y="4752548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5880988" y="4747996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5677404" y="4537598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3649572" y="5014132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862252" y="5067586"/>
            <a:ext cx="381000" cy="533400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s-ES_tradnl" altLang="es-PE" sz="2100" dirty="0"/>
              <a:t>q</a:t>
            </a:r>
            <a:endParaRPr lang="es-ES_tradnl" altLang="es-PE" sz="2100" dirty="0" smtClean="0"/>
          </a:p>
        </p:txBody>
      </p:sp>
    </p:spTree>
    <p:extLst>
      <p:ext uri="{BB962C8B-B14F-4D97-AF65-F5344CB8AC3E}">
        <p14:creationId xmlns:p14="http://schemas.microsoft.com/office/powerpoint/2010/main" val="164740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  <p:bldP spid="7" grpId="0" animBg="1" autoUpdateAnimBg="0"/>
      <p:bldP spid="8" grpId="0" animBg="1"/>
      <p:bldP spid="9" grpId="0" animBg="1"/>
      <p:bldP spid="10" grpId="0" animBg="1"/>
      <p:bldP spid="11" grpId="0" animBg="1"/>
      <p:bldP spid="12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9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_tradnl" altLang="es-ES" dirty="0" smtClean="0"/>
              <a:t>Nodo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8820015" y="1508309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709852" y="1530534"/>
            <a:ext cx="381000" cy="533400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s-ES_tradnl" altLang="es-PE" sz="2100" smtClean="0"/>
              <a:t>p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624252" y="2597334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>
                <a:latin typeface="Times New Roman" pitchFamily="18" charset="0"/>
              </a:rPr>
              <a:t>   Dato 2</a:t>
            </a: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5691052" y="259733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624252" y="1835334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 dirty="0">
                <a:latin typeface="Times New Roman" pitchFamily="18" charset="0"/>
              </a:rPr>
              <a:t>Dato 1</a:t>
            </a: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5691052" y="183533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3633652" y="2063934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709852" y="2368734"/>
            <a:ext cx="38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s-ES_tradnl" altLang="es-PE" sz="2400">
                <a:latin typeface="Times New Roman" pitchFamily="18" charset="0"/>
              </a:rPr>
              <a:t>q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2490652" y="3359334"/>
            <a:ext cx="7162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s-ES_tradnl" altLang="es-PE" sz="2400" dirty="0">
                <a:latin typeface="Times New Roman" pitchFamily="18" charset="0"/>
              </a:rPr>
              <a:t>Si realizamos la operación     q = p     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s-ES_tradnl" altLang="es-PE" sz="2400" dirty="0">
                <a:latin typeface="Times New Roman" pitchFamily="18" charset="0"/>
              </a:rPr>
              <a:t>significa que el puntero </a:t>
            </a:r>
            <a:r>
              <a:rPr lang="es-ES_tradnl" altLang="es-PE" sz="2400" b="1" dirty="0">
                <a:latin typeface="Times New Roman" pitchFamily="18" charset="0"/>
              </a:rPr>
              <a:t>q</a:t>
            </a:r>
            <a:r>
              <a:rPr lang="es-ES_tradnl" altLang="es-PE" sz="2400" dirty="0">
                <a:latin typeface="Times New Roman" pitchFamily="18" charset="0"/>
              </a:rPr>
              <a:t> va a apuntar al  lugar apuntado por el puntero </a:t>
            </a:r>
            <a:r>
              <a:rPr lang="es-ES_tradnl" altLang="es-PE" sz="2400" b="1" dirty="0">
                <a:latin typeface="Times New Roman" pitchFamily="18" charset="0"/>
              </a:rPr>
              <a:t>p</a:t>
            </a: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3633652" y="2902134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709852" y="4730934"/>
            <a:ext cx="38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s-ES_tradnl" altLang="es-PE" sz="2400">
                <a:latin typeface="Times New Roman" pitchFamily="18" charset="0"/>
              </a:rPr>
              <a:t>p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624252" y="5797734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>
                <a:latin typeface="Times New Roman" pitchFamily="18" charset="0"/>
              </a:rPr>
              <a:t>   Dato 2</a:t>
            </a: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5691052" y="579773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4624252" y="5035734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>
                <a:latin typeface="Times New Roman" pitchFamily="18" charset="0"/>
              </a:rPr>
              <a:t>Dato 1</a:t>
            </a: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5691052" y="503573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3633652" y="5264334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3328852" y="5569134"/>
            <a:ext cx="38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s-ES_tradnl" altLang="es-PE" sz="2400">
                <a:latin typeface="Times New Roman" pitchFamily="18" charset="0"/>
              </a:rPr>
              <a:t>q</a:t>
            </a: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 flipV="1">
            <a:off x="3633652" y="5492934"/>
            <a:ext cx="9144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605452" y="4730934"/>
            <a:ext cx="3276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s-ES_tradnl" altLang="es-PE" sz="2400">
                <a:latin typeface="Times New Roman" pitchFamily="18" charset="0"/>
              </a:rPr>
              <a:t>El nodo que contiene el dato 2  se queda sin apuntador y no puede ser accesado.</a:t>
            </a:r>
            <a:endParaRPr lang="es-ES_tradnl" altLang="es-PE" sz="2400" b="1">
              <a:latin typeface="Times New Roman" pitchFamily="18" charset="0"/>
            </a:endParaRP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2262052" y="3435534"/>
            <a:ext cx="7543800" cy="1295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buClrTx/>
              <a:buSzTx/>
              <a:buFontTx/>
              <a:buNone/>
            </a:pPr>
            <a:endParaRPr lang="es-ES" altLang="es-PE" sz="2000"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27" name="Line 8"/>
          <p:cNvSpPr>
            <a:spLocks noChangeShapeType="1"/>
          </p:cNvSpPr>
          <p:nvPr/>
        </p:nvSpPr>
        <p:spPr bwMode="auto">
          <a:xfrm>
            <a:off x="5880988" y="2059382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28" name="Line 8"/>
          <p:cNvSpPr>
            <a:spLocks noChangeShapeType="1"/>
          </p:cNvSpPr>
          <p:nvPr/>
        </p:nvSpPr>
        <p:spPr bwMode="auto">
          <a:xfrm>
            <a:off x="5896908" y="2805462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081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500"/>
                            </p:stCondLst>
                            <p:childTnLst>
                              <p:par>
                                <p:cTn id="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000"/>
                            </p:stCondLst>
                            <p:childTnLst>
                              <p:par>
                                <p:cTn id="7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500"/>
                            </p:stCondLst>
                            <p:childTnLst>
                              <p:par>
                                <p:cTn id="8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500"/>
                            </p:stCondLst>
                            <p:childTnLst>
                              <p:par>
                                <p:cTn id="9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000"/>
                            </p:stCondLst>
                            <p:childTnLst>
                              <p:par>
                                <p:cTn id="9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 advAuto="0"/>
      <p:bldP spid="8" grpId="0" animBg="1" autoUpdateAnimBg="0"/>
      <p:bldP spid="9" grpId="0" animBg="1"/>
      <p:bldP spid="10" grpId="0" animBg="1" autoUpdateAnimBg="0"/>
      <p:bldP spid="11" grpId="0" animBg="1"/>
      <p:bldP spid="12" grpId="0" animBg="1"/>
      <p:bldP spid="13" grpId="0" autoUpdateAnimBg="0"/>
      <p:bldP spid="14" grpId="0" autoUpdateAnimBg="0"/>
      <p:bldP spid="15" grpId="0" animBg="1"/>
      <p:bldP spid="16" grpId="0" autoUpdateAnimBg="0"/>
      <p:bldP spid="17" grpId="0" animBg="1" autoUpdateAnimBg="0"/>
      <p:bldP spid="18" grpId="0" animBg="1"/>
      <p:bldP spid="19" grpId="0" animBg="1" autoUpdateAnimBg="0"/>
      <p:bldP spid="20" grpId="0" animBg="1"/>
      <p:bldP spid="21" grpId="0" animBg="1"/>
      <p:bldP spid="22" grpId="0" autoUpdateAnimBg="0"/>
      <p:bldP spid="23" grpId="0" animBg="1"/>
      <p:bldP spid="24" grpId="0" autoUpdateAnimBg="0"/>
      <p:bldP spid="25" grpId="0" animBg="1" autoUpdateAnimBg="0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10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_tradnl" altLang="es-ES" dirty="0" smtClean="0"/>
              <a:t>Listas Enlazadas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152774" y="1826629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404311" y="1894222"/>
            <a:ext cx="8001000" cy="2255837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MX" altLang="es-PE" dirty="0" smtClean="0">
                <a:cs typeface="Times New Roman" pitchFamily="18" charset="0"/>
              </a:rPr>
              <a:t>Una lista enlazada,  es una colección de nodos.  Es una alternativa a los arreglos.</a:t>
            </a:r>
          </a:p>
          <a:p>
            <a:pPr eaLnBrk="1" hangingPunct="1"/>
            <a:r>
              <a:rPr lang="es-MX" altLang="es-PE" dirty="0" smtClean="0">
                <a:cs typeface="Times New Roman" pitchFamily="18" charset="0"/>
              </a:rPr>
              <a:t>Los punteros permiten el enlace entre nodos.</a:t>
            </a:r>
            <a:r>
              <a:rPr lang="es-ES" altLang="es-PE" dirty="0" smtClean="0"/>
              <a:t> </a:t>
            </a:r>
            <a:endParaRPr lang="es-PE" altLang="es-PE" dirty="0" smtClean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18699" y="4600909"/>
            <a:ext cx="12954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 dirty="0">
                <a:latin typeface="Times New Roman" pitchFamily="18" charset="0"/>
              </a:rPr>
              <a:t>   Dato 1</a:t>
            </a: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4133099" y="46009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960186" y="4600909"/>
            <a:ext cx="12954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>
                <a:latin typeface="Times New Roman" pitchFamily="18" charset="0"/>
              </a:rPr>
              <a:t>Dato 2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8435224" y="4629484"/>
            <a:ext cx="12954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>
                <a:latin typeface="Times New Roman" pitchFamily="18" charset="0"/>
              </a:rPr>
              <a:t>Dato 4</a:t>
            </a: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4361699" y="4829509"/>
            <a:ext cx="5984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2082049" y="3938922"/>
            <a:ext cx="1295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5524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MX" altLang="es-PE" sz="2800">
                <a:latin typeface="Times New Roman" pitchFamily="18" charset="0"/>
                <a:cs typeface="Times New Roman" pitchFamily="18" charset="0"/>
              </a:rPr>
              <a:t>inicio</a:t>
            </a:r>
            <a:endParaRPr lang="es-PE" altLang="es-PE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2944061" y="4429459"/>
            <a:ext cx="536575" cy="1905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5896811" y="46009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6" name="Line 5"/>
          <p:cNvSpPr>
            <a:spLocks noChangeShapeType="1"/>
          </p:cNvSpPr>
          <p:nvPr/>
        </p:nvSpPr>
        <p:spPr bwMode="auto">
          <a:xfrm>
            <a:off x="9371849" y="462948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218699" y="5608972"/>
            <a:ext cx="15240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 dirty="0">
                <a:latin typeface="Times New Roman" pitchFamily="18" charset="0"/>
              </a:rPr>
              <a:t>   Dato 1  300</a:t>
            </a:r>
          </a:p>
        </p:txBody>
      </p:sp>
      <p:sp>
        <p:nvSpPr>
          <p:cNvPr id="18" name="Line 5"/>
          <p:cNvSpPr>
            <a:spLocks noChangeShapeType="1"/>
          </p:cNvSpPr>
          <p:nvPr/>
        </p:nvSpPr>
        <p:spPr bwMode="auto">
          <a:xfrm>
            <a:off x="4133099" y="5608972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4960186" y="5608972"/>
            <a:ext cx="1458913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 dirty="0">
                <a:latin typeface="Times New Roman" pitchFamily="18" charset="0"/>
              </a:rPr>
              <a:t>Dato 2    700</a:t>
            </a:r>
          </a:p>
        </p:txBody>
      </p:sp>
      <p:sp>
        <p:nvSpPr>
          <p:cNvPr id="20" name="Line 5"/>
          <p:cNvSpPr>
            <a:spLocks noChangeShapeType="1"/>
          </p:cNvSpPr>
          <p:nvPr/>
        </p:nvSpPr>
        <p:spPr bwMode="auto">
          <a:xfrm>
            <a:off x="5896811" y="5608972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3304424" y="6223334"/>
            <a:ext cx="6426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5524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MX" altLang="es-PE" sz="2000" dirty="0">
                <a:latin typeface="Times New Roman" pitchFamily="18" charset="0"/>
                <a:cs typeface="Times New Roman" pitchFamily="18" charset="0"/>
              </a:rPr>
              <a:t>500                    300                  700                         200</a:t>
            </a:r>
            <a:endParaRPr lang="es-PE" altLang="es-PE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6669924" y="5596272"/>
            <a:ext cx="1458912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 dirty="0">
                <a:latin typeface="Times New Roman" pitchFamily="18" charset="0"/>
              </a:rPr>
              <a:t>Dato 3    200</a:t>
            </a: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7604961" y="5596272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8470149" y="5596272"/>
            <a:ext cx="1458912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 dirty="0">
                <a:latin typeface="Times New Roman" pitchFamily="18" charset="0"/>
              </a:rPr>
              <a:t>Dato 4    </a:t>
            </a:r>
            <a:r>
              <a:rPr lang="es-ES" altLang="es-PE" sz="2000" dirty="0" err="1">
                <a:latin typeface="Times New Roman" pitchFamily="18" charset="0"/>
              </a:rPr>
              <a:t>null</a:t>
            </a:r>
            <a:endParaRPr lang="es-ES" altLang="es-PE" sz="2000" dirty="0">
              <a:latin typeface="Times New Roman" pitchFamily="18" charset="0"/>
            </a:endParaRPr>
          </a:p>
        </p:txBody>
      </p:sp>
      <p:sp>
        <p:nvSpPr>
          <p:cNvPr id="25" name="Line 5"/>
          <p:cNvSpPr>
            <a:spLocks noChangeShapeType="1"/>
          </p:cNvSpPr>
          <p:nvPr/>
        </p:nvSpPr>
        <p:spPr bwMode="auto">
          <a:xfrm>
            <a:off x="9405186" y="5596272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6688974" y="4629484"/>
            <a:ext cx="12954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>
                <a:latin typeface="Times New Roman" pitchFamily="18" charset="0"/>
              </a:rPr>
              <a:t>Dato 3</a:t>
            </a:r>
          </a:p>
        </p:txBody>
      </p:sp>
      <p:sp>
        <p:nvSpPr>
          <p:cNvPr id="27" name="Line 5"/>
          <p:cNvSpPr>
            <a:spLocks noChangeShapeType="1"/>
          </p:cNvSpPr>
          <p:nvPr/>
        </p:nvSpPr>
        <p:spPr bwMode="auto">
          <a:xfrm>
            <a:off x="7624011" y="462948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6090486" y="4875547"/>
            <a:ext cx="5984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>
            <a:off x="7890711" y="4875547"/>
            <a:ext cx="5984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30" name="Line 10"/>
          <p:cNvSpPr>
            <a:spLocks noChangeShapeType="1"/>
          </p:cNvSpPr>
          <p:nvPr/>
        </p:nvSpPr>
        <p:spPr bwMode="auto">
          <a:xfrm>
            <a:off x="9546474" y="4875547"/>
            <a:ext cx="5984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2296361" y="5596272"/>
            <a:ext cx="6604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44450" rIns="90488" bIns="4445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s-ES" altLang="es-PE" sz="2000" dirty="0">
                <a:latin typeface="Times New Roman" pitchFamily="18" charset="0"/>
              </a:rPr>
              <a:t>  500</a:t>
            </a:r>
          </a:p>
        </p:txBody>
      </p:sp>
    </p:spTree>
    <p:extLst>
      <p:ext uri="{BB962C8B-B14F-4D97-AF65-F5344CB8AC3E}">
        <p14:creationId xmlns:p14="http://schemas.microsoft.com/office/powerpoint/2010/main" val="310352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0"/>
                            </p:stCondLst>
                            <p:childTnLst>
                              <p:par>
                                <p:cTn id="9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000"/>
                            </p:stCondLst>
                            <p:childTnLst>
                              <p:par>
                                <p:cTn id="9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9500"/>
                            </p:stCondLst>
                            <p:childTnLst>
                              <p:par>
                                <p:cTn id="10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9" grpId="0" animBg="1"/>
      <p:bldP spid="10" grpId="0" animBg="1" autoUpdateAnimBg="0"/>
      <p:bldP spid="11" grpId="0" animBg="1" autoUpdateAnimBg="0"/>
      <p:bldP spid="12" grpId="0" animBg="1"/>
      <p:bldP spid="13" grpId="0" autoUpdateAnimBg="0"/>
      <p:bldP spid="14" grpId="0" animBg="1"/>
      <p:bldP spid="15" grpId="0" animBg="1"/>
      <p:bldP spid="16" grpId="0" animBg="1"/>
      <p:bldP spid="17" grpId="0" animBg="1" autoUpdateAnimBg="0"/>
      <p:bldP spid="18" grpId="0" animBg="1"/>
      <p:bldP spid="19" grpId="0" animBg="1" autoUpdateAnimBg="0"/>
      <p:bldP spid="20" grpId="0" animBg="1"/>
      <p:bldP spid="21" grpId="0" autoUpdateAnimBg="0"/>
      <p:bldP spid="22" grpId="0" animBg="1" autoUpdateAnimBg="0"/>
      <p:bldP spid="23" grpId="0" animBg="1"/>
      <p:bldP spid="24" grpId="0" animBg="1" autoUpdateAnimBg="0"/>
      <p:bldP spid="25" grpId="0" animBg="1"/>
      <p:bldP spid="26" grpId="0" animBg="1" autoUpdateAnimBg="0"/>
      <p:bldP spid="27" grpId="0" animBg="1"/>
      <p:bldP spid="28" grpId="0" animBg="1"/>
      <p:bldP spid="29" grpId="0" animBg="1"/>
      <p:bldP spid="30" grpId="0" animBg="1"/>
      <p:bldP spid="31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11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PE" altLang="es-PE" b="1" dirty="0"/>
              <a:t>Operaciones con </a:t>
            </a:r>
            <a:r>
              <a:rPr lang="es-PE" altLang="es-PE" b="1" dirty="0" smtClean="0"/>
              <a:t>listas enlazadas</a:t>
            </a:r>
            <a:endParaRPr lang="en-US" altLang="es-E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466471" y="1945344"/>
            <a:ext cx="8001000" cy="44719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800" i="1" dirty="0" smtClean="0"/>
              <a:t>Básicas:</a:t>
            </a:r>
          </a:p>
          <a:p>
            <a:pPr lvl="1"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400" b="1" i="1" dirty="0" smtClean="0">
                <a:solidFill>
                  <a:schemeClr val="accent1"/>
                </a:solidFill>
              </a:rPr>
              <a:t>Insertar un elemento</a:t>
            </a:r>
          </a:p>
          <a:p>
            <a:pPr lvl="1"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400" b="1" i="1" dirty="0" smtClean="0">
                <a:solidFill>
                  <a:schemeClr val="accent1"/>
                </a:solidFill>
              </a:rPr>
              <a:t>Eliminar un elemento</a:t>
            </a:r>
          </a:p>
          <a:p>
            <a:pPr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800" i="1" dirty="0" smtClean="0"/>
              <a:t>Otras operaciones</a:t>
            </a:r>
          </a:p>
          <a:p>
            <a:pPr lvl="1"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400" i="1" dirty="0" smtClean="0"/>
              <a:t>Recorrer la lista</a:t>
            </a:r>
          </a:p>
          <a:p>
            <a:pPr lvl="1"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400" i="1" dirty="0" smtClean="0"/>
              <a:t>Ordenar una lista</a:t>
            </a:r>
          </a:p>
          <a:p>
            <a:pPr lvl="1"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400" i="1" dirty="0" smtClean="0"/>
              <a:t>Combinar dos listas en una</a:t>
            </a:r>
          </a:p>
          <a:p>
            <a:pPr lvl="1"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400" i="1" dirty="0" smtClean="0"/>
              <a:t>Dividir una lista en varias </a:t>
            </a:r>
            <a:r>
              <a:rPr lang="es-PE" altLang="es-PE" sz="2400" i="1" dirty="0" err="1" smtClean="0"/>
              <a:t>sublistas</a:t>
            </a:r>
            <a:endParaRPr lang="es-PE" altLang="es-PE" sz="2400" dirty="0" smtClean="0"/>
          </a:p>
        </p:txBody>
      </p:sp>
    </p:spTree>
    <p:extLst>
      <p:ext uri="{BB962C8B-B14F-4D97-AF65-F5344CB8AC3E}">
        <p14:creationId xmlns:p14="http://schemas.microsoft.com/office/powerpoint/2010/main" val="414599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12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PE" altLang="es-PE" b="1" dirty="0"/>
              <a:t>Operaciones con listas enlazadas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513722" y="1273175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422" y="2400127"/>
            <a:ext cx="6922478" cy="3981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9 Rectángulo"/>
          <p:cNvSpPr/>
          <p:nvPr/>
        </p:nvSpPr>
        <p:spPr>
          <a:xfrm>
            <a:off x="3350968" y="1736725"/>
            <a:ext cx="1693863" cy="684213"/>
          </a:xfrm>
          <a:prstGeom prst="rect">
            <a:avLst/>
          </a:prstGeom>
          <a:solidFill>
            <a:srgbClr val="0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Verdana" pitchFamily="34" charset="0"/>
                <a:ea typeface="Verdana" pitchFamily="34" charset="0"/>
                <a:cs typeface="Verdana" pitchFamily="34" charset="0"/>
              </a:rPr>
              <a:t>Inserción al inicio </a:t>
            </a:r>
          </a:p>
        </p:txBody>
      </p:sp>
    </p:spTree>
    <p:extLst>
      <p:ext uri="{BB962C8B-B14F-4D97-AF65-F5344CB8AC3E}">
        <p14:creationId xmlns:p14="http://schemas.microsoft.com/office/powerpoint/2010/main" val="111158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13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PE" altLang="es-PE" b="1" dirty="0"/>
              <a:t>Operaciones con listas enlazadas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513722" y="1273175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11 Rectángulo"/>
          <p:cNvSpPr/>
          <p:nvPr/>
        </p:nvSpPr>
        <p:spPr>
          <a:xfrm>
            <a:off x="4238459" y="1736725"/>
            <a:ext cx="1693863" cy="684213"/>
          </a:xfrm>
          <a:prstGeom prst="rect">
            <a:avLst/>
          </a:prstGeom>
          <a:solidFill>
            <a:srgbClr val="0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dirty="0">
                <a:latin typeface="Verdana" pitchFamily="34" charset="0"/>
                <a:ea typeface="Verdana" pitchFamily="34" charset="0"/>
                <a:cs typeface="Verdana" pitchFamily="34" charset="0"/>
              </a:rPr>
              <a:t>Inserción al medio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095" y="2387222"/>
            <a:ext cx="6616700" cy="3958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885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14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PE" altLang="es-PE" b="1" dirty="0"/>
              <a:t>Operaciones con listas enlazadas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513722" y="1273175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12 Rectángulo"/>
          <p:cNvSpPr/>
          <p:nvPr/>
        </p:nvSpPr>
        <p:spPr>
          <a:xfrm>
            <a:off x="5954547" y="1736725"/>
            <a:ext cx="1693862" cy="684213"/>
          </a:xfrm>
          <a:prstGeom prst="rect">
            <a:avLst/>
          </a:prstGeom>
          <a:solidFill>
            <a:srgbClr val="0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dirty="0">
                <a:latin typeface="Verdana" pitchFamily="34" charset="0"/>
                <a:ea typeface="Verdana" pitchFamily="34" charset="0"/>
                <a:cs typeface="Verdana" pitchFamily="34" charset="0"/>
              </a:rPr>
              <a:t>Inserción al final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374" y="2420888"/>
            <a:ext cx="6307237" cy="36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444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15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PE" altLang="es-PE" b="1" dirty="0"/>
              <a:t>Operaciones con listas enlazadas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513722" y="1273175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748" y="2472545"/>
            <a:ext cx="6768752" cy="3548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3723944" y="1736725"/>
            <a:ext cx="2283185" cy="684213"/>
          </a:xfrm>
          <a:prstGeom prst="rect">
            <a:avLst/>
          </a:prstGeom>
          <a:solidFill>
            <a:srgbClr val="0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Verdana" pitchFamily="34" charset="0"/>
                <a:ea typeface="Verdana" pitchFamily="34" charset="0"/>
                <a:cs typeface="Verdana" pitchFamily="34" charset="0"/>
              </a:rPr>
              <a:t>Eliminación del primer nodo</a:t>
            </a:r>
          </a:p>
        </p:txBody>
      </p:sp>
    </p:spTree>
    <p:extLst>
      <p:ext uri="{BB962C8B-B14F-4D97-AF65-F5344CB8AC3E}">
        <p14:creationId xmlns:p14="http://schemas.microsoft.com/office/powerpoint/2010/main" val="77277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16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PE" altLang="es-PE" b="1" dirty="0"/>
              <a:t>Operaciones con listas enlazadas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513722" y="1273175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088" y="2372861"/>
            <a:ext cx="6783288" cy="3828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11 Rectángulo"/>
          <p:cNvSpPr/>
          <p:nvPr/>
        </p:nvSpPr>
        <p:spPr>
          <a:xfrm>
            <a:off x="2771800" y="1736725"/>
            <a:ext cx="2283185" cy="684213"/>
          </a:xfrm>
          <a:prstGeom prst="rect">
            <a:avLst/>
          </a:prstGeom>
          <a:solidFill>
            <a:srgbClr val="0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PE" dirty="0">
                <a:latin typeface="Verdana" pitchFamily="34" charset="0"/>
                <a:ea typeface="Verdana" pitchFamily="34" charset="0"/>
                <a:cs typeface="Verdana" pitchFamily="34" charset="0"/>
              </a:rPr>
              <a:t>Eliminación de un nodo central</a:t>
            </a:r>
          </a:p>
        </p:txBody>
      </p:sp>
    </p:spTree>
    <p:extLst>
      <p:ext uri="{BB962C8B-B14F-4D97-AF65-F5344CB8AC3E}">
        <p14:creationId xmlns:p14="http://schemas.microsoft.com/office/powerpoint/2010/main" val="155023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17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PE" altLang="es-PE" b="1" dirty="0"/>
              <a:t>Operaciones con listas enlazadas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513722" y="1273175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46" y="2420888"/>
            <a:ext cx="7056450" cy="345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12 Rectángulo"/>
          <p:cNvSpPr/>
          <p:nvPr/>
        </p:nvSpPr>
        <p:spPr>
          <a:xfrm>
            <a:off x="5112060" y="1736725"/>
            <a:ext cx="2283184" cy="684213"/>
          </a:xfrm>
          <a:prstGeom prst="rect">
            <a:avLst/>
          </a:prstGeom>
          <a:solidFill>
            <a:srgbClr val="0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dirty="0">
                <a:latin typeface="Verdana" pitchFamily="34" charset="0"/>
                <a:ea typeface="Verdana" pitchFamily="34" charset="0"/>
                <a:cs typeface="Verdana" pitchFamily="34" charset="0"/>
              </a:rPr>
              <a:t>Eliminación del nodo final</a:t>
            </a:r>
          </a:p>
        </p:txBody>
      </p:sp>
    </p:spTree>
    <p:extLst>
      <p:ext uri="{BB962C8B-B14F-4D97-AF65-F5344CB8AC3E}">
        <p14:creationId xmlns:p14="http://schemas.microsoft.com/office/powerpoint/2010/main" val="150948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Resumiendo</a:t>
            </a: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PE" sz="2800" dirty="0" smtClean="0">
                <a:solidFill>
                  <a:schemeClr val="tx1"/>
                </a:solidFill>
              </a:rPr>
              <a:t>Los punteros almacenan direcciones de memoria que hacen referencia a un valor.</a:t>
            </a:r>
            <a:endParaRPr lang="es-PE" sz="28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Los nodos son estructuras que contienen uno o varios valores y uno o varios punteros. 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Las listas enlazadas, esta compuesta de uno o mas nodos.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La lista enlazada puede estar vacía, significa que no tiene nodos </a:t>
            </a:r>
            <a:endParaRPr lang="es-E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705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Cierre de la </a:t>
            </a:r>
            <a:r>
              <a:rPr lang="es-PE" dirty="0" smtClean="0">
                <a:solidFill>
                  <a:schemeClr val="tx1"/>
                </a:solidFill>
              </a:rPr>
              <a:t>clase</a:t>
            </a:r>
            <a:endParaRPr lang="es-PE" dirty="0">
              <a:solidFill>
                <a:schemeClr val="tx1"/>
              </a:solidFill>
            </a:endParaRPr>
          </a:p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s-PE" sz="2800" dirty="0">
                <a:solidFill>
                  <a:schemeClr val="tx1"/>
                </a:solidFill>
              </a:rPr>
              <a:t>Responder lo siguiente: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¿El puntero puede contener un nombre?____________</a:t>
            </a:r>
            <a:endParaRPr lang="es-E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¿El nodo puede almacenar </a:t>
            </a:r>
            <a:r>
              <a:rPr lang="es-ES" sz="2800" dirty="0" smtClean="0">
                <a:solidFill>
                  <a:schemeClr val="tx1"/>
                </a:solidFill>
              </a:rPr>
              <a:t>a un </a:t>
            </a:r>
            <a:r>
              <a:rPr lang="es-ES" sz="2800" dirty="0" smtClean="0">
                <a:solidFill>
                  <a:schemeClr val="tx1"/>
                </a:solidFill>
              </a:rPr>
              <a:t>puntero </a:t>
            </a:r>
            <a:r>
              <a:rPr lang="es-ES" sz="2800" dirty="0">
                <a:solidFill>
                  <a:schemeClr val="tx1"/>
                </a:solidFill>
              </a:rPr>
              <a:t>?____________</a:t>
            </a:r>
          </a:p>
          <a:p>
            <a:pPr>
              <a:lnSpc>
                <a:spcPct val="150000"/>
              </a:lnSpc>
              <a:defRPr/>
            </a:pPr>
            <a:endParaRPr lang="es-E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89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1628775"/>
            <a:ext cx="10969388" cy="4537075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endParaRPr lang="es-PE" altLang="es-PE" sz="28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endParaRPr lang="es-PE" altLang="es-PE" sz="28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s-PE" altLang="es-PE" sz="2800" dirty="0"/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PE" altLang="es-PE" sz="6000" b="1" dirty="0" smtClean="0"/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84636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 advAuto="100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</TotalTime>
  <Words>548</Words>
  <Application>Microsoft Office PowerPoint</Application>
  <PresentationFormat>Panorámica</PresentationFormat>
  <Paragraphs>120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Monotype Sorts</vt:lpstr>
      <vt:lpstr>Times New Roman</vt:lpstr>
      <vt:lpstr>Verdana</vt:lpstr>
      <vt:lpstr>Wingdings</vt:lpstr>
      <vt:lpstr>Tema de Office</vt:lpstr>
      <vt:lpstr>Algoritmos y Estructuras de Datos</vt:lpstr>
      <vt:lpstr>Logro de aprendizaje</vt:lpstr>
      <vt:lpstr>Presentación de PowerPoint</vt:lpstr>
      <vt:lpstr>Presentación de PowerPoint</vt:lpstr>
      <vt:lpstr>Presentación de PowerPoint</vt:lpstr>
      <vt:lpstr>Punteros</vt:lpstr>
      <vt:lpstr>Nodo</vt:lpstr>
      <vt:lpstr>Nodo</vt:lpstr>
      <vt:lpstr>Nodo</vt:lpstr>
      <vt:lpstr>Listas Enlazadas</vt:lpstr>
      <vt:lpstr>Operaciones con listas enlazadas</vt:lpstr>
      <vt:lpstr>Operaciones con listas enlazadas</vt:lpstr>
      <vt:lpstr>Operaciones con listas enlazadas</vt:lpstr>
      <vt:lpstr>Operaciones con listas enlazadas</vt:lpstr>
      <vt:lpstr>Operaciones con listas enlazadas</vt:lpstr>
      <vt:lpstr>Operaciones con listas enlazadas</vt:lpstr>
      <vt:lpstr>Operaciones con listas enlazadas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y Estructuras de Datos</dc:title>
  <dc:creator>Administrador</dc:creator>
  <cp:lastModifiedBy>Lizardo Silva Ubaldo</cp:lastModifiedBy>
  <cp:revision>24</cp:revision>
  <dcterms:created xsi:type="dcterms:W3CDTF">2020-10-14T15:31:04Z</dcterms:created>
  <dcterms:modified xsi:type="dcterms:W3CDTF">2023-05-03T22:29:43Z</dcterms:modified>
</cp:coreProperties>
</file>