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07" r:id="rId4"/>
    <p:sldId id="308" r:id="rId5"/>
    <p:sldId id="309" r:id="rId6"/>
    <p:sldId id="316" r:id="rId7"/>
    <p:sldId id="317" r:id="rId8"/>
    <p:sldId id="297" r:id="rId9"/>
    <p:sldId id="298" r:id="rId10"/>
    <p:sldId id="310" r:id="rId11"/>
    <p:sldId id="311" r:id="rId12"/>
    <p:sldId id="275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 varScale="1">
        <p:scale>
          <a:sx n="66" d="100"/>
          <a:sy n="66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E79C3-AE97-49C5-89BD-3C4A9E7E9188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49C51-E0D2-4739-895A-B28EB82655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70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831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670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736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353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151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20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0219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560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660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793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4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193264048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80082706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3152511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08188408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"/>
            <a:ext cx="12192000" cy="6857295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69339"/>
            <a:ext cx="10515600" cy="562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2437299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19B92-A47C-458E-AE74-CC7A1303C729}" type="datetimeFigureOut">
              <a:rPr lang="es-PE" smtClean="0"/>
              <a:t>19/05/2025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5049F-9CFD-46AF-B43E-E94FB0024B8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598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y </a:t>
            </a:r>
            <a:r>
              <a:rPr lang="en-US" dirty="0" err="1"/>
              <a:t>Estructuras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es-ES" sz="6000" dirty="0">
                <a:latin typeface="+mj-lt"/>
                <a:ea typeface="+mj-ea"/>
                <a:cs typeface="+mj-cs"/>
              </a:rPr>
              <a:t>Listas </a:t>
            </a:r>
            <a:r>
              <a:rPr lang="es-PE" sz="6000" dirty="0"/>
              <a:t>Enlazadas </a:t>
            </a:r>
            <a:r>
              <a:rPr lang="es-ES" sz="6000" dirty="0" smtClean="0">
                <a:latin typeface="+mj-lt"/>
                <a:ea typeface="+mj-ea"/>
                <a:cs typeface="+mj-cs"/>
              </a:rPr>
              <a:t>Circulares</a:t>
            </a:r>
            <a:endParaRPr lang="es-ES" sz="60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254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Logro de aprendizaje</a:t>
            </a: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65049933-C646-4019-B9E2-D4157419C3D7}"/>
              </a:ext>
            </a:extLst>
          </p:cNvPr>
          <p:cNvSpPr/>
          <p:nvPr/>
        </p:nvSpPr>
        <p:spPr>
          <a:xfrm>
            <a:off x="2053804" y="2788720"/>
            <a:ext cx="7580773" cy="2425148"/>
          </a:xfrm>
          <a:prstGeom prst="round2DiagRect">
            <a:avLst/>
          </a:prstGeom>
          <a:solidFill>
            <a:srgbClr val="00206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2400" dirty="0">
                <a:solidFill>
                  <a:schemeClr val="bg1"/>
                </a:solidFill>
              </a:rPr>
              <a:t>Al finalizar la sesión el estudiante </a:t>
            </a:r>
            <a:r>
              <a:rPr lang="es-ES" sz="2400" dirty="0" smtClean="0">
                <a:solidFill>
                  <a:schemeClr val="bg1"/>
                </a:solidFill>
              </a:rPr>
              <a:t>utilizará </a:t>
            </a:r>
            <a:r>
              <a:rPr lang="es-ES" sz="2400" dirty="0">
                <a:solidFill>
                  <a:schemeClr val="bg1"/>
                </a:solidFill>
              </a:rPr>
              <a:t>adecuadamente </a:t>
            </a:r>
            <a:r>
              <a:rPr lang="es-ES" sz="2400" dirty="0" smtClean="0">
                <a:solidFill>
                  <a:schemeClr val="bg1"/>
                </a:solidFill>
              </a:rPr>
              <a:t>las operaciones con Listas </a:t>
            </a:r>
            <a:r>
              <a:rPr lang="es-PE" sz="2400" dirty="0">
                <a:solidFill>
                  <a:schemeClr val="bg1"/>
                </a:solidFill>
              </a:rPr>
              <a:t>Enlazadas</a:t>
            </a:r>
            <a:r>
              <a:rPr lang="es-PE" sz="2400" dirty="0">
                <a:solidFill>
                  <a:schemeClr val="tx1"/>
                </a:solidFill>
              </a:rPr>
              <a:t> </a:t>
            </a:r>
            <a:r>
              <a:rPr lang="es-ES" sz="2400" dirty="0" smtClean="0">
                <a:solidFill>
                  <a:schemeClr val="bg1"/>
                </a:solidFill>
              </a:rPr>
              <a:t>Circulares </a:t>
            </a:r>
            <a:r>
              <a:rPr lang="es-ES" sz="2400" dirty="0" smtClean="0">
                <a:solidFill>
                  <a:schemeClr val="bg1"/>
                </a:solidFill>
              </a:rPr>
              <a:t>para desarrollar </a:t>
            </a:r>
            <a:r>
              <a:rPr lang="es-PE" sz="2400" dirty="0"/>
              <a:t>soluciones algorítmicas</a:t>
            </a:r>
            <a:r>
              <a:rPr lang="es-ES" sz="2400" dirty="0" smtClean="0">
                <a:solidFill>
                  <a:schemeClr val="bg1"/>
                </a:solidFill>
              </a:rPr>
              <a:t> </a:t>
            </a:r>
            <a:r>
              <a:rPr lang="es-ES" sz="2400" dirty="0">
                <a:solidFill>
                  <a:schemeClr val="bg1"/>
                </a:solidFill>
              </a:rPr>
              <a:t>en java.</a:t>
            </a:r>
          </a:p>
          <a:p>
            <a:pPr algn="just"/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49356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 smtClean="0">
                <a:solidFill>
                  <a:schemeClr val="tx1"/>
                </a:solidFill>
              </a:rPr>
              <a:t>Dudas sobre la clase anterior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100883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buFontTx/>
              <a:buNone/>
            </a:pPr>
            <a:r>
              <a:rPr lang="es-PE" altLang="es-MX" sz="2800" dirty="0" smtClean="0">
                <a:solidFill>
                  <a:schemeClr val="tx1"/>
                </a:solidFill>
              </a:rPr>
              <a:t>Listas Doblemente enlazadas:</a:t>
            </a:r>
            <a:endParaRPr lang="es-PE" altLang="es-MX" sz="2800" dirty="0" smtClean="0">
              <a:solidFill>
                <a:schemeClr val="tx1"/>
              </a:solidFill>
            </a:endParaRPr>
          </a:p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Un puntero puede apuntar a 2 nodos a la vez? </a:t>
            </a: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Un puntero puede apuntar a 2 nodos en diferentes momentos?</a:t>
            </a:r>
          </a:p>
          <a:p>
            <a:pPr algn="just" fontAlgn="auto">
              <a:spcAft>
                <a:spcPts val="0"/>
              </a:spcAft>
            </a:pPr>
            <a:endParaRPr lang="es-PE" altLang="es-MX" sz="2800" dirty="0" smtClean="0">
              <a:solidFill>
                <a:schemeClr val="tx1"/>
              </a:solidFill>
            </a:endParaRPr>
          </a:p>
          <a:p>
            <a:pPr algn="just" fontAlgn="auto">
              <a:spcAft>
                <a:spcPts val="0"/>
              </a:spcAft>
            </a:pPr>
            <a:endParaRPr lang="es-PE" altLang="es-MX" sz="2800" dirty="0" smtClean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altLang="es-MX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51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Conocimientos previos: </a:t>
            </a:r>
            <a:r>
              <a:rPr lang="es-PE" dirty="0" smtClean="0">
                <a:solidFill>
                  <a:schemeClr val="tx1"/>
                </a:solidFill>
              </a:rPr>
              <a:t>Listas </a:t>
            </a:r>
            <a:r>
              <a:rPr lang="es-PE" dirty="0">
                <a:solidFill>
                  <a:schemeClr val="tx1"/>
                </a:solidFill>
              </a:rPr>
              <a:t>Enlazadas Circulares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 smtClean="0">
              <a:solidFill>
                <a:schemeClr val="tx1"/>
              </a:solidFill>
            </a:endParaRPr>
          </a:p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Indique un ejemplo de una lista de elementos </a:t>
            </a:r>
            <a:r>
              <a:rPr lang="es-PE" altLang="es-MX" sz="2800" dirty="0" smtClean="0">
                <a:solidFill>
                  <a:schemeClr val="tx1"/>
                </a:solidFill>
              </a:rPr>
              <a:t>de tal manera que el ultimo elemento se relaciona con el primer elemento </a:t>
            </a:r>
            <a:endParaRPr lang="es-PE" altLang="es-MX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88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 smtClean="0">
                <a:solidFill>
                  <a:schemeClr val="tx1"/>
                </a:solidFill>
              </a:rPr>
              <a:t>Utilidad del tema: Listas </a:t>
            </a:r>
            <a:r>
              <a:rPr lang="es-PE" dirty="0" smtClean="0">
                <a:solidFill>
                  <a:schemeClr val="tx1"/>
                </a:solidFill>
              </a:rPr>
              <a:t>Enlazadas Circulares 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buFontTx/>
              <a:buNone/>
            </a:pPr>
            <a:r>
              <a:rPr lang="es-PE" altLang="es-MX" sz="2800" dirty="0" smtClean="0">
                <a:solidFill>
                  <a:schemeClr val="tx1"/>
                </a:solidFill>
              </a:rPr>
              <a:t>Porque es importante:</a:t>
            </a:r>
          </a:p>
          <a:p>
            <a:pPr algn="just" fontAlgn="auto">
              <a:spcAft>
                <a:spcPts val="0"/>
              </a:spcAft>
              <a:buFontTx/>
              <a:buNone/>
            </a:pPr>
            <a:endParaRPr lang="es-PE" altLang="es-MX" sz="2800" dirty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altLang="es-MX" sz="2800" dirty="0" smtClean="0">
                <a:solidFill>
                  <a:schemeClr val="tx1"/>
                </a:solidFill>
              </a:rPr>
              <a:t>Permiten generar listas de elementos en forma secuencial que </a:t>
            </a:r>
            <a:r>
              <a:rPr lang="es-PE" altLang="es-MX" sz="2800" dirty="0" smtClean="0">
                <a:solidFill>
                  <a:schemeClr val="tx1"/>
                </a:solidFill>
              </a:rPr>
              <a:t>no tienen fin </a:t>
            </a:r>
            <a:endParaRPr lang="es-PE" altLang="es-MX" sz="2800" dirty="0" smtClean="0">
              <a:solidFill>
                <a:schemeClr val="tx1"/>
              </a:solidFill>
            </a:endParaRPr>
          </a:p>
          <a:p>
            <a:pPr marL="457200" indent="-457200" algn="just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altLang="es-MX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62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2686" y="158960"/>
            <a:ext cx="10515600" cy="773702"/>
          </a:xfrm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" dirty="0"/>
              <a:t>Listas </a:t>
            </a:r>
            <a:r>
              <a:rPr lang="es-ES" dirty="0" smtClean="0"/>
              <a:t>enlazadas circulares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152774" y="1826629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27522" y="1067934"/>
            <a:ext cx="11463688" cy="3090476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altLang="es-PE" dirty="0">
                <a:cs typeface="Times New Roman" panose="02020603050405020304" pitchFamily="18" charset="0"/>
              </a:rPr>
              <a:t>Es un conjunto de nodos enlazados, cuyo último nodo está enlazado al primer nodo de la lista. </a:t>
            </a:r>
          </a:p>
          <a:p>
            <a:r>
              <a:rPr lang="es-ES" altLang="es-PE" dirty="0">
                <a:cs typeface="Times New Roman" panose="02020603050405020304" pitchFamily="18" charset="0"/>
              </a:rPr>
              <a:t>Tipos:</a:t>
            </a:r>
          </a:p>
          <a:p>
            <a:r>
              <a:rPr lang="es-ES" altLang="es-PE" dirty="0">
                <a:cs typeface="Times New Roman" panose="02020603050405020304" pitchFamily="18" charset="0"/>
              </a:rPr>
              <a:t>Lista circular simple</a:t>
            </a:r>
          </a:p>
          <a:p>
            <a:r>
              <a:rPr lang="es-ES" altLang="es-PE" dirty="0">
                <a:cs typeface="Times New Roman" panose="02020603050405020304" pitchFamily="18" charset="0"/>
              </a:rPr>
              <a:t>Lista circular doblemente </a:t>
            </a:r>
            <a:r>
              <a:rPr lang="es-ES" altLang="es-PE" dirty="0" smtClean="0">
                <a:cs typeface="Times New Roman" panose="02020603050405020304" pitchFamily="18" charset="0"/>
              </a:rPr>
              <a:t>enlazada</a:t>
            </a:r>
            <a:endParaRPr lang="es-PE" altLang="es-PE" dirty="0">
              <a:cs typeface="Times New Roman" panose="02020603050405020304" pitchFamily="18" charset="0"/>
            </a:endParaRP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2137610" y="4941664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s-ES" altLang="es-PE" sz="2000"/>
              <a:t>      Dato 1</a:t>
            </a:r>
          </a:p>
        </p:txBody>
      </p:sp>
      <p:sp>
        <p:nvSpPr>
          <p:cNvPr id="40" name="Line 13"/>
          <p:cNvSpPr>
            <a:spLocks noChangeShapeType="1"/>
          </p:cNvSpPr>
          <p:nvPr/>
        </p:nvSpPr>
        <p:spPr bwMode="auto">
          <a:xfrm>
            <a:off x="3356810" y="494166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41" name="Line 14"/>
          <p:cNvSpPr>
            <a:spLocks noChangeShapeType="1"/>
          </p:cNvSpPr>
          <p:nvPr/>
        </p:nvSpPr>
        <p:spPr bwMode="auto">
          <a:xfrm>
            <a:off x="3509210" y="5094064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44" name="Rectangle 17"/>
          <p:cNvSpPr>
            <a:spLocks noChangeArrowheads="1"/>
          </p:cNvSpPr>
          <p:nvPr/>
        </p:nvSpPr>
        <p:spPr bwMode="auto">
          <a:xfrm>
            <a:off x="4195010" y="4941664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s-ES" altLang="es-PE" sz="2000"/>
              <a:t>      Dato 2</a:t>
            </a:r>
          </a:p>
        </p:txBody>
      </p:sp>
      <p:sp>
        <p:nvSpPr>
          <p:cNvPr id="45" name="Line 18"/>
          <p:cNvSpPr>
            <a:spLocks noChangeShapeType="1"/>
          </p:cNvSpPr>
          <p:nvPr/>
        </p:nvSpPr>
        <p:spPr bwMode="auto">
          <a:xfrm>
            <a:off x="5414210" y="494166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48" name="Rectangle 22"/>
          <p:cNvSpPr>
            <a:spLocks noChangeArrowheads="1"/>
          </p:cNvSpPr>
          <p:nvPr/>
        </p:nvSpPr>
        <p:spPr bwMode="auto">
          <a:xfrm>
            <a:off x="6252410" y="4941664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s-ES" altLang="es-PE" sz="2000"/>
              <a:t>      Dato 3</a:t>
            </a:r>
          </a:p>
        </p:txBody>
      </p:sp>
      <p:sp>
        <p:nvSpPr>
          <p:cNvPr id="49" name="Line 23"/>
          <p:cNvSpPr>
            <a:spLocks noChangeShapeType="1"/>
          </p:cNvSpPr>
          <p:nvPr/>
        </p:nvSpPr>
        <p:spPr bwMode="auto">
          <a:xfrm>
            <a:off x="7471610" y="494166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2" name="Rectangle 27"/>
          <p:cNvSpPr>
            <a:spLocks noChangeArrowheads="1"/>
          </p:cNvSpPr>
          <p:nvPr/>
        </p:nvSpPr>
        <p:spPr bwMode="auto">
          <a:xfrm>
            <a:off x="8309810" y="4941664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s-ES" altLang="es-PE" sz="2000"/>
              <a:t>      Dato 4</a:t>
            </a:r>
          </a:p>
        </p:txBody>
      </p:sp>
      <p:sp>
        <p:nvSpPr>
          <p:cNvPr id="53" name="Line 28"/>
          <p:cNvSpPr>
            <a:spLocks noChangeShapeType="1"/>
          </p:cNvSpPr>
          <p:nvPr/>
        </p:nvSpPr>
        <p:spPr bwMode="auto">
          <a:xfrm>
            <a:off x="9529010" y="4941664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6" name="Line 32"/>
          <p:cNvSpPr>
            <a:spLocks noChangeShapeType="1"/>
          </p:cNvSpPr>
          <p:nvPr/>
        </p:nvSpPr>
        <p:spPr bwMode="auto">
          <a:xfrm>
            <a:off x="5566610" y="5094064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7" name="Line 33"/>
          <p:cNvSpPr>
            <a:spLocks noChangeShapeType="1"/>
          </p:cNvSpPr>
          <p:nvPr/>
        </p:nvSpPr>
        <p:spPr bwMode="auto">
          <a:xfrm>
            <a:off x="7624010" y="5094064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8" name="Rectangle 34"/>
          <p:cNvSpPr>
            <a:spLocks noChangeArrowheads="1"/>
          </p:cNvSpPr>
          <p:nvPr/>
        </p:nvSpPr>
        <p:spPr bwMode="auto">
          <a:xfrm>
            <a:off x="994610" y="3940437"/>
            <a:ext cx="1295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55245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205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es-MX" altLang="es-PE" sz="2800" dirty="0">
                <a:cs typeface="Times New Roman" panose="02020603050405020304" pitchFamily="18" charset="0"/>
              </a:rPr>
              <a:t>inicio</a:t>
            </a:r>
            <a:endParaRPr lang="es-PE" altLang="es-PE" sz="2800" dirty="0">
              <a:cs typeface="Times New Roman" panose="02020603050405020304" pitchFamily="18" charset="0"/>
            </a:endParaRPr>
          </a:p>
        </p:txBody>
      </p:sp>
      <p:sp>
        <p:nvSpPr>
          <p:cNvPr id="59" name="Line 35"/>
          <p:cNvSpPr>
            <a:spLocks noChangeShapeType="1"/>
          </p:cNvSpPr>
          <p:nvPr/>
        </p:nvSpPr>
        <p:spPr bwMode="auto">
          <a:xfrm>
            <a:off x="1909010" y="4446364"/>
            <a:ext cx="609600" cy="495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62" name="Line 29"/>
          <p:cNvSpPr>
            <a:spLocks noChangeShapeType="1"/>
          </p:cNvSpPr>
          <p:nvPr/>
        </p:nvSpPr>
        <p:spPr bwMode="auto">
          <a:xfrm>
            <a:off x="9829198" y="5216173"/>
            <a:ext cx="0" cy="79859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63" name="Line 35"/>
          <p:cNvSpPr>
            <a:spLocks noChangeShapeType="1"/>
          </p:cNvSpPr>
          <p:nvPr/>
        </p:nvSpPr>
        <p:spPr bwMode="auto">
          <a:xfrm flipH="1">
            <a:off x="2494748" y="5899273"/>
            <a:ext cx="7334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64" name="Line 29"/>
          <p:cNvSpPr>
            <a:spLocks noChangeShapeType="1"/>
          </p:cNvSpPr>
          <p:nvPr/>
        </p:nvSpPr>
        <p:spPr bwMode="auto">
          <a:xfrm flipV="1">
            <a:off x="2603735" y="5475063"/>
            <a:ext cx="23961" cy="42420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989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 autoUpdateAnimBg="0"/>
      <p:bldP spid="44" grpId="0" animBg="1" autoUpdateAnimBg="0"/>
      <p:bldP spid="48" grpId="0" animBg="1" autoUpdateAnimBg="0"/>
      <p:bldP spid="52" grpId="0" animBg="1" autoUpdateAnimBg="0"/>
      <p:bldP spid="5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2686" y="158960"/>
            <a:ext cx="10515600" cy="773702"/>
          </a:xfrm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" dirty="0"/>
              <a:t>Listas </a:t>
            </a:r>
            <a:r>
              <a:rPr lang="es-ES" dirty="0" smtClean="0"/>
              <a:t>enlazadas circulares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152774" y="1826629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27522" y="1067934"/>
            <a:ext cx="11463688" cy="3090476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s-ES" altLang="es-PE" dirty="0">
                <a:cs typeface="Times New Roman" panose="02020603050405020304" pitchFamily="18" charset="0"/>
              </a:rPr>
              <a:t>En una lista circular:</a:t>
            </a:r>
          </a:p>
          <a:p>
            <a:r>
              <a:rPr lang="es-ES" altLang="es-PE" dirty="0">
                <a:cs typeface="Times New Roman" panose="02020603050405020304" pitchFamily="18" charset="0"/>
              </a:rPr>
              <a:t>No existe algún elemento que apunte a vacío</a:t>
            </a:r>
          </a:p>
          <a:p>
            <a:r>
              <a:rPr lang="es-ES" altLang="es-PE" dirty="0">
                <a:cs typeface="Times New Roman" panose="02020603050405020304" pitchFamily="18" charset="0"/>
              </a:rPr>
              <a:t>Su estructura es tipo anillo</a:t>
            </a:r>
          </a:p>
          <a:p>
            <a:r>
              <a:rPr lang="es-ES" altLang="es-PE" dirty="0">
                <a:cs typeface="Times New Roman" panose="02020603050405020304" pitchFamily="18" charset="0"/>
              </a:rPr>
              <a:t>Se pueden llegar a crear recorridos en bucles infinitos.</a:t>
            </a:r>
            <a:endParaRPr lang="es-PE" altLang="es-PE" dirty="0">
              <a:cs typeface="Times New Roman" panose="02020603050405020304" pitchFamily="18" charset="0"/>
            </a:endParaRPr>
          </a:p>
        </p:txBody>
      </p:sp>
      <p:graphicFrame>
        <p:nvGraphicFramePr>
          <p:cNvPr id="63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246392726"/>
              </p:ext>
            </p:extLst>
          </p:nvPr>
        </p:nvGraphicFramePr>
        <p:xfrm>
          <a:off x="2672632" y="3318494"/>
          <a:ext cx="5688012" cy="327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Imagen de mapa de bits" r:id="rId3" imgW="4715533" imgH="2905531" progId="Paint.Picture">
                  <p:embed/>
                </p:oleObj>
              </mc:Choice>
              <mc:Fallback>
                <p:oleObj name="Imagen de mapa de bits" r:id="rId3" imgW="4715533" imgH="2905531" progId="Paint.Picture">
                  <p:embed/>
                  <p:pic>
                    <p:nvPicPr>
                      <p:cNvPr id="66663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2632" y="3318494"/>
                        <a:ext cx="5688012" cy="327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881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E0F8-838F-4C77-A163-59775D327807}" type="slidenum">
              <a:rPr lang="es-ES" altLang="es-ES"/>
              <a:pPr/>
              <a:t>8</a:t>
            </a:fld>
            <a:endParaRPr lang="es-ES" altLang="es-E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PE" altLang="es-PE" b="1" dirty="0"/>
              <a:t>Operaciones con </a:t>
            </a:r>
            <a:r>
              <a:rPr lang="es-PE" altLang="es-PE" b="1" dirty="0" smtClean="0"/>
              <a:t>listas </a:t>
            </a:r>
            <a:r>
              <a:rPr lang="es-PE" altLang="es-PE" b="1" dirty="0" smtClean="0"/>
              <a:t>enlazadas </a:t>
            </a:r>
            <a:r>
              <a:rPr lang="es-ES" dirty="0"/>
              <a:t>circulares</a:t>
            </a:r>
            <a:endParaRPr lang="en-US" altLang="es-E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466471" y="1945344"/>
            <a:ext cx="8001000" cy="4471988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800" i="1" dirty="0" smtClean="0"/>
              <a:t>Básicas:</a:t>
            </a:r>
          </a:p>
          <a:p>
            <a:pPr lvl="1"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400" b="1" i="1" dirty="0" smtClean="0">
                <a:solidFill>
                  <a:schemeClr val="accent1"/>
                </a:solidFill>
              </a:rPr>
              <a:t>Insertar un elemento</a:t>
            </a:r>
          </a:p>
          <a:p>
            <a:pPr lvl="1"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400" b="1" i="1" dirty="0" smtClean="0">
                <a:solidFill>
                  <a:schemeClr val="accent1"/>
                </a:solidFill>
              </a:rPr>
              <a:t>Eliminar un elemento</a:t>
            </a:r>
          </a:p>
          <a:p>
            <a:pPr lvl="1" algn="just" eaLnBrk="1" hangingPunct="1">
              <a:buClr>
                <a:schemeClr val="tx1"/>
              </a:buClr>
              <a:buFont typeface="Monotype Sorts" charset="2"/>
              <a:buChar char="F"/>
            </a:pPr>
            <a:r>
              <a:rPr lang="es-PE" altLang="es-PE" sz="2400" b="1" i="1" dirty="0">
                <a:solidFill>
                  <a:schemeClr val="accent1"/>
                </a:solidFill>
              </a:rPr>
              <a:t>Recorrer la lista</a:t>
            </a:r>
          </a:p>
        </p:txBody>
      </p:sp>
    </p:spTree>
    <p:extLst>
      <p:ext uri="{BB962C8B-B14F-4D97-AF65-F5344CB8AC3E}">
        <p14:creationId xmlns:p14="http://schemas.microsoft.com/office/powerpoint/2010/main" val="414599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2686" y="158959"/>
            <a:ext cx="10515600" cy="1325563"/>
          </a:xfrm>
          <a:noFill/>
          <a:ln/>
          <a:effectLst>
            <a:outerShdw dist="35921" dir="2700000" algn="ctr" rotWithShape="0">
              <a:schemeClr val="bg2"/>
            </a:outerShdw>
          </a:effectLst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s-ES" dirty="0"/>
              <a:t>Listas </a:t>
            </a:r>
            <a:r>
              <a:rPr lang="es-ES" dirty="0" smtClean="0"/>
              <a:t>enlazadas </a:t>
            </a:r>
            <a:r>
              <a:rPr lang="es-PE" dirty="0"/>
              <a:t>Circulares</a:t>
            </a:r>
            <a:endParaRPr lang="en-US" altLang="es-ES" dirty="0"/>
          </a:p>
        </p:txBody>
      </p:sp>
      <p:sp>
        <p:nvSpPr>
          <p:cNvPr id="6" name="6 Triángulo isósceles"/>
          <p:cNvSpPr/>
          <p:nvPr/>
        </p:nvSpPr>
        <p:spPr>
          <a:xfrm rot="5400000">
            <a:off x="9152774" y="1826629"/>
            <a:ext cx="17145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ES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58642" y="1356396"/>
            <a:ext cx="11463688" cy="3090476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" dirty="0" smtClean="0"/>
              <a:t>En esta </a:t>
            </a:r>
            <a:r>
              <a:rPr lang="es-ES" dirty="0"/>
              <a:t>lista, cada elemento contiene </a:t>
            </a:r>
            <a:r>
              <a:rPr lang="es-ES" dirty="0" smtClean="0"/>
              <a:t>un puntero </a:t>
            </a:r>
            <a:r>
              <a:rPr lang="es-ES" dirty="0"/>
              <a:t>(referencias), además del valor </a:t>
            </a:r>
            <a:r>
              <a:rPr lang="es-ES" dirty="0" smtClean="0"/>
              <a:t>almacenado y la característica es que el ultimo nodo apunta al primer nodo de la misma lista</a:t>
            </a:r>
            <a:endParaRPr lang="es-ES" dirty="0" smtClean="0"/>
          </a:p>
          <a:p>
            <a:pPr eaLnBrk="1" hangingPunct="1"/>
            <a:r>
              <a:rPr lang="es-ES" dirty="0" smtClean="0"/>
              <a:t>La </a:t>
            </a:r>
            <a:r>
              <a:rPr lang="es-ES" dirty="0"/>
              <a:t>Figura </a:t>
            </a:r>
            <a:r>
              <a:rPr lang="es-ES" dirty="0" smtClean="0"/>
              <a:t>muestra </a:t>
            </a:r>
            <a:r>
              <a:rPr lang="es-ES" dirty="0"/>
              <a:t>una lista doblemente enlazada y un nodo de dicha lista</a:t>
            </a:r>
            <a:endParaRPr lang="es-PE" altLang="es-PE" dirty="0" smtClean="0"/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4825866" y="4183809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s-ES" altLang="es-PE" sz="2000"/>
              <a:t>      Dato 1</a:t>
            </a:r>
          </a:p>
        </p:txBody>
      </p:sp>
      <p:sp>
        <p:nvSpPr>
          <p:cNvPr id="33" name="Line 6"/>
          <p:cNvSpPr>
            <a:spLocks noChangeShapeType="1"/>
          </p:cNvSpPr>
          <p:nvPr/>
        </p:nvSpPr>
        <p:spPr bwMode="auto">
          <a:xfrm>
            <a:off x="6045066" y="41838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34" name="Line 7"/>
          <p:cNvSpPr>
            <a:spLocks noChangeShapeType="1"/>
          </p:cNvSpPr>
          <p:nvPr/>
        </p:nvSpPr>
        <p:spPr bwMode="auto">
          <a:xfrm>
            <a:off x="6197466" y="4412409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35" name="Line 8"/>
          <p:cNvSpPr>
            <a:spLocks noChangeShapeType="1"/>
          </p:cNvSpPr>
          <p:nvPr/>
        </p:nvSpPr>
        <p:spPr bwMode="auto">
          <a:xfrm>
            <a:off x="5206866" y="41838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36" name="Line 9"/>
          <p:cNvSpPr>
            <a:spLocks noChangeShapeType="1"/>
          </p:cNvSpPr>
          <p:nvPr/>
        </p:nvSpPr>
        <p:spPr bwMode="auto">
          <a:xfrm flipH="1">
            <a:off x="4368666" y="4412409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5740266" y="4564809"/>
            <a:ext cx="838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55245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205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es-MX" altLang="es-PE" sz="2800">
                <a:cs typeface="Times New Roman" panose="02020603050405020304" pitchFamily="18" charset="0"/>
              </a:rPr>
              <a:t>sig</a:t>
            </a:r>
            <a:endParaRPr lang="es-PE" altLang="es-PE" sz="2800">
              <a:cs typeface="Times New Roman" panose="02020603050405020304" pitchFamily="18" charset="0"/>
            </a:endParaRPr>
          </a:p>
        </p:txBody>
      </p:sp>
      <p:sp>
        <p:nvSpPr>
          <p:cNvPr id="38" name="Rectangle 11"/>
          <p:cNvSpPr>
            <a:spLocks noChangeArrowheads="1"/>
          </p:cNvSpPr>
          <p:nvPr/>
        </p:nvSpPr>
        <p:spPr bwMode="auto">
          <a:xfrm>
            <a:off x="4521066" y="4564809"/>
            <a:ext cx="838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55245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205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es-MX" altLang="es-PE" sz="2800">
                <a:cs typeface="Times New Roman" panose="02020603050405020304" pitchFamily="18" charset="0"/>
              </a:rPr>
              <a:t>ant</a:t>
            </a:r>
            <a:endParaRPr lang="es-PE" altLang="es-PE" sz="2800">
              <a:cs typeface="Times New Roman" panose="02020603050405020304" pitchFamily="18" charset="0"/>
            </a:endParaRP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2349366" y="5644309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s-ES" altLang="es-PE" sz="2000"/>
              <a:t>      Dato 1</a:t>
            </a:r>
          </a:p>
        </p:txBody>
      </p:sp>
      <p:sp>
        <p:nvSpPr>
          <p:cNvPr id="40" name="Line 13"/>
          <p:cNvSpPr>
            <a:spLocks noChangeShapeType="1"/>
          </p:cNvSpPr>
          <p:nvPr/>
        </p:nvSpPr>
        <p:spPr bwMode="auto">
          <a:xfrm>
            <a:off x="3568566" y="56443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41" name="Line 14"/>
          <p:cNvSpPr>
            <a:spLocks noChangeShapeType="1"/>
          </p:cNvSpPr>
          <p:nvPr/>
        </p:nvSpPr>
        <p:spPr bwMode="auto">
          <a:xfrm>
            <a:off x="3720966" y="5796709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42" name="Line 15"/>
          <p:cNvSpPr>
            <a:spLocks noChangeShapeType="1"/>
          </p:cNvSpPr>
          <p:nvPr/>
        </p:nvSpPr>
        <p:spPr bwMode="auto">
          <a:xfrm>
            <a:off x="2730366" y="56443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43" name="Line 16"/>
          <p:cNvSpPr>
            <a:spLocks noChangeShapeType="1"/>
          </p:cNvSpPr>
          <p:nvPr/>
        </p:nvSpPr>
        <p:spPr bwMode="auto">
          <a:xfrm flipH="1">
            <a:off x="1892166" y="6025309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44" name="Rectangle 17"/>
          <p:cNvSpPr>
            <a:spLocks noChangeArrowheads="1"/>
          </p:cNvSpPr>
          <p:nvPr/>
        </p:nvSpPr>
        <p:spPr bwMode="auto">
          <a:xfrm>
            <a:off x="4406766" y="5644309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s-ES" altLang="es-PE" sz="2000"/>
              <a:t>      Dato 2</a:t>
            </a:r>
          </a:p>
        </p:txBody>
      </p:sp>
      <p:sp>
        <p:nvSpPr>
          <p:cNvPr id="45" name="Line 18"/>
          <p:cNvSpPr>
            <a:spLocks noChangeShapeType="1"/>
          </p:cNvSpPr>
          <p:nvPr/>
        </p:nvSpPr>
        <p:spPr bwMode="auto">
          <a:xfrm>
            <a:off x="5625966" y="56443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46" name="Line 20"/>
          <p:cNvSpPr>
            <a:spLocks noChangeShapeType="1"/>
          </p:cNvSpPr>
          <p:nvPr/>
        </p:nvSpPr>
        <p:spPr bwMode="auto">
          <a:xfrm>
            <a:off x="4787766" y="56443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47" name="Line 21"/>
          <p:cNvSpPr>
            <a:spLocks noChangeShapeType="1"/>
          </p:cNvSpPr>
          <p:nvPr/>
        </p:nvSpPr>
        <p:spPr bwMode="auto">
          <a:xfrm flipH="1">
            <a:off x="3949566" y="6025309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48" name="Rectangle 22"/>
          <p:cNvSpPr>
            <a:spLocks noChangeArrowheads="1"/>
          </p:cNvSpPr>
          <p:nvPr/>
        </p:nvSpPr>
        <p:spPr bwMode="auto">
          <a:xfrm>
            <a:off x="6464166" y="5644309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s-ES" altLang="es-PE" sz="2000"/>
              <a:t>      Dato 3</a:t>
            </a:r>
          </a:p>
        </p:txBody>
      </p:sp>
      <p:sp>
        <p:nvSpPr>
          <p:cNvPr id="49" name="Line 23"/>
          <p:cNvSpPr>
            <a:spLocks noChangeShapeType="1"/>
          </p:cNvSpPr>
          <p:nvPr/>
        </p:nvSpPr>
        <p:spPr bwMode="auto">
          <a:xfrm>
            <a:off x="7683366" y="56443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0" name="Line 25"/>
          <p:cNvSpPr>
            <a:spLocks noChangeShapeType="1"/>
          </p:cNvSpPr>
          <p:nvPr/>
        </p:nvSpPr>
        <p:spPr bwMode="auto">
          <a:xfrm>
            <a:off x="6845166" y="56443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1" name="Line 26"/>
          <p:cNvSpPr>
            <a:spLocks noChangeShapeType="1"/>
          </p:cNvSpPr>
          <p:nvPr/>
        </p:nvSpPr>
        <p:spPr bwMode="auto">
          <a:xfrm flipH="1">
            <a:off x="6006966" y="6025309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2" name="Rectangle 27"/>
          <p:cNvSpPr>
            <a:spLocks noChangeArrowheads="1"/>
          </p:cNvSpPr>
          <p:nvPr/>
        </p:nvSpPr>
        <p:spPr bwMode="auto">
          <a:xfrm>
            <a:off x="8521566" y="5644309"/>
            <a:ext cx="1600200" cy="533400"/>
          </a:xfrm>
          <a:prstGeom prst="rect">
            <a:avLst/>
          </a:prstGeom>
          <a:solidFill>
            <a:srgbClr val="EBE30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s-ES" altLang="es-PE" sz="2000"/>
              <a:t>      Dato 4</a:t>
            </a:r>
          </a:p>
        </p:txBody>
      </p:sp>
      <p:sp>
        <p:nvSpPr>
          <p:cNvPr id="53" name="Line 28"/>
          <p:cNvSpPr>
            <a:spLocks noChangeShapeType="1"/>
          </p:cNvSpPr>
          <p:nvPr/>
        </p:nvSpPr>
        <p:spPr bwMode="auto">
          <a:xfrm>
            <a:off x="9740766" y="56443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4" name="Line 30"/>
          <p:cNvSpPr>
            <a:spLocks noChangeShapeType="1"/>
          </p:cNvSpPr>
          <p:nvPr/>
        </p:nvSpPr>
        <p:spPr bwMode="auto">
          <a:xfrm>
            <a:off x="8902566" y="5644309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5" name="Line 31"/>
          <p:cNvSpPr>
            <a:spLocks noChangeShapeType="1"/>
          </p:cNvSpPr>
          <p:nvPr/>
        </p:nvSpPr>
        <p:spPr bwMode="auto">
          <a:xfrm flipH="1">
            <a:off x="8064366" y="6025309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6" name="Line 32"/>
          <p:cNvSpPr>
            <a:spLocks noChangeShapeType="1"/>
          </p:cNvSpPr>
          <p:nvPr/>
        </p:nvSpPr>
        <p:spPr bwMode="auto">
          <a:xfrm>
            <a:off x="5778366" y="5796709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7" name="Line 33"/>
          <p:cNvSpPr>
            <a:spLocks noChangeShapeType="1"/>
          </p:cNvSpPr>
          <p:nvPr/>
        </p:nvSpPr>
        <p:spPr bwMode="auto">
          <a:xfrm>
            <a:off x="7835766" y="5796709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58" name="Rectangle 34"/>
          <p:cNvSpPr>
            <a:spLocks noChangeArrowheads="1"/>
          </p:cNvSpPr>
          <p:nvPr/>
        </p:nvSpPr>
        <p:spPr bwMode="auto">
          <a:xfrm>
            <a:off x="2273166" y="4729909"/>
            <a:ext cx="1295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55245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205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es-MX" altLang="es-PE" sz="2800" dirty="0">
                <a:cs typeface="Times New Roman" panose="02020603050405020304" pitchFamily="18" charset="0"/>
              </a:rPr>
              <a:t>inicio</a:t>
            </a:r>
            <a:endParaRPr lang="es-PE" altLang="es-PE" sz="2800" dirty="0">
              <a:cs typeface="Times New Roman" panose="02020603050405020304" pitchFamily="18" charset="0"/>
            </a:endParaRPr>
          </a:p>
        </p:txBody>
      </p:sp>
      <p:sp>
        <p:nvSpPr>
          <p:cNvPr id="59" name="Line 35"/>
          <p:cNvSpPr>
            <a:spLocks noChangeShapeType="1"/>
          </p:cNvSpPr>
          <p:nvPr/>
        </p:nvSpPr>
        <p:spPr bwMode="auto">
          <a:xfrm>
            <a:off x="2958966" y="5187109"/>
            <a:ext cx="2286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  <p:sp>
        <p:nvSpPr>
          <p:cNvPr id="60" name="Rectangle 36"/>
          <p:cNvSpPr>
            <a:spLocks noChangeArrowheads="1"/>
          </p:cNvSpPr>
          <p:nvPr/>
        </p:nvSpPr>
        <p:spPr bwMode="auto">
          <a:xfrm>
            <a:off x="1663566" y="6076109"/>
            <a:ext cx="838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55245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205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es-MX" altLang="es-PE" sz="2800">
                <a:cs typeface="Times New Roman" panose="02020603050405020304" pitchFamily="18" charset="0"/>
              </a:rPr>
              <a:t>nil</a:t>
            </a:r>
            <a:endParaRPr lang="es-PE" altLang="es-PE" sz="2800">
              <a:cs typeface="Times New Roman" panose="02020603050405020304" pitchFamily="18" charset="0"/>
            </a:endParaRPr>
          </a:p>
        </p:txBody>
      </p:sp>
      <p:sp>
        <p:nvSpPr>
          <p:cNvPr id="61" name="Rectangle 37"/>
          <p:cNvSpPr>
            <a:spLocks noChangeArrowheads="1"/>
          </p:cNvSpPr>
          <p:nvPr/>
        </p:nvSpPr>
        <p:spPr bwMode="auto">
          <a:xfrm>
            <a:off x="9493116" y="5114084"/>
            <a:ext cx="838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55245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205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es-MX" altLang="es-PE" sz="2800">
                <a:cs typeface="Times New Roman" panose="02020603050405020304" pitchFamily="18" charset="0"/>
              </a:rPr>
              <a:t>nil</a:t>
            </a:r>
            <a:endParaRPr lang="es-PE" altLang="es-PE" sz="2800">
              <a:cs typeface="Times New Roman" panose="02020603050405020304" pitchFamily="18" charset="0"/>
            </a:endParaRPr>
          </a:p>
        </p:txBody>
      </p:sp>
      <p:sp>
        <p:nvSpPr>
          <p:cNvPr id="62" name="Line 29"/>
          <p:cNvSpPr>
            <a:spLocks noChangeShapeType="1"/>
          </p:cNvSpPr>
          <p:nvPr/>
        </p:nvSpPr>
        <p:spPr bwMode="auto">
          <a:xfrm>
            <a:off x="10040954" y="5918819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352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0"/>
                            </p:stCondLst>
                            <p:childTnLst>
                              <p:par>
                                <p:cTn id="9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000"/>
                            </p:stCondLst>
                            <p:childTnLst>
                              <p:par>
                                <p:cTn id="9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9500"/>
                            </p:stCondLst>
                            <p:childTnLst>
                              <p:par>
                                <p:cTn id="10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3500"/>
                            </p:stCondLst>
                            <p:childTnLst>
                              <p:par>
                                <p:cTn id="1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4000"/>
                            </p:stCondLst>
                            <p:childTnLst>
                              <p:par>
                                <p:cTn id="1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4500"/>
                            </p:stCondLst>
                            <p:childTnLst>
                              <p:par>
                                <p:cTn id="1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5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 autoUpdateAnimBg="0"/>
      <p:bldP spid="37" grpId="0" autoUpdateAnimBg="0"/>
      <p:bldP spid="38" grpId="0" autoUpdateAnimBg="0"/>
      <p:bldP spid="39" grpId="0" animBg="1" autoUpdateAnimBg="0"/>
      <p:bldP spid="44" grpId="0" animBg="1" autoUpdateAnimBg="0"/>
      <p:bldP spid="48" grpId="0" animBg="1" autoUpdateAnimBg="0"/>
      <p:bldP spid="52" grpId="0" animBg="1" autoUpdateAnimBg="0"/>
      <p:bldP spid="58" grpId="0" autoUpdateAnimBg="0"/>
      <p:bldP spid="60" grpId="0" autoUpdateAnimBg="0"/>
      <p:bldP spid="6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Resumiendo</a:t>
            </a: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PE" sz="2800" dirty="0" smtClean="0">
                <a:solidFill>
                  <a:schemeClr val="tx1"/>
                </a:solidFill>
              </a:rPr>
              <a:t>Las listas </a:t>
            </a:r>
            <a:r>
              <a:rPr lang="es-PE" sz="2800" dirty="0" smtClean="0">
                <a:solidFill>
                  <a:schemeClr val="tx1"/>
                </a:solidFill>
              </a:rPr>
              <a:t>enlazadas circulares </a:t>
            </a:r>
            <a:r>
              <a:rPr lang="es-PE" sz="2800" dirty="0" smtClean="0">
                <a:solidFill>
                  <a:schemeClr val="tx1"/>
                </a:solidFill>
              </a:rPr>
              <a:t>permiten un recorrido </a:t>
            </a:r>
            <a:r>
              <a:rPr lang="es-PE" sz="2800" dirty="0" smtClean="0">
                <a:solidFill>
                  <a:schemeClr val="tx1"/>
                </a:solidFill>
              </a:rPr>
              <a:t>infinito.</a:t>
            </a:r>
            <a:endParaRPr lang="es-PE" sz="28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Las listas circulares, permiten un recorrido continuo y circular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La base para </a:t>
            </a:r>
            <a:r>
              <a:rPr lang="es-ES" sz="2800" dirty="0" smtClean="0">
                <a:solidFill>
                  <a:schemeClr val="tx1"/>
                </a:solidFill>
              </a:rPr>
              <a:t>este tipo </a:t>
            </a:r>
            <a:r>
              <a:rPr lang="es-ES" sz="2800" dirty="0" smtClean="0">
                <a:solidFill>
                  <a:schemeClr val="tx1"/>
                </a:solidFill>
              </a:rPr>
              <a:t>de listas es la lista enlazada simple.</a:t>
            </a:r>
          </a:p>
        </p:txBody>
      </p:sp>
    </p:spTree>
    <p:extLst>
      <p:ext uri="{BB962C8B-B14F-4D97-AF65-F5344CB8AC3E}">
        <p14:creationId xmlns:p14="http://schemas.microsoft.com/office/powerpoint/2010/main" val="2069705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>
          <a:xfrm>
            <a:off x="831850" y="469339"/>
            <a:ext cx="10515600" cy="543032"/>
          </a:xfrm>
        </p:spPr>
        <p:txBody>
          <a:bodyPr/>
          <a:lstStyle/>
          <a:p>
            <a:r>
              <a:rPr lang="es-PE" dirty="0">
                <a:solidFill>
                  <a:schemeClr val="tx1"/>
                </a:solidFill>
              </a:rPr>
              <a:t>Cierre de la </a:t>
            </a:r>
            <a:r>
              <a:rPr lang="es-PE" dirty="0" smtClean="0">
                <a:solidFill>
                  <a:schemeClr val="tx1"/>
                </a:solidFill>
              </a:rPr>
              <a:t>clase</a:t>
            </a:r>
            <a:endParaRPr lang="es-PE" dirty="0">
              <a:solidFill>
                <a:schemeClr val="tx1"/>
              </a:solidFill>
            </a:endParaRPr>
          </a:p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831850" y="1206726"/>
            <a:ext cx="10515600" cy="48511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Formular" panose="020000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s-PE" sz="2800" dirty="0">
                <a:solidFill>
                  <a:schemeClr val="tx1"/>
                </a:solidFill>
              </a:rPr>
              <a:t>Responder lo siguiente: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 smtClean="0">
                <a:solidFill>
                  <a:schemeClr val="tx1"/>
                </a:solidFill>
              </a:rPr>
              <a:t>Tipo de lista donde el ultimo nodo apunta al primer nodo </a:t>
            </a:r>
            <a:endParaRPr lang="es-ES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800" dirty="0">
                <a:solidFill>
                  <a:schemeClr val="tx1"/>
                </a:solidFill>
              </a:rPr>
              <a:t>Tipo de lista donde el </a:t>
            </a:r>
            <a:r>
              <a:rPr lang="es-ES" sz="2800" dirty="0" smtClean="0">
                <a:solidFill>
                  <a:schemeClr val="tx1"/>
                </a:solidFill>
              </a:rPr>
              <a:t>puntero del ultimo nodo apunta </a:t>
            </a:r>
            <a:r>
              <a:rPr lang="es-ES" sz="2800" dirty="0" err="1" smtClean="0">
                <a:solidFill>
                  <a:schemeClr val="tx1"/>
                </a:solidFill>
              </a:rPr>
              <a:t>anull</a:t>
            </a:r>
            <a:endParaRPr lang="es-E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89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1628775"/>
            <a:ext cx="10969388" cy="4537075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endParaRPr lang="es-PE" altLang="es-PE" sz="28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endParaRPr lang="es-PE" altLang="es-PE" sz="28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s-PE" altLang="es-PE" sz="2800" dirty="0"/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s-PE" altLang="es-PE" sz="6000" b="1" dirty="0" smtClean="0"/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84636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 advAuto="100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11921</TotalTime>
  <Words>337</Words>
  <Application>Microsoft Office PowerPoint</Application>
  <PresentationFormat>Panorámica</PresentationFormat>
  <Paragraphs>64</Paragraphs>
  <Slides>12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Monotype Sorts</vt:lpstr>
      <vt:lpstr>Times New Roman</vt:lpstr>
      <vt:lpstr>Verdana</vt:lpstr>
      <vt:lpstr>Tema de Office</vt:lpstr>
      <vt:lpstr>Imagen de mapa de bits</vt:lpstr>
      <vt:lpstr>Algoritmos y Estructuras de Datos</vt:lpstr>
      <vt:lpstr>Logro de aprendizaje</vt:lpstr>
      <vt:lpstr>Presentación de PowerPoint</vt:lpstr>
      <vt:lpstr>Presentación de PowerPoint</vt:lpstr>
      <vt:lpstr>Presentación de PowerPoint</vt:lpstr>
      <vt:lpstr>Listas enlazadas circulares</vt:lpstr>
      <vt:lpstr>Listas enlazadas circulares</vt:lpstr>
      <vt:lpstr>Operaciones con listas enlazadas circulares</vt:lpstr>
      <vt:lpstr>Listas enlazadas Circulares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y Estructuras de Datos</dc:title>
  <dc:creator>Administrador</dc:creator>
  <cp:lastModifiedBy>DOCENTE - Lizardo Silva Ubaldo</cp:lastModifiedBy>
  <cp:revision>36</cp:revision>
  <dcterms:created xsi:type="dcterms:W3CDTF">2020-10-14T15:31:04Z</dcterms:created>
  <dcterms:modified xsi:type="dcterms:W3CDTF">2025-05-19T15:15:11Z</dcterms:modified>
</cp:coreProperties>
</file>