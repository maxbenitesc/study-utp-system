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Economica"/>
      <p:regular r:id="rId30"/>
      <p:bold r:id="rId31"/>
      <p:italic r:id="rId32"/>
      <p:boldItalic r:id="rId33"/>
    </p:embeddedFont>
    <p:embeddedFont>
      <p:font typeface="Playfair Display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6" roundtripDataSignature="AMtx7mjVhdRCxhc0Cn2YexcQ9ak1J5Eb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regular.fntdata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conomica-bold.fntdata"/><Relationship Id="rId30" Type="http://schemas.openxmlformats.org/officeDocument/2006/relationships/font" Target="fonts/Economica-regular.fntdata"/><Relationship Id="rId11" Type="http://schemas.openxmlformats.org/officeDocument/2006/relationships/slide" Target="slides/slide6.xml"/><Relationship Id="rId33" Type="http://schemas.openxmlformats.org/officeDocument/2006/relationships/font" Target="fonts/Economica-boldItalic.fntdata"/><Relationship Id="rId10" Type="http://schemas.openxmlformats.org/officeDocument/2006/relationships/slide" Target="slides/slide5.xml"/><Relationship Id="rId32" Type="http://schemas.openxmlformats.org/officeDocument/2006/relationships/font" Target="fonts/Economica-italic.fntdata"/><Relationship Id="rId13" Type="http://schemas.openxmlformats.org/officeDocument/2006/relationships/slide" Target="slides/slide8.xml"/><Relationship Id="rId35" Type="http://schemas.openxmlformats.org/officeDocument/2006/relationships/font" Target="fonts/PlayfairDisplay-bold.fntdata"/><Relationship Id="rId12" Type="http://schemas.openxmlformats.org/officeDocument/2006/relationships/slide" Target="slides/slide7.xml"/><Relationship Id="rId34" Type="http://schemas.openxmlformats.org/officeDocument/2006/relationships/font" Target="fonts/PlayfairDisplay-regular.fntdata"/><Relationship Id="rId15" Type="http://schemas.openxmlformats.org/officeDocument/2006/relationships/slide" Target="slides/slide10.xml"/><Relationship Id="rId37" Type="http://schemas.openxmlformats.org/officeDocument/2006/relationships/font" Target="fonts/PlayfairDisplay-boldItalic.fntdata"/><Relationship Id="rId14" Type="http://schemas.openxmlformats.org/officeDocument/2006/relationships/slide" Target="slides/slide9.xml"/><Relationship Id="rId36" Type="http://schemas.openxmlformats.org/officeDocument/2006/relationships/font" Target="fonts/PlayfairDisplay-italic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.fntdata"/><Relationship Id="rId16" Type="http://schemas.openxmlformats.org/officeDocument/2006/relationships/slide" Target="slides/slide11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2f61c27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a2f61c27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2f61c277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a2f61c277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7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7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9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29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0" name="Google Shape;30;p31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1" name="Google Shape;31;p3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33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5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3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6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2" name="Google Shape;52;p36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3" name="Google Shape;53;p3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7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7" name="Google Shape;5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hyperlink" Target="mailto:C31046@utp.edu.p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maldonadoq/programming/blob/utp/Web%20Programming/js/signin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hyperlink" Target="mailto:C31046@utp.edu.p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2f61c2774_0_0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pic>
        <p:nvPicPr>
          <p:cNvPr id="63" name="Google Shape;63;g3a2f61c277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a2f61c2774_0_0"/>
          <p:cNvSpPr txBox="1"/>
          <p:nvPr/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M.Sc. Jesamin Zevallos Quispe</a:t>
            </a:r>
            <a:endParaRPr sz="23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75" u="sng">
                <a:solidFill>
                  <a:srgbClr val="3D85C6"/>
                </a:solidFill>
                <a:latin typeface="Economica"/>
                <a:ea typeface="Economica"/>
                <a:cs typeface="Economica"/>
                <a:sym typeface="Economic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Dudas de la clase anterior</a:t>
            </a:r>
            <a:endParaRPr/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2287" y="2844874"/>
            <a:ext cx="3939425" cy="22986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 flipH="1">
            <a:off x="874000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Programación en JavaScript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2" name="Google Shape;72;p2"/>
          <p:cNvSpPr/>
          <p:nvPr/>
        </p:nvSpPr>
        <p:spPr>
          <a:xfrm flipH="1">
            <a:off x="3420588" y="1180575"/>
            <a:ext cx="2302800" cy="1122300"/>
          </a:xfrm>
          <a:prstGeom prst="wedgeEllipseCallout">
            <a:avLst>
              <a:gd fmla="val -1117" name="adj1"/>
              <a:gd fmla="val 72798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070225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Elementos del DOM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</a:pPr>
            <a:r>
              <a:rPr b="1" lang="es-419" sz="5000"/>
              <a:t>Menú</a:t>
            </a:r>
            <a:r>
              <a:rPr b="1" lang="es-419" sz="5000"/>
              <a:t> responsivo y Ventanas flotantes</a:t>
            </a:r>
            <a:endParaRPr b="1" sz="5000"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/>
              <a:t>Semana 14 - Sesión 14</a:t>
            </a:r>
            <a:endParaRPr/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2464" y="3893167"/>
            <a:ext cx="2479073" cy="7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Conocimientos previos</a:t>
            </a:r>
            <a:endParaRPr/>
          </a:p>
        </p:txBody>
      </p:sp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300" y="1116625"/>
            <a:ext cx="2753776" cy="1549001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7" name="Google Shape;87;p4"/>
          <p:cNvPicPr preferRelativeResize="0"/>
          <p:nvPr/>
        </p:nvPicPr>
        <p:blipFill rotWithShape="1">
          <a:blip r:embed="rId4">
            <a:alphaModFix/>
          </a:blip>
          <a:srcRect b="12857" l="7969" r="7067" t="13198"/>
          <a:stretch/>
        </p:blipFill>
        <p:spPr>
          <a:xfrm>
            <a:off x="1891250" y="2426225"/>
            <a:ext cx="2388725" cy="2078976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0275" y="1388800"/>
            <a:ext cx="3481000" cy="1740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3650" y="2831550"/>
            <a:ext cx="2545750" cy="176292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idx="1" type="body"/>
          </p:nvPr>
        </p:nvSpPr>
        <p:spPr>
          <a:xfrm>
            <a:off x="481250" y="1687925"/>
            <a:ext cx="50619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1600"/>
              <a:t>Al finalizar la sesión, el estudiante: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Es capaz de construir un menú adaptable a diferentes dispositivos y una ventana modal flotante, utilizando HTML, CSS y JavaScript, integrando el uso de media queries, clases dinámicas y eventos DOM.</a:t>
            </a:r>
            <a:endParaRPr sz="1600"/>
          </a:p>
        </p:txBody>
      </p:sp>
      <p:sp>
        <p:nvSpPr>
          <p:cNvPr id="95" name="Google Shape;95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Logro de aprendizaje</a:t>
            </a:r>
            <a:endParaRPr/>
          </a:p>
        </p:txBody>
      </p:sp>
      <p:pic>
        <p:nvPicPr>
          <p:cNvPr id="96" name="Google Shape;96;p5" title="134481101-aprendizaje-en-línea-sombrero-de-graduación-libro-educación.jpg"/>
          <p:cNvPicPr preferRelativeResize="0"/>
          <p:nvPr/>
        </p:nvPicPr>
        <p:blipFill rotWithShape="1">
          <a:blip r:embed="rId3">
            <a:alphaModFix/>
          </a:blip>
          <a:srcRect b="10565" l="6172" r="1965" t="10526"/>
          <a:stretch/>
        </p:blipFill>
        <p:spPr>
          <a:xfrm>
            <a:off x="5987300" y="1776325"/>
            <a:ext cx="2289250" cy="19664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464100" y="1383300"/>
            <a:ext cx="5193900" cy="29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El menú responsivo es </a:t>
            </a:r>
            <a:r>
              <a:rPr b="1" lang="es-419" sz="1600"/>
              <a:t>esencial</a:t>
            </a:r>
            <a:r>
              <a:rPr lang="es-419" sz="1600"/>
              <a:t> para la navegación en sitios modernos.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Las </a:t>
            </a:r>
            <a:r>
              <a:rPr b="1" lang="es-419" sz="1600"/>
              <a:t>ventanas flotantes</a:t>
            </a:r>
            <a:r>
              <a:rPr lang="es-419" sz="1600"/>
              <a:t> se usan para mostrar mensajes, formularios o confirmaciones.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Estas técnicas son utilizadas en </a:t>
            </a:r>
            <a:r>
              <a:rPr b="1" lang="es-419" sz="1600"/>
              <a:t>sistemas reales</a:t>
            </a:r>
            <a:r>
              <a:rPr lang="es-419" sz="1600"/>
              <a:t>: tiendas online, plataformas educativas, aplicaciones web, etc.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Son fundamentales en </a:t>
            </a:r>
            <a:r>
              <a:rPr b="1" lang="es-419" sz="1600"/>
              <a:t>UX</a:t>
            </a:r>
            <a:r>
              <a:rPr lang="es-419" sz="1600"/>
              <a:t> y para mantener una interfaz clara e interactiva.</a:t>
            </a:r>
            <a:endParaRPr sz="1600"/>
          </a:p>
        </p:txBody>
      </p:sp>
      <p:sp>
        <p:nvSpPr>
          <p:cNvPr id="102" name="Google Shape;102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Utilidad</a:t>
            </a:r>
            <a:endParaRPr/>
          </a:p>
        </p:txBody>
      </p:sp>
      <p:pic>
        <p:nvPicPr>
          <p:cNvPr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1350" y="1552040"/>
            <a:ext cx="2713225" cy="263342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Contenido</a:t>
            </a:r>
            <a:endParaRPr/>
          </a:p>
        </p:txBody>
      </p:sp>
      <p:sp>
        <p:nvSpPr>
          <p:cNvPr id="109" name="Google Shape;109;p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Diseño responsivo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Práctica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idx="4294967295" type="body"/>
          </p:nvPr>
        </p:nvSpPr>
        <p:spPr>
          <a:xfrm>
            <a:off x="311700" y="1210825"/>
            <a:ext cx="5468400" cy="3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600"/>
              <a:t>El diseño web responsive o adaptable es un enfoque que permite que un sitio web se </a:t>
            </a:r>
            <a:r>
              <a:rPr b="1" lang="es-419" sz="1600"/>
              <a:t>adapte</a:t>
            </a:r>
            <a:r>
              <a:rPr lang="es-419" sz="1600"/>
              <a:t> </a:t>
            </a:r>
            <a:r>
              <a:rPr b="1" lang="es-419" sz="1600"/>
              <a:t>automáticamente</a:t>
            </a:r>
            <a:r>
              <a:rPr lang="es-419" sz="1600"/>
              <a:t> a diferentes tamaños de pantalla y dispositivos. Esto significa que una misma página web se visualiza correctamente en ordenadores, tabletas, smartphones y otros dispositivos, ofreciendo una experiencia de usuario óptima en cada uno de ellos.</a:t>
            </a:r>
            <a:endParaRPr sz="1600"/>
          </a:p>
        </p:txBody>
      </p:sp>
      <p:sp>
        <p:nvSpPr>
          <p:cNvPr id="115" name="Google Shape;115;p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Diseño Responsivo</a:t>
            </a:r>
            <a:endParaRPr/>
          </a:p>
        </p:txBody>
      </p:sp>
      <p:pic>
        <p:nvPicPr>
          <p:cNvPr id="116" name="Google Shape;1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8200" y="1739272"/>
            <a:ext cx="2404100" cy="2136599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Diseño Responsivo</a:t>
            </a:r>
            <a:endParaRPr/>
          </a:p>
        </p:txBody>
      </p:sp>
      <p:sp>
        <p:nvSpPr>
          <p:cNvPr id="122" name="Google Shape;122;p9"/>
          <p:cNvSpPr txBox="1"/>
          <p:nvPr>
            <p:ph idx="4294967295" type="body"/>
          </p:nvPr>
        </p:nvSpPr>
        <p:spPr>
          <a:xfrm>
            <a:off x="311700" y="1210825"/>
            <a:ext cx="4585800" cy="3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419" sz="1600"/>
              <a:t>Características</a:t>
            </a:r>
            <a:endParaRPr b="1" sz="1600"/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Cada vez más usuarios navegan en móvil.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Mejora la experiencia de usuario.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Es fundamental para el SEO.</a:t>
            </a:r>
            <a:endParaRPr sz="1600"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Mejorarás la confianza en tu marca.</a:t>
            </a:r>
            <a:endParaRPr sz="1600"/>
          </a:p>
        </p:txBody>
      </p:sp>
      <p:pic>
        <p:nvPicPr>
          <p:cNvPr id="123" name="Google Shape;1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1275" y="1682299"/>
            <a:ext cx="3600925" cy="2250549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Diseño Responsivo</a:t>
            </a:r>
            <a:endParaRPr/>
          </a:p>
        </p:txBody>
      </p:sp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15246" l="0" r="0" t="17706"/>
          <a:stretch/>
        </p:blipFill>
        <p:spPr>
          <a:xfrm>
            <a:off x="311702" y="1147234"/>
            <a:ext cx="4137572" cy="3565269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" name="Google Shape;130;p10"/>
          <p:cNvSpPr/>
          <p:nvPr/>
        </p:nvSpPr>
        <p:spPr>
          <a:xfrm>
            <a:off x="4021711" y="4188398"/>
            <a:ext cx="427500" cy="52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87800" lIns="87800" spcFirstLastPara="1" rIns="87800" wrap="square" tIns="87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4"/>
              <a:buFont typeface="Arial"/>
              <a:buNone/>
            </a:pPr>
            <a:r>
              <a:t/>
            </a:r>
            <a:endParaRPr b="0" i="0" sz="134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1" name="Google Shape;131;p10"/>
          <p:cNvPicPr preferRelativeResize="0"/>
          <p:nvPr/>
        </p:nvPicPr>
        <p:blipFill rotWithShape="1">
          <a:blip r:embed="rId4">
            <a:alphaModFix/>
          </a:blip>
          <a:srcRect b="13295" l="0" r="0" t="14982"/>
          <a:stretch/>
        </p:blipFill>
        <p:spPr>
          <a:xfrm>
            <a:off x="4795176" y="943172"/>
            <a:ext cx="3551933" cy="3825035"/>
          </a:xfrm>
          <a:prstGeom prst="rect">
            <a:avLst/>
          </a:prstGeom>
          <a:noFill/>
          <a:ln cap="flat" cmpd="sng" w="137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10"/>
          <p:cNvSpPr/>
          <p:nvPr/>
        </p:nvSpPr>
        <p:spPr>
          <a:xfrm>
            <a:off x="4795176" y="4268803"/>
            <a:ext cx="394500" cy="4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32075" lIns="132075" spcFirstLastPara="1" rIns="132075" wrap="square" tIns="132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2"/>
              <a:buFont typeface="Arial"/>
              <a:buNone/>
            </a:pPr>
            <a:r>
              <a:t/>
            </a:r>
            <a:endParaRPr b="0" i="0" sz="2021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0"/>
          <p:cNvSpPr txBox="1"/>
          <p:nvPr>
            <p:ph idx="4294967295" type="body"/>
          </p:nvPr>
        </p:nvSpPr>
        <p:spPr>
          <a:xfrm>
            <a:off x="6473000" y="414825"/>
            <a:ext cx="1874100" cy="430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600"/>
              <a:t>Características</a:t>
            </a:r>
            <a:endParaRPr sz="1600"/>
          </a:p>
        </p:txBody>
      </p:sp>
      <p:sp>
        <p:nvSpPr>
          <p:cNvPr id="134" name="Google Shape;134;p10"/>
          <p:cNvSpPr txBox="1"/>
          <p:nvPr>
            <p:ph idx="4294967295" type="body"/>
          </p:nvPr>
        </p:nvSpPr>
        <p:spPr>
          <a:xfrm>
            <a:off x="311700" y="4641325"/>
            <a:ext cx="1874100" cy="43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600"/>
              <a:t>Componentes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DOM: Document Object Model</a:t>
            </a: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823650" y="1330925"/>
            <a:ext cx="7496700" cy="3705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nav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"navbar"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"logo"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&gt;MiSitio&lt;/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"menu-icon"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onclick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"toggleMenu()"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&gt;☰&lt;/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"menu"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&gt;Inicio&lt;/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&gt;Servicios&lt;/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"#"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&gt;Contacto&lt;/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nav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t/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onclick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"abrirModal()"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&gt;Abrir ventana&lt;/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"modal"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"miModal"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"modal-contenido"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span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onclick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"cerrarModal()"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229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2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"cerrar"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b="0" i="0" lang="es-419" sz="12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&amp;times;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span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&gt;Esta es una ventana flotante.&lt;/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2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2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2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2" title="Screenshot from 2025-06-23 01-55-0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5100" y="491375"/>
            <a:ext cx="6066501" cy="416072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" name="Google Shape;146;p12"/>
          <p:cNvSpPr/>
          <p:nvPr/>
        </p:nvSpPr>
        <p:spPr>
          <a:xfrm>
            <a:off x="262400" y="1391550"/>
            <a:ext cx="2446200" cy="236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.modal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position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fixed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top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rgba(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0.6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align-items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/>
          <p:nvPr/>
        </p:nvSpPr>
        <p:spPr>
          <a:xfrm>
            <a:off x="359250" y="805750"/>
            <a:ext cx="2728800" cy="236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.modal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position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fixed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top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rgba(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0" i="0" lang="es-419" sz="1029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0.6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align-items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29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2" name="Google Shape;1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500" y="143650"/>
            <a:ext cx="5372276" cy="3684601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" name="Google Shape;153;p13"/>
          <p:cNvSpPr/>
          <p:nvPr/>
        </p:nvSpPr>
        <p:spPr>
          <a:xfrm>
            <a:off x="359250" y="3935275"/>
            <a:ext cx="8200800" cy="762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1" i="0" lang="es-419" sz="1029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abrirModal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29" u="none" cap="none" strike="noStrike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getElementById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"miModal"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0" i="0" lang="es-419" sz="1029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029" u="none" cap="none" strike="noStrike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29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"flex"</a:t>
            </a: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9"/>
              <a:buFont typeface="Arial"/>
              <a:buNone/>
            </a:pPr>
            <a:r>
              <a:rPr b="0" i="0" lang="es-419" sz="10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0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Diseño Responsivo - Ejemplo</a:t>
            </a:r>
            <a:endParaRPr/>
          </a:p>
        </p:txBody>
      </p:sp>
      <p:sp>
        <p:nvSpPr>
          <p:cNvPr id="159" name="Google Shape;159;p14"/>
          <p:cNvSpPr txBox="1"/>
          <p:nvPr>
            <p:ph idx="4294967295" type="body"/>
          </p:nvPr>
        </p:nvSpPr>
        <p:spPr>
          <a:xfrm>
            <a:off x="1010400" y="2128925"/>
            <a:ext cx="7123200" cy="11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2000" u="sng">
                <a:solidFill>
                  <a:schemeClr val="hlink"/>
                </a:solidFill>
                <a:hlinkClick r:id="rId3"/>
              </a:rPr>
              <a:t>https://github.com/maldonadoq/programming/blob/utp/Web%20Programming/js/signin.html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1963"/>
            <a:ext cx="8839200" cy="4599584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 title="Screenshot from 2025-06-23 02-17-5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1963"/>
            <a:ext cx="8839200" cy="4599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71963"/>
            <a:ext cx="8839200" cy="4599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 title="Screenshot from 2025-06-23 02-26-3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138" y="152400"/>
            <a:ext cx="778372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 title="Screenshot from 2025-06-23 02-27-2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463" y="632425"/>
            <a:ext cx="3671624" cy="387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title="Screenshot from 2025-06-23 02-27-3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6912" y="632449"/>
            <a:ext cx="3671624" cy="3878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Preguntas</a:t>
            </a:r>
            <a:endParaRPr/>
          </a:p>
        </p:txBody>
      </p:sp>
      <p:pic>
        <p:nvPicPr>
          <p:cNvPr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6263" y="1147225"/>
            <a:ext cx="3691474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311700" y="1225225"/>
            <a:ext cx="8334600" cy="31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s-419"/>
              <a:t>Integrar JS en todas las vistas de su proyecto.</a:t>
            </a:r>
            <a:endParaRPr/>
          </a:p>
        </p:txBody>
      </p:sp>
      <p:sp>
        <p:nvSpPr>
          <p:cNvPr id="197" name="Google Shape;197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Práctica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Resumen de la sesión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57750" y="1478625"/>
            <a:ext cx="3713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¿Qué hemos aprendido hoy?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556800" y="1918225"/>
            <a:ext cx="39156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Diseño responsivo y Ventanas flotantes (modals)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3993625" y="2531825"/>
            <a:ext cx="4125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¿Para qué sirve los modals?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¡Gracias!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2f61c2774_0_59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pic>
        <p:nvPicPr>
          <p:cNvPr id="216" name="Google Shape;216;g3a2f61c2774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a2f61c2774_0_59"/>
          <p:cNvSpPr txBox="1"/>
          <p:nvPr/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M.Sc. Jesamin Zevallos Quispe</a:t>
            </a:r>
            <a:endParaRPr sz="23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75" u="sng">
                <a:solidFill>
                  <a:srgbClr val="3D85C6"/>
                </a:solidFill>
                <a:latin typeface="Economica"/>
                <a:ea typeface="Economica"/>
                <a:cs typeface="Economica"/>
                <a:sym typeface="Economic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